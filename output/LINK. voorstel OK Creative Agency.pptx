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14</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ROB EN FRITS · OK CREATIVE AGENCY · EVALUATIE OKTOBER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Waar de afspraken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wel</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vandaan kwamen.</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Twaalf weken bellen zit erop. In deze presentatie staat wat het heeft opgeleverd, wat de cijfers laten zien over welke lijst werkt, en hoe we het vanaf november willen inrichten.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396997" cy="406399"/>
          </a:xfrm>
          <a:prstGeom prst="roundRect">
            <a:avLst>
              <a:gd name="adj" fmla="val 21875"/>
            </a:avLst>
          </a:prstGeom>
          <a:solidFill>
            <a:srgbClr val="F8F4EB"/>
          </a:solidFill>
          <a:ln/>
        </p:spPr>
      </p:sp>
      <p:sp>
        <p:nvSpPr>
          <p:cNvPr id="33" name="Text 31"/>
          <p:cNvSpPr txBox="1"/>
          <p:nvPr/>
        </p:nvSpPr>
        <p:spPr>
          <a:xfrm>
            <a:off x="1854195" y="5714986"/>
            <a:ext cx="1396997" cy="406399"/>
          </a:xfrm>
          <a:prstGeom prst="rect">
            <a:avLst/>
          </a:prstGeom>
          <a:noFill/>
          <a:ln/>
        </p:spPr>
        <p:txBody>
          <a:bodyPr wrap="square" lIns="0" tIns="0" rIns="0" bIns="0" rtlCol="0" anchor="ctr"/>
          <a:lstStyle/>
          <a:p>
            <a:pPr algn="ctr" indent="0" marL="0">
              <a:buNone/>
            </a:pPr>
            <a:r>
              <a:rPr lang="en-US" sz="1500" b="1" dirty="0">
                <a:solidFill>
                  <a:srgbClr val="1C2230"/>
                </a:solidFill>
                <a:latin typeface="Arial" pitchFamily="34" charset="0"/>
                <a:ea typeface="Arial" pitchFamily="34" charset="-122"/>
                <a:cs typeface="Arial" pitchFamily="34" charset="-120"/>
              </a:rPr>
              <a:t>OK Creative Agency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de agenda van Frits met iemand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Jullie markt is een van de moeilijkste die wij bellen. Zakelijke dienstverlening vanaf vijftig medewerkers betekent een receptie die afschermt en een beslisser die zelden zelf opneemt. Dat zie je terug in de cijfers, en juist daarom sturen we op de lijst.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Haarlems 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Voorwerk per prospect</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Voor elk belblok zoeken we online en op LinkedIn op wie er over marketing en communicatie gaat. We vragen naar die persoon bij naam. Dat is de enige manier langs de receptie.</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en schonen de bellijst. Zakelijke dienstverlening vanaf vijftig medewerkers, plus de relaties en gewenste klanten die jullie zelf aandragen.</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en de juiste persoon tegenover Frits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 van Frits.</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Lijst klaarzetten</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zetten de lijst voor de periode klaar en zoeken per prospect de juiste contactpersoon op, met de terugbelafspraken uit de vorige periode bovenaan.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bellen namens oké, met de insteek van Frits: hij heeft punten voorbereid over hoe het bedrijf naar buiten communiceert en wil die toelichten.</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het rapport dat je nu ook krijgt: pogingen, gesproken bedrijven, warme uitkomsten, afspraken en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Na elke periode kijken we samen naar de cijfers en bepalen we het aantal beldagen en de mix van de lijst voor de volgende.</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van Frits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 dezelfde dag</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Mail-introducties apart, met de nabeldatum erbij</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Zakelijke dienstverlening vanaf vijftig medewerkers. IT, accountancy, verzekeringen en vergelijkbare bedrijven die zelf een dienst leveren.</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Aanleiding</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Een verouderde of zwakke site, een merkverhaal dat niet meer klopt, of marketing die versnipperd door de organisatie loopt.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Algemeen directeur, iemand uit het MT of de verantwoordelijke voor marketing en merk. Geen uitvoerende marketeer.</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Bij de start van werkperiode 4 leggen we deze drie samen opnieuw vast. In de overeenkomst stond dat die criteria vooraf bepaald zouden worden en dat is er niet scherp genoeg van gekomen.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DE PILOT HEEFT OPGELEVERD</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Twaalf weken bellen,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geteld in ons belsysteem</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1.668</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Van 24 juli tot en met 9 oktober, verdeeld over 540 bedrijven.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452</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Bij de rest kwamen we niet langs de receptie of was het nummer onjuist.</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116</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WARM EN OPEN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en verstuurde introducties die nog lopen.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12</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AFSPRAKEN EN OVERDRACHTEN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Zeven ingeplande afspraken en vijf overdrachten. Eén per 139 pogingen.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Deze cijfers komen uit de belexport van 11 oktober, niet uit een schatting. Werkperiode 3 loopt nog door tot 25 oktober.</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VERLOOP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Drie werkperiodes, en één duidelijke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les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WERKPERIODE</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CONTACTPOGINGEN</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AFSPRAKEN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1.000 POGINGEN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 · 3 t/m 30 augustus</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192</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26</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 · 31 aug t/m 27 september</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631</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 · 28 sep t/m 25 oktober</a:t>
            </a:r>
            <a:pPr indent="0" marL="0">
              <a:buNone/>
            </a:pPr>
            <a:r>
              <a:rPr lang="en-US" sz="1000" i="1" dirty="0">
                <a:solidFill>
                  <a:srgbClr val="38B6FF"/>
                </a:solidFill>
                <a:latin typeface="Georgia" pitchFamily="34" charset="0"/>
                <a:ea typeface="Georgia" pitchFamily="34" charset="-122"/>
                <a:cs typeface="Georgia" pitchFamily="34" charset="-120"/>
              </a:rPr>
              <a:t>   loopt nog</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837</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Werkperiode 1 was klein: 200 pogingen. Daarna ging het volume fors omhoog en werd de lijst tegelijk kouder. Dat verklaart het verschil in rendement en het wijst precies aan welke knop vanaf werkperiode 4 omhoog moet.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8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WAAR HET VERSCHIL ZIT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De lijst met jullie eigen relaties loopt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drie keer beter</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BELLIJST</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CONTACTPOGINGEN</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AFSPRAKEN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1.000 POGINGEN</a:t>
            </a:r>
            <a:endParaRPr lang="en-US" sz="800" dirty="0"/>
          </a:p>
        </p:txBody>
      </p:sp>
      <p:sp>
        <p:nvSpPr>
          <p:cNvPr id="12" name="Shape 10"/>
          <p:cNvSpPr/>
          <p:nvPr/>
        </p:nvSpPr>
        <p:spPr>
          <a:xfrm>
            <a:off x="615948" y="3136892"/>
            <a:ext cx="10960073" cy="628648"/>
          </a:xfrm>
          <a:prstGeom prst="rect">
            <a:avLst/>
          </a:prstGeom>
          <a:solidFill>
            <a:srgbClr val="38B6FF">
              <a:alpha val="11000"/>
            </a:srgbClr>
          </a:solidFill>
          <a:ln/>
        </p:spPr>
      </p:sp>
      <p:sp>
        <p:nvSpPr>
          <p:cNvPr id="13" name="Shape 11"/>
          <p:cNvSpPr/>
          <p:nvPr/>
        </p:nvSpPr>
        <p:spPr>
          <a:xfrm>
            <a:off x="609598" y="3136892"/>
            <a:ext cx="10972773" cy="0"/>
          </a:xfrm>
          <a:prstGeom prst="line">
            <a:avLst/>
          </a:prstGeom>
          <a:noFill/>
          <a:ln w="9525">
            <a:solidFill>
              <a:srgbClr val="3A4152"/>
            </a:solidFill>
            <a:prstDash val="solid"/>
          </a:ln>
        </p:spPr>
      </p:sp>
      <p:sp>
        <p:nvSpPr>
          <p:cNvPr id="14" name="Text 12"/>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Relaties en gewenste klanten</a:t>
            </a:r>
            <a:endParaRPr lang="en-US" sz="1250" dirty="0"/>
          </a:p>
        </p:txBody>
      </p:sp>
      <p:sp>
        <p:nvSpPr>
          <p:cNvPr id="15" name="Text 13"/>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207</a:t>
            </a:r>
            <a:endParaRPr lang="en-US" sz="1250" dirty="0"/>
          </a:p>
        </p:txBody>
      </p:sp>
      <p:sp>
        <p:nvSpPr>
          <p:cNvPr id="16" name="Text 14"/>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a:t>
            </a:r>
            <a:endParaRPr lang="en-US" sz="1250" dirty="0"/>
          </a:p>
        </p:txBody>
      </p:sp>
      <p:sp>
        <p:nvSpPr>
          <p:cNvPr id="17" name="Text 15"/>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19</a:t>
            </a:r>
            <a:endParaRPr lang="en-US" sz="1250" dirty="0"/>
          </a:p>
        </p:txBody>
      </p:sp>
      <p:sp>
        <p:nvSpPr>
          <p:cNvPr id="18" name="Shape 16"/>
          <p:cNvSpPr/>
          <p:nvPr/>
        </p:nvSpPr>
        <p:spPr>
          <a:xfrm>
            <a:off x="609598" y="3765541"/>
            <a:ext cx="10972773" cy="0"/>
          </a:xfrm>
          <a:prstGeom prst="line">
            <a:avLst/>
          </a:prstGeom>
          <a:noFill/>
          <a:ln w="9525">
            <a:solidFill>
              <a:srgbClr val="3A4152"/>
            </a:solidFill>
            <a:prstDash val="solid"/>
          </a:ln>
        </p:spPr>
      </p:sp>
      <p:sp>
        <p:nvSpPr>
          <p:cNvPr id="19" name="Text 17"/>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Zakelijke dienstverlening, koud</a:t>
            </a:r>
            <a:endParaRPr lang="en-US" sz="1250" dirty="0"/>
          </a:p>
        </p:txBody>
      </p:sp>
      <p:sp>
        <p:nvSpPr>
          <p:cNvPr id="20" name="Text 18"/>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1.333</a:t>
            </a:r>
            <a:endParaRPr lang="en-US" sz="1250" dirty="0"/>
          </a:p>
        </p:txBody>
      </p:sp>
      <p:sp>
        <p:nvSpPr>
          <p:cNvPr id="21" name="Text 19"/>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a:t>
            </a:r>
            <a:endParaRPr lang="en-US" sz="1250" dirty="0"/>
          </a:p>
        </p:txBody>
      </p:sp>
      <p:sp>
        <p:nvSpPr>
          <p:cNvPr id="22" name="Text 20"/>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a:t>
            </a:r>
            <a:endParaRPr lang="en-US" sz="1250" dirty="0"/>
          </a:p>
        </p:txBody>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Bouw en techniek, koud</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99</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0</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0</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Op de lijst met jullie relaties en gewenste klanten ligt het rendement ruim drie keer hoger. Het gaat om vier afspraken uit 207 pogingen, dus het is een richting en geen zekerheid. Wel is het de knop waarmee we van 1,1 naar 1,5 afspraak per beldag komen: ongeveer een derde van de lijst uit jullie eigen relaties.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EENHEID WAARIN WE REKENEN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beldag is geen dag, maar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vaste hoeveelheid werk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UUR BELLEN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Netto aan de telefoon. Het voorwerk per prospect, de notities en de rapportage zitten daarbuiten en zijn inbegrepen.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150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Gegarandeerd. Onze bellers draaien vijfentwintig pogingen per uur, gemeten in onze eigen urenregistratie.</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40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In jullie markt komen we bij ruim een op de drie pogingen langs de receptie.</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1,5</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AFSPRAKEN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Waar we op mikken vanaf werkperiode 4. In de pilot stond het op 1,1 per beldag, de lijst met jullie eigen relaties op bijna 3.</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Wij rekenen in beldagen en niet in uren, omdat een uur niets zegt over wat eruit komt. Vier beldagen met dit target zijn zes afspraken per werkperiode, precies het aantal uit de overeenkomst.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JE ERVOOR TERUGKRIJGT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Vooraf een vaste prijs, achteraf geen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verrassingen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Vaste prijs per beldag</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Je weet vooraf precies wat een werkperiode kost. Geen nacalculatie, geen kosten per afspraak en geen rekening achteraf.</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Anderhalve afspraak per beldag</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Daar mikken we op vanaf werkperiode 4. Vier beldagen zijn dan zes afspraken, precies het aantal dat in de overeenkomst staat.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Niet gehaald is een gratis beldag</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Halen we het afgesproken aantal niet, dan bellen we een dag extra op onze kosten. Maximaal een per werkperiode.</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De lijst sturen we samen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werkperiode bepalen we vooraf hoeveel procent van de lijst uit jullie eigen relaties en gewenste klanten bestaat. Dat is de knop die het verschil maakt.</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PRIJS PER BELDAG</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€ 600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vanaf 6 beldagen € 575, vanaf 8 € 550, excl. btw</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Vooraf gefactureerd per werkperiode</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Geen kosten per afspraak</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150 contactpogingen per beldag</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1,5 gekwalificeerde afspraak per beldag</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Niet gehaald is een gratis beldag</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Succesfee van 5% blijft ongewijzigd</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11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HET JE OPLEVERT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Zes afspraken per maand met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vier beldagen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89194"/>
            <a:ext cx="3555991" cy="2768593"/>
          </a:xfrm>
          <a:prstGeom prst="roundRect">
            <a:avLst>
              <a:gd name="adj" fmla="val 3670"/>
            </a:avLst>
          </a:prstGeom>
          <a:solidFill>
            <a:srgbClr val="F8F4EB"/>
          </a:solidFill>
          <a:ln/>
        </p:spPr>
      </p:sp>
      <p:sp>
        <p:nvSpPr>
          <p:cNvPr id="8" name="Text 6"/>
          <p:cNvSpPr txBox="1"/>
          <p:nvPr/>
        </p:nvSpPr>
        <p:spPr>
          <a:xfrm>
            <a:off x="825498"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a:t>
            </a:r>
            <a:endParaRPr lang="en-US" sz="800" dirty="0"/>
          </a:p>
        </p:txBody>
      </p:sp>
      <p:sp>
        <p:nvSpPr>
          <p:cNvPr id="9" name="Text 7"/>
          <p:cNvSpPr txBox="1"/>
          <p:nvPr/>
        </p:nvSpPr>
        <p:spPr>
          <a:xfrm>
            <a:off x="825498"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Zoals het nu loopt</a:t>
            </a:r>
            <a:endParaRPr lang="en-US" sz="1250" dirty="0"/>
          </a:p>
        </p:txBody>
      </p:sp>
      <p:sp>
        <p:nvSpPr>
          <p:cNvPr id="10" name="Text 8"/>
          <p:cNvSpPr txBox="1"/>
          <p:nvPr/>
        </p:nvSpPr>
        <p:spPr>
          <a:xfrm>
            <a:off x="825498"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Beldagen</a:t>
            </a:r>
            <a:endParaRPr lang="en-US" sz="950" dirty="0"/>
          </a:p>
        </p:txBody>
      </p:sp>
      <p:sp>
        <p:nvSpPr>
          <p:cNvPr id="11" name="Text 9"/>
          <p:cNvSpPr txBox="1"/>
          <p:nvPr/>
        </p:nvSpPr>
        <p:spPr>
          <a:xfrm>
            <a:off x="3124192"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3,7</a:t>
            </a:r>
            <a:endParaRPr lang="en-US" sz="1150" dirty="0"/>
          </a:p>
        </p:txBody>
      </p:sp>
      <p:sp>
        <p:nvSpPr>
          <p:cNvPr id="12" name="Shape 10"/>
          <p:cNvSpPr/>
          <p:nvPr/>
        </p:nvSpPr>
        <p:spPr>
          <a:xfrm>
            <a:off x="825498" y="3728711"/>
            <a:ext cx="3124192" cy="0"/>
          </a:xfrm>
          <a:prstGeom prst="line">
            <a:avLst/>
          </a:prstGeom>
          <a:noFill/>
          <a:ln w="9525">
            <a:solidFill>
              <a:srgbClr val="D8D2C4"/>
            </a:solidFill>
            <a:prstDash val="solid"/>
          </a:ln>
        </p:spPr>
      </p:sp>
      <p:sp>
        <p:nvSpPr>
          <p:cNvPr id="13" name="Text 11"/>
          <p:cNvSpPr txBox="1"/>
          <p:nvPr/>
        </p:nvSpPr>
        <p:spPr>
          <a:xfrm>
            <a:off x="825498"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Contactpogingen</a:t>
            </a:r>
            <a:endParaRPr lang="en-US" sz="950" dirty="0"/>
          </a:p>
        </p:txBody>
      </p:sp>
      <p:sp>
        <p:nvSpPr>
          <p:cNvPr id="14" name="Text 12"/>
          <p:cNvSpPr txBox="1"/>
          <p:nvPr/>
        </p:nvSpPr>
        <p:spPr>
          <a:xfrm>
            <a:off x="3124192"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556</a:t>
            </a:r>
            <a:endParaRPr lang="en-US" sz="1150" dirty="0"/>
          </a:p>
        </p:txBody>
      </p:sp>
      <p:sp>
        <p:nvSpPr>
          <p:cNvPr id="15" name="Shape 13"/>
          <p:cNvSpPr/>
          <p:nvPr/>
        </p:nvSpPr>
        <p:spPr>
          <a:xfrm>
            <a:off x="825498" y="4079230"/>
            <a:ext cx="3124192" cy="0"/>
          </a:xfrm>
          <a:prstGeom prst="line">
            <a:avLst/>
          </a:prstGeom>
          <a:noFill/>
          <a:ln w="9525">
            <a:solidFill>
              <a:srgbClr val="D8D2C4"/>
            </a:solidFill>
            <a:prstDash val="solid"/>
          </a:ln>
        </p:spPr>
      </p:sp>
      <p:sp>
        <p:nvSpPr>
          <p:cNvPr id="16" name="Text 14"/>
          <p:cNvSpPr txBox="1"/>
          <p:nvPr/>
        </p:nvSpPr>
        <p:spPr>
          <a:xfrm>
            <a:off x="825498"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Afspraken</a:t>
            </a:r>
            <a:endParaRPr lang="en-US" sz="950" dirty="0"/>
          </a:p>
        </p:txBody>
      </p:sp>
      <p:sp>
        <p:nvSpPr>
          <p:cNvPr id="17" name="Text 15"/>
          <p:cNvSpPr txBox="1"/>
          <p:nvPr/>
        </p:nvSpPr>
        <p:spPr>
          <a:xfrm>
            <a:off x="3124192"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a:t>
            </a:r>
            <a:endParaRPr lang="en-US" sz="1150" dirty="0"/>
          </a:p>
        </p:txBody>
      </p:sp>
      <p:sp>
        <p:nvSpPr>
          <p:cNvPr id="18" name="Shape 16"/>
          <p:cNvSpPr/>
          <p:nvPr/>
        </p:nvSpPr>
        <p:spPr>
          <a:xfrm>
            <a:off x="825498" y="4429749"/>
            <a:ext cx="3124192" cy="0"/>
          </a:xfrm>
          <a:prstGeom prst="line">
            <a:avLst/>
          </a:prstGeom>
          <a:noFill/>
          <a:ln w="9525">
            <a:solidFill>
              <a:srgbClr val="D8D2C4"/>
            </a:solidFill>
            <a:prstDash val="solid"/>
          </a:ln>
        </p:spPr>
      </p:sp>
      <p:sp>
        <p:nvSpPr>
          <p:cNvPr id="19" name="Text 17"/>
          <p:cNvSpPr txBox="1"/>
          <p:nvPr/>
        </p:nvSpPr>
        <p:spPr>
          <a:xfrm>
            <a:off x="825498"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Per beldag</a:t>
            </a:r>
            <a:endParaRPr lang="en-US" sz="950" dirty="0"/>
          </a:p>
        </p:txBody>
      </p:sp>
      <p:sp>
        <p:nvSpPr>
          <p:cNvPr id="20" name="Text 18"/>
          <p:cNvSpPr txBox="1"/>
          <p:nvPr/>
        </p:nvSpPr>
        <p:spPr>
          <a:xfrm>
            <a:off x="3124192"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€ 540</a:t>
            </a:r>
            <a:endParaRPr lang="en-US" sz="1150" dirty="0"/>
          </a:p>
        </p:txBody>
      </p:sp>
      <p:sp>
        <p:nvSpPr>
          <p:cNvPr id="21" name="Shape 19"/>
          <p:cNvSpPr/>
          <p:nvPr/>
        </p:nvSpPr>
        <p:spPr>
          <a:xfrm>
            <a:off x="825498" y="4780268"/>
            <a:ext cx="3124192" cy="0"/>
          </a:xfrm>
          <a:prstGeom prst="line">
            <a:avLst/>
          </a:prstGeom>
          <a:noFill/>
          <a:ln w="9525">
            <a:solidFill>
              <a:srgbClr val="D8D2C4"/>
            </a:solidFill>
            <a:prstDash val="solid"/>
          </a:ln>
        </p:spPr>
      </p:sp>
      <p:sp>
        <p:nvSpPr>
          <p:cNvPr id="22" name="Text 20"/>
          <p:cNvSpPr txBox="1"/>
          <p:nvPr/>
        </p:nvSpPr>
        <p:spPr>
          <a:xfrm>
            <a:off x="825498"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Per werkperiode</a:t>
            </a:r>
            <a:endParaRPr lang="en-US" sz="950" dirty="0"/>
          </a:p>
        </p:txBody>
      </p:sp>
      <p:sp>
        <p:nvSpPr>
          <p:cNvPr id="23" name="Text 21"/>
          <p:cNvSpPr txBox="1"/>
          <p:nvPr/>
        </p:nvSpPr>
        <p:spPr>
          <a:xfrm>
            <a:off x="3124192"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€ 2.000</a:t>
            </a:r>
            <a:endParaRPr lang="en-US" sz="1150" dirty="0"/>
          </a:p>
        </p:txBody>
      </p:sp>
      <p:sp>
        <p:nvSpPr>
          <p:cNvPr id="24" name="Shape 22"/>
          <p:cNvSpPr/>
          <p:nvPr/>
        </p:nvSpPr>
        <p:spPr>
          <a:xfrm>
            <a:off x="4317989" y="2489194"/>
            <a:ext cx="3555991" cy="2768593"/>
          </a:xfrm>
          <a:prstGeom prst="roundRect">
            <a:avLst>
              <a:gd name="adj" fmla="val 3670"/>
            </a:avLst>
          </a:prstGeom>
          <a:solidFill>
            <a:srgbClr val="000000"/>
          </a:solidFill>
          <a:ln/>
        </p:spPr>
      </p:sp>
      <p:sp>
        <p:nvSpPr>
          <p:cNvPr id="25" name="Text 23"/>
          <p:cNvSpPr txBox="1"/>
          <p:nvPr/>
        </p:nvSpPr>
        <p:spPr>
          <a:xfrm>
            <a:off x="4533889" y="2743193"/>
            <a:ext cx="3124192"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VOORSTEL</a:t>
            </a:r>
            <a:endParaRPr lang="en-US" sz="800" dirty="0"/>
          </a:p>
        </p:txBody>
      </p:sp>
      <p:sp>
        <p:nvSpPr>
          <p:cNvPr id="26" name="Text 24"/>
          <p:cNvSpPr txBox="1"/>
          <p:nvPr/>
        </p:nvSpPr>
        <p:spPr>
          <a:xfrm>
            <a:off x="453388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F2EFE6"/>
                </a:solidFill>
                <a:latin typeface="Arial" pitchFamily="34" charset="0"/>
                <a:ea typeface="Arial" pitchFamily="34" charset="-122"/>
                <a:cs typeface="Arial" pitchFamily="34" charset="-120"/>
              </a:rPr>
              <a:t>Vier beldagen</a:t>
            </a:r>
            <a:endParaRPr lang="en-US" sz="1250" dirty="0"/>
          </a:p>
        </p:txBody>
      </p:sp>
      <p:sp>
        <p:nvSpPr>
          <p:cNvPr id="27" name="Text 25"/>
          <p:cNvSpPr txBox="1"/>
          <p:nvPr/>
        </p:nvSpPr>
        <p:spPr>
          <a:xfrm>
            <a:off x="4533889" y="3378192"/>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Beldagen</a:t>
            </a:r>
            <a:endParaRPr lang="en-US" sz="950" dirty="0"/>
          </a:p>
        </p:txBody>
      </p:sp>
      <p:sp>
        <p:nvSpPr>
          <p:cNvPr id="28" name="Text 26"/>
          <p:cNvSpPr txBox="1"/>
          <p:nvPr/>
        </p:nvSpPr>
        <p:spPr>
          <a:xfrm>
            <a:off x="6832583" y="3378192"/>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4</a:t>
            </a:r>
            <a:endParaRPr lang="en-US" sz="1150" dirty="0"/>
          </a:p>
        </p:txBody>
      </p:sp>
      <p:sp>
        <p:nvSpPr>
          <p:cNvPr id="29" name="Shape 27"/>
          <p:cNvSpPr/>
          <p:nvPr/>
        </p:nvSpPr>
        <p:spPr>
          <a:xfrm>
            <a:off x="4533889" y="3728711"/>
            <a:ext cx="3124192" cy="0"/>
          </a:xfrm>
          <a:prstGeom prst="line">
            <a:avLst/>
          </a:prstGeom>
          <a:noFill/>
          <a:ln w="9525">
            <a:solidFill>
              <a:srgbClr val="3A4152"/>
            </a:solidFill>
            <a:prstDash val="solid"/>
          </a:ln>
        </p:spPr>
      </p:sp>
      <p:sp>
        <p:nvSpPr>
          <p:cNvPr id="30" name="Text 28"/>
          <p:cNvSpPr txBox="1"/>
          <p:nvPr/>
        </p:nvSpPr>
        <p:spPr>
          <a:xfrm>
            <a:off x="4533889" y="3728711"/>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Contactpogingen</a:t>
            </a:r>
            <a:endParaRPr lang="en-US" sz="950" dirty="0"/>
          </a:p>
        </p:txBody>
      </p:sp>
      <p:sp>
        <p:nvSpPr>
          <p:cNvPr id="31" name="Text 29"/>
          <p:cNvSpPr txBox="1"/>
          <p:nvPr/>
        </p:nvSpPr>
        <p:spPr>
          <a:xfrm>
            <a:off x="6832583" y="3728711"/>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600</a:t>
            </a:r>
            <a:endParaRPr lang="en-US" sz="1150" dirty="0"/>
          </a:p>
        </p:txBody>
      </p:sp>
      <p:sp>
        <p:nvSpPr>
          <p:cNvPr id="32" name="Shape 30"/>
          <p:cNvSpPr/>
          <p:nvPr/>
        </p:nvSpPr>
        <p:spPr>
          <a:xfrm>
            <a:off x="4533889" y="4079230"/>
            <a:ext cx="3124192" cy="0"/>
          </a:xfrm>
          <a:prstGeom prst="line">
            <a:avLst/>
          </a:prstGeom>
          <a:noFill/>
          <a:ln w="9525">
            <a:solidFill>
              <a:srgbClr val="3A4152"/>
            </a:solidFill>
            <a:prstDash val="solid"/>
          </a:ln>
        </p:spPr>
      </p:sp>
      <p:sp>
        <p:nvSpPr>
          <p:cNvPr id="33" name="Text 31"/>
          <p:cNvSpPr txBox="1"/>
          <p:nvPr/>
        </p:nvSpPr>
        <p:spPr>
          <a:xfrm>
            <a:off x="4533889" y="4079230"/>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Afspraken</a:t>
            </a:r>
            <a:endParaRPr lang="en-US" sz="950" dirty="0"/>
          </a:p>
        </p:txBody>
      </p:sp>
      <p:sp>
        <p:nvSpPr>
          <p:cNvPr id="34" name="Text 32"/>
          <p:cNvSpPr txBox="1"/>
          <p:nvPr/>
        </p:nvSpPr>
        <p:spPr>
          <a:xfrm>
            <a:off x="6832583" y="4079230"/>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6</a:t>
            </a:r>
            <a:endParaRPr lang="en-US" sz="1150" dirty="0"/>
          </a:p>
        </p:txBody>
      </p:sp>
      <p:sp>
        <p:nvSpPr>
          <p:cNvPr id="35" name="Shape 33"/>
          <p:cNvSpPr/>
          <p:nvPr/>
        </p:nvSpPr>
        <p:spPr>
          <a:xfrm>
            <a:off x="4533889" y="4429749"/>
            <a:ext cx="3124192" cy="0"/>
          </a:xfrm>
          <a:prstGeom prst="line">
            <a:avLst/>
          </a:prstGeom>
          <a:noFill/>
          <a:ln w="9525">
            <a:solidFill>
              <a:srgbClr val="3A4152"/>
            </a:solidFill>
            <a:prstDash val="solid"/>
          </a:ln>
        </p:spPr>
      </p:sp>
      <p:sp>
        <p:nvSpPr>
          <p:cNvPr id="36" name="Text 34"/>
          <p:cNvSpPr txBox="1"/>
          <p:nvPr/>
        </p:nvSpPr>
        <p:spPr>
          <a:xfrm>
            <a:off x="4533889" y="4429749"/>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Per beldag</a:t>
            </a:r>
            <a:endParaRPr lang="en-US" sz="950" dirty="0"/>
          </a:p>
        </p:txBody>
      </p:sp>
      <p:sp>
        <p:nvSpPr>
          <p:cNvPr id="37" name="Text 35"/>
          <p:cNvSpPr txBox="1"/>
          <p:nvPr/>
        </p:nvSpPr>
        <p:spPr>
          <a:xfrm>
            <a:off x="6832583" y="4429749"/>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€ 600</a:t>
            </a:r>
            <a:endParaRPr lang="en-US" sz="1150" dirty="0"/>
          </a:p>
        </p:txBody>
      </p:sp>
      <p:sp>
        <p:nvSpPr>
          <p:cNvPr id="38" name="Shape 36"/>
          <p:cNvSpPr/>
          <p:nvPr/>
        </p:nvSpPr>
        <p:spPr>
          <a:xfrm>
            <a:off x="4533889" y="4780268"/>
            <a:ext cx="3124192" cy="0"/>
          </a:xfrm>
          <a:prstGeom prst="line">
            <a:avLst/>
          </a:prstGeom>
          <a:noFill/>
          <a:ln w="9525">
            <a:solidFill>
              <a:srgbClr val="3A4152"/>
            </a:solidFill>
            <a:prstDash val="solid"/>
          </a:ln>
        </p:spPr>
      </p:sp>
      <p:sp>
        <p:nvSpPr>
          <p:cNvPr id="39" name="Text 37"/>
          <p:cNvSpPr txBox="1"/>
          <p:nvPr/>
        </p:nvSpPr>
        <p:spPr>
          <a:xfrm>
            <a:off x="4533889" y="4780268"/>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Per werkperiode</a:t>
            </a:r>
            <a:endParaRPr lang="en-US" sz="950" dirty="0"/>
          </a:p>
        </p:txBody>
      </p:sp>
      <p:sp>
        <p:nvSpPr>
          <p:cNvPr id="40" name="Text 38"/>
          <p:cNvSpPr txBox="1"/>
          <p:nvPr/>
        </p:nvSpPr>
        <p:spPr>
          <a:xfrm>
            <a:off x="6832583" y="4780268"/>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€ 2.400</a:t>
            </a:r>
            <a:endParaRPr lang="en-US" sz="1150" dirty="0"/>
          </a:p>
        </p:txBody>
      </p:sp>
      <p:sp>
        <p:nvSpPr>
          <p:cNvPr id="41" name="Shape 39"/>
          <p:cNvSpPr/>
          <p:nvPr/>
        </p:nvSpPr>
        <p:spPr>
          <a:xfrm>
            <a:off x="8026380" y="2489194"/>
            <a:ext cx="3555991" cy="2768593"/>
          </a:xfrm>
          <a:prstGeom prst="roundRect">
            <a:avLst>
              <a:gd name="adj" fmla="val 3670"/>
            </a:avLst>
          </a:prstGeom>
          <a:solidFill>
            <a:srgbClr val="F8F4EB"/>
          </a:solidFill>
          <a:ln/>
        </p:spPr>
      </p:sp>
      <p:sp>
        <p:nvSpPr>
          <p:cNvPr id="42" name="Text 40"/>
          <p:cNvSpPr txBox="1"/>
          <p:nvPr/>
        </p:nvSpPr>
        <p:spPr>
          <a:xfrm>
            <a:off x="8242279"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OF</a:t>
            </a:r>
            <a:endParaRPr lang="en-US" sz="800" dirty="0"/>
          </a:p>
        </p:txBody>
      </p:sp>
      <p:sp>
        <p:nvSpPr>
          <p:cNvPr id="43" name="Text 41"/>
          <p:cNvSpPr txBox="1"/>
          <p:nvPr/>
        </p:nvSpPr>
        <p:spPr>
          <a:xfrm>
            <a:off x="824227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Zes beldagen</a:t>
            </a:r>
            <a:endParaRPr lang="en-US" sz="1250" dirty="0"/>
          </a:p>
        </p:txBody>
      </p:sp>
      <p:sp>
        <p:nvSpPr>
          <p:cNvPr id="44" name="Text 42"/>
          <p:cNvSpPr txBox="1"/>
          <p:nvPr/>
        </p:nvSpPr>
        <p:spPr>
          <a:xfrm>
            <a:off x="8242279"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Beldagen</a:t>
            </a:r>
            <a:endParaRPr lang="en-US" sz="950" dirty="0"/>
          </a:p>
        </p:txBody>
      </p:sp>
      <p:sp>
        <p:nvSpPr>
          <p:cNvPr id="45" name="Text 43"/>
          <p:cNvSpPr txBox="1"/>
          <p:nvPr/>
        </p:nvSpPr>
        <p:spPr>
          <a:xfrm>
            <a:off x="10540974"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6</a:t>
            </a:r>
            <a:endParaRPr lang="en-US" sz="1150" dirty="0"/>
          </a:p>
        </p:txBody>
      </p:sp>
      <p:sp>
        <p:nvSpPr>
          <p:cNvPr id="46" name="Shape 44"/>
          <p:cNvSpPr/>
          <p:nvPr/>
        </p:nvSpPr>
        <p:spPr>
          <a:xfrm>
            <a:off x="8242279" y="3728711"/>
            <a:ext cx="3124192" cy="0"/>
          </a:xfrm>
          <a:prstGeom prst="line">
            <a:avLst/>
          </a:prstGeom>
          <a:noFill/>
          <a:ln w="9525">
            <a:solidFill>
              <a:srgbClr val="D8D2C4"/>
            </a:solidFill>
            <a:prstDash val="solid"/>
          </a:ln>
        </p:spPr>
      </p:sp>
      <p:sp>
        <p:nvSpPr>
          <p:cNvPr id="47" name="Text 45"/>
          <p:cNvSpPr txBox="1"/>
          <p:nvPr/>
        </p:nvSpPr>
        <p:spPr>
          <a:xfrm>
            <a:off x="8242279"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Contactpogingen</a:t>
            </a:r>
            <a:endParaRPr lang="en-US" sz="950" dirty="0"/>
          </a:p>
        </p:txBody>
      </p:sp>
      <p:sp>
        <p:nvSpPr>
          <p:cNvPr id="48" name="Text 46"/>
          <p:cNvSpPr txBox="1"/>
          <p:nvPr/>
        </p:nvSpPr>
        <p:spPr>
          <a:xfrm>
            <a:off x="10540974"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900</a:t>
            </a:r>
            <a:endParaRPr lang="en-US" sz="1150" dirty="0"/>
          </a:p>
        </p:txBody>
      </p:sp>
      <p:sp>
        <p:nvSpPr>
          <p:cNvPr id="49" name="Shape 47"/>
          <p:cNvSpPr/>
          <p:nvPr/>
        </p:nvSpPr>
        <p:spPr>
          <a:xfrm>
            <a:off x="8242279" y="4079230"/>
            <a:ext cx="3124192" cy="0"/>
          </a:xfrm>
          <a:prstGeom prst="line">
            <a:avLst/>
          </a:prstGeom>
          <a:noFill/>
          <a:ln w="9525">
            <a:solidFill>
              <a:srgbClr val="D8D2C4"/>
            </a:solidFill>
            <a:prstDash val="solid"/>
          </a:ln>
        </p:spPr>
      </p:sp>
      <p:sp>
        <p:nvSpPr>
          <p:cNvPr id="50" name="Text 48"/>
          <p:cNvSpPr txBox="1"/>
          <p:nvPr/>
        </p:nvSpPr>
        <p:spPr>
          <a:xfrm>
            <a:off x="8242279"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Afspraken</a:t>
            </a:r>
            <a:endParaRPr lang="en-US" sz="950" dirty="0"/>
          </a:p>
        </p:txBody>
      </p:sp>
      <p:sp>
        <p:nvSpPr>
          <p:cNvPr id="51" name="Text 49"/>
          <p:cNvSpPr txBox="1"/>
          <p:nvPr/>
        </p:nvSpPr>
        <p:spPr>
          <a:xfrm>
            <a:off x="10540974"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9</a:t>
            </a:r>
            <a:endParaRPr lang="en-US" sz="1150" dirty="0"/>
          </a:p>
        </p:txBody>
      </p:sp>
      <p:sp>
        <p:nvSpPr>
          <p:cNvPr id="52" name="Shape 50"/>
          <p:cNvSpPr/>
          <p:nvPr/>
        </p:nvSpPr>
        <p:spPr>
          <a:xfrm>
            <a:off x="8242279" y="4429749"/>
            <a:ext cx="3124192" cy="0"/>
          </a:xfrm>
          <a:prstGeom prst="line">
            <a:avLst/>
          </a:prstGeom>
          <a:noFill/>
          <a:ln w="9525">
            <a:solidFill>
              <a:srgbClr val="D8D2C4"/>
            </a:solidFill>
            <a:prstDash val="solid"/>
          </a:ln>
        </p:spPr>
      </p:sp>
      <p:sp>
        <p:nvSpPr>
          <p:cNvPr id="53" name="Text 51"/>
          <p:cNvSpPr txBox="1"/>
          <p:nvPr/>
        </p:nvSpPr>
        <p:spPr>
          <a:xfrm>
            <a:off x="8242279"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Per beldag</a:t>
            </a:r>
            <a:endParaRPr lang="en-US" sz="950" dirty="0"/>
          </a:p>
        </p:txBody>
      </p:sp>
      <p:sp>
        <p:nvSpPr>
          <p:cNvPr id="54" name="Text 52"/>
          <p:cNvSpPr txBox="1"/>
          <p:nvPr/>
        </p:nvSpPr>
        <p:spPr>
          <a:xfrm>
            <a:off x="10540974"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€ 575</a:t>
            </a:r>
            <a:endParaRPr lang="en-US" sz="1150" dirty="0"/>
          </a:p>
        </p:txBody>
      </p:sp>
      <p:sp>
        <p:nvSpPr>
          <p:cNvPr id="55" name="Shape 53"/>
          <p:cNvSpPr/>
          <p:nvPr/>
        </p:nvSpPr>
        <p:spPr>
          <a:xfrm>
            <a:off x="8242279" y="4780268"/>
            <a:ext cx="3124192" cy="0"/>
          </a:xfrm>
          <a:prstGeom prst="line">
            <a:avLst/>
          </a:prstGeom>
          <a:noFill/>
          <a:ln w="9525">
            <a:solidFill>
              <a:srgbClr val="D8D2C4"/>
            </a:solidFill>
            <a:prstDash val="solid"/>
          </a:ln>
        </p:spPr>
      </p:sp>
      <p:sp>
        <p:nvSpPr>
          <p:cNvPr id="56" name="Text 54"/>
          <p:cNvSpPr txBox="1"/>
          <p:nvPr/>
        </p:nvSpPr>
        <p:spPr>
          <a:xfrm>
            <a:off x="8242279"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Per werkperiode</a:t>
            </a:r>
            <a:endParaRPr lang="en-US" sz="950" dirty="0"/>
          </a:p>
        </p:txBody>
      </p:sp>
      <p:sp>
        <p:nvSpPr>
          <p:cNvPr id="57" name="Text 55"/>
          <p:cNvSpPr txBox="1"/>
          <p:nvPr/>
        </p:nvSpPr>
        <p:spPr>
          <a:xfrm>
            <a:off x="10540974"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€ 3.450</a:t>
            </a:r>
            <a:endParaRPr lang="en-US" sz="1150" dirty="0"/>
          </a:p>
        </p:txBody>
      </p:sp>
      <p:sp>
        <p:nvSpPr>
          <p:cNvPr id="58" name="Shape 56"/>
          <p:cNvSpPr/>
          <p:nvPr/>
        </p:nvSpPr>
        <p:spPr>
          <a:xfrm>
            <a:off x="609598" y="5854685"/>
            <a:ext cx="76200" cy="76200"/>
          </a:xfrm>
          <a:prstGeom prst="ellipse">
            <a:avLst/>
          </a:prstGeom>
          <a:solidFill>
            <a:srgbClr val="38B6FF"/>
          </a:solidFill>
          <a:ln/>
        </p:spPr>
      </p:sp>
      <p:sp>
        <p:nvSpPr>
          <p:cNvPr id="59" name="Text 57"/>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Je betaalt nu al ongeveer € 540 per beldag. Met vier beldagen en een derde eigen relaties op de lijst komen we op de zes afspraken per maand die in de overeenkomst staan. Wil je sneller, dan zijn het er negen bij zes beldagen.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OK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Drie dingen, en het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eerste is het belangrijkste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000000"/>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Jullie lijst met gewenste klanten</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C2C8D2"/>
                </a:solidFill>
                <a:latin typeface="Arial" pitchFamily="34" charset="0"/>
                <a:ea typeface="Arial" pitchFamily="34" charset="-122"/>
                <a:cs typeface="Arial" pitchFamily="34" charset="-120"/>
              </a:rPr>
              <a:t>De bedrijven waar Frits en Mark graag binnen willen komen, en de relaties van vroeger. Wij willen ongeveer een derde van de bellijst daaruit laten bestaan. Dat is wat het target van 1,5 haalbaar maakt.</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De 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Huidige klanten en lopende trajecten. Die was bij de start toegezegd en is nog niet compleet.</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Terugkoppeling op afspraken</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Kort laten weten hoe een gesprek met Frits verliep, zodat we de kwalificatie blijven bijstellen.</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Agenda van Frits</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Vaste momenten van maandag tot en met donderdag waarop wij mogen inplannen.</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13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 Geen nacalculatie achteraf.</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1,5 afspraak per beldag</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Het target waar we op sturen. Vier beldagen zijn zes afspraken per werkperiode.</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 gehaald is een gratis beldag</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Maximaal een per werkperiode. Halen we het dan nog niet, dan gaan we om tafel over lijst of doelgroep.</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Kwalificatie samen vastgesteld</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de start van werkperiode 4 leggen we samen vast wanneer een afspraak meetelt.</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 en afschalen per periode</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bepalen het aantal beldagen, vanaf vier.</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Prijs vast tot en met 2027</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De dagprijs en de staffel blijven ongewijzigd. Geen jaarlijkse indexatie.</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Succesfee van 5 procent</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Ongewijzigd. Wij verdienen pas echt als een afspraak klant wordt.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14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ritme? Dan loopt het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gewoon door</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aantal beldagen per werkperiode.</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Lijst aanleveren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OK levert de gewenste klanten en de uitsluitlijst aan, wij bouwen de nieuwe lijst.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Doorbellen</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Werkperiode 4 start aansluitend, zonder onderbreking.</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OK Creative Agency</dc:title>
  <dc:subject>PptxGenJS Presentation</dc:subject>
  <dc:creator>LINK.</dc:creator>
  <cp:lastModifiedBy>LINK.</cp:lastModifiedBy>
  <cp:revision>1</cp:revision>
  <dcterms:created xsi:type="dcterms:W3CDTF">2026-10-11T18:58:01Z</dcterms:created>
  <dcterms:modified xsi:type="dcterms:W3CDTF">2026-10-11T18:58:01Z</dcterms:modified>
</cp:coreProperties>
</file>