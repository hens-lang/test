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ROB EN FRITS · OK CREATIVE AGENCY · EVALUATIE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Waar de afspraken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wel</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vandaan kwamen.</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Twaalf weken bellen zit erop. In deze presentatie staat wat het heeft opgeleverd, wat de cijfers laten zien over welke lijst werkt, en hoe we het vanaf november willen inrichten.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OK Creative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de agenda van Frits met iemand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Jullie markt is een van de moeilijkste die wij bellen. Zakelijke dienstverlening vanaf vijftig medewerkers betekent een receptie die afschermt en een beslisser die zelden zelf opneemt. Dat zie je terug in de cijfers, en juist daarom sturen we op de lijst.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Haarlems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Voorwerk per prospect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Voor elk belblok zoeken we online en op LinkedIn op wie er over marketing en communicatie gaat. We vragen naar die persoon bij naam. Dat is de enige manier langs de receptie.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en schonen de bellijst. Zakelijke dienstverlening vanaf vijftig medewerkers, plus de relaties en gewenste klanten die jullie zelf aandragen.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en de juiste persoon tegenover Frits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 van Frits.</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en zoeken per prospect de juiste contactpersoon op,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namens oké, met de insteek van Frits: hij heeft punten voorbereid over hoe het bedrijf naar buiten communiceert en wil die toelichten.</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en de mix van de lijst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van Frits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 dezelfde dag</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Mail-introducties apart, met de nabeldatum erbij</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Zakelijke dienstverlening vanaf vijftig medewerkers. IT, accountancy, verzekeringen en vergelijkbare bedrijven die zelf een dienst leveren.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Aanleiding</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verouderde of zwakke site, een merkverhaal dat niet meer klopt, of marketing die versnipperd door de organisatie loopt.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Algemeen directeur, iemand uit het MT of de verantwoordelijke voor marketing en merk. Geen uitvoerende marketeer.</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de start van werkperiode 4 leggen we deze drie samen opnieuw vast. In de overeenkomst stond dat die criteria vooraf bepaald zouden worden en dat is er niet scherp genoeg van gekomen.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Twaalf weken bellen,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geteld in ons belsysteem</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1.668</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24 juli tot en met 9 oktober, verdeeld over 540 bedrijven.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452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Bij de rest kwamen we niet langs de receptie of was het nummer onjuist.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116</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 EN OPEN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en verstuurde introducties die nog lopen.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12</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Zeven ingeplande afspraken en vijf overdrachten. Eén per 139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Deze cijfers komen uit de belexport van 11 oktober, niet uit een schatting. Werkperiode 3 loopt nog door tot 25 oktober.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Meer bellen leverde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niet meer 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op.</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3 t/m 30 augustus</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192</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26</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31 aug t/m 27 september</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631</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28 sep t/m 25 oktober</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837</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1 was een kleine periode: 200 pogingen en vijf afspraken. Daarna ging het volume vier en zes keer omhoog en zakte het rendement naar vijf per duizend. Het aantal gesprekken is dus niet het probleem.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WAAR HET VERSCHIL ZIT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De lijst met jullie eigen relaties loopt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drie keer beter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BELLIJST</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15948" y="3136892"/>
            <a:ext cx="10960073" cy="628648"/>
          </a:xfrm>
          <a:prstGeom prst="rect">
            <a:avLst/>
          </a:prstGeom>
          <a:solidFill>
            <a:srgbClr val="38B6FF">
              <a:alpha val="11000"/>
            </a:srgbClr>
          </a:solidFill>
          <a:ln/>
        </p:spPr>
      </p:sp>
      <p:sp>
        <p:nvSpPr>
          <p:cNvPr id="13" name="Shape 11"/>
          <p:cNvSpPr/>
          <p:nvPr/>
        </p:nvSpPr>
        <p:spPr>
          <a:xfrm>
            <a:off x="609598" y="3136892"/>
            <a:ext cx="10972773" cy="0"/>
          </a:xfrm>
          <a:prstGeom prst="line">
            <a:avLst/>
          </a:prstGeom>
          <a:noFill/>
          <a:ln w="9525">
            <a:solidFill>
              <a:srgbClr val="3A4152"/>
            </a:solidFill>
            <a:prstDash val="solid"/>
          </a:ln>
        </p:spPr>
      </p:sp>
      <p:sp>
        <p:nvSpPr>
          <p:cNvPr id="14" name="Text 12"/>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Relaties en gewenste klanten</a:t>
            </a:r>
            <a:endParaRPr lang="en-US" sz="1250" dirty="0"/>
          </a:p>
        </p:txBody>
      </p:sp>
      <p:sp>
        <p:nvSpPr>
          <p:cNvPr id="15" name="Text 13"/>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207</a:t>
            </a:r>
            <a:endParaRPr lang="en-US" sz="1250" dirty="0"/>
          </a:p>
        </p:txBody>
      </p:sp>
      <p:sp>
        <p:nvSpPr>
          <p:cNvPr id="16" name="Text 14"/>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a:t>
            </a:r>
            <a:endParaRPr lang="en-US" sz="1250" dirty="0"/>
          </a:p>
        </p:txBody>
      </p:sp>
      <p:sp>
        <p:nvSpPr>
          <p:cNvPr id="17" name="Text 15"/>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19</a:t>
            </a:r>
            <a:endParaRPr lang="en-US" sz="1250" dirty="0"/>
          </a:p>
        </p:txBody>
      </p:sp>
      <p:sp>
        <p:nvSpPr>
          <p:cNvPr id="18" name="Shape 16"/>
          <p:cNvSpPr/>
          <p:nvPr/>
        </p:nvSpPr>
        <p:spPr>
          <a:xfrm>
            <a:off x="609598" y="3765541"/>
            <a:ext cx="10972773" cy="0"/>
          </a:xfrm>
          <a:prstGeom prst="line">
            <a:avLst/>
          </a:prstGeom>
          <a:noFill/>
          <a:ln w="9525">
            <a:solidFill>
              <a:srgbClr val="3A4152"/>
            </a:solidFill>
            <a:prstDash val="solid"/>
          </a:ln>
        </p:spPr>
      </p:sp>
      <p:sp>
        <p:nvSpPr>
          <p:cNvPr id="19" name="Text 17"/>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Zakelijke dienstverlening, koud</a:t>
            </a:r>
            <a:endParaRPr lang="en-US" sz="1250" dirty="0"/>
          </a:p>
        </p:txBody>
      </p:sp>
      <p:sp>
        <p:nvSpPr>
          <p:cNvPr id="20" name="Text 18"/>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1.333</a:t>
            </a:r>
            <a:endParaRPr lang="en-US" sz="1250" dirty="0"/>
          </a:p>
        </p:txBody>
      </p:sp>
      <p:sp>
        <p:nvSpPr>
          <p:cNvPr id="21" name="Text 19"/>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2" name="Text 20"/>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Bouw en techniek, koud</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99</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0</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Op de lijst met jullie relaties en gewenste klanten kost een afspraak ongeveer € 207, op de koude lijst € 667. Het gaat om vier afspraken uit 207 pogingen, dus het is een richting en geen zekerheid. Maar het is wel het enige signaal in de data dat zo hard is.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Het voorwerk per prospect, de notities en de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Gegarandeerd. Onze bellers draaien vijfentwintig pogingen per uur, gemeten in onze eigen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40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In jullie markt komen we bij ruim een op de drie pogingen langs de receptie.</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 tot 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Eén op de koude lijst, bijna drie op de lijst met jullie eigen relaties. De mix bepaalt het.</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Deze aantallen komen uit jullie eigen pilot.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ERVOOR TERUGKRIJGT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weet vooraf precies wat een werkperiode kost. Geen nacalculatie, geen kosten per afspraak en geen rekening achteraf.</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Een target dat klopt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Zes afspraken per maand vraagt zes beldagen, niet de bijna vier die er nu in gaan. Dat rekenen we voortaan vooraf uit in plaats van achteraf.</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afgesproken aantal niet, dan bellen we een dag extra op onze kosten. Maximaal een per werkperiode.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De lijst sturen we samen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werkperiode bepalen we vooraf hoeveel procent van de lijst uit jullie eigen relaties en gewenste klanten bestaat. Dat is de knop die het verschil maakt.</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6 beldagen € 575, vanaf 8 € 550,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Voorwerk per prospect inbegrepen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een gratis beldag</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Succesfee van 5% blijft ongewijzigd</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HET JE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 afspraken per maand vraagt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zes beldagen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Zoals het nu loopt</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3,7</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556</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beldag</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€ 540</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€ 2.000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000000"/>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Zes beldagen</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a:t>
            </a:r>
            <a:endParaRPr lang="en-US" sz="1150" dirty="0"/>
          </a:p>
        </p:txBody>
      </p:sp>
      <p:sp>
        <p:nvSpPr>
          <p:cNvPr id="29" name="Shape 27"/>
          <p:cNvSpPr/>
          <p:nvPr/>
        </p:nvSpPr>
        <p:spPr>
          <a:xfrm>
            <a:off x="4533889" y="3728711"/>
            <a:ext cx="3124192" cy="0"/>
          </a:xfrm>
          <a:prstGeom prst="line">
            <a:avLst/>
          </a:prstGeom>
          <a:noFill/>
          <a:ln w="9525">
            <a:solidFill>
              <a:srgbClr val="3A4152"/>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900</a:t>
            </a:r>
            <a:endParaRPr lang="en-US" sz="1150" dirty="0"/>
          </a:p>
        </p:txBody>
      </p:sp>
      <p:sp>
        <p:nvSpPr>
          <p:cNvPr id="32" name="Shape 30"/>
          <p:cNvSpPr/>
          <p:nvPr/>
        </p:nvSpPr>
        <p:spPr>
          <a:xfrm>
            <a:off x="4533889" y="4079230"/>
            <a:ext cx="3124192" cy="0"/>
          </a:xfrm>
          <a:prstGeom prst="line">
            <a:avLst/>
          </a:prstGeom>
          <a:noFill/>
          <a:ln w="9525">
            <a:solidFill>
              <a:srgbClr val="3A4152"/>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a:t>
            </a:r>
            <a:endParaRPr lang="en-US" sz="1150" dirty="0"/>
          </a:p>
        </p:txBody>
      </p:sp>
      <p:sp>
        <p:nvSpPr>
          <p:cNvPr id="35" name="Shape 33"/>
          <p:cNvSpPr/>
          <p:nvPr/>
        </p:nvSpPr>
        <p:spPr>
          <a:xfrm>
            <a:off x="4533889" y="4429749"/>
            <a:ext cx="3124192" cy="0"/>
          </a:xfrm>
          <a:prstGeom prst="line">
            <a:avLst/>
          </a:prstGeom>
          <a:noFill/>
          <a:ln w="9525">
            <a:solidFill>
              <a:srgbClr val="3A4152"/>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beldag</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€ 575</a:t>
            </a:r>
            <a:endParaRPr lang="en-US" sz="1150" dirty="0"/>
          </a:p>
        </p:txBody>
      </p:sp>
      <p:sp>
        <p:nvSpPr>
          <p:cNvPr id="38" name="Shape 36"/>
          <p:cNvSpPr/>
          <p:nvPr/>
        </p:nvSpPr>
        <p:spPr>
          <a:xfrm>
            <a:off x="4533889" y="4780268"/>
            <a:ext cx="3124192" cy="0"/>
          </a:xfrm>
          <a:prstGeom prst="line">
            <a:avLst/>
          </a:prstGeom>
          <a:noFill/>
          <a:ln w="9525">
            <a:solidFill>
              <a:srgbClr val="3A4152"/>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werkperiode</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€ 3.450</a:t>
            </a:r>
            <a:endParaRPr lang="en-US" sz="1150" dirty="0"/>
          </a:p>
        </p:txBody>
      </p:sp>
      <p:sp>
        <p:nvSpPr>
          <p:cNvPr id="41" name="Shape 39"/>
          <p:cNvSpPr/>
          <p:nvPr/>
        </p:nvSpPr>
        <p:spPr>
          <a:xfrm>
            <a:off x="8026380" y="2489194"/>
            <a:ext cx="3555991" cy="2768593"/>
          </a:xfrm>
          <a:prstGeom prst="roundRect">
            <a:avLst>
              <a:gd name="adj" fmla="val 3670"/>
            </a:avLst>
          </a:prstGeom>
          <a:solidFill>
            <a:srgbClr val="F8F4EB"/>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Vier beldagen</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4</a:t>
            </a:r>
            <a:endParaRPr lang="en-US" sz="1150" dirty="0"/>
          </a:p>
        </p:txBody>
      </p:sp>
      <p:sp>
        <p:nvSpPr>
          <p:cNvPr id="46" name="Shape 44"/>
          <p:cNvSpPr/>
          <p:nvPr/>
        </p:nvSpPr>
        <p:spPr>
          <a:xfrm>
            <a:off x="8242279" y="3728711"/>
            <a:ext cx="3124192" cy="0"/>
          </a:xfrm>
          <a:prstGeom prst="line">
            <a:avLst/>
          </a:prstGeom>
          <a:noFill/>
          <a:ln w="9525">
            <a:solidFill>
              <a:srgbClr val="D8D2C4"/>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600</a:t>
            </a:r>
            <a:endParaRPr lang="en-US" sz="1150" dirty="0"/>
          </a:p>
        </p:txBody>
      </p:sp>
      <p:sp>
        <p:nvSpPr>
          <p:cNvPr id="49" name="Shape 47"/>
          <p:cNvSpPr/>
          <p:nvPr/>
        </p:nvSpPr>
        <p:spPr>
          <a:xfrm>
            <a:off x="8242279" y="4079230"/>
            <a:ext cx="3124192" cy="0"/>
          </a:xfrm>
          <a:prstGeom prst="line">
            <a:avLst/>
          </a:prstGeom>
          <a:noFill/>
          <a:ln w="9525">
            <a:solidFill>
              <a:srgbClr val="D8D2C4"/>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4</a:t>
            </a:r>
            <a:endParaRPr lang="en-US" sz="1150" dirty="0"/>
          </a:p>
        </p:txBody>
      </p:sp>
      <p:sp>
        <p:nvSpPr>
          <p:cNvPr id="52" name="Shape 50"/>
          <p:cNvSpPr/>
          <p:nvPr/>
        </p:nvSpPr>
        <p:spPr>
          <a:xfrm>
            <a:off x="8242279" y="4429749"/>
            <a:ext cx="3124192" cy="0"/>
          </a:xfrm>
          <a:prstGeom prst="line">
            <a:avLst/>
          </a:prstGeom>
          <a:noFill/>
          <a:ln w="9525">
            <a:solidFill>
              <a:srgbClr val="D8D2C4"/>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beldag</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€ 600</a:t>
            </a:r>
            <a:endParaRPr lang="en-US" sz="1150" dirty="0"/>
          </a:p>
        </p:txBody>
      </p:sp>
      <p:sp>
        <p:nvSpPr>
          <p:cNvPr id="55" name="Shape 53"/>
          <p:cNvSpPr/>
          <p:nvPr/>
        </p:nvSpPr>
        <p:spPr>
          <a:xfrm>
            <a:off x="8242279" y="4780268"/>
            <a:ext cx="3124192" cy="0"/>
          </a:xfrm>
          <a:prstGeom prst="line">
            <a:avLst/>
          </a:prstGeom>
          <a:noFill/>
          <a:ln w="9525">
            <a:solidFill>
              <a:srgbClr val="D8D2C4"/>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€ 2.400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Je betaalt nu al ongeveer € 540 per beldag, alleen gaan er bijna vier in een werkperiode. Groeit het aandeel eigen relaties op de lijst, dan lopen deze aantallen omhoog. Dat is de knop waar we samen aan draaien.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OK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Drie dingen, en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eerste is het belangrijkste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000000"/>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Jullie lijst met gewenste klanten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De bedrijven waar Frits en Mark graag binnen willen komen, en de relaties van vroeger. Op dat deel van de lijst ligt het rendement tot nu toe drie keer zo hoog.</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De 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Huidige klanten en lopende trajecten. Die was bij de start toegezegd en is nog niet compleet.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gesprek met Frits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Agenda van Frits</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Vaste momenten van maandag tot en met donderdag waarop wij mogen inplannen.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Target vooraf uitgerekend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aantal afspraken volgt uit het aantal beldagen en de mix van de lijst.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Maximaal een per werkperiode. Halen we het dan nog niet, dan gaan we om tafel over lijst of doelgroep.</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 per periode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bepalen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Succesfee van 5 procent</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Ongewijzigd. Wij verdienen pas echt als een afspraak klant wordt.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Lijst aanleveren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OK levert de gewenste klanten en de uitsluitlijst aan, wij bouwen de nieuwe lijst.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OK Creative Agency</dc:title>
  <dc:subject>PptxGenJS Presentation</dc:subject>
  <dc:creator>LINK.</dc:creator>
  <cp:lastModifiedBy>LINK.</cp:lastModifiedBy>
  <cp:revision>1</cp:revision>
  <dcterms:created xsi:type="dcterms:W3CDTF">2026-10-11T18:47:27Z</dcterms:created>
  <dcterms:modified xsi:type="dcterms:W3CDTF">2026-10-11T18:47:27Z</dcterms:modified>
</cp:coreProperties>
</file>