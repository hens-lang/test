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14</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ROB EN FRITS · OK CREATIVE AGENCY · EVALUATIE OKTOBER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Waar de afspraken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wel</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vandaan kwamen.</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Twaalf weken bellen zit erop. In deze presentatie staat wie er aan tafel is gekomen, wat er nu klaarstaat en hoe we het vanaf november willen inrichten.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OK Creative Agency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de agenda van Frits met iemand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Jullie markt is er een waarin één goed gesprek veel waard is. Een directeur of marketingverantwoordelijke bij een organisatie van deze omvang spreek je niet via een advertentie. Daar is de telefoon het enige kanaal dat erdoorheen komt, en dat is precies wat wij doen.</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Haarlems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Voorwerk per prospect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Voor elk belblok zoeken we online en op LinkedIn op wie er over marketing en communicatie gaat. We vragen naar die persoon bij naam. Dat is de enige manier langs de receptie.</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en schonen de bellijst. Zakelijke dienstverlening vanaf vijftig medewerkers, plus de relaties en gewenste klanten die jullie zelf aandragen.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en de juiste persoon tegenover Frits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 van Frits.</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Lijst klaarzetten</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zetten de lijst voor de periode klaar en zoeken per prospect de juiste contactpersoon op, met de terugbelafspraken uit de vorige periode bovenaan.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We bellen namens oké, met de insteek van Frits: hij heeft punten voorbereid over hoe het bedrijf naar buiten communiceert en wil die toelichten.</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het rapport dat je nu ook krijgt: pogingen, gesproken bedrijven, warme uitkomsten, afspraken en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Na elke periode kijken we samen naar de cijfers en bepalen we het aantal beldagen en de mix van de lijst voor de volgende.</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van Frits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 dezelfde dag</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Mail-introducties apart, met de nabeldatum erbij</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Zakelijke dienstverlening vanaf vijftig medewerkers. IT, accountancy, verzekeringen en vergelijkbare bedrijven die zelf een dienst leveren.</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Aanleiding</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Een verouderde of zwakke site, een merkverhaal dat niet meer klopt, of marketing die versnipperd door de organisatie loopt.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Algemeen directeur, iemand uit het MT of de verantwoordelijke voor marketing en merk. Geen uitvoerende marketeer.</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Bij de start van werkperiode 4 leggen we deze drie samen scherp vast, inclusief de ondergrens in medewerkers. Hoe scherper die eis, hoe hoger het rendement per beldag.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6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DE PILOT HEEFT OPGELEVERD</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Twaalf weken bellen,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en wat er nu ligt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452</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GESPREKKEN MET DE DOELGROEP</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Directeuren, MT-leden en marketingverantwoordelijken, persoonlijk aan de lijn gehad.</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540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KENNEN DE NAAM</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Allemaal benaderd namens oké. Voor een naam die vorig jaar nog Onze Kapel heette is dat op zichzelf waarde.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116</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en introducties die nog lopen, met naam, reden en datum erbij.</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14</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AFSPRAKEN EN OVERDRACHTEN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Twaalf staan er nu, twee volgen nog voor 25 oktober. Daarmee komt werkperiode 3 op het afgesproken aantal van zes.</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Deze cijfers komen uit de belexport van 11 oktober. Werkperiode 3 loopt nog door tot 25 oktober.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ER AAN TAFEL KWAM</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bedrijven die aan tafel kwamen, waaronder deze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Reageerde op de mail vanuit oké. Ellen wil online sparren. Gekomen uit jullie eigen lijst met gewenste klanten.</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Iv-Consult</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22 oktober om 14:00 met Marieke de Groot. Koud benaderd, zij nam zelf contact op om kennis te maken.</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Danieli Corus</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Edo Engel, marketingmanager Nederland, met een concrete vraag. Koud benaderd en direct overgedragen.</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En negen andere</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Verpact, Zorgwerk, Hotel Specials, Doen'r, Aluwdoors, AAme, BNU Personeel, Rotterdam Leisure Group en TC Productions. Allemaal met naam, aanleiding en contactpersoon vastgelegd.</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Zestig bedrijven wachten op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een tweede belletje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90</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TERUGBELAFSPRAKEN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Afgesproken met de juiste persoon, op een afgesproken moment.</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INTRODUCTIES VERSTUURD</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Bedrijven die om informatie vroegen en binnen drie werkdagen worden nagebeld.</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39</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STAAN NOG DEZE MAAND</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Concrete momenten in oktober, allemaal met naam en reden vastgelegd.</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60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MET EEN DATUM VANAF NU</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Dit is werk dat al gedaan en betaald is. Het rendeert pas in werkperiode 4.</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eerste gesprekken zijn het zwaarst in deze markt. Deze zestig zijn al langs de receptie, kennen de naam oké en weten waarom er gebeld wordt.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EENHEID WAARIN WE REKENEN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beldag is geen dag, maar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vaste hoeveelheid werk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UUR BELLEN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Netto aan de telefoon. Het voorwerk per prospect, de notities en de rapportage zitten daarbuiten en zijn inbegrepen.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150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CONTACTPOGINGEN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Gegarandeerd. Onze bellers draaien vijfentwintig pogingen per uur, gemeten in onze eigen urenregistratie.</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40</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In jullie markt komen we bij ruim een op de drie pogingen langs de receptie.</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1,5</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AFSPRAKEN</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target vanaf werkperiode 4. Vier beldagen zijn dan zes afspraken per werkperiode.</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Wij rekenen in beldagen en niet in uren, omdat een uur niets zegt over wat eruit komt. Vier beldagen zijn zes afspraken per werkperiode, precies het aantal uit de overeenkomst.</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JE ERVOOR TERUGKRIJGT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Vooraf een vaste prijs, achteraf geen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verrassingen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Vaste prijs per beldag</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Je weet vooraf precies wat een werkperiode kost. Geen nacalculatie, geen kosten per afspraak en geen rekening achteraf.</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Anderhalve afspraak per beldag</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Daar mikken we op vanaf werkperiode 4. Vier beldagen zijn dan zes afspraken, precies het aantal dat in de overeenkomst staat.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Niet gehaald is een gratis beldag</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afgesproken aantal niet, dan bellen we een dag extra op onze kosten. Maximaal een per werkperiode.</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De lijst bouwen we samen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werkperiode zetten we vooraf samen de bellijst op, met een vast deel namen die jullie zelf aandragen. Dat is wat het target van anderhalve afspraak per beldag haalbaar maakt.</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PRIJS PER BELDAG</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€ 600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vanaf 6 beldagen € 575, vanaf 8 € 550, excl. btw</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Vooraf gefactureerd per werkperiode</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Geen kosten per afspraak</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150 contactpogingen per beldag</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1,5 gekwalificeerde afspraak per beldag</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Niet gehaald is een gratis beldag</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Succesfee van 5% blijft ongewijzigd</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11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HET JE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Zes afspraken per maand, nu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vastgelegd</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Zoals het nu loopt</a:t>
            </a:r>
            <a:endParaRPr lang="en-US" sz="1250" dirty="0"/>
          </a:p>
        </p:txBody>
      </p:sp>
      <p:sp>
        <p:nvSpPr>
          <p:cNvPr id="10" name="Text 8"/>
          <p:cNvSpPr txBox="1"/>
          <p:nvPr/>
        </p:nvSpPr>
        <p:spPr>
          <a:xfrm>
            <a:off x="825498"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11" name="Text 9"/>
          <p:cNvSpPr txBox="1"/>
          <p:nvPr/>
        </p:nvSpPr>
        <p:spPr>
          <a:xfrm>
            <a:off x="3124192"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3,7</a:t>
            </a:r>
            <a:endParaRPr lang="en-US" sz="1150" dirty="0"/>
          </a:p>
        </p:txBody>
      </p:sp>
      <p:sp>
        <p:nvSpPr>
          <p:cNvPr id="12" name="Shape 10"/>
          <p:cNvSpPr/>
          <p:nvPr/>
        </p:nvSpPr>
        <p:spPr>
          <a:xfrm>
            <a:off x="825498" y="3728711"/>
            <a:ext cx="3124192" cy="0"/>
          </a:xfrm>
          <a:prstGeom prst="line">
            <a:avLst/>
          </a:prstGeom>
          <a:noFill/>
          <a:ln w="9525">
            <a:solidFill>
              <a:srgbClr val="D8D2C4"/>
            </a:solidFill>
            <a:prstDash val="solid"/>
          </a:ln>
        </p:spPr>
      </p:sp>
      <p:sp>
        <p:nvSpPr>
          <p:cNvPr id="13" name="Text 11"/>
          <p:cNvSpPr txBox="1"/>
          <p:nvPr/>
        </p:nvSpPr>
        <p:spPr>
          <a:xfrm>
            <a:off x="825498"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14" name="Text 12"/>
          <p:cNvSpPr txBox="1"/>
          <p:nvPr/>
        </p:nvSpPr>
        <p:spPr>
          <a:xfrm>
            <a:off x="3124192"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553</a:t>
            </a:r>
            <a:endParaRPr lang="en-US" sz="1150" dirty="0"/>
          </a:p>
        </p:txBody>
      </p:sp>
      <p:sp>
        <p:nvSpPr>
          <p:cNvPr id="15" name="Shape 13"/>
          <p:cNvSpPr/>
          <p:nvPr/>
        </p:nvSpPr>
        <p:spPr>
          <a:xfrm>
            <a:off x="825498" y="4079230"/>
            <a:ext cx="3124192" cy="0"/>
          </a:xfrm>
          <a:prstGeom prst="line">
            <a:avLst/>
          </a:prstGeom>
          <a:noFill/>
          <a:ln w="9525">
            <a:solidFill>
              <a:srgbClr val="D8D2C4"/>
            </a:solidFill>
            <a:prstDash val="solid"/>
          </a:ln>
        </p:spPr>
      </p:sp>
      <p:sp>
        <p:nvSpPr>
          <p:cNvPr id="16" name="Text 14"/>
          <p:cNvSpPr txBox="1"/>
          <p:nvPr/>
        </p:nvSpPr>
        <p:spPr>
          <a:xfrm>
            <a:off x="825498"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17" name="Text 15"/>
          <p:cNvSpPr txBox="1"/>
          <p:nvPr/>
        </p:nvSpPr>
        <p:spPr>
          <a:xfrm>
            <a:off x="3124192"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5</a:t>
            </a:r>
            <a:endParaRPr lang="en-US" sz="1150" dirty="0"/>
          </a:p>
        </p:txBody>
      </p:sp>
      <p:sp>
        <p:nvSpPr>
          <p:cNvPr id="18" name="Shape 16"/>
          <p:cNvSpPr/>
          <p:nvPr/>
        </p:nvSpPr>
        <p:spPr>
          <a:xfrm>
            <a:off x="825498" y="4429749"/>
            <a:ext cx="3124192" cy="0"/>
          </a:xfrm>
          <a:prstGeom prst="line">
            <a:avLst/>
          </a:prstGeom>
          <a:noFill/>
          <a:ln w="9525">
            <a:solidFill>
              <a:srgbClr val="D8D2C4"/>
            </a:solidFill>
            <a:prstDash val="solid"/>
          </a:ln>
        </p:spPr>
      </p:sp>
      <p:sp>
        <p:nvSpPr>
          <p:cNvPr id="19" name="Text 17"/>
          <p:cNvSpPr txBox="1"/>
          <p:nvPr/>
        </p:nvSpPr>
        <p:spPr>
          <a:xfrm>
            <a:off x="825498"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Garantie</a:t>
            </a:r>
            <a:endParaRPr lang="en-US" sz="950" dirty="0"/>
          </a:p>
        </p:txBody>
      </p:sp>
      <p:sp>
        <p:nvSpPr>
          <p:cNvPr id="20" name="Text 18"/>
          <p:cNvSpPr txBox="1"/>
          <p:nvPr/>
        </p:nvSpPr>
        <p:spPr>
          <a:xfrm>
            <a:off x="3124192"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geen</a:t>
            </a:r>
            <a:endParaRPr lang="en-US" sz="1150" dirty="0"/>
          </a:p>
        </p:txBody>
      </p:sp>
      <p:sp>
        <p:nvSpPr>
          <p:cNvPr id="21" name="Shape 19"/>
          <p:cNvSpPr/>
          <p:nvPr/>
        </p:nvSpPr>
        <p:spPr>
          <a:xfrm>
            <a:off x="825498" y="4780268"/>
            <a:ext cx="3124192" cy="0"/>
          </a:xfrm>
          <a:prstGeom prst="line">
            <a:avLst/>
          </a:prstGeom>
          <a:noFill/>
          <a:ln w="9525">
            <a:solidFill>
              <a:srgbClr val="D8D2C4"/>
            </a:solidFill>
            <a:prstDash val="solid"/>
          </a:ln>
        </p:spPr>
      </p:sp>
      <p:sp>
        <p:nvSpPr>
          <p:cNvPr id="22" name="Text 20"/>
          <p:cNvSpPr txBox="1"/>
          <p:nvPr/>
        </p:nvSpPr>
        <p:spPr>
          <a:xfrm>
            <a:off x="825498"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23" name="Text 21"/>
          <p:cNvSpPr txBox="1"/>
          <p:nvPr/>
        </p:nvSpPr>
        <p:spPr>
          <a:xfrm>
            <a:off x="3124192"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€ 2.000</a:t>
            </a:r>
            <a:endParaRPr lang="en-US" sz="1150" dirty="0"/>
          </a:p>
        </p:txBody>
      </p:sp>
      <p:sp>
        <p:nvSpPr>
          <p:cNvPr id="24" name="Shape 22"/>
          <p:cNvSpPr/>
          <p:nvPr/>
        </p:nvSpPr>
        <p:spPr>
          <a:xfrm>
            <a:off x="4317989" y="2489194"/>
            <a:ext cx="3555991" cy="2768593"/>
          </a:xfrm>
          <a:prstGeom prst="roundRect">
            <a:avLst>
              <a:gd name="adj" fmla="val 3670"/>
            </a:avLst>
          </a:prstGeom>
          <a:solidFill>
            <a:srgbClr val="000000"/>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VOORSTEL</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Vier beldagen</a:t>
            </a:r>
            <a:endParaRPr lang="en-US" sz="1250" dirty="0"/>
          </a:p>
        </p:txBody>
      </p:sp>
      <p:sp>
        <p:nvSpPr>
          <p:cNvPr id="27" name="Text 25"/>
          <p:cNvSpPr txBox="1"/>
          <p:nvPr/>
        </p:nvSpPr>
        <p:spPr>
          <a:xfrm>
            <a:off x="4533889" y="3378192"/>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Beldagen</a:t>
            </a:r>
            <a:endParaRPr lang="en-US" sz="950" dirty="0"/>
          </a:p>
        </p:txBody>
      </p:sp>
      <p:sp>
        <p:nvSpPr>
          <p:cNvPr id="28" name="Text 26"/>
          <p:cNvSpPr txBox="1"/>
          <p:nvPr/>
        </p:nvSpPr>
        <p:spPr>
          <a:xfrm>
            <a:off x="6832583" y="3378192"/>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4</a:t>
            </a:r>
            <a:endParaRPr lang="en-US" sz="1150" dirty="0"/>
          </a:p>
        </p:txBody>
      </p:sp>
      <p:sp>
        <p:nvSpPr>
          <p:cNvPr id="29" name="Shape 27"/>
          <p:cNvSpPr/>
          <p:nvPr/>
        </p:nvSpPr>
        <p:spPr>
          <a:xfrm>
            <a:off x="4533889" y="3728711"/>
            <a:ext cx="3124192" cy="0"/>
          </a:xfrm>
          <a:prstGeom prst="line">
            <a:avLst/>
          </a:prstGeom>
          <a:noFill/>
          <a:ln w="9525">
            <a:solidFill>
              <a:srgbClr val="3A4152"/>
            </a:solidFill>
            <a:prstDash val="solid"/>
          </a:ln>
        </p:spPr>
      </p:sp>
      <p:sp>
        <p:nvSpPr>
          <p:cNvPr id="30" name="Text 28"/>
          <p:cNvSpPr txBox="1"/>
          <p:nvPr/>
        </p:nvSpPr>
        <p:spPr>
          <a:xfrm>
            <a:off x="4533889" y="3728711"/>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Contactpogingen</a:t>
            </a:r>
            <a:endParaRPr lang="en-US" sz="950" dirty="0"/>
          </a:p>
        </p:txBody>
      </p:sp>
      <p:sp>
        <p:nvSpPr>
          <p:cNvPr id="31" name="Text 29"/>
          <p:cNvSpPr txBox="1"/>
          <p:nvPr/>
        </p:nvSpPr>
        <p:spPr>
          <a:xfrm>
            <a:off x="6832583" y="3728711"/>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600</a:t>
            </a:r>
            <a:endParaRPr lang="en-US" sz="1150" dirty="0"/>
          </a:p>
        </p:txBody>
      </p:sp>
      <p:sp>
        <p:nvSpPr>
          <p:cNvPr id="32" name="Shape 30"/>
          <p:cNvSpPr/>
          <p:nvPr/>
        </p:nvSpPr>
        <p:spPr>
          <a:xfrm>
            <a:off x="4533889" y="4079230"/>
            <a:ext cx="3124192" cy="0"/>
          </a:xfrm>
          <a:prstGeom prst="line">
            <a:avLst/>
          </a:prstGeom>
          <a:noFill/>
          <a:ln w="9525">
            <a:solidFill>
              <a:srgbClr val="3A4152"/>
            </a:solidFill>
            <a:prstDash val="solid"/>
          </a:ln>
        </p:spPr>
      </p:sp>
      <p:sp>
        <p:nvSpPr>
          <p:cNvPr id="33" name="Text 31"/>
          <p:cNvSpPr txBox="1"/>
          <p:nvPr/>
        </p:nvSpPr>
        <p:spPr>
          <a:xfrm>
            <a:off x="4533889" y="4079230"/>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Afspraken</a:t>
            </a:r>
            <a:endParaRPr lang="en-US" sz="950" dirty="0"/>
          </a:p>
        </p:txBody>
      </p:sp>
      <p:sp>
        <p:nvSpPr>
          <p:cNvPr id="34" name="Text 32"/>
          <p:cNvSpPr txBox="1"/>
          <p:nvPr/>
        </p:nvSpPr>
        <p:spPr>
          <a:xfrm>
            <a:off x="6832583" y="4079230"/>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6</a:t>
            </a:r>
            <a:endParaRPr lang="en-US" sz="1150" dirty="0"/>
          </a:p>
        </p:txBody>
      </p:sp>
      <p:sp>
        <p:nvSpPr>
          <p:cNvPr id="35" name="Shape 33"/>
          <p:cNvSpPr/>
          <p:nvPr/>
        </p:nvSpPr>
        <p:spPr>
          <a:xfrm>
            <a:off x="4533889" y="4429749"/>
            <a:ext cx="3124192" cy="0"/>
          </a:xfrm>
          <a:prstGeom prst="line">
            <a:avLst/>
          </a:prstGeom>
          <a:noFill/>
          <a:ln w="9525">
            <a:solidFill>
              <a:srgbClr val="3A4152"/>
            </a:solidFill>
            <a:prstDash val="solid"/>
          </a:ln>
        </p:spPr>
      </p:sp>
      <p:sp>
        <p:nvSpPr>
          <p:cNvPr id="36" name="Text 34"/>
          <p:cNvSpPr txBox="1"/>
          <p:nvPr/>
        </p:nvSpPr>
        <p:spPr>
          <a:xfrm>
            <a:off x="4533889" y="4429749"/>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Garantie</a:t>
            </a:r>
            <a:endParaRPr lang="en-US" sz="950" dirty="0"/>
          </a:p>
        </p:txBody>
      </p:sp>
      <p:sp>
        <p:nvSpPr>
          <p:cNvPr id="37" name="Text 35"/>
          <p:cNvSpPr txBox="1"/>
          <p:nvPr/>
        </p:nvSpPr>
        <p:spPr>
          <a:xfrm>
            <a:off x="6832583" y="4429749"/>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gratis beldag</a:t>
            </a:r>
            <a:endParaRPr lang="en-US" sz="1150" dirty="0"/>
          </a:p>
        </p:txBody>
      </p:sp>
      <p:sp>
        <p:nvSpPr>
          <p:cNvPr id="38" name="Shape 36"/>
          <p:cNvSpPr/>
          <p:nvPr/>
        </p:nvSpPr>
        <p:spPr>
          <a:xfrm>
            <a:off x="4533889" y="4780268"/>
            <a:ext cx="3124192" cy="0"/>
          </a:xfrm>
          <a:prstGeom prst="line">
            <a:avLst/>
          </a:prstGeom>
          <a:noFill/>
          <a:ln w="9525">
            <a:solidFill>
              <a:srgbClr val="3A4152"/>
            </a:solidFill>
            <a:prstDash val="solid"/>
          </a:ln>
        </p:spPr>
      </p:sp>
      <p:sp>
        <p:nvSpPr>
          <p:cNvPr id="39" name="Text 37"/>
          <p:cNvSpPr txBox="1"/>
          <p:nvPr/>
        </p:nvSpPr>
        <p:spPr>
          <a:xfrm>
            <a:off x="4533889" y="4780268"/>
            <a:ext cx="2578094" cy="35051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Per werkperiode</a:t>
            </a:r>
            <a:endParaRPr lang="en-US" sz="950" dirty="0"/>
          </a:p>
        </p:txBody>
      </p:sp>
      <p:sp>
        <p:nvSpPr>
          <p:cNvPr id="40" name="Text 38"/>
          <p:cNvSpPr txBox="1"/>
          <p:nvPr/>
        </p:nvSpPr>
        <p:spPr>
          <a:xfrm>
            <a:off x="6832583" y="4780268"/>
            <a:ext cx="825498" cy="35051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€ 2.400</a:t>
            </a:r>
            <a:endParaRPr lang="en-US" sz="1150" dirty="0"/>
          </a:p>
        </p:txBody>
      </p:sp>
      <p:sp>
        <p:nvSpPr>
          <p:cNvPr id="41" name="Shape 39"/>
          <p:cNvSpPr/>
          <p:nvPr/>
        </p:nvSpPr>
        <p:spPr>
          <a:xfrm>
            <a:off x="8026380" y="2489194"/>
            <a:ext cx="3555991" cy="2768593"/>
          </a:xfrm>
          <a:prstGeom prst="roundRect">
            <a:avLst>
              <a:gd name="adj" fmla="val 3670"/>
            </a:avLst>
          </a:prstGeom>
          <a:solidFill>
            <a:srgbClr val="F8F4EB"/>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OF</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Zes beldagen</a:t>
            </a:r>
            <a:endParaRPr lang="en-US" sz="1250" dirty="0"/>
          </a:p>
        </p:txBody>
      </p:sp>
      <p:sp>
        <p:nvSpPr>
          <p:cNvPr id="44" name="Text 42"/>
          <p:cNvSpPr txBox="1"/>
          <p:nvPr/>
        </p:nvSpPr>
        <p:spPr>
          <a:xfrm>
            <a:off x="8242279" y="3378192"/>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Beldagen</a:t>
            </a:r>
            <a:endParaRPr lang="en-US" sz="950" dirty="0"/>
          </a:p>
        </p:txBody>
      </p:sp>
      <p:sp>
        <p:nvSpPr>
          <p:cNvPr id="45" name="Text 43"/>
          <p:cNvSpPr txBox="1"/>
          <p:nvPr/>
        </p:nvSpPr>
        <p:spPr>
          <a:xfrm>
            <a:off x="10540974" y="3378192"/>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6</a:t>
            </a:r>
            <a:endParaRPr lang="en-US" sz="1150" dirty="0"/>
          </a:p>
        </p:txBody>
      </p:sp>
      <p:sp>
        <p:nvSpPr>
          <p:cNvPr id="46" name="Shape 44"/>
          <p:cNvSpPr/>
          <p:nvPr/>
        </p:nvSpPr>
        <p:spPr>
          <a:xfrm>
            <a:off x="8242279" y="3728711"/>
            <a:ext cx="3124192" cy="0"/>
          </a:xfrm>
          <a:prstGeom prst="line">
            <a:avLst/>
          </a:prstGeom>
          <a:noFill/>
          <a:ln w="9525">
            <a:solidFill>
              <a:srgbClr val="D8D2C4"/>
            </a:solidFill>
            <a:prstDash val="solid"/>
          </a:ln>
        </p:spPr>
      </p:sp>
      <p:sp>
        <p:nvSpPr>
          <p:cNvPr id="47" name="Text 45"/>
          <p:cNvSpPr txBox="1"/>
          <p:nvPr/>
        </p:nvSpPr>
        <p:spPr>
          <a:xfrm>
            <a:off x="8242279" y="3728711"/>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Contactpogingen</a:t>
            </a:r>
            <a:endParaRPr lang="en-US" sz="950" dirty="0"/>
          </a:p>
        </p:txBody>
      </p:sp>
      <p:sp>
        <p:nvSpPr>
          <p:cNvPr id="48" name="Text 46"/>
          <p:cNvSpPr txBox="1"/>
          <p:nvPr/>
        </p:nvSpPr>
        <p:spPr>
          <a:xfrm>
            <a:off x="10540974" y="3728711"/>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900</a:t>
            </a:r>
            <a:endParaRPr lang="en-US" sz="1150" dirty="0"/>
          </a:p>
        </p:txBody>
      </p:sp>
      <p:sp>
        <p:nvSpPr>
          <p:cNvPr id="49" name="Shape 47"/>
          <p:cNvSpPr/>
          <p:nvPr/>
        </p:nvSpPr>
        <p:spPr>
          <a:xfrm>
            <a:off x="8242279" y="4079230"/>
            <a:ext cx="3124192" cy="0"/>
          </a:xfrm>
          <a:prstGeom prst="line">
            <a:avLst/>
          </a:prstGeom>
          <a:noFill/>
          <a:ln w="9525">
            <a:solidFill>
              <a:srgbClr val="D8D2C4"/>
            </a:solidFill>
            <a:prstDash val="solid"/>
          </a:ln>
        </p:spPr>
      </p:sp>
      <p:sp>
        <p:nvSpPr>
          <p:cNvPr id="50" name="Text 48"/>
          <p:cNvSpPr txBox="1"/>
          <p:nvPr/>
        </p:nvSpPr>
        <p:spPr>
          <a:xfrm>
            <a:off x="8242279" y="4079230"/>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Afspraken</a:t>
            </a:r>
            <a:endParaRPr lang="en-US" sz="950" dirty="0"/>
          </a:p>
        </p:txBody>
      </p:sp>
      <p:sp>
        <p:nvSpPr>
          <p:cNvPr id="51" name="Text 49"/>
          <p:cNvSpPr txBox="1"/>
          <p:nvPr/>
        </p:nvSpPr>
        <p:spPr>
          <a:xfrm>
            <a:off x="10540974" y="4079230"/>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9</a:t>
            </a:r>
            <a:endParaRPr lang="en-US" sz="1150" dirty="0"/>
          </a:p>
        </p:txBody>
      </p:sp>
      <p:sp>
        <p:nvSpPr>
          <p:cNvPr id="52" name="Shape 50"/>
          <p:cNvSpPr/>
          <p:nvPr/>
        </p:nvSpPr>
        <p:spPr>
          <a:xfrm>
            <a:off x="8242279" y="4429749"/>
            <a:ext cx="3124192" cy="0"/>
          </a:xfrm>
          <a:prstGeom prst="line">
            <a:avLst/>
          </a:prstGeom>
          <a:noFill/>
          <a:ln w="9525">
            <a:solidFill>
              <a:srgbClr val="D8D2C4"/>
            </a:solidFill>
            <a:prstDash val="solid"/>
          </a:ln>
        </p:spPr>
      </p:sp>
      <p:sp>
        <p:nvSpPr>
          <p:cNvPr id="53" name="Text 51"/>
          <p:cNvSpPr txBox="1"/>
          <p:nvPr/>
        </p:nvSpPr>
        <p:spPr>
          <a:xfrm>
            <a:off x="8242279" y="4429749"/>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Garantie</a:t>
            </a:r>
            <a:endParaRPr lang="en-US" sz="950" dirty="0"/>
          </a:p>
        </p:txBody>
      </p:sp>
      <p:sp>
        <p:nvSpPr>
          <p:cNvPr id="54" name="Text 52"/>
          <p:cNvSpPr txBox="1"/>
          <p:nvPr/>
        </p:nvSpPr>
        <p:spPr>
          <a:xfrm>
            <a:off x="10540974" y="4429749"/>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gratis beldag</a:t>
            </a:r>
            <a:endParaRPr lang="en-US" sz="1150" dirty="0"/>
          </a:p>
        </p:txBody>
      </p:sp>
      <p:sp>
        <p:nvSpPr>
          <p:cNvPr id="55" name="Shape 53"/>
          <p:cNvSpPr/>
          <p:nvPr/>
        </p:nvSpPr>
        <p:spPr>
          <a:xfrm>
            <a:off x="8242279" y="4780268"/>
            <a:ext cx="3124192" cy="0"/>
          </a:xfrm>
          <a:prstGeom prst="line">
            <a:avLst/>
          </a:prstGeom>
          <a:noFill/>
          <a:ln w="9525">
            <a:solidFill>
              <a:srgbClr val="D8D2C4"/>
            </a:solidFill>
            <a:prstDash val="solid"/>
          </a:ln>
        </p:spPr>
      </p:sp>
      <p:sp>
        <p:nvSpPr>
          <p:cNvPr id="56" name="Text 54"/>
          <p:cNvSpPr txBox="1"/>
          <p:nvPr/>
        </p:nvSpPr>
        <p:spPr>
          <a:xfrm>
            <a:off x="8242279" y="4780268"/>
            <a:ext cx="2578094" cy="35051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Per werkperiode</a:t>
            </a:r>
            <a:endParaRPr lang="en-US" sz="950" dirty="0"/>
          </a:p>
        </p:txBody>
      </p:sp>
      <p:sp>
        <p:nvSpPr>
          <p:cNvPr id="57" name="Text 55"/>
          <p:cNvSpPr txBox="1"/>
          <p:nvPr/>
        </p:nvSpPr>
        <p:spPr>
          <a:xfrm>
            <a:off x="10540974" y="4780268"/>
            <a:ext cx="825498" cy="35051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€ 3.450</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Het verschil is niet alleen het aantal, maar de zekerheid eronder. Zes afspraken per werkperiode wordt een afspraak in plaats van een verwachting, en halen we het niet, dan bellen we een dag extra op onze kosten.</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OK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Drie dingen, en het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eerste is het belangrijkste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000000"/>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Jullie lijst met gewenste klanten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De bedrijven waar Frits en Mark graag binnen willen komen, en de relaties van vroeger. ING en Verpact kwamen daaruit. Daar willen we er vanaf werkperiode 4 meer van op de lijst.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De 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Huidige klanten en lopende trajecten. Die was bij de start toegezegd en is nog niet compleet.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Terugkoppeling op afspraken</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Kort laten weten hoe een gesprek met Frits verliep, zodat we de kwalificatie blijven bijstellen.</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Agenda van Frits</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Vaste momenten van maandag tot en met donderdag waarop wij mogen inplannen.</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 Geen nacalculatie achteraf.</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1,5 afspraak per beldag</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Het target waar we op sturen. Vier beldagen zijn zes afspraken per werkperiode.</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 gehaald is een gratis beldag</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Maximaal een per werkperiode. Halen we het dan nog niet, dan gaan we om tafel over lijst of doelgroep.</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Kwalificatie samen vastgesteld</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de start van werkperiode 4 leggen we samen vast wanneer een afspraak meetelt.</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 en afschalen per periode</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bepalen het aantal beldagen, vanaf vier.</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Prijs vast tot en met 2027</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De dagprijs en de staffel blijven ongewijzigd. Geen jaarlijkse indexatie.</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Succesfee van 5 procent</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Ongewijzigd. Wij verdienen pas echt als een afspraak klant wordt.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Voorstel OK Creative Agency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14</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ritme? Dan loopt het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gewoon door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geven akkoord op het aantal beldagen per werkperiode.</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Lijst aanleveren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OK levert de gewenste klanten en de uitsluitlijst aan, wij bouwen de nieuwe lijst.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Doorbellen</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Werkperiode 4 start aansluitend, zonder onderbreking.</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OK Creative Agency</dc:title>
  <dc:subject>PptxGenJS Presentation</dc:subject>
  <dc:creator>LINK.</dc:creator>
  <cp:lastModifiedBy>LINK.</cp:lastModifiedBy>
  <cp:revision>1</cp:revision>
  <dcterms:created xsi:type="dcterms:W3CDTF">2026-10-11T19:08:36Z</dcterms:created>
  <dcterms:modified xsi:type="dcterms:W3CDTF">2026-10-11T19:08:36Z</dcterms:modified>
</cp:coreProperties>
</file>