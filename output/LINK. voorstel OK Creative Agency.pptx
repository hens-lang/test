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de cijfers laten zien over welke lijst werkt,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een van de moeilijkste die wij bellen. Zakelijke dienstverlening vanaf vijftig medewerkers betekent een receptie die afschermt en een beslisser die zelden zelf opneemt. Dat zie je terug in de cijfers, en juist daarom sturen we op de lijst.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oké,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opnieuw vast. In de overeenkomst stond dat die criteria vooraf bepaald zouden worden en dat is er niet scherp genoeg van gekomen.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geteld in ons belsysteem</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1.668</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24 juli tot en met 9 oktober, verdeeld over 540 bedrijven.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de rest kwamen we niet langs de receptie of was het nummer onjuist.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 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verstuurde introducties die nog lopen.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12</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Zeven ingeplande afspraken en vijf overdrachten. Eén per 139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niet uit een schatting.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Meer bellen leverde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niet meer 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op.</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3 t/m 30 augustus</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192</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31 aug t/m 27 september</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631</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28 sep t/m 25 oktober</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837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1 was een kleine periode: 200 pogingen en vijf afspraken. Daarna ging het volume vier en zes keer omhoog en zakte het rendement naar vijf per duizend. Het aantal gesprekken is dus niet het probleem.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 HET VERSCHIL ZIT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lijst met jullie eigen relaties loopt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drie keer beter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BELLIJST</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15948" y="3136892"/>
            <a:ext cx="10960073" cy="628648"/>
          </a:xfrm>
          <a:prstGeom prst="rect">
            <a:avLst/>
          </a:prstGeom>
          <a:solidFill>
            <a:srgbClr val="38B6FF">
              <a:alpha val="11000"/>
            </a:srgbClr>
          </a:solidFill>
          <a:ln/>
        </p:spPr>
      </p:sp>
      <p:sp>
        <p:nvSpPr>
          <p:cNvPr id="13" name="Shape 11"/>
          <p:cNvSpPr/>
          <p:nvPr/>
        </p:nvSpPr>
        <p:spPr>
          <a:xfrm>
            <a:off x="609598" y="3136892"/>
            <a:ext cx="10972773" cy="0"/>
          </a:xfrm>
          <a:prstGeom prst="line">
            <a:avLst/>
          </a:prstGeom>
          <a:noFill/>
          <a:ln w="9525">
            <a:solidFill>
              <a:srgbClr val="3A4152"/>
            </a:solidFill>
            <a:prstDash val="solid"/>
          </a:ln>
        </p:spPr>
      </p:sp>
      <p:sp>
        <p:nvSpPr>
          <p:cNvPr id="14" name="Text 12"/>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Relaties en gewenste klanten</a:t>
            </a:r>
            <a:endParaRPr lang="en-US" sz="1250" dirty="0"/>
          </a:p>
        </p:txBody>
      </p:sp>
      <p:sp>
        <p:nvSpPr>
          <p:cNvPr id="15" name="Text 13"/>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207</a:t>
            </a:r>
            <a:endParaRPr lang="en-US" sz="1250" dirty="0"/>
          </a:p>
        </p:txBody>
      </p:sp>
      <p:sp>
        <p:nvSpPr>
          <p:cNvPr id="16" name="Text 14"/>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a:t>
            </a:r>
            <a:endParaRPr lang="en-US" sz="1250" dirty="0"/>
          </a:p>
        </p:txBody>
      </p:sp>
      <p:sp>
        <p:nvSpPr>
          <p:cNvPr id="17" name="Text 15"/>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19</a:t>
            </a:r>
            <a:endParaRPr lang="en-US" sz="1250" dirty="0"/>
          </a:p>
        </p:txBody>
      </p:sp>
      <p:sp>
        <p:nvSpPr>
          <p:cNvPr id="18" name="Shape 16"/>
          <p:cNvSpPr/>
          <p:nvPr/>
        </p:nvSpPr>
        <p:spPr>
          <a:xfrm>
            <a:off x="609598" y="3765541"/>
            <a:ext cx="10972773" cy="0"/>
          </a:xfrm>
          <a:prstGeom prst="line">
            <a:avLst/>
          </a:prstGeom>
          <a:noFill/>
          <a:ln w="9525">
            <a:solidFill>
              <a:srgbClr val="3A4152"/>
            </a:solidFill>
            <a:prstDash val="solid"/>
          </a:ln>
        </p:spPr>
      </p:sp>
      <p:sp>
        <p:nvSpPr>
          <p:cNvPr id="19" name="Text 17"/>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Zakelijke dienstverlening, koud</a:t>
            </a:r>
            <a:endParaRPr lang="en-US" sz="1250" dirty="0"/>
          </a:p>
        </p:txBody>
      </p:sp>
      <p:sp>
        <p:nvSpPr>
          <p:cNvPr id="20" name="Text 18"/>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1.333</a:t>
            </a:r>
            <a:endParaRPr lang="en-US" sz="1250" dirty="0"/>
          </a:p>
        </p:txBody>
      </p:sp>
      <p:sp>
        <p:nvSpPr>
          <p:cNvPr id="21" name="Text 19"/>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2" name="Text 20"/>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Bouw en techniek, koud</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99</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0</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Op de lijst met jullie relaties en gewenste klanten ligt het rendement ruim drie keer hoger. Het gaat om vier afspraken uit 207 pogingen, dus het is een richting en geen zekerheid. Wel is het de knop waarmee we van 1,1 naar 1,5 afspraak per beldag komen: ongeveer een derde van de lijst uit jullie eigen relaties.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 we op mikken vanaf werkperiode 4. In de pilot stond het op 1,1 per beldag, de lijst met jullie eigen relaties op bijna 3.</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Vier beldagen met dit target zijn zes afspraken per werkperiode, precies het aantal uit de overeenkomst.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Anderhalve afspraak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mikken we op vanaf werkperiode 4. Vier beldagen zijn dan zes afspraken, precies het aantal dat in de overeenkomst staat.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sturen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bepalen we vooraf hoeveel procent van de lijst uit jullie eigen relaties en gewenste klanten bestaat. Dat is de knop die het verschil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 gekwalificeerde afspraak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vier beldagen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556</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€ 540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Zes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€ 575</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€ 3.450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nu al ongeveer € 540 per beldag. Met vier beldagen en een derde eigen relaties op de lijst komen we op de zes afspraken per maand die in de overeenkomst staan. Wil je sneller, dan zijn het er negen bij zes beldagen.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Wij willen ongeveer een derde van de bellijst daaruit laten bestaan. Dat is wat het target van 1,5 haalbaar maakt.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1,5 afspraak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target waar we op sturen. Vier beldagen zijn zes afspraken per werkperiode.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2026-10-11T18:54:51Z</dcterms:created>
  <dcterms:modified xsi:type="dcterms:W3CDTF">2026-10-11T18:54:51Z</dcterms:modified>
</cp:coreProperties>
</file>