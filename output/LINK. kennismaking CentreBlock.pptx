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0"/>
        </a:solidFill>
      </p:bgPr>
    </p:bg>
    <p:spTree>
      <p:nvGrpSpPr>
        <p:cNvPr id="1" name=""/>
        <p:cNvGrpSpPr/>
        <p:nvPr/>
      </p:nvGrpSpPr>
      <p:grpSpPr>
        <a:xfrm>
          <a:off x="0" y="0"/>
          <a:ext cx="0" cy="0"/>
          <a:chOff x="0" y="0"/>
          <a:chExt cx="0" cy="0"/>
        </a:xfrm>
      </p:grpSpPr>
      <p:sp>
        <p:nvSpPr>
          <p:cNvPr id="2" name="Shape 0"/>
          <p:cNvSpPr/>
          <p:nvPr/>
        </p:nvSpPr>
        <p:spPr>
          <a:xfrm flipH="1">
            <a:off x="8159730" y="3460741"/>
            <a:ext cx="1111247" cy="984248"/>
          </a:xfrm>
          <a:prstGeom prst="line">
            <a:avLst/>
          </a:prstGeom>
          <a:noFill/>
          <a:ln w="9525">
            <a:solidFill>
              <a:srgbClr val="38B6FF">
                <a:alpha val="30000"/>
              </a:srgbClr>
            </a:solidFill>
            <a:prstDash val="solid"/>
          </a:ln>
        </p:spPr>
      </p:sp>
      <p:sp>
        <p:nvSpPr>
          <p:cNvPr id="3" name="Shape 1"/>
          <p:cNvSpPr/>
          <p:nvPr/>
        </p:nvSpPr>
        <p:spPr>
          <a:xfrm>
            <a:off x="9270977" y="3460741"/>
            <a:ext cx="1301747" cy="476249"/>
          </a:xfrm>
          <a:prstGeom prst="line">
            <a:avLst/>
          </a:prstGeom>
          <a:noFill/>
          <a:ln w="9525">
            <a:solidFill>
              <a:srgbClr val="38B6FF">
                <a:alpha val="30000"/>
              </a:srgbClr>
            </a:solidFill>
            <a:prstDash val="solid"/>
          </a:ln>
        </p:spPr>
      </p:sp>
      <p:sp>
        <p:nvSpPr>
          <p:cNvPr id="4" name="Shape 2"/>
          <p:cNvSpPr/>
          <p:nvPr/>
        </p:nvSpPr>
        <p:spPr>
          <a:xfrm flipH="1">
            <a:off x="10159975" y="3936990"/>
            <a:ext cx="412749" cy="1206497"/>
          </a:xfrm>
          <a:prstGeom prst="line">
            <a:avLst/>
          </a:prstGeom>
          <a:noFill/>
          <a:ln w="9525">
            <a:solidFill>
              <a:srgbClr val="38B6FF">
                <a:alpha val="30000"/>
              </a:srgbClr>
            </a:solidFill>
            <a:prstDash val="solid"/>
          </a:ln>
        </p:spPr>
      </p:sp>
      <p:sp>
        <p:nvSpPr>
          <p:cNvPr id="5" name="Shape 3"/>
          <p:cNvSpPr/>
          <p:nvPr/>
        </p:nvSpPr>
        <p:spPr>
          <a:xfrm flipH="1">
            <a:off x="8889978" y="5143487"/>
            <a:ext cx="1269997" cy="444499"/>
          </a:xfrm>
          <a:prstGeom prst="line">
            <a:avLst/>
          </a:prstGeom>
          <a:noFill/>
          <a:ln w="9525">
            <a:solidFill>
              <a:srgbClr val="38B6FF">
                <a:alpha val="30000"/>
              </a:srgbClr>
            </a:solidFill>
            <a:prstDash val="solid"/>
          </a:ln>
        </p:spPr>
      </p:sp>
      <p:sp>
        <p:nvSpPr>
          <p:cNvPr id="6" name="Shape 4"/>
          <p:cNvSpPr/>
          <p:nvPr/>
        </p:nvSpPr>
        <p:spPr>
          <a:xfrm>
            <a:off x="8159730" y="4444989"/>
            <a:ext cx="730248" cy="1142997"/>
          </a:xfrm>
          <a:prstGeom prst="line">
            <a:avLst/>
          </a:prstGeom>
          <a:noFill/>
          <a:ln w="9525">
            <a:solidFill>
              <a:srgbClr val="38B6FF">
                <a:alpha val="30000"/>
              </a:srgbClr>
            </a:solidFill>
            <a:prstDash val="solid"/>
          </a:ln>
        </p:spPr>
      </p:sp>
      <p:sp>
        <p:nvSpPr>
          <p:cNvPr id="7" name="Shape 5"/>
          <p:cNvSpPr/>
          <p:nvPr/>
        </p:nvSpPr>
        <p:spPr>
          <a:xfrm flipH="1">
            <a:off x="9270977" y="2730493"/>
            <a:ext cx="1809745" cy="730248"/>
          </a:xfrm>
          <a:prstGeom prst="line">
            <a:avLst/>
          </a:prstGeom>
          <a:noFill/>
          <a:ln w="9525">
            <a:solidFill>
              <a:srgbClr val="38B6FF">
                <a:alpha val="30000"/>
              </a:srgbClr>
            </a:solidFill>
            <a:prstDash val="solid"/>
          </a:ln>
        </p:spPr>
      </p:sp>
      <p:sp>
        <p:nvSpPr>
          <p:cNvPr id="8" name="Shape 6"/>
          <p:cNvSpPr/>
          <p:nvPr/>
        </p:nvSpPr>
        <p:spPr>
          <a:xfrm flipH="1">
            <a:off x="10572724" y="2730493"/>
            <a:ext cx="507999" cy="1206497"/>
          </a:xfrm>
          <a:prstGeom prst="line">
            <a:avLst/>
          </a:prstGeom>
          <a:noFill/>
          <a:ln w="9525">
            <a:solidFill>
              <a:srgbClr val="38B6FF">
                <a:alpha val="30000"/>
              </a:srgbClr>
            </a:solidFill>
            <a:prstDash val="solid"/>
          </a:ln>
        </p:spPr>
      </p:sp>
      <p:sp>
        <p:nvSpPr>
          <p:cNvPr id="9" name="Shape 7"/>
          <p:cNvSpPr/>
          <p:nvPr/>
        </p:nvSpPr>
        <p:spPr>
          <a:xfrm>
            <a:off x="10572724" y="3936990"/>
            <a:ext cx="1047747" cy="761998"/>
          </a:xfrm>
          <a:prstGeom prst="line">
            <a:avLst/>
          </a:prstGeom>
          <a:noFill/>
          <a:ln w="9525">
            <a:solidFill>
              <a:srgbClr val="38B6FF">
                <a:alpha val="30000"/>
              </a:srgbClr>
            </a:solidFill>
            <a:prstDash val="solid"/>
          </a:ln>
        </p:spPr>
      </p:sp>
      <p:sp>
        <p:nvSpPr>
          <p:cNvPr id="10" name="Shape 8"/>
          <p:cNvSpPr/>
          <p:nvPr/>
        </p:nvSpPr>
        <p:spPr>
          <a:xfrm flipH="1">
            <a:off x="10159975" y="4698988"/>
            <a:ext cx="1460496" cy="444499"/>
          </a:xfrm>
          <a:prstGeom prst="line">
            <a:avLst/>
          </a:prstGeom>
          <a:noFill/>
          <a:ln w="9525">
            <a:solidFill>
              <a:srgbClr val="38B6FF">
                <a:alpha val="30000"/>
              </a:srgbClr>
            </a:solidFill>
            <a:prstDash val="solid"/>
          </a:ln>
        </p:spPr>
      </p:sp>
      <p:sp>
        <p:nvSpPr>
          <p:cNvPr id="11" name="Shape 9"/>
          <p:cNvSpPr/>
          <p:nvPr/>
        </p:nvSpPr>
        <p:spPr>
          <a:xfrm flipH="1">
            <a:off x="9905975" y="5143487"/>
            <a:ext cx="253999" cy="1111247"/>
          </a:xfrm>
          <a:prstGeom prst="line">
            <a:avLst/>
          </a:prstGeom>
          <a:noFill/>
          <a:ln w="9525">
            <a:solidFill>
              <a:srgbClr val="38B6FF">
                <a:alpha val="30000"/>
              </a:srgbClr>
            </a:solidFill>
            <a:prstDash val="solid"/>
          </a:ln>
        </p:spPr>
      </p:sp>
      <p:sp>
        <p:nvSpPr>
          <p:cNvPr id="12" name="Shape 10"/>
          <p:cNvSpPr/>
          <p:nvPr/>
        </p:nvSpPr>
        <p:spPr>
          <a:xfrm>
            <a:off x="8889978" y="5587986"/>
            <a:ext cx="1015997" cy="666748"/>
          </a:xfrm>
          <a:prstGeom prst="line">
            <a:avLst/>
          </a:prstGeom>
          <a:noFill/>
          <a:ln w="9525">
            <a:solidFill>
              <a:srgbClr val="38B6FF">
                <a:alpha val="30000"/>
              </a:srgbClr>
            </a:solidFill>
            <a:prstDash val="solid"/>
          </a:ln>
        </p:spPr>
      </p:sp>
      <p:sp>
        <p:nvSpPr>
          <p:cNvPr id="13" name="Shape 11"/>
          <p:cNvSpPr/>
          <p:nvPr/>
        </p:nvSpPr>
        <p:spPr>
          <a:xfrm>
            <a:off x="11620471" y="4698988"/>
            <a:ext cx="158750" cy="1206497"/>
          </a:xfrm>
          <a:prstGeom prst="line">
            <a:avLst/>
          </a:prstGeom>
          <a:noFill/>
          <a:ln w="9525">
            <a:solidFill>
              <a:srgbClr val="38B6FF">
                <a:alpha val="30000"/>
              </a:srgbClr>
            </a:solidFill>
            <a:prstDash val="solid"/>
          </a:ln>
        </p:spPr>
      </p:sp>
      <p:sp>
        <p:nvSpPr>
          <p:cNvPr id="14" name="Shape 12"/>
          <p:cNvSpPr/>
          <p:nvPr/>
        </p:nvSpPr>
        <p:spPr>
          <a:xfrm flipH="1">
            <a:off x="9905975" y="5905485"/>
            <a:ext cx="1873245" cy="349249"/>
          </a:xfrm>
          <a:prstGeom prst="line">
            <a:avLst/>
          </a:prstGeom>
          <a:noFill/>
          <a:ln w="9525">
            <a:solidFill>
              <a:srgbClr val="38B6FF">
                <a:alpha val="30000"/>
              </a:srgbClr>
            </a:solidFill>
            <a:prstDash val="solid"/>
          </a:ln>
        </p:spPr>
      </p:sp>
      <p:sp>
        <p:nvSpPr>
          <p:cNvPr id="15" name="Shape 13"/>
          <p:cNvSpPr/>
          <p:nvPr/>
        </p:nvSpPr>
        <p:spPr>
          <a:xfrm>
            <a:off x="8134330" y="4419589"/>
            <a:ext cx="50800" cy="50800"/>
          </a:xfrm>
          <a:prstGeom prst="ellipse">
            <a:avLst/>
          </a:prstGeom>
          <a:solidFill>
            <a:srgbClr val="141821"/>
          </a:solidFill>
          <a:ln w="9525">
            <a:solidFill>
              <a:srgbClr val="38B6FF">
                <a:alpha val="50000"/>
              </a:srgbClr>
            </a:solidFill>
            <a:prstDash val="solid"/>
          </a:ln>
        </p:spPr>
      </p:sp>
      <p:sp>
        <p:nvSpPr>
          <p:cNvPr id="16" name="Shape 14"/>
          <p:cNvSpPr/>
          <p:nvPr/>
        </p:nvSpPr>
        <p:spPr>
          <a:xfrm>
            <a:off x="9245577" y="3435341"/>
            <a:ext cx="50800" cy="50800"/>
          </a:xfrm>
          <a:prstGeom prst="ellipse">
            <a:avLst/>
          </a:prstGeom>
          <a:solidFill>
            <a:srgbClr val="141821"/>
          </a:solidFill>
          <a:ln w="9525">
            <a:solidFill>
              <a:srgbClr val="38B6FF">
                <a:alpha val="50000"/>
              </a:srgbClr>
            </a:solidFill>
            <a:prstDash val="solid"/>
          </a:ln>
        </p:spPr>
      </p:sp>
      <p:sp>
        <p:nvSpPr>
          <p:cNvPr id="17" name="Shape 15"/>
          <p:cNvSpPr/>
          <p:nvPr/>
        </p:nvSpPr>
        <p:spPr>
          <a:xfrm>
            <a:off x="10528274" y="3892540"/>
            <a:ext cx="88900" cy="88900"/>
          </a:xfrm>
          <a:prstGeom prst="ellipse">
            <a:avLst/>
          </a:prstGeom>
          <a:solidFill>
            <a:srgbClr val="38B6FF"/>
          </a:solidFill>
          <a:ln/>
        </p:spPr>
      </p:sp>
      <p:sp>
        <p:nvSpPr>
          <p:cNvPr id="18" name="Shape 16"/>
          <p:cNvSpPr/>
          <p:nvPr/>
        </p:nvSpPr>
        <p:spPr>
          <a:xfrm>
            <a:off x="10134575" y="5118087"/>
            <a:ext cx="50800" cy="50800"/>
          </a:xfrm>
          <a:prstGeom prst="ellipse">
            <a:avLst/>
          </a:prstGeom>
          <a:solidFill>
            <a:srgbClr val="141821"/>
          </a:solidFill>
          <a:ln w="9525">
            <a:solidFill>
              <a:srgbClr val="38B6FF">
                <a:alpha val="50000"/>
              </a:srgbClr>
            </a:solidFill>
            <a:prstDash val="solid"/>
          </a:ln>
        </p:spPr>
      </p:sp>
      <p:sp>
        <p:nvSpPr>
          <p:cNvPr id="19" name="Shape 17"/>
          <p:cNvSpPr/>
          <p:nvPr/>
        </p:nvSpPr>
        <p:spPr>
          <a:xfrm>
            <a:off x="8864578" y="5562586"/>
            <a:ext cx="50800" cy="50800"/>
          </a:xfrm>
          <a:prstGeom prst="ellipse">
            <a:avLst/>
          </a:prstGeom>
          <a:solidFill>
            <a:srgbClr val="141821"/>
          </a:solidFill>
          <a:ln w="9525">
            <a:solidFill>
              <a:srgbClr val="38B6FF">
                <a:alpha val="50000"/>
              </a:srgbClr>
            </a:solidFill>
            <a:prstDash val="solid"/>
          </a:ln>
        </p:spPr>
      </p:sp>
      <p:sp>
        <p:nvSpPr>
          <p:cNvPr id="20" name="Shape 18"/>
          <p:cNvSpPr/>
          <p:nvPr/>
        </p:nvSpPr>
        <p:spPr>
          <a:xfrm>
            <a:off x="11055322" y="2705093"/>
            <a:ext cx="50800" cy="50800"/>
          </a:xfrm>
          <a:prstGeom prst="ellipse">
            <a:avLst/>
          </a:prstGeom>
          <a:solidFill>
            <a:srgbClr val="141821"/>
          </a:solidFill>
          <a:ln w="9525">
            <a:solidFill>
              <a:srgbClr val="38B6FF">
                <a:alpha val="50000"/>
              </a:srgbClr>
            </a:solidFill>
            <a:prstDash val="solid"/>
          </a:ln>
        </p:spPr>
      </p:sp>
      <p:sp>
        <p:nvSpPr>
          <p:cNvPr id="21" name="Shape 19"/>
          <p:cNvSpPr/>
          <p:nvPr/>
        </p:nvSpPr>
        <p:spPr>
          <a:xfrm>
            <a:off x="11595071" y="4673588"/>
            <a:ext cx="50800" cy="50800"/>
          </a:xfrm>
          <a:prstGeom prst="ellipse">
            <a:avLst/>
          </a:prstGeom>
          <a:solidFill>
            <a:srgbClr val="141821"/>
          </a:solidFill>
          <a:ln w="9525">
            <a:solidFill>
              <a:srgbClr val="38B6FF">
                <a:alpha val="50000"/>
              </a:srgbClr>
            </a:solidFill>
            <a:prstDash val="solid"/>
          </a:ln>
        </p:spPr>
      </p:sp>
      <p:sp>
        <p:nvSpPr>
          <p:cNvPr id="22" name="Shape 20"/>
          <p:cNvSpPr/>
          <p:nvPr/>
        </p:nvSpPr>
        <p:spPr>
          <a:xfrm>
            <a:off x="9880575" y="6229334"/>
            <a:ext cx="50800" cy="50800"/>
          </a:xfrm>
          <a:prstGeom prst="ellipse">
            <a:avLst/>
          </a:prstGeom>
          <a:solidFill>
            <a:srgbClr val="141821"/>
          </a:solidFill>
          <a:ln w="9525">
            <a:solidFill>
              <a:srgbClr val="38B6FF">
                <a:alpha val="50000"/>
              </a:srgbClr>
            </a:solidFill>
            <a:prstDash val="solid"/>
          </a:ln>
        </p:spPr>
      </p:sp>
      <p:sp>
        <p:nvSpPr>
          <p:cNvPr id="23" name="Shape 21"/>
          <p:cNvSpPr/>
          <p:nvPr/>
        </p:nvSpPr>
        <p:spPr>
          <a:xfrm>
            <a:off x="11753821" y="5880085"/>
            <a:ext cx="50800" cy="50800"/>
          </a:xfrm>
          <a:prstGeom prst="ellipse">
            <a:avLst/>
          </a:prstGeom>
          <a:solidFill>
            <a:srgbClr val="141821"/>
          </a:solidFill>
          <a:ln w="9525">
            <a:solidFill>
              <a:srgbClr val="38B6FF">
                <a:alpha val="50000"/>
              </a:srgbClr>
            </a:solidFill>
            <a:prstDash val="solid"/>
          </a:ln>
        </p:spPr>
      </p:sp>
      <p:sp>
        <p:nvSpPr>
          <p:cNvPr id="24" name="Text 22"/>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25" name="Text 23"/>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CentreBlock</a:t>
            </a:r>
            <a:endParaRPr lang="en-US" sz="750" dirty="0"/>
          </a:p>
        </p:txBody>
      </p:sp>
      <p:sp>
        <p:nvSpPr>
          <p:cNvPr id="26" name="Text 24"/>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 / 10</a:t>
            </a:r>
            <a:endParaRPr lang="en-US" sz="750" dirty="0"/>
          </a:p>
        </p:txBody>
      </p:sp>
      <p:sp>
        <p:nvSpPr>
          <p:cNvPr id="27" name="Text 25"/>
          <p:cNvSpPr txBox="1"/>
          <p:nvPr/>
        </p:nvSpPr>
        <p:spPr>
          <a:xfrm>
            <a:off x="609598" y="2133595"/>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VOOR CENTREBLOCK · SEPTEMBER 2026</a:t>
            </a:r>
            <a:endParaRPr lang="en-US" sz="950" dirty="0"/>
          </a:p>
        </p:txBody>
      </p:sp>
      <p:sp>
        <p:nvSpPr>
          <p:cNvPr id="28" name="Text 26"/>
          <p:cNvSpPr txBox="1"/>
          <p:nvPr/>
        </p:nvSpPr>
        <p:spPr>
          <a:xfrm>
            <a:off x="609598" y="2514594"/>
            <a:ext cx="8635978" cy="2031995"/>
          </a:xfrm>
          <a:prstGeom prst="rect">
            <a:avLst/>
          </a:prstGeom>
          <a:noFill/>
          <a:ln/>
        </p:spPr>
        <p:txBody>
          <a:bodyPr wrap="square" lIns="0" tIns="0" rIns="0" bIns="0" rtlCol="0" anchor="t"/>
          <a:lstStyle/>
          <a:p>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Structureel </a:t>
            </a:r>
            <a:pPr algn="l" indent="0" marL="0">
              <a:lnSpc>
                <a:spcPct val="105000"/>
              </a:lnSpc>
              <a:buNone/>
            </a:pPr>
            <a:r>
              <a:rPr lang="en-US" sz="5000" i="1" dirty="0">
                <a:solidFill>
                  <a:srgbClr val="F2EFE6"/>
                </a:solidFill>
                <a:latin typeface="Georgia" pitchFamily="34" charset="0"/>
                <a:ea typeface="Georgia" pitchFamily="34" charset="-122"/>
                <a:cs typeface="Georgia" pitchFamily="34" charset="-120"/>
              </a:rPr>
              <a:t>nieuwe klanten</a:t>
            </a:r>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 aan tafel.</a:t>
            </a:r>
            <a:endParaRPr lang="en-US" sz="5200" dirty="0"/>
          </a:p>
        </p:txBody>
      </p:sp>
      <p:sp>
        <p:nvSpPr>
          <p:cNvPr id="29" name="Text 27"/>
          <p:cNvSpPr txBox="1"/>
          <p:nvPr/>
        </p:nvSpPr>
        <p:spPr>
          <a:xfrm>
            <a:off x="609598" y="4711688"/>
            <a:ext cx="6667483" cy="761998"/>
          </a:xfrm>
          <a:prstGeom prst="rect">
            <a:avLst/>
          </a:prstGeom>
          <a:noFill/>
          <a:ln/>
        </p:spPr>
        <p:txBody>
          <a:bodyPr wrap="square" lIns="0" tIns="0" rIns="0" bIns="0" rtlCol="0" anchor="t"/>
          <a:lstStyle/>
          <a:p>
            <a:pPr indent="0" marL="0">
              <a:lnSpc>
                <a:spcPct val="135000"/>
              </a:lnSpc>
              <a:buNone/>
            </a:pPr>
            <a:r>
              <a:rPr lang="en-US" sz="1400" dirty="0">
                <a:solidFill>
                  <a:srgbClr val="BDC3CE"/>
                </a:solidFill>
                <a:latin typeface="Arial" pitchFamily="34" charset="0"/>
                <a:ea typeface="Arial" pitchFamily="34" charset="-122"/>
                <a:cs typeface="Arial" pitchFamily="34" charset="-120"/>
              </a:rPr>
              <a:t>Wat LINK. voor CentreBlock kan betekenen: structureel gesprekken met bedrijven die jullie nog niet kennen, en na twaalf weken een plan op basis van echte cijfers.</a:t>
            </a:r>
            <a:endParaRPr lang="en-US" sz="1400" dirty="0"/>
          </a:p>
        </p:txBody>
      </p:sp>
      <p:sp>
        <p:nvSpPr>
          <p:cNvPr id="30" name="Text 28"/>
          <p:cNvSpPr txBox="1"/>
          <p:nvPr/>
        </p:nvSpPr>
        <p:spPr>
          <a:xfrm>
            <a:off x="609598" y="5714986"/>
            <a:ext cx="825498" cy="406399"/>
          </a:xfrm>
          <a:prstGeom prst="rect">
            <a:avLst/>
          </a:prstGeom>
          <a:noFill/>
          <a:ln/>
        </p:spPr>
        <p:txBody>
          <a:bodyPr wrap="square" lIns="0" tIns="0" rIns="0" bIns="0" rtlCol="0" anchor="ctr"/>
          <a:lstStyle/>
          <a:p>
            <a:pPr indent="0" marL="0">
              <a:buNone/>
            </a:pPr>
            <a:r>
              <a:rPr lang="en-US" sz="1700" b="1" dirty="0">
                <a:solidFill>
                  <a:srgbClr val="F2EFE6"/>
                </a:solidFill>
                <a:latin typeface="Arial" pitchFamily="34" charset="0"/>
                <a:ea typeface="Arial" pitchFamily="34" charset="-122"/>
                <a:cs typeface="Arial" pitchFamily="34" charset="-120"/>
              </a:rPr>
              <a:t>LINK</a:t>
            </a:r>
            <a:pPr indent="0" marL="0">
              <a:buNone/>
            </a:pPr>
            <a:r>
              <a:rPr lang="en-US" sz="1700" b="1" dirty="0">
                <a:solidFill>
                  <a:srgbClr val="38B6FF"/>
                </a:solidFill>
                <a:latin typeface="Arial" pitchFamily="34" charset="0"/>
                <a:ea typeface="Arial" pitchFamily="34" charset="-122"/>
                <a:cs typeface="Arial" pitchFamily="34" charset="-120"/>
              </a:rPr>
              <a:t>.</a:t>
            </a:r>
            <a:endParaRPr lang="en-US" sz="1700" dirty="0"/>
          </a:p>
        </p:txBody>
      </p:sp>
      <p:sp>
        <p:nvSpPr>
          <p:cNvPr id="31" name="Text 29"/>
          <p:cNvSpPr txBox="1"/>
          <p:nvPr/>
        </p:nvSpPr>
        <p:spPr>
          <a:xfrm>
            <a:off x="1473196" y="5714986"/>
            <a:ext cx="279399" cy="406399"/>
          </a:xfrm>
          <a:prstGeom prst="rect">
            <a:avLst/>
          </a:prstGeom>
          <a:noFill/>
          <a:ln/>
        </p:spPr>
        <p:txBody>
          <a:bodyPr wrap="square" lIns="0" tIns="0" rIns="0" bIns="0" rtlCol="0" anchor="ctr"/>
          <a:lstStyle/>
          <a:p>
            <a:pPr algn="ctr" indent="0" marL="0">
              <a:buNone/>
            </a:pPr>
            <a:r>
              <a:rPr lang="en-US" sz="1300" dirty="0">
                <a:solidFill>
                  <a:srgbClr val="8A90A0"/>
                </a:solidFill>
                <a:latin typeface="Arial" pitchFamily="34" charset="0"/>
                <a:ea typeface="Arial" pitchFamily="34" charset="-122"/>
                <a:cs typeface="Arial" pitchFamily="34" charset="-120"/>
              </a:rPr>
              <a:t>×</a:t>
            </a:r>
            <a:endParaRPr lang="en-US" sz="1300" dirty="0"/>
          </a:p>
        </p:txBody>
      </p:sp>
      <p:sp>
        <p:nvSpPr>
          <p:cNvPr id="32" name="Shape 30"/>
          <p:cNvSpPr/>
          <p:nvPr/>
        </p:nvSpPr>
        <p:spPr>
          <a:xfrm>
            <a:off x="1854195" y="5714986"/>
            <a:ext cx="1752596" cy="406399"/>
          </a:xfrm>
          <a:prstGeom prst="roundRect">
            <a:avLst>
              <a:gd name="adj" fmla="val 21875"/>
            </a:avLst>
          </a:prstGeom>
          <a:solidFill>
            <a:srgbClr val="F8F4EB"/>
          </a:solidFill>
          <a:ln/>
        </p:spPr>
      </p:sp>
      <p:pic>
        <p:nvPicPr>
          <p:cNvPr id="33" name="Image 0" descr="preencoded.png">    </p:cNvPr>
          <p:cNvPicPr>
            <a:picLocks noChangeAspect="1"/>
          </p:cNvPicPr>
          <p:nvPr/>
        </p:nvPicPr>
        <p:blipFill>
          <a:blip r:embed="rId1"/>
          <a:stretch>
            <a:fillRect/>
          </a:stretch>
        </p:blipFill>
        <p:spPr>
          <a:xfrm>
            <a:off x="2031995" y="5791186"/>
            <a:ext cx="1396997" cy="2539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CentreBlock</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2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WIE WIJ ZIJN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Bellen is een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vak</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 Wij doen niets anders.</a:t>
            </a:r>
            <a:endParaRPr lang="en-US" sz="3200" dirty="0"/>
          </a:p>
        </p:txBody>
      </p:sp>
      <p:sp>
        <p:nvSpPr>
          <p:cNvPr id="7" name="Text 5"/>
          <p:cNvSpPr txBox="1"/>
          <p:nvPr/>
        </p:nvSpPr>
        <p:spPr>
          <a:xfrm>
            <a:off x="609598" y="2692393"/>
            <a:ext cx="6095985" cy="3174992"/>
          </a:xfrm>
          <a:prstGeom prst="rect">
            <a:avLst/>
          </a:prstGeom>
          <a:noFill/>
          <a:ln/>
        </p:spPr>
        <p:txBody>
          <a:bodyPr wrap="square" lIns="0" tIns="0" rIns="0" bIns="0" rtlCol="0" anchor="t"/>
          <a:lstStyle/>
          <a:p>
            <a:pPr indent="0" marL="0">
              <a:lnSpc>
                <a:spcPct val="142000"/>
              </a:lnSpc>
              <a:spcAft>
                <a:spcPts val="1800"/>
              </a:spcAft>
              <a:buNone/>
            </a:pPr>
            <a:r>
              <a:rPr lang="en-US" sz="1350" dirty="0">
                <a:solidFill>
                  <a:srgbClr val="1C2230"/>
                </a:solidFill>
                <a:latin typeface="Arial" pitchFamily="34" charset="0"/>
                <a:ea typeface="Arial" pitchFamily="34" charset="-122"/>
                <a:cs typeface="Arial" pitchFamily="34" charset="-120"/>
              </a:rPr>
              <a:t>LINK. is de vaste acquisitiepartner van B2B-bedrijven. Wij bellen dagelijks namens onze klanten en leveren gekwalificeerde afspraken op. Geen lijstjes met namen, maar gesprekken in jullie agenda met een beslisser die weet waarom hij aan tafel zit.</a:t>
            </a:r>
            <a:endParaRPr lang="en-US" sz="1350" dirty="0"/>
          </a:p>
          <a:p>
            <a:pPr indent="0" marL="0">
              <a:lnSpc>
                <a:spcPct val="142000"/>
              </a:lnSpc>
              <a:buNone/>
            </a:pPr>
            <a:r>
              <a:rPr lang="en-US" sz="1350" dirty="0">
                <a:solidFill>
                  <a:srgbClr val="1C2230"/>
                </a:solidFill>
                <a:latin typeface="Arial" pitchFamily="34" charset="0"/>
                <a:ea typeface="Arial" pitchFamily="34" charset="-122"/>
                <a:cs typeface="Arial" pitchFamily="34" charset="-120"/>
              </a:rPr>
              <a:t>We werken voor bedrijven met een sterke B2B-propositie, in uiteenlopende branches. Geen bureau op afstand, maar een partner die elke week met je schakelt.</a:t>
            </a:r>
            <a:endParaRPr lang="en-US" sz="1350" dirty="0"/>
          </a:p>
        </p:txBody>
      </p:sp>
      <p:sp>
        <p:nvSpPr>
          <p:cNvPr id="8" name="Shape 6"/>
          <p:cNvSpPr/>
          <p:nvPr/>
        </p:nvSpPr>
        <p:spPr>
          <a:xfrm>
            <a:off x="7899380" y="2666993"/>
            <a:ext cx="3682991" cy="1549396"/>
          </a:xfrm>
          <a:prstGeom prst="roundRect">
            <a:avLst>
              <a:gd name="adj" fmla="val 6557"/>
            </a:avLst>
          </a:prstGeom>
          <a:solidFill>
            <a:srgbClr val="F8F4EB"/>
          </a:solidFill>
          <a:ln/>
        </p:spPr>
      </p:sp>
      <p:sp>
        <p:nvSpPr>
          <p:cNvPr id="9" name="Text 7"/>
          <p:cNvSpPr txBox="1"/>
          <p:nvPr/>
        </p:nvSpPr>
        <p:spPr>
          <a:xfrm>
            <a:off x="8178780" y="2857493"/>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1</a:t>
            </a:r>
            <a:endParaRPr lang="en-US" sz="3400" dirty="0"/>
          </a:p>
        </p:txBody>
      </p:sp>
      <p:sp>
        <p:nvSpPr>
          <p:cNvPr id="10" name="Text 8"/>
          <p:cNvSpPr txBox="1"/>
          <p:nvPr/>
        </p:nvSpPr>
        <p:spPr>
          <a:xfrm>
            <a:off x="8178780" y="3352792"/>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vast aanspreekpunt</a:t>
            </a:r>
            <a:endParaRPr lang="en-US" sz="1250" dirty="0"/>
          </a:p>
        </p:txBody>
      </p:sp>
      <p:sp>
        <p:nvSpPr>
          <p:cNvPr id="11" name="Text 9"/>
          <p:cNvSpPr txBox="1"/>
          <p:nvPr/>
        </p:nvSpPr>
        <p:spPr>
          <a:xfrm>
            <a:off x="8178780" y="3619491"/>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Eén persoon die jullie campagne kent, van script tot rapportage.</a:t>
            </a:r>
            <a:endParaRPr lang="en-US" sz="950" dirty="0"/>
          </a:p>
        </p:txBody>
      </p:sp>
      <p:sp>
        <p:nvSpPr>
          <p:cNvPr id="12" name="Shape 10"/>
          <p:cNvSpPr/>
          <p:nvPr/>
        </p:nvSpPr>
        <p:spPr>
          <a:xfrm>
            <a:off x="7899380" y="4368789"/>
            <a:ext cx="3682991" cy="1549396"/>
          </a:xfrm>
          <a:prstGeom prst="roundRect">
            <a:avLst>
              <a:gd name="adj" fmla="val 6557"/>
            </a:avLst>
          </a:prstGeom>
          <a:solidFill>
            <a:srgbClr val="F8F4EB"/>
          </a:solidFill>
          <a:ln/>
        </p:spPr>
      </p:sp>
      <p:sp>
        <p:nvSpPr>
          <p:cNvPr id="13" name="Text 11"/>
          <p:cNvSpPr txBox="1"/>
          <p:nvPr/>
        </p:nvSpPr>
        <p:spPr>
          <a:xfrm>
            <a:off x="8178780" y="4559289"/>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4</a:t>
            </a:r>
            <a:endParaRPr lang="en-US" sz="3400" dirty="0"/>
          </a:p>
        </p:txBody>
      </p:sp>
      <p:sp>
        <p:nvSpPr>
          <p:cNvPr id="14" name="Text 12"/>
          <p:cNvSpPr txBox="1"/>
          <p:nvPr/>
        </p:nvSpPr>
        <p:spPr>
          <a:xfrm>
            <a:off x="8178780" y="5054587"/>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weken per werkperiode</a:t>
            </a:r>
            <a:endParaRPr lang="en-US" sz="1250" dirty="0"/>
          </a:p>
        </p:txBody>
      </p:sp>
      <p:sp>
        <p:nvSpPr>
          <p:cNvPr id="15" name="Text 13"/>
          <p:cNvSpPr txBox="1"/>
          <p:nvPr/>
        </p:nvSpPr>
        <p:spPr>
          <a:xfrm>
            <a:off x="8178780" y="5321287"/>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Vaste rapportage en vaste evaluatiemomenten, elke werkperiode opnieuw.</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CentreBlock</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3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DOEN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Eén team dat belt, opvolgt 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afspraken levert</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2628893" cy="3238492"/>
          </a:xfrm>
          <a:prstGeom prst="roundRect">
            <a:avLst>
              <a:gd name="adj" fmla="val 3865"/>
            </a:avLst>
          </a:prstGeom>
          <a:solidFill>
            <a:srgbClr val="F8F4EB"/>
          </a:solidFill>
          <a:ln/>
        </p:spPr>
      </p:sp>
      <p:sp>
        <p:nvSpPr>
          <p:cNvPr id="8" name="Shape 6"/>
          <p:cNvSpPr/>
          <p:nvPr/>
        </p:nvSpPr>
        <p:spPr>
          <a:xfrm>
            <a:off x="863598" y="30733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958848" y="3168642"/>
            <a:ext cx="190500" cy="190500"/>
          </a:xfrm>
          <a:prstGeom prst="rect">
            <a:avLst/>
          </a:prstGeom>
        </p:spPr>
      </p:pic>
      <p:sp>
        <p:nvSpPr>
          <p:cNvPr id="10" name="Text 7"/>
          <p:cNvSpPr txBox="1"/>
          <p:nvPr/>
        </p:nvSpPr>
        <p:spPr>
          <a:xfrm>
            <a:off x="863598"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Cold calling</a:t>
            </a:r>
            <a:endParaRPr lang="en-US" sz="1350" dirty="0"/>
          </a:p>
        </p:txBody>
      </p:sp>
      <p:sp>
        <p:nvSpPr>
          <p:cNvPr id="11" name="Text 8"/>
          <p:cNvSpPr txBox="1"/>
          <p:nvPr/>
        </p:nvSpPr>
        <p:spPr>
          <a:xfrm>
            <a:off x="863598"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Ervaren B2B-bellers die het gesprek voeren met de beslisser. Eigen belsysteem, een regionaal telefoonnummer op jullie naam en elk gesprek vastgelegd met notities.</a:t>
            </a:r>
            <a:endParaRPr lang="en-US" sz="950" dirty="0"/>
          </a:p>
        </p:txBody>
      </p:sp>
      <p:sp>
        <p:nvSpPr>
          <p:cNvPr id="12" name="Shape 9"/>
          <p:cNvSpPr/>
          <p:nvPr/>
        </p:nvSpPr>
        <p:spPr>
          <a:xfrm>
            <a:off x="3390892" y="2793993"/>
            <a:ext cx="2628893" cy="3238492"/>
          </a:xfrm>
          <a:prstGeom prst="roundRect">
            <a:avLst>
              <a:gd name="adj" fmla="val 3865"/>
            </a:avLst>
          </a:prstGeom>
          <a:solidFill>
            <a:srgbClr val="F8F4EB"/>
          </a:solidFill>
          <a:ln/>
        </p:spPr>
      </p:sp>
      <p:sp>
        <p:nvSpPr>
          <p:cNvPr id="13" name="Shape 10"/>
          <p:cNvSpPr/>
          <p:nvPr/>
        </p:nvSpPr>
        <p:spPr>
          <a:xfrm>
            <a:off x="3644891" y="30733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3740141" y="3168642"/>
            <a:ext cx="190500" cy="190500"/>
          </a:xfrm>
          <a:prstGeom prst="rect">
            <a:avLst/>
          </a:prstGeom>
        </p:spPr>
      </p:pic>
      <p:sp>
        <p:nvSpPr>
          <p:cNvPr id="15" name="Text 11"/>
          <p:cNvSpPr txBox="1"/>
          <p:nvPr/>
        </p:nvSpPr>
        <p:spPr>
          <a:xfrm>
            <a:off x="3644891"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Data en doelgroep</a:t>
            </a:r>
            <a:endParaRPr lang="en-US" sz="1350" dirty="0"/>
          </a:p>
        </p:txBody>
      </p:sp>
      <p:sp>
        <p:nvSpPr>
          <p:cNvPr id="16" name="Text 12"/>
          <p:cNvSpPr txBox="1"/>
          <p:nvPr/>
        </p:nvSpPr>
        <p:spPr>
          <a:xfrm>
            <a:off x="3644891"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Wij bouwen de bellijst op basis van jullie ideale klant: branche, grootte, regio en functie. Bestaande relaties en uitsluitingen halen we er vooraf uit.</a:t>
            </a:r>
            <a:endParaRPr lang="en-US" sz="950" dirty="0"/>
          </a:p>
        </p:txBody>
      </p:sp>
      <p:sp>
        <p:nvSpPr>
          <p:cNvPr id="17" name="Shape 13"/>
          <p:cNvSpPr/>
          <p:nvPr/>
        </p:nvSpPr>
        <p:spPr>
          <a:xfrm>
            <a:off x="6172185" y="2793993"/>
            <a:ext cx="2628893" cy="3238492"/>
          </a:xfrm>
          <a:prstGeom prst="roundRect">
            <a:avLst>
              <a:gd name="adj" fmla="val 3865"/>
            </a:avLst>
          </a:prstGeom>
          <a:solidFill>
            <a:srgbClr val="F8F4EB"/>
          </a:solidFill>
          <a:ln/>
        </p:spPr>
      </p:sp>
      <p:sp>
        <p:nvSpPr>
          <p:cNvPr id="18" name="Shape 14"/>
          <p:cNvSpPr/>
          <p:nvPr/>
        </p:nvSpPr>
        <p:spPr>
          <a:xfrm>
            <a:off x="6426184" y="30733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6521434" y="3168642"/>
            <a:ext cx="190500" cy="190500"/>
          </a:xfrm>
          <a:prstGeom prst="rect">
            <a:avLst/>
          </a:prstGeom>
        </p:spPr>
      </p:pic>
      <p:sp>
        <p:nvSpPr>
          <p:cNvPr id="20" name="Text 15"/>
          <p:cNvSpPr txBox="1"/>
          <p:nvPr/>
        </p:nvSpPr>
        <p:spPr>
          <a:xfrm>
            <a:off x="6426184"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Opvolging</a:t>
            </a:r>
            <a:endParaRPr lang="en-US" sz="1350" dirty="0"/>
          </a:p>
        </p:txBody>
      </p:sp>
      <p:sp>
        <p:nvSpPr>
          <p:cNvPr id="21" name="Text 16"/>
          <p:cNvSpPr txBox="1"/>
          <p:nvPr/>
        </p:nvSpPr>
        <p:spPr>
          <a:xfrm>
            <a:off x="6426184"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Terugbelafspraken komen echt terug in de bellijst en warme leads dragen we direct aan jullie over, met de reden en de context erbij.</a:t>
            </a:r>
            <a:endParaRPr lang="en-US" sz="950" dirty="0"/>
          </a:p>
        </p:txBody>
      </p:sp>
      <p:sp>
        <p:nvSpPr>
          <p:cNvPr id="22" name="Shape 17"/>
          <p:cNvSpPr/>
          <p:nvPr/>
        </p:nvSpPr>
        <p:spPr>
          <a:xfrm>
            <a:off x="8953478" y="2793993"/>
            <a:ext cx="2628893" cy="3238492"/>
          </a:xfrm>
          <a:prstGeom prst="roundRect">
            <a:avLst>
              <a:gd name="adj" fmla="val 3865"/>
            </a:avLst>
          </a:prstGeom>
          <a:solidFill>
            <a:srgbClr val="000000"/>
          </a:solidFill>
          <a:ln/>
        </p:spPr>
      </p:sp>
      <p:sp>
        <p:nvSpPr>
          <p:cNvPr id="23" name="Shape 18"/>
          <p:cNvSpPr/>
          <p:nvPr/>
        </p:nvSpPr>
        <p:spPr>
          <a:xfrm>
            <a:off x="9207477" y="3073392"/>
            <a:ext cx="380999" cy="380999"/>
          </a:xfrm>
          <a:prstGeom prst="roundRect">
            <a:avLst>
              <a:gd name="adj" fmla="val 23333"/>
            </a:avLst>
          </a:prstGeom>
          <a:solidFill>
            <a:srgbClr val="203C55"/>
          </a:solidFill>
          <a:ln/>
        </p:spPr>
      </p:sp>
      <p:pic>
        <p:nvPicPr>
          <p:cNvPr id="24" name="Image 3" descr="preencoded.png">    </p:cNvPr>
          <p:cNvPicPr>
            <a:picLocks noChangeAspect="1"/>
          </p:cNvPicPr>
          <p:nvPr/>
        </p:nvPicPr>
        <p:blipFill>
          <a:blip r:embed="rId4"/>
          <a:stretch>
            <a:fillRect/>
          </a:stretch>
        </p:blipFill>
        <p:spPr>
          <a:xfrm>
            <a:off x="9302727" y="3168642"/>
            <a:ext cx="190500" cy="190500"/>
          </a:xfrm>
          <a:prstGeom prst="rect">
            <a:avLst/>
          </a:prstGeom>
        </p:spPr>
      </p:pic>
      <p:sp>
        <p:nvSpPr>
          <p:cNvPr id="25" name="Text 19"/>
          <p:cNvSpPr txBox="1"/>
          <p:nvPr/>
        </p:nvSpPr>
        <p:spPr>
          <a:xfrm>
            <a:off x="9207477"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FFFFFF"/>
                </a:solidFill>
                <a:latin typeface="Arial" pitchFamily="34" charset="0"/>
                <a:ea typeface="Arial" pitchFamily="34" charset="-122"/>
                <a:cs typeface="Arial" pitchFamily="34" charset="-120"/>
              </a:rPr>
              <a:t>Gekwalificeerde afspraken</a:t>
            </a:r>
            <a:endParaRPr lang="en-US" sz="1350" dirty="0"/>
          </a:p>
        </p:txBody>
      </p:sp>
      <p:sp>
        <p:nvSpPr>
          <p:cNvPr id="26" name="Text 20"/>
          <p:cNvSpPr txBox="1"/>
          <p:nvPr/>
        </p:nvSpPr>
        <p:spPr>
          <a:xfrm>
            <a:off x="9207477"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C2C8D2"/>
                </a:solidFill>
                <a:latin typeface="Arial" pitchFamily="34" charset="0"/>
                <a:ea typeface="Arial" pitchFamily="34" charset="-122"/>
                <a:cs typeface="Arial" pitchFamily="34" charset="-120"/>
              </a:rPr>
              <a:t>Het resultaat waar we op sturen. Een afspraak staat pas als het bedrijf past, de interesse echt is en de juiste persoon aan tafel zit.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CentreBlock</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4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EEN SAMENWERKING LOOPT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Van kick-off naar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afspraken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in de agenda.</a:t>
            </a:r>
            <a:endParaRPr lang="en-US" sz="3200" dirty="0"/>
          </a:p>
        </p:txBody>
      </p:sp>
      <p:sp>
        <p:nvSpPr>
          <p:cNvPr id="7" name="Shape 5"/>
          <p:cNvSpPr/>
          <p:nvPr/>
        </p:nvSpPr>
        <p:spPr>
          <a:xfrm>
            <a:off x="609598" y="2743193"/>
            <a:ext cx="304799" cy="304799"/>
          </a:xfrm>
          <a:prstGeom prst="ellipse">
            <a:avLst/>
          </a:prstGeom>
          <a:ln w="15240">
            <a:solidFill>
              <a:srgbClr val="38B6FF"/>
            </a:solidFill>
            <a:prstDash val="solid"/>
          </a:ln>
        </p:spPr>
      </p:sp>
      <p:sp>
        <p:nvSpPr>
          <p:cNvPr id="8" name="Text 6"/>
          <p:cNvSpPr txBox="1"/>
          <p:nvPr/>
        </p:nvSpPr>
        <p:spPr>
          <a:xfrm>
            <a:off x="609598"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Shape 7"/>
          <p:cNvSpPr/>
          <p:nvPr/>
        </p:nvSpPr>
        <p:spPr>
          <a:xfrm>
            <a:off x="1015997" y="2895593"/>
            <a:ext cx="2349494" cy="0"/>
          </a:xfrm>
          <a:prstGeom prst="line">
            <a:avLst/>
          </a:prstGeom>
          <a:noFill/>
          <a:ln w="9525">
            <a:solidFill>
              <a:srgbClr val="38B6FF">
                <a:alpha val="40000"/>
              </a:srgbClr>
            </a:solidFill>
            <a:prstDash val="solid"/>
          </a:ln>
        </p:spPr>
      </p:sp>
      <p:sp>
        <p:nvSpPr>
          <p:cNvPr id="10" name="Text 8"/>
          <p:cNvSpPr txBox="1"/>
          <p:nvPr/>
        </p:nvSpPr>
        <p:spPr>
          <a:xfrm>
            <a:off x="609598"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Kick-off</a:t>
            </a:r>
            <a:endParaRPr lang="en-US" sz="1250" dirty="0"/>
          </a:p>
        </p:txBody>
      </p:sp>
      <p:sp>
        <p:nvSpPr>
          <p:cNvPr id="11" name="Text 9"/>
          <p:cNvSpPr txBox="1"/>
          <p:nvPr/>
        </p:nvSpPr>
        <p:spPr>
          <a:xfrm>
            <a:off x="609598"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Samen scherp: doelgroep, beslisser, propositie, bezwaren en wat een goede afspraak voor jullie is. Wij schrijven het belscript, jullie keuren goed.</a:t>
            </a:r>
            <a:endParaRPr lang="en-US" sz="900" dirty="0"/>
          </a:p>
        </p:txBody>
      </p:sp>
      <p:sp>
        <p:nvSpPr>
          <p:cNvPr id="12" name="Shape 10"/>
          <p:cNvSpPr/>
          <p:nvPr/>
        </p:nvSpPr>
        <p:spPr>
          <a:xfrm>
            <a:off x="3416291" y="2743193"/>
            <a:ext cx="304799" cy="304799"/>
          </a:xfrm>
          <a:prstGeom prst="ellipse">
            <a:avLst/>
          </a:prstGeom>
          <a:ln w="15240">
            <a:solidFill>
              <a:srgbClr val="38B6FF"/>
            </a:solidFill>
            <a:prstDash val="solid"/>
          </a:ln>
        </p:spPr>
      </p:sp>
      <p:sp>
        <p:nvSpPr>
          <p:cNvPr id="13" name="Text 11"/>
          <p:cNvSpPr txBox="1"/>
          <p:nvPr/>
        </p:nvSpPr>
        <p:spPr>
          <a:xfrm>
            <a:off x="3416291"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4" name="Shape 12"/>
          <p:cNvSpPr/>
          <p:nvPr/>
        </p:nvSpPr>
        <p:spPr>
          <a:xfrm>
            <a:off x="3822690" y="2895593"/>
            <a:ext cx="2349494" cy="0"/>
          </a:xfrm>
          <a:prstGeom prst="line">
            <a:avLst/>
          </a:prstGeom>
          <a:noFill/>
          <a:ln w="9525">
            <a:solidFill>
              <a:srgbClr val="38B6FF">
                <a:alpha val="40000"/>
              </a:srgbClr>
            </a:solidFill>
            <a:prstDash val="solid"/>
          </a:ln>
        </p:spPr>
      </p:sp>
      <p:sp>
        <p:nvSpPr>
          <p:cNvPr id="15" name="Text 13"/>
          <p:cNvSpPr txBox="1"/>
          <p:nvPr/>
        </p:nvSpPr>
        <p:spPr>
          <a:xfrm>
            <a:off x="3416291"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Belstart</a:t>
            </a:r>
            <a:endParaRPr lang="en-US" sz="1250" dirty="0"/>
          </a:p>
        </p:txBody>
      </p:sp>
      <p:sp>
        <p:nvSpPr>
          <p:cNvPr id="16" name="Text 14"/>
          <p:cNvSpPr txBox="1"/>
          <p:nvPr/>
        </p:nvSpPr>
        <p:spPr>
          <a:xfrm>
            <a:off x="3416291"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Vanaf de eerste maandag na de kick-off gaan we bellen, op de dagen en dagdelen die in onze data het beste werken voor jullie branche. Elke afspraak krijgt een bevestigingsmail naar de prospect en een overdracht met context naar jullie.</a:t>
            </a:r>
            <a:endParaRPr lang="en-US" sz="900" dirty="0"/>
          </a:p>
        </p:txBody>
      </p:sp>
      <p:sp>
        <p:nvSpPr>
          <p:cNvPr id="17" name="Shape 15"/>
          <p:cNvSpPr/>
          <p:nvPr/>
        </p:nvSpPr>
        <p:spPr>
          <a:xfrm>
            <a:off x="6222984" y="2743193"/>
            <a:ext cx="304799" cy="304799"/>
          </a:xfrm>
          <a:prstGeom prst="ellipse">
            <a:avLst/>
          </a:prstGeom>
          <a:ln w="15240">
            <a:solidFill>
              <a:srgbClr val="38B6FF"/>
            </a:solidFill>
            <a:prstDash val="solid"/>
          </a:ln>
        </p:spPr>
      </p:sp>
      <p:sp>
        <p:nvSpPr>
          <p:cNvPr id="18" name="Text 16"/>
          <p:cNvSpPr txBox="1"/>
          <p:nvPr/>
        </p:nvSpPr>
        <p:spPr>
          <a:xfrm>
            <a:off x="6222984"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9" name="Shape 17"/>
          <p:cNvSpPr/>
          <p:nvPr/>
        </p:nvSpPr>
        <p:spPr>
          <a:xfrm>
            <a:off x="6629383" y="2895593"/>
            <a:ext cx="2349494" cy="0"/>
          </a:xfrm>
          <a:prstGeom prst="line">
            <a:avLst/>
          </a:prstGeom>
          <a:noFill/>
          <a:ln w="9525">
            <a:solidFill>
              <a:srgbClr val="38B6FF">
                <a:alpha val="40000"/>
              </a:srgbClr>
            </a:solidFill>
            <a:prstDash val="solid"/>
          </a:ln>
        </p:spPr>
      </p:sp>
      <p:sp>
        <p:nvSpPr>
          <p:cNvPr id="20" name="Text 18"/>
          <p:cNvSpPr txBox="1"/>
          <p:nvPr/>
        </p:nvSpPr>
        <p:spPr>
          <a:xfrm>
            <a:off x="6222984"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Wekelijkse rapportage</a:t>
            </a:r>
            <a:endParaRPr lang="en-US" sz="1250" dirty="0"/>
          </a:p>
        </p:txBody>
      </p:sp>
      <p:sp>
        <p:nvSpPr>
          <p:cNvPr id="21" name="Text 19"/>
          <p:cNvSpPr txBox="1"/>
          <p:nvPr/>
        </p:nvSpPr>
        <p:spPr>
          <a:xfrm>
            <a:off x="6222984"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Elke week een rapport met contactpogingen, gesproken bedrijven, warme uitkomsten, terugbelafspraken en geplande afspraken, plus wat we terughoren uit de markt.</a:t>
            </a:r>
            <a:endParaRPr lang="en-US" sz="900" dirty="0"/>
          </a:p>
        </p:txBody>
      </p:sp>
      <p:sp>
        <p:nvSpPr>
          <p:cNvPr id="22" name="Shape 20"/>
          <p:cNvSpPr/>
          <p:nvPr/>
        </p:nvSpPr>
        <p:spPr>
          <a:xfrm>
            <a:off x="9029677" y="2743193"/>
            <a:ext cx="304799" cy="304799"/>
          </a:xfrm>
          <a:prstGeom prst="ellipse">
            <a:avLst/>
          </a:prstGeom>
          <a:ln w="15240">
            <a:solidFill>
              <a:srgbClr val="38B6FF"/>
            </a:solidFill>
            <a:prstDash val="solid"/>
          </a:ln>
        </p:spPr>
      </p:sp>
      <p:sp>
        <p:nvSpPr>
          <p:cNvPr id="23" name="Text 21"/>
          <p:cNvSpPr txBox="1"/>
          <p:nvPr/>
        </p:nvSpPr>
        <p:spPr>
          <a:xfrm>
            <a:off x="9029677"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4</a:t>
            </a:r>
            <a:endParaRPr lang="en-US" sz="1050" dirty="0"/>
          </a:p>
        </p:txBody>
      </p:sp>
      <p:sp>
        <p:nvSpPr>
          <p:cNvPr id="24" name="Text 22"/>
          <p:cNvSpPr txBox="1"/>
          <p:nvPr/>
        </p:nvSpPr>
        <p:spPr>
          <a:xfrm>
            <a:off x="9029677"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Bijsturen</a:t>
            </a:r>
            <a:endParaRPr lang="en-US" sz="1250" dirty="0"/>
          </a:p>
        </p:txBody>
      </p:sp>
      <p:sp>
        <p:nvSpPr>
          <p:cNvPr id="25" name="Text 23"/>
          <p:cNvSpPr txBox="1"/>
          <p:nvPr/>
        </p:nvSpPr>
        <p:spPr>
          <a:xfrm>
            <a:off x="9029677"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Om de week evalueren we samen: klopt de doelgroep, klopt de kwaliteit van de afspraken en wat scherpen we aan.</a:t>
            </a:r>
            <a:endParaRPr lang="en-US" sz="900" dirty="0"/>
          </a:p>
        </p:txBody>
      </p:sp>
      <p:sp>
        <p:nvSpPr>
          <p:cNvPr id="26" name="Shape 24"/>
          <p:cNvSpPr/>
          <p:nvPr/>
        </p:nvSpPr>
        <p:spPr>
          <a:xfrm>
            <a:off x="609598" y="4711688"/>
            <a:ext cx="10972773" cy="1320797"/>
          </a:xfrm>
          <a:prstGeom prst="roundRect">
            <a:avLst>
              <a:gd name="adj" fmla="val 7692"/>
            </a:avLst>
          </a:prstGeom>
          <a:solidFill>
            <a:srgbClr val="1B2130"/>
          </a:solidFill>
          <a:ln w="9525">
            <a:solidFill>
              <a:srgbClr val="3A4152"/>
            </a:solidFill>
            <a:prstDash val="solid"/>
          </a:ln>
        </p:spPr>
      </p:sp>
      <p:sp>
        <p:nvSpPr>
          <p:cNvPr id="27" name="Text 25"/>
          <p:cNvSpPr txBox="1"/>
          <p:nvPr/>
        </p:nvSpPr>
        <p:spPr>
          <a:xfrm>
            <a:off x="914398" y="4927588"/>
            <a:ext cx="5079987" cy="228599"/>
          </a:xfrm>
          <a:prstGeom prst="rect">
            <a:avLst/>
          </a:prstGeom>
          <a:noFill/>
          <a:ln/>
        </p:spPr>
        <p:txBody>
          <a:bodyPr wrap="square" lIns="0" tIns="0" rIns="0" bIns="0" rtlCol="0" anchor="ctr"/>
          <a:lstStyle/>
          <a:p>
            <a:pPr indent="0" marL="0">
              <a:buNone/>
            </a:pPr>
            <a:r>
              <a:rPr lang="en-US" sz="1150" b="1" dirty="0">
                <a:solidFill>
                  <a:srgbClr val="F2EFE6"/>
                </a:solidFill>
                <a:latin typeface="Arial" pitchFamily="34" charset="0"/>
                <a:ea typeface="Arial" pitchFamily="34" charset="-122"/>
                <a:cs typeface="Arial" pitchFamily="34" charset="-120"/>
              </a:rPr>
              <a:t>Wat jullie ontvangen</a:t>
            </a:r>
            <a:endParaRPr lang="en-US" sz="1150" dirty="0"/>
          </a:p>
        </p:txBody>
      </p:sp>
      <p:pic>
        <p:nvPicPr>
          <p:cNvPr id="28" name="Image 0" descr="preencoded.png">    </p:cNvPr>
          <p:cNvPicPr>
            <a:picLocks noChangeAspect="1"/>
          </p:cNvPicPr>
          <p:nvPr/>
        </p:nvPicPr>
        <p:blipFill>
          <a:blip r:embed="rId1"/>
          <a:stretch>
            <a:fillRect/>
          </a:stretch>
        </p:blipFill>
        <p:spPr>
          <a:xfrm>
            <a:off x="914398" y="5314937"/>
            <a:ext cx="139700" cy="139700"/>
          </a:xfrm>
          <a:prstGeom prst="rect">
            <a:avLst/>
          </a:prstGeom>
        </p:spPr>
      </p:pic>
      <p:sp>
        <p:nvSpPr>
          <p:cNvPr id="29" name="Text 26"/>
          <p:cNvSpPr txBox="1"/>
          <p:nvPr/>
        </p:nvSpPr>
        <p:spPr>
          <a:xfrm>
            <a:off x="1142997"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Afspraak in de agenda met bedrijfsinfo, contactpersoon en aanleiding</a:t>
            </a:r>
            <a:endParaRPr lang="en-US" sz="950" dirty="0"/>
          </a:p>
        </p:txBody>
      </p:sp>
      <p:pic>
        <p:nvPicPr>
          <p:cNvPr id="30" name="Image 1" descr="preencoded.png">    </p:cNvPr>
          <p:cNvPicPr>
            <a:picLocks noChangeAspect="1"/>
          </p:cNvPicPr>
          <p:nvPr/>
        </p:nvPicPr>
        <p:blipFill>
          <a:blip r:embed="rId2"/>
          <a:stretch>
            <a:fillRect/>
          </a:stretch>
        </p:blipFill>
        <p:spPr>
          <a:xfrm>
            <a:off x="6400784" y="5314937"/>
            <a:ext cx="139700" cy="139700"/>
          </a:xfrm>
          <a:prstGeom prst="rect">
            <a:avLst/>
          </a:prstGeom>
        </p:spPr>
      </p:pic>
      <p:sp>
        <p:nvSpPr>
          <p:cNvPr id="31" name="Text 27"/>
          <p:cNvSpPr txBox="1"/>
          <p:nvPr/>
        </p:nvSpPr>
        <p:spPr>
          <a:xfrm>
            <a:off x="6629383"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Bevestiging naar de prospect uit jullie naam</a:t>
            </a:r>
            <a:endParaRPr lang="en-US" sz="950" dirty="0"/>
          </a:p>
        </p:txBody>
      </p:sp>
      <p:pic>
        <p:nvPicPr>
          <p:cNvPr id="32" name="Image 2" descr="preencoded.png">    </p:cNvPr>
          <p:cNvPicPr>
            <a:picLocks noChangeAspect="1"/>
          </p:cNvPicPr>
          <p:nvPr/>
        </p:nvPicPr>
        <p:blipFill>
          <a:blip r:embed="rId3"/>
          <a:stretch>
            <a:fillRect/>
          </a:stretch>
        </p:blipFill>
        <p:spPr>
          <a:xfrm>
            <a:off x="914398" y="5619736"/>
            <a:ext cx="139700" cy="139700"/>
          </a:xfrm>
          <a:prstGeom prst="rect">
            <a:avLst/>
          </a:prstGeom>
        </p:spPr>
      </p:pic>
      <p:sp>
        <p:nvSpPr>
          <p:cNvPr id="33" name="Text 28"/>
          <p:cNvSpPr txBox="1"/>
          <p:nvPr/>
        </p:nvSpPr>
        <p:spPr>
          <a:xfrm>
            <a:off x="1142997"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Wekelijks rapport in PDF plus alle gespreksnotities</a:t>
            </a:r>
            <a:endParaRPr lang="en-US" sz="950" dirty="0"/>
          </a:p>
        </p:txBody>
      </p:sp>
      <p:pic>
        <p:nvPicPr>
          <p:cNvPr id="34" name="Image 3" descr="preencoded.png">    </p:cNvPr>
          <p:cNvPicPr>
            <a:picLocks noChangeAspect="1"/>
          </p:cNvPicPr>
          <p:nvPr/>
        </p:nvPicPr>
        <p:blipFill>
          <a:blip r:embed="rId4"/>
          <a:stretch>
            <a:fillRect/>
          </a:stretch>
        </p:blipFill>
        <p:spPr>
          <a:xfrm>
            <a:off x="6400784" y="5619736"/>
            <a:ext cx="139700" cy="139700"/>
          </a:xfrm>
          <a:prstGeom prst="rect">
            <a:avLst/>
          </a:prstGeom>
        </p:spPr>
      </p:pic>
      <p:sp>
        <p:nvSpPr>
          <p:cNvPr id="35" name="Text 29"/>
          <p:cNvSpPr txBox="1"/>
          <p:nvPr/>
        </p:nvSpPr>
        <p:spPr>
          <a:xfrm>
            <a:off x="6629383"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Een vast aanspreekpunt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CentreBlock</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5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EEN GEKWALIFICEERDE AFSPRAAK NOEMEN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Geen afspraak om de afspraak.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Drie eisen</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3536941" cy="2476494"/>
          </a:xfrm>
          <a:prstGeom prst="roundRect">
            <a:avLst>
              <a:gd name="adj" fmla="val 4103"/>
            </a:avLst>
          </a:prstGeom>
          <a:solidFill>
            <a:srgbClr val="F8F4EB"/>
          </a:solidFill>
          <a:ln/>
        </p:spPr>
      </p:sp>
      <p:sp>
        <p:nvSpPr>
          <p:cNvPr id="8" name="Shape 6"/>
          <p:cNvSpPr/>
          <p:nvPr/>
        </p:nvSpPr>
        <p:spPr>
          <a:xfrm>
            <a:off x="914398" y="31241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09647" y="3219442"/>
            <a:ext cx="190500" cy="190500"/>
          </a:xfrm>
          <a:prstGeom prst="rect">
            <a:avLst/>
          </a:prstGeom>
        </p:spPr>
      </p:pic>
      <p:sp>
        <p:nvSpPr>
          <p:cNvPr id="10" name="Text 7"/>
          <p:cNvSpPr txBox="1"/>
          <p:nvPr/>
        </p:nvSpPr>
        <p:spPr>
          <a:xfrm>
            <a:off x="91439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Fit</a:t>
            </a:r>
            <a:endParaRPr lang="en-US" sz="1600" dirty="0"/>
          </a:p>
        </p:txBody>
      </p:sp>
      <p:sp>
        <p:nvSpPr>
          <p:cNvPr id="11" name="Text 8"/>
          <p:cNvSpPr txBox="1"/>
          <p:nvPr/>
        </p:nvSpPr>
        <p:spPr>
          <a:xfrm>
            <a:off x="91439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Het bedrijf past: branche, omvang en situatie voldoen aan de criteria uit de kick-off.</a:t>
            </a:r>
            <a:endParaRPr lang="en-US" sz="1050" dirty="0"/>
          </a:p>
        </p:txBody>
      </p:sp>
      <p:sp>
        <p:nvSpPr>
          <p:cNvPr id="12" name="Shape 9"/>
          <p:cNvSpPr/>
          <p:nvPr/>
        </p:nvSpPr>
        <p:spPr>
          <a:xfrm>
            <a:off x="4324339" y="2793993"/>
            <a:ext cx="3536941" cy="2476494"/>
          </a:xfrm>
          <a:prstGeom prst="roundRect">
            <a:avLst>
              <a:gd name="adj" fmla="val 4103"/>
            </a:avLst>
          </a:prstGeom>
          <a:solidFill>
            <a:srgbClr val="F8F4EB"/>
          </a:solidFill>
          <a:ln/>
        </p:spPr>
      </p:sp>
      <p:sp>
        <p:nvSpPr>
          <p:cNvPr id="13" name="Shape 10"/>
          <p:cNvSpPr/>
          <p:nvPr/>
        </p:nvSpPr>
        <p:spPr>
          <a:xfrm>
            <a:off x="4629138" y="31241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4724388" y="3219442"/>
            <a:ext cx="190500" cy="190500"/>
          </a:xfrm>
          <a:prstGeom prst="rect">
            <a:avLst/>
          </a:prstGeom>
        </p:spPr>
      </p:pic>
      <p:sp>
        <p:nvSpPr>
          <p:cNvPr id="15" name="Text 11"/>
          <p:cNvSpPr txBox="1"/>
          <p:nvPr/>
        </p:nvSpPr>
        <p:spPr>
          <a:xfrm>
            <a:off x="462913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Interesse</a:t>
            </a:r>
            <a:endParaRPr lang="en-US" sz="1600" dirty="0"/>
          </a:p>
        </p:txBody>
      </p:sp>
      <p:sp>
        <p:nvSpPr>
          <p:cNvPr id="16" name="Text 12"/>
          <p:cNvSpPr txBox="1"/>
          <p:nvPr/>
        </p:nvSpPr>
        <p:spPr>
          <a:xfrm>
            <a:off x="462913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prospect heeft een concrete aanleiding of vraag en neemt bewust de tijd. Wij leggen de aanleiding vast in de overdracht.</a:t>
            </a:r>
            <a:endParaRPr lang="en-US" sz="1050" dirty="0"/>
          </a:p>
        </p:txBody>
      </p:sp>
      <p:sp>
        <p:nvSpPr>
          <p:cNvPr id="17" name="Shape 13"/>
          <p:cNvSpPr/>
          <p:nvPr/>
        </p:nvSpPr>
        <p:spPr>
          <a:xfrm>
            <a:off x="8039080" y="2793993"/>
            <a:ext cx="3536941" cy="2476494"/>
          </a:xfrm>
          <a:prstGeom prst="roundRect">
            <a:avLst>
              <a:gd name="adj" fmla="val 4103"/>
            </a:avLst>
          </a:prstGeom>
          <a:solidFill>
            <a:srgbClr val="F8F4EB"/>
          </a:solidFill>
          <a:ln/>
        </p:spPr>
      </p:sp>
      <p:sp>
        <p:nvSpPr>
          <p:cNvPr id="18" name="Shape 14"/>
          <p:cNvSpPr/>
          <p:nvPr/>
        </p:nvSpPr>
        <p:spPr>
          <a:xfrm>
            <a:off x="8343879" y="31241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8439129" y="3219442"/>
            <a:ext cx="190500" cy="190500"/>
          </a:xfrm>
          <a:prstGeom prst="rect">
            <a:avLst/>
          </a:prstGeom>
        </p:spPr>
      </p:pic>
      <p:sp>
        <p:nvSpPr>
          <p:cNvPr id="20" name="Text 15"/>
          <p:cNvSpPr txBox="1"/>
          <p:nvPr/>
        </p:nvSpPr>
        <p:spPr>
          <a:xfrm>
            <a:off x="8343879"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Beslisser</a:t>
            </a:r>
            <a:endParaRPr lang="en-US" sz="1600" dirty="0"/>
          </a:p>
        </p:txBody>
      </p:sp>
      <p:sp>
        <p:nvSpPr>
          <p:cNvPr id="21" name="Text 16"/>
          <p:cNvSpPr txBox="1"/>
          <p:nvPr/>
        </p:nvSpPr>
        <p:spPr>
          <a:xfrm>
            <a:off x="8343879"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afspraak staat met iemand die over de aankoop gaat of daar direct invloed op heeft.</a:t>
            </a:r>
            <a:endParaRPr lang="en-US" sz="1050" dirty="0"/>
          </a:p>
        </p:txBody>
      </p:sp>
      <p:sp>
        <p:nvSpPr>
          <p:cNvPr id="22" name="Shape 17"/>
          <p:cNvSpPr/>
          <p:nvPr/>
        </p:nvSpPr>
        <p:spPr>
          <a:xfrm>
            <a:off x="609598" y="5854685"/>
            <a:ext cx="76200" cy="76200"/>
          </a:xfrm>
          <a:prstGeom prst="ellipse">
            <a:avLst/>
          </a:prstGeom>
          <a:solidFill>
            <a:srgbClr val="38B6FF"/>
          </a:solidFill>
          <a:ln/>
        </p:spPr>
      </p:sp>
      <p:sp>
        <p:nvSpPr>
          <p:cNvPr id="23" name="Text 18"/>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Valt een afspraak buiten deze eisen, dan telt hij niet mee. Zo blijft het aantal eerlijk en de kwaliteit hoog.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CentreBlock</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6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DE STANDAARDPILOT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Twaalf weken om het te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bewijzen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463794"/>
            <a:ext cx="2628893" cy="2362194"/>
          </a:xfrm>
          <a:prstGeom prst="roundRect">
            <a:avLst>
              <a:gd name="adj" fmla="val 4301"/>
            </a:avLst>
          </a:prstGeom>
          <a:solidFill>
            <a:srgbClr val="1B2130"/>
          </a:solidFill>
          <a:ln w="9525">
            <a:solidFill>
              <a:srgbClr val="3A4152"/>
            </a:solidFill>
            <a:prstDash val="solid"/>
          </a:ln>
        </p:spPr>
      </p:sp>
      <p:sp>
        <p:nvSpPr>
          <p:cNvPr id="8" name="Shape 6"/>
          <p:cNvSpPr/>
          <p:nvPr/>
        </p:nvSpPr>
        <p:spPr>
          <a:xfrm>
            <a:off x="825498" y="2692393"/>
            <a:ext cx="292099" cy="292099"/>
          </a:xfrm>
          <a:prstGeom prst="ellipse">
            <a:avLst/>
          </a:prstGeom>
          <a:ln w="15240">
            <a:solidFill>
              <a:srgbClr val="38B6FF"/>
            </a:solidFill>
            <a:prstDash val="solid"/>
          </a:ln>
        </p:spPr>
      </p:sp>
      <p:sp>
        <p:nvSpPr>
          <p:cNvPr id="9" name="Text 7"/>
          <p:cNvSpPr txBox="1"/>
          <p:nvPr/>
        </p:nvSpPr>
        <p:spPr>
          <a:xfrm>
            <a:off x="825498"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0" name="Text 8"/>
          <p:cNvSpPr txBox="1"/>
          <p:nvPr/>
        </p:nvSpPr>
        <p:spPr>
          <a:xfrm>
            <a:off x="825498"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Kick-off en belscript</a:t>
            </a:r>
            <a:endParaRPr lang="en-US" sz="1150" dirty="0"/>
          </a:p>
        </p:txBody>
      </p:sp>
      <p:sp>
        <p:nvSpPr>
          <p:cNvPr id="11" name="Text 9"/>
          <p:cNvSpPr txBox="1"/>
          <p:nvPr/>
        </p:nvSpPr>
        <p:spPr>
          <a:xfrm>
            <a:off x="825498"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Samen scherp wat we gaan vertellen en bij wie. Wij schrijven het belscript, jullie keuren het goed.</a:t>
            </a:r>
            <a:endParaRPr lang="en-US" sz="875" dirty="0"/>
          </a:p>
        </p:txBody>
      </p:sp>
      <p:sp>
        <p:nvSpPr>
          <p:cNvPr id="12" name="Shape 10"/>
          <p:cNvSpPr/>
          <p:nvPr/>
        </p:nvSpPr>
        <p:spPr>
          <a:xfrm>
            <a:off x="3390892" y="2463794"/>
            <a:ext cx="2628893" cy="2362194"/>
          </a:xfrm>
          <a:prstGeom prst="roundRect">
            <a:avLst>
              <a:gd name="adj" fmla="val 4301"/>
            </a:avLst>
          </a:prstGeom>
          <a:solidFill>
            <a:srgbClr val="1B2130"/>
          </a:solidFill>
          <a:ln w="9525">
            <a:solidFill>
              <a:srgbClr val="3A4152"/>
            </a:solidFill>
            <a:prstDash val="solid"/>
          </a:ln>
        </p:spPr>
      </p:sp>
      <p:sp>
        <p:nvSpPr>
          <p:cNvPr id="13" name="Shape 11"/>
          <p:cNvSpPr/>
          <p:nvPr/>
        </p:nvSpPr>
        <p:spPr>
          <a:xfrm>
            <a:off x="3606791" y="2692393"/>
            <a:ext cx="292099" cy="292099"/>
          </a:xfrm>
          <a:prstGeom prst="ellipse">
            <a:avLst/>
          </a:prstGeom>
          <a:ln w="15240">
            <a:solidFill>
              <a:srgbClr val="38B6FF"/>
            </a:solidFill>
            <a:prstDash val="solid"/>
          </a:ln>
        </p:spPr>
      </p:sp>
      <p:sp>
        <p:nvSpPr>
          <p:cNvPr id="14" name="Text 12"/>
          <p:cNvSpPr txBox="1"/>
          <p:nvPr/>
        </p:nvSpPr>
        <p:spPr>
          <a:xfrm>
            <a:off x="3606791"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5" name="Text 13"/>
          <p:cNvSpPr txBox="1"/>
          <p:nvPr/>
        </p:nvSpPr>
        <p:spPr>
          <a:xfrm>
            <a:off x="3606791"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Bellijst op maat</a:t>
            </a:r>
            <a:endParaRPr lang="en-US" sz="1150" dirty="0"/>
          </a:p>
        </p:txBody>
      </p:sp>
      <p:sp>
        <p:nvSpPr>
          <p:cNvPr id="16" name="Text 14"/>
          <p:cNvSpPr txBox="1"/>
          <p:nvPr/>
        </p:nvSpPr>
        <p:spPr>
          <a:xfrm>
            <a:off x="3606791"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Wij bouwen de bellijst op jullie ideale klant: branche, grootte, regio en functie. Bestaande relaties en uitsluitingen gaan er vooraf uit.</a:t>
            </a:r>
            <a:endParaRPr lang="en-US" sz="875" dirty="0"/>
          </a:p>
        </p:txBody>
      </p:sp>
      <p:sp>
        <p:nvSpPr>
          <p:cNvPr id="17" name="Shape 15"/>
          <p:cNvSpPr/>
          <p:nvPr/>
        </p:nvSpPr>
        <p:spPr>
          <a:xfrm>
            <a:off x="6172185" y="2463794"/>
            <a:ext cx="2628893" cy="2362194"/>
          </a:xfrm>
          <a:prstGeom prst="roundRect">
            <a:avLst>
              <a:gd name="adj" fmla="val 4301"/>
            </a:avLst>
          </a:prstGeom>
          <a:solidFill>
            <a:srgbClr val="1B2130"/>
          </a:solidFill>
          <a:ln w="9525">
            <a:solidFill>
              <a:srgbClr val="3A4152"/>
            </a:solidFill>
            <a:prstDash val="solid"/>
          </a:ln>
        </p:spPr>
      </p:sp>
      <p:sp>
        <p:nvSpPr>
          <p:cNvPr id="18" name="Shape 16"/>
          <p:cNvSpPr/>
          <p:nvPr/>
        </p:nvSpPr>
        <p:spPr>
          <a:xfrm>
            <a:off x="6388084" y="2692393"/>
            <a:ext cx="292099" cy="292099"/>
          </a:xfrm>
          <a:prstGeom prst="ellipse">
            <a:avLst/>
          </a:prstGeom>
          <a:ln w="15240">
            <a:solidFill>
              <a:srgbClr val="38B6FF"/>
            </a:solidFill>
            <a:prstDash val="solid"/>
          </a:ln>
        </p:spPr>
      </p:sp>
      <p:sp>
        <p:nvSpPr>
          <p:cNvPr id="19" name="Text 17"/>
          <p:cNvSpPr txBox="1"/>
          <p:nvPr/>
        </p:nvSpPr>
        <p:spPr>
          <a:xfrm>
            <a:off x="6388084"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6388084"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Twaalf weken bellen</a:t>
            </a:r>
            <a:endParaRPr lang="en-US" sz="1150" dirty="0"/>
          </a:p>
        </p:txBody>
      </p:sp>
      <p:sp>
        <p:nvSpPr>
          <p:cNvPr id="21" name="Text 19"/>
          <p:cNvSpPr txBox="1"/>
          <p:nvPr/>
        </p:nvSpPr>
        <p:spPr>
          <a:xfrm>
            <a:off x="6388084"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We bellen op de dagen en dagdelen die in onze data het beste werken voor jullie branche, met een regionaal nummer op jullie naam. Elke week een rapportage, om de week evaluatie. Gaat het makkelijker of juist moeizamer, dan zitten we eerder om tafel en schakelen we direct.</a:t>
            </a:r>
            <a:endParaRPr lang="en-US" sz="875" dirty="0"/>
          </a:p>
        </p:txBody>
      </p:sp>
      <p:sp>
        <p:nvSpPr>
          <p:cNvPr id="22" name="Shape 20"/>
          <p:cNvSpPr/>
          <p:nvPr/>
        </p:nvSpPr>
        <p:spPr>
          <a:xfrm>
            <a:off x="8953478" y="2463794"/>
            <a:ext cx="2628893" cy="2362194"/>
          </a:xfrm>
          <a:prstGeom prst="roundRect">
            <a:avLst>
              <a:gd name="adj" fmla="val 4301"/>
            </a:avLst>
          </a:prstGeom>
          <a:solidFill>
            <a:srgbClr val="1B2130"/>
          </a:solidFill>
          <a:ln w="15240">
            <a:solidFill>
              <a:srgbClr val="38B6FF"/>
            </a:solidFill>
            <a:prstDash val="solid"/>
          </a:ln>
        </p:spPr>
      </p:sp>
      <p:sp>
        <p:nvSpPr>
          <p:cNvPr id="23" name="Shape 21"/>
          <p:cNvSpPr/>
          <p:nvPr/>
        </p:nvSpPr>
        <p:spPr>
          <a:xfrm>
            <a:off x="9169377" y="2692393"/>
            <a:ext cx="292099" cy="292099"/>
          </a:xfrm>
          <a:prstGeom prst="ellipse">
            <a:avLst/>
          </a:prstGeom>
          <a:ln w="15240">
            <a:solidFill>
              <a:srgbClr val="38B6FF"/>
            </a:solidFill>
            <a:prstDash val="solid"/>
          </a:ln>
        </p:spPr>
      </p:sp>
      <p:sp>
        <p:nvSpPr>
          <p:cNvPr id="24" name="Text 22"/>
          <p:cNvSpPr txBox="1"/>
          <p:nvPr/>
        </p:nvSpPr>
        <p:spPr>
          <a:xfrm>
            <a:off x="9169377"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5" name="Text 23"/>
          <p:cNvSpPr txBox="1"/>
          <p:nvPr/>
        </p:nvSpPr>
        <p:spPr>
          <a:xfrm>
            <a:off x="9169377"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Tien gekwalificeerde afspraken</a:t>
            </a:r>
            <a:endParaRPr lang="en-US" sz="1150" dirty="0"/>
          </a:p>
        </p:txBody>
      </p:sp>
      <p:sp>
        <p:nvSpPr>
          <p:cNvPr id="26" name="Text 24"/>
          <p:cNvSpPr txBox="1"/>
          <p:nvPr/>
        </p:nvSpPr>
        <p:spPr>
          <a:xfrm>
            <a:off x="9169377"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Elke afspraak voldoet aan drie eisen: het bedrijf past, de interesse is echt en de juiste persoon zit aan tafel.</a:t>
            </a:r>
            <a:endParaRPr lang="en-US" sz="875" dirty="0"/>
          </a:p>
        </p:txBody>
      </p:sp>
      <p:sp>
        <p:nvSpPr>
          <p:cNvPr id="27" name="Shape 25"/>
          <p:cNvSpPr/>
          <p:nvPr/>
        </p:nvSpPr>
        <p:spPr>
          <a:xfrm>
            <a:off x="609598" y="5079987"/>
            <a:ext cx="10972773" cy="1028697"/>
          </a:xfrm>
          <a:prstGeom prst="roundRect">
            <a:avLst>
              <a:gd name="adj" fmla="val 9877"/>
            </a:avLst>
          </a:prstGeom>
          <a:solidFill>
            <a:srgbClr val="38B6FF"/>
          </a:solidFill>
          <a:ln/>
        </p:spPr>
      </p:sp>
      <p:sp>
        <p:nvSpPr>
          <p:cNvPr id="28" name="Text 26"/>
          <p:cNvSpPr txBox="1"/>
          <p:nvPr/>
        </p:nvSpPr>
        <p:spPr>
          <a:xfrm>
            <a:off x="914398" y="5245087"/>
            <a:ext cx="1904995" cy="165100"/>
          </a:xfrm>
          <a:prstGeom prst="rect">
            <a:avLst/>
          </a:prstGeom>
          <a:noFill/>
          <a:ln/>
        </p:spPr>
        <p:txBody>
          <a:bodyPr wrap="square" lIns="0" tIns="0" rIns="0" bIns="0" rtlCol="0" anchor="ctr"/>
          <a:lstStyle/>
          <a:p>
            <a:pPr indent="0" marL="0">
              <a:buNone/>
            </a:pPr>
            <a:r>
              <a:rPr lang="en-US" sz="800" b="1" spc="200" kern="0" dirty="0">
                <a:solidFill>
                  <a:srgbClr val="0D1420"/>
                </a:solidFill>
                <a:latin typeface="Arial" pitchFamily="34" charset="0"/>
                <a:ea typeface="Arial" pitchFamily="34" charset="-122"/>
                <a:cs typeface="Arial" pitchFamily="34" charset="-120"/>
              </a:rPr>
              <a:t>PILOT</a:t>
            </a:r>
            <a:endParaRPr lang="en-US" sz="800" dirty="0"/>
          </a:p>
        </p:txBody>
      </p:sp>
      <p:sp>
        <p:nvSpPr>
          <p:cNvPr id="29" name="Text 27"/>
          <p:cNvSpPr txBox="1"/>
          <p:nvPr/>
        </p:nvSpPr>
        <p:spPr>
          <a:xfrm>
            <a:off x="914398" y="5410186"/>
            <a:ext cx="1904995" cy="406399"/>
          </a:xfrm>
          <a:prstGeom prst="rect">
            <a:avLst/>
          </a:prstGeom>
          <a:noFill/>
          <a:ln/>
        </p:spPr>
        <p:txBody>
          <a:bodyPr wrap="square" lIns="0" tIns="0" rIns="0" bIns="0" rtlCol="0" anchor="ctr"/>
          <a:lstStyle/>
          <a:p>
            <a:pPr indent="0" marL="0">
              <a:buNone/>
            </a:pPr>
            <a:r>
              <a:rPr lang="en-US" sz="2900" b="1" dirty="0">
                <a:solidFill>
                  <a:srgbClr val="0D1420"/>
                </a:solidFill>
                <a:latin typeface="Arial" pitchFamily="34" charset="0"/>
                <a:ea typeface="Arial" pitchFamily="34" charset="-122"/>
                <a:cs typeface="Arial" pitchFamily="34" charset="-120"/>
              </a:rPr>
              <a:t>€ 4.950</a:t>
            </a:r>
            <a:endParaRPr lang="en-US" sz="2900" dirty="0"/>
          </a:p>
        </p:txBody>
      </p:sp>
      <p:sp>
        <p:nvSpPr>
          <p:cNvPr id="30" name="Text 28"/>
          <p:cNvSpPr txBox="1"/>
          <p:nvPr/>
        </p:nvSpPr>
        <p:spPr>
          <a:xfrm>
            <a:off x="914398" y="5829285"/>
            <a:ext cx="2031995" cy="165100"/>
          </a:xfrm>
          <a:prstGeom prst="rect">
            <a:avLst/>
          </a:prstGeom>
          <a:noFill/>
          <a:ln/>
        </p:spPr>
        <p:txBody>
          <a:bodyPr wrap="square" lIns="0" tIns="0" rIns="0" bIns="0" rtlCol="0" anchor="ctr"/>
          <a:lstStyle/>
          <a:p>
            <a:pPr indent="0" marL="0">
              <a:buNone/>
            </a:pPr>
            <a:r>
              <a:rPr lang="en-US" sz="800" b="1" dirty="0">
                <a:solidFill>
                  <a:srgbClr val="0D1420"/>
                </a:solidFill>
                <a:latin typeface="Arial" pitchFamily="34" charset="0"/>
                <a:ea typeface="Arial" pitchFamily="34" charset="-122"/>
                <a:cs typeface="Arial" pitchFamily="34" charset="-120"/>
              </a:rPr>
              <a:t>excl. btw, alles inbegrepen</a:t>
            </a:r>
            <a:endParaRPr lang="en-US" sz="800" dirty="0"/>
          </a:p>
        </p:txBody>
      </p:sp>
      <p:sp>
        <p:nvSpPr>
          <p:cNvPr id="31" name="Shape 29"/>
          <p:cNvSpPr/>
          <p:nvPr/>
        </p:nvSpPr>
        <p:spPr>
          <a:xfrm>
            <a:off x="3174992" y="5257787"/>
            <a:ext cx="0" cy="673098"/>
          </a:xfrm>
          <a:prstGeom prst="line">
            <a:avLst/>
          </a:prstGeom>
          <a:noFill/>
          <a:ln w="9525">
            <a:solidFill>
              <a:srgbClr val="0D1420">
                <a:alpha val="40000"/>
              </a:srgbClr>
            </a:solidFill>
            <a:prstDash val="solid"/>
          </a:ln>
        </p:spPr>
      </p:sp>
      <p:pic>
        <p:nvPicPr>
          <p:cNvPr id="32" name="Image 0" descr="preencoded.png">    </p:cNvPr>
          <p:cNvPicPr>
            <a:picLocks noChangeAspect="1"/>
          </p:cNvPicPr>
          <p:nvPr/>
        </p:nvPicPr>
        <p:blipFill>
          <a:blip r:embed="rId1"/>
          <a:stretch>
            <a:fillRect/>
          </a:stretch>
        </p:blipFill>
        <p:spPr>
          <a:xfrm>
            <a:off x="3530591" y="5276837"/>
            <a:ext cx="127000" cy="127000"/>
          </a:xfrm>
          <a:prstGeom prst="rect">
            <a:avLst/>
          </a:prstGeom>
        </p:spPr>
      </p:pic>
      <p:sp>
        <p:nvSpPr>
          <p:cNvPr id="33" name="Text 30"/>
          <p:cNvSpPr txBox="1"/>
          <p:nvPr/>
        </p:nvSpPr>
        <p:spPr>
          <a:xfrm>
            <a:off x="3733791" y="5245087"/>
            <a:ext cx="35559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Kick-off en belscript</a:t>
            </a:r>
            <a:endParaRPr lang="en-US" sz="900" dirty="0"/>
          </a:p>
        </p:txBody>
      </p:sp>
      <p:pic>
        <p:nvPicPr>
          <p:cNvPr id="34" name="Image 1" descr="preencoded.png">    </p:cNvPr>
          <p:cNvPicPr>
            <a:picLocks noChangeAspect="1"/>
          </p:cNvPicPr>
          <p:nvPr/>
        </p:nvPicPr>
        <p:blipFill>
          <a:blip r:embed="rId2"/>
          <a:stretch>
            <a:fillRect/>
          </a:stretch>
        </p:blipFill>
        <p:spPr>
          <a:xfrm>
            <a:off x="7340582" y="5276837"/>
            <a:ext cx="127000" cy="127000"/>
          </a:xfrm>
          <a:prstGeom prst="rect">
            <a:avLst/>
          </a:prstGeom>
        </p:spPr>
      </p:pic>
      <p:sp>
        <p:nvSpPr>
          <p:cNvPr id="35" name="Text 31"/>
          <p:cNvSpPr txBox="1"/>
          <p:nvPr/>
        </p:nvSpPr>
        <p:spPr>
          <a:xfrm>
            <a:off x="7543781" y="5245087"/>
            <a:ext cx="35559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Bellijst op jullie ideale klant</a:t>
            </a:r>
            <a:endParaRPr lang="en-US" sz="900" dirty="0"/>
          </a:p>
        </p:txBody>
      </p:sp>
      <p:pic>
        <p:nvPicPr>
          <p:cNvPr id="36" name="Image 2" descr="preencoded.png">    </p:cNvPr>
          <p:cNvPicPr>
            <a:picLocks noChangeAspect="1"/>
          </p:cNvPicPr>
          <p:nvPr/>
        </p:nvPicPr>
        <p:blipFill>
          <a:blip r:embed="rId3"/>
          <a:stretch>
            <a:fillRect/>
          </a:stretch>
        </p:blipFill>
        <p:spPr>
          <a:xfrm>
            <a:off x="3530591" y="5530836"/>
            <a:ext cx="127000" cy="127000"/>
          </a:xfrm>
          <a:prstGeom prst="rect">
            <a:avLst/>
          </a:prstGeom>
        </p:spPr>
      </p:pic>
      <p:sp>
        <p:nvSpPr>
          <p:cNvPr id="37" name="Text 32"/>
          <p:cNvSpPr txBox="1"/>
          <p:nvPr/>
        </p:nvSpPr>
        <p:spPr>
          <a:xfrm>
            <a:off x="3733791" y="5499086"/>
            <a:ext cx="35559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Volledige inrichting van belsysteem en nummer</a:t>
            </a:r>
            <a:endParaRPr lang="en-US" sz="900" dirty="0"/>
          </a:p>
        </p:txBody>
      </p:sp>
      <p:pic>
        <p:nvPicPr>
          <p:cNvPr id="38" name="Image 3" descr="preencoded.png">    </p:cNvPr>
          <p:cNvPicPr>
            <a:picLocks noChangeAspect="1"/>
          </p:cNvPicPr>
          <p:nvPr/>
        </p:nvPicPr>
        <p:blipFill>
          <a:blip r:embed="rId4"/>
          <a:stretch>
            <a:fillRect/>
          </a:stretch>
        </p:blipFill>
        <p:spPr>
          <a:xfrm>
            <a:off x="7340582" y="5530836"/>
            <a:ext cx="127000" cy="127000"/>
          </a:xfrm>
          <a:prstGeom prst="rect">
            <a:avLst/>
          </a:prstGeom>
        </p:spPr>
      </p:pic>
      <p:sp>
        <p:nvSpPr>
          <p:cNvPr id="39" name="Text 33"/>
          <p:cNvSpPr txBox="1"/>
          <p:nvPr/>
        </p:nvSpPr>
        <p:spPr>
          <a:xfrm>
            <a:off x="7543781" y="5499086"/>
            <a:ext cx="35559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Twaalf weken bellen op de beste momenten</a:t>
            </a:r>
            <a:endParaRPr lang="en-US" sz="900" dirty="0"/>
          </a:p>
        </p:txBody>
      </p:sp>
      <p:pic>
        <p:nvPicPr>
          <p:cNvPr id="40" name="Image 4" descr="preencoded.png">    </p:cNvPr>
          <p:cNvPicPr>
            <a:picLocks noChangeAspect="1"/>
          </p:cNvPicPr>
          <p:nvPr/>
        </p:nvPicPr>
        <p:blipFill>
          <a:blip r:embed="rId5"/>
          <a:stretch>
            <a:fillRect/>
          </a:stretch>
        </p:blipFill>
        <p:spPr>
          <a:xfrm>
            <a:off x="3530591" y="5784836"/>
            <a:ext cx="127000" cy="127000"/>
          </a:xfrm>
          <a:prstGeom prst="rect">
            <a:avLst/>
          </a:prstGeom>
        </p:spPr>
      </p:pic>
      <p:sp>
        <p:nvSpPr>
          <p:cNvPr id="41" name="Text 34"/>
          <p:cNvSpPr txBox="1"/>
          <p:nvPr/>
        </p:nvSpPr>
        <p:spPr>
          <a:xfrm>
            <a:off x="3733791" y="5753086"/>
            <a:ext cx="35559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Rapportage elke week, evaluatie om de week</a:t>
            </a:r>
            <a:endParaRPr lang="en-US" sz="900" dirty="0"/>
          </a:p>
        </p:txBody>
      </p:sp>
      <p:pic>
        <p:nvPicPr>
          <p:cNvPr id="42" name="Image 5" descr="preencoded.png">    </p:cNvPr>
          <p:cNvPicPr>
            <a:picLocks noChangeAspect="1"/>
          </p:cNvPicPr>
          <p:nvPr/>
        </p:nvPicPr>
        <p:blipFill>
          <a:blip r:embed="rId6"/>
          <a:stretch>
            <a:fillRect/>
          </a:stretch>
        </p:blipFill>
        <p:spPr>
          <a:xfrm>
            <a:off x="7340582" y="5784836"/>
            <a:ext cx="127000" cy="127000"/>
          </a:xfrm>
          <a:prstGeom prst="rect">
            <a:avLst/>
          </a:prstGeom>
        </p:spPr>
      </p:pic>
      <p:sp>
        <p:nvSpPr>
          <p:cNvPr id="43" name="Text 35"/>
          <p:cNvSpPr txBox="1"/>
          <p:nvPr/>
        </p:nvSpPr>
        <p:spPr>
          <a:xfrm>
            <a:off x="7543781" y="5753086"/>
            <a:ext cx="35559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Tien gekwalificeerde afspraken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CentreBlock</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7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WE VERDER GAAN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Je koopt geen uren. Je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investeert</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in afspraken in de agenda.</a:t>
            </a:r>
            <a:endParaRPr lang="en-US" sz="3200" dirty="0"/>
          </a:p>
        </p:txBody>
      </p:sp>
      <p:sp>
        <p:nvSpPr>
          <p:cNvPr id="7" name="Shape 5"/>
          <p:cNvSpPr/>
          <p:nvPr/>
        </p:nvSpPr>
        <p:spPr>
          <a:xfrm>
            <a:off x="609598" y="2793993"/>
            <a:ext cx="2628893" cy="2285994"/>
          </a:xfrm>
          <a:prstGeom prst="roundRect">
            <a:avLst>
              <a:gd name="adj" fmla="val 4444"/>
            </a:avLst>
          </a:prstGeom>
          <a:solidFill>
            <a:srgbClr val="1B2130"/>
          </a:solidFill>
          <a:ln w="9525">
            <a:solidFill>
              <a:srgbClr val="3A4152"/>
            </a:solidFill>
            <a:prstDash val="solid"/>
          </a:ln>
        </p:spPr>
      </p:sp>
      <p:sp>
        <p:nvSpPr>
          <p:cNvPr id="8" name="Shape 6"/>
          <p:cNvSpPr/>
          <p:nvPr/>
        </p:nvSpPr>
        <p:spPr>
          <a:xfrm>
            <a:off x="825498" y="3022592"/>
            <a:ext cx="292099" cy="292099"/>
          </a:xfrm>
          <a:prstGeom prst="ellipse">
            <a:avLst/>
          </a:prstGeom>
          <a:ln w="15240">
            <a:solidFill>
              <a:srgbClr val="38B6FF"/>
            </a:solidFill>
            <a:prstDash val="solid"/>
          </a:ln>
        </p:spPr>
      </p:sp>
      <p:sp>
        <p:nvSpPr>
          <p:cNvPr id="9" name="Text 7"/>
          <p:cNvSpPr txBox="1"/>
          <p:nvPr/>
        </p:nvSpPr>
        <p:spPr>
          <a:xfrm>
            <a:off x="825498"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0" name="Text 8"/>
          <p:cNvSpPr txBox="1"/>
          <p:nvPr/>
        </p:nvSpPr>
        <p:spPr>
          <a:xfrm>
            <a:off x="825498"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Wat we dan weten</a:t>
            </a:r>
            <a:endParaRPr lang="en-US" sz="1150" dirty="0"/>
          </a:p>
        </p:txBody>
      </p:sp>
      <p:sp>
        <p:nvSpPr>
          <p:cNvPr id="11" name="Text 9"/>
          <p:cNvSpPr txBox="1"/>
          <p:nvPr/>
        </p:nvSpPr>
        <p:spPr>
          <a:xfrm>
            <a:off x="825498"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Uit de pilot blijkt hoeveel tijd er in één gekwalificeerde afspraak zit en hoeveel afspraken er nodig zijn voor één nieuwe klant. Niet geschat, gewoon geteld.</a:t>
            </a:r>
            <a:endParaRPr lang="en-US" sz="875" dirty="0"/>
          </a:p>
        </p:txBody>
      </p:sp>
      <p:sp>
        <p:nvSpPr>
          <p:cNvPr id="12" name="Shape 10"/>
          <p:cNvSpPr/>
          <p:nvPr/>
        </p:nvSpPr>
        <p:spPr>
          <a:xfrm>
            <a:off x="3390892" y="2793993"/>
            <a:ext cx="2628893" cy="2285994"/>
          </a:xfrm>
          <a:prstGeom prst="roundRect">
            <a:avLst>
              <a:gd name="adj" fmla="val 4444"/>
            </a:avLst>
          </a:prstGeom>
          <a:solidFill>
            <a:srgbClr val="1B2130"/>
          </a:solidFill>
          <a:ln w="9525">
            <a:solidFill>
              <a:srgbClr val="3A4152"/>
            </a:solidFill>
            <a:prstDash val="solid"/>
          </a:ln>
        </p:spPr>
      </p:sp>
      <p:sp>
        <p:nvSpPr>
          <p:cNvPr id="13" name="Shape 11"/>
          <p:cNvSpPr/>
          <p:nvPr/>
        </p:nvSpPr>
        <p:spPr>
          <a:xfrm>
            <a:off x="3606791" y="3022592"/>
            <a:ext cx="292099" cy="292099"/>
          </a:xfrm>
          <a:prstGeom prst="ellipse">
            <a:avLst/>
          </a:prstGeom>
          <a:ln w="15240">
            <a:solidFill>
              <a:srgbClr val="38B6FF"/>
            </a:solidFill>
            <a:prstDash val="solid"/>
          </a:ln>
        </p:spPr>
      </p:sp>
      <p:sp>
        <p:nvSpPr>
          <p:cNvPr id="14" name="Text 12"/>
          <p:cNvSpPr txBox="1"/>
          <p:nvPr/>
        </p:nvSpPr>
        <p:spPr>
          <a:xfrm>
            <a:off x="3606791"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5" name="Text 13"/>
          <p:cNvSpPr txBox="1"/>
          <p:nvPr/>
        </p:nvSpPr>
        <p:spPr>
          <a:xfrm>
            <a:off x="3606791"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Van doel naar bezetting</a:t>
            </a:r>
            <a:endParaRPr lang="en-US" sz="1150" dirty="0"/>
          </a:p>
        </p:txBody>
      </p:sp>
      <p:sp>
        <p:nvSpPr>
          <p:cNvPr id="16" name="Text 14"/>
          <p:cNvSpPr txBox="1"/>
          <p:nvPr/>
        </p:nvSpPr>
        <p:spPr>
          <a:xfrm>
            <a:off x="3606791"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Jullie zeggen hoeveel nieuwe klanten je per periode wilt. Wij rekenen terug hoeveel afspraken daarvoor nodig zijn en trekken daar de tijd voor uit.</a:t>
            </a:r>
            <a:endParaRPr lang="en-US" sz="875" dirty="0"/>
          </a:p>
        </p:txBody>
      </p:sp>
      <p:sp>
        <p:nvSpPr>
          <p:cNvPr id="17" name="Shape 15"/>
          <p:cNvSpPr/>
          <p:nvPr/>
        </p:nvSpPr>
        <p:spPr>
          <a:xfrm>
            <a:off x="6172185" y="2793993"/>
            <a:ext cx="2628893" cy="2285994"/>
          </a:xfrm>
          <a:prstGeom prst="roundRect">
            <a:avLst>
              <a:gd name="adj" fmla="val 4444"/>
            </a:avLst>
          </a:prstGeom>
          <a:solidFill>
            <a:srgbClr val="1B2130"/>
          </a:solidFill>
          <a:ln w="9525">
            <a:solidFill>
              <a:srgbClr val="3A4152"/>
            </a:solidFill>
            <a:prstDash val="solid"/>
          </a:ln>
        </p:spPr>
      </p:sp>
      <p:sp>
        <p:nvSpPr>
          <p:cNvPr id="18" name="Shape 16"/>
          <p:cNvSpPr/>
          <p:nvPr/>
        </p:nvSpPr>
        <p:spPr>
          <a:xfrm>
            <a:off x="6388084" y="3022592"/>
            <a:ext cx="292099" cy="292099"/>
          </a:xfrm>
          <a:prstGeom prst="ellipse">
            <a:avLst/>
          </a:prstGeom>
          <a:ln w="15240">
            <a:solidFill>
              <a:srgbClr val="38B6FF"/>
            </a:solidFill>
            <a:prstDash val="solid"/>
          </a:ln>
        </p:spPr>
      </p:sp>
      <p:sp>
        <p:nvSpPr>
          <p:cNvPr id="19" name="Text 17"/>
          <p:cNvSpPr txBox="1"/>
          <p:nvPr/>
        </p:nvSpPr>
        <p:spPr>
          <a:xfrm>
            <a:off x="6388084"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6388084"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Boven target is voor jullie</a:t>
            </a:r>
            <a:endParaRPr lang="en-US" sz="1150" dirty="0"/>
          </a:p>
        </p:txBody>
      </p:sp>
      <p:sp>
        <p:nvSpPr>
          <p:cNvPr id="21" name="Text 19"/>
          <p:cNvSpPr txBox="1"/>
          <p:nvPr/>
        </p:nvSpPr>
        <p:spPr>
          <a:xfrm>
            <a:off x="6388084"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Zijn we eerder klaar dan gepland, dan bellen we de tijd gewoon vol. Wat er dan nog bij komt is voor jullie, zonder extra factuur.</a:t>
            </a:r>
            <a:endParaRPr lang="en-US" sz="875" dirty="0"/>
          </a:p>
        </p:txBody>
      </p:sp>
      <p:sp>
        <p:nvSpPr>
          <p:cNvPr id="22" name="Shape 20"/>
          <p:cNvSpPr/>
          <p:nvPr/>
        </p:nvSpPr>
        <p:spPr>
          <a:xfrm>
            <a:off x="8953478" y="2793993"/>
            <a:ext cx="2628893" cy="2285994"/>
          </a:xfrm>
          <a:prstGeom prst="roundRect">
            <a:avLst>
              <a:gd name="adj" fmla="val 4444"/>
            </a:avLst>
          </a:prstGeom>
          <a:solidFill>
            <a:srgbClr val="1B2130"/>
          </a:solidFill>
          <a:ln w="15240">
            <a:solidFill>
              <a:srgbClr val="38B6FF"/>
            </a:solidFill>
            <a:prstDash val="solid"/>
          </a:ln>
        </p:spPr>
      </p:sp>
      <p:sp>
        <p:nvSpPr>
          <p:cNvPr id="23" name="Shape 21"/>
          <p:cNvSpPr/>
          <p:nvPr/>
        </p:nvSpPr>
        <p:spPr>
          <a:xfrm>
            <a:off x="9169377" y="3022592"/>
            <a:ext cx="292099" cy="292099"/>
          </a:xfrm>
          <a:prstGeom prst="ellipse">
            <a:avLst/>
          </a:prstGeom>
          <a:ln w="15240">
            <a:solidFill>
              <a:srgbClr val="38B6FF"/>
            </a:solidFill>
            <a:prstDash val="solid"/>
          </a:ln>
        </p:spPr>
      </p:sp>
      <p:sp>
        <p:nvSpPr>
          <p:cNvPr id="24" name="Text 22"/>
          <p:cNvSpPr txBox="1"/>
          <p:nvPr/>
        </p:nvSpPr>
        <p:spPr>
          <a:xfrm>
            <a:off x="9169377"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5" name="Text 23"/>
          <p:cNvSpPr txBox="1"/>
          <p:nvPr/>
        </p:nvSpPr>
        <p:spPr>
          <a:xfrm>
            <a:off x="9169377"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Succesfee bij omzet</a:t>
            </a:r>
            <a:endParaRPr lang="en-US" sz="1150" dirty="0"/>
          </a:p>
        </p:txBody>
      </p:sp>
      <p:sp>
        <p:nvSpPr>
          <p:cNvPr id="26" name="Text 24"/>
          <p:cNvSpPr txBox="1"/>
          <p:nvPr/>
        </p:nvSpPr>
        <p:spPr>
          <a:xfrm>
            <a:off x="9169377"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Wordt een afspraak een opdracht, dan spreken we daar vooraf een succesfee over af. Wij verdienen pas extra als het jullie ook echt omzet oplevert.</a:t>
            </a:r>
            <a:endParaRPr lang="en-US" sz="875" dirty="0"/>
          </a:p>
        </p:txBody>
      </p:sp>
      <p:sp>
        <p:nvSpPr>
          <p:cNvPr id="27" name="Shape 25"/>
          <p:cNvSpPr/>
          <p:nvPr/>
        </p:nvSpPr>
        <p:spPr>
          <a:xfrm>
            <a:off x="609598" y="5854685"/>
            <a:ext cx="76200" cy="76200"/>
          </a:xfrm>
          <a:prstGeom prst="ellipse">
            <a:avLst/>
          </a:prstGeom>
          <a:solidFill>
            <a:srgbClr val="38B6FF"/>
          </a:solidFill>
          <a:ln/>
        </p:spPr>
      </p:sp>
      <p:sp>
        <p:nvSpPr>
          <p:cNvPr id="28" name="Text 26"/>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F2EFE6"/>
                </a:solidFill>
                <a:latin typeface="Arial" pitchFamily="34" charset="0"/>
                <a:ea typeface="Arial" pitchFamily="34" charset="-122"/>
                <a:cs typeface="Arial" pitchFamily="34" charset="-120"/>
              </a:rPr>
              <a:t>Het target komt uit jullie eigen cijfers, dus dat halen we. Zo niet, dan halen we het de volgende werkperiode in.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CentreBlock</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8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WE VAN JULLIE NODIG HEBBEN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Een halve dag van jullie, dan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draaien wij</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5397487" cy="1530346"/>
          </a:xfrm>
          <a:prstGeom prst="roundRect">
            <a:avLst>
              <a:gd name="adj" fmla="val 6639"/>
            </a:avLst>
          </a:prstGeom>
          <a:solidFill>
            <a:srgbClr val="F8F4EB"/>
          </a:solidFill>
          <a:ln/>
        </p:spPr>
      </p:sp>
      <p:sp>
        <p:nvSpPr>
          <p:cNvPr id="8" name="Shape 6"/>
          <p:cNvSpPr/>
          <p:nvPr/>
        </p:nvSpPr>
        <p:spPr>
          <a:xfrm>
            <a:off x="939798" y="30987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35047" y="3194042"/>
            <a:ext cx="190500" cy="190500"/>
          </a:xfrm>
          <a:prstGeom prst="rect">
            <a:avLst/>
          </a:prstGeom>
        </p:spPr>
      </p:pic>
      <p:sp>
        <p:nvSpPr>
          <p:cNvPr id="10" name="Text 7"/>
          <p:cNvSpPr txBox="1"/>
          <p:nvPr/>
        </p:nvSpPr>
        <p:spPr>
          <a:xfrm>
            <a:off x="1549396"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Kick-off sessie</a:t>
            </a:r>
            <a:endParaRPr lang="en-US" sz="1450" dirty="0"/>
          </a:p>
        </p:txBody>
      </p:sp>
      <p:sp>
        <p:nvSpPr>
          <p:cNvPr id="11" name="Text 8"/>
          <p:cNvSpPr txBox="1"/>
          <p:nvPr/>
        </p:nvSpPr>
        <p:spPr>
          <a:xfrm>
            <a:off x="1549396"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Anderhalf tot twee uur met de beslisser en degene die de afspraken gaat voeren.</a:t>
            </a:r>
            <a:endParaRPr lang="en-US" sz="1050" dirty="0"/>
          </a:p>
        </p:txBody>
      </p:sp>
      <p:sp>
        <p:nvSpPr>
          <p:cNvPr id="12" name="Shape 9"/>
          <p:cNvSpPr/>
          <p:nvPr/>
        </p:nvSpPr>
        <p:spPr>
          <a:xfrm>
            <a:off x="6184885" y="2793993"/>
            <a:ext cx="5397487" cy="1530346"/>
          </a:xfrm>
          <a:prstGeom prst="roundRect">
            <a:avLst>
              <a:gd name="adj" fmla="val 6639"/>
            </a:avLst>
          </a:prstGeom>
          <a:solidFill>
            <a:srgbClr val="F8F4EB"/>
          </a:solidFill>
          <a:ln/>
        </p:spPr>
      </p:sp>
      <p:sp>
        <p:nvSpPr>
          <p:cNvPr id="13" name="Shape 10"/>
          <p:cNvSpPr/>
          <p:nvPr/>
        </p:nvSpPr>
        <p:spPr>
          <a:xfrm>
            <a:off x="6515084" y="30987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6610333" y="3194042"/>
            <a:ext cx="190500" cy="190500"/>
          </a:xfrm>
          <a:prstGeom prst="rect">
            <a:avLst/>
          </a:prstGeom>
        </p:spPr>
      </p:pic>
      <p:sp>
        <p:nvSpPr>
          <p:cNvPr id="15" name="Text 11"/>
          <p:cNvSpPr txBox="1"/>
          <p:nvPr/>
        </p:nvSpPr>
        <p:spPr>
          <a:xfrm>
            <a:off x="7124682"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Uitsluitlijst</a:t>
            </a:r>
            <a:endParaRPr lang="en-US" sz="1450" dirty="0"/>
          </a:p>
        </p:txBody>
      </p:sp>
      <p:sp>
        <p:nvSpPr>
          <p:cNvPr id="16" name="Text 12"/>
          <p:cNvSpPr txBox="1"/>
          <p:nvPr/>
        </p:nvSpPr>
        <p:spPr>
          <a:xfrm>
            <a:off x="7124682"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Bestaande klanten, lopende gesprekken en bedrijven die we niet mogen benaderen.</a:t>
            </a:r>
            <a:endParaRPr lang="en-US" sz="1050" dirty="0"/>
          </a:p>
        </p:txBody>
      </p:sp>
      <p:sp>
        <p:nvSpPr>
          <p:cNvPr id="17" name="Shape 13"/>
          <p:cNvSpPr/>
          <p:nvPr/>
        </p:nvSpPr>
        <p:spPr>
          <a:xfrm>
            <a:off x="609598" y="4502139"/>
            <a:ext cx="5397487" cy="1530346"/>
          </a:xfrm>
          <a:prstGeom prst="roundRect">
            <a:avLst>
              <a:gd name="adj" fmla="val 6639"/>
            </a:avLst>
          </a:prstGeom>
          <a:solidFill>
            <a:srgbClr val="F8F4EB"/>
          </a:solidFill>
          <a:ln/>
        </p:spPr>
      </p:sp>
      <p:sp>
        <p:nvSpPr>
          <p:cNvPr id="18" name="Shape 14"/>
          <p:cNvSpPr/>
          <p:nvPr/>
        </p:nvSpPr>
        <p:spPr>
          <a:xfrm>
            <a:off x="939798" y="4806938"/>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1035047" y="4902188"/>
            <a:ext cx="190500" cy="190500"/>
          </a:xfrm>
          <a:prstGeom prst="rect">
            <a:avLst/>
          </a:prstGeom>
        </p:spPr>
      </p:pic>
      <p:sp>
        <p:nvSpPr>
          <p:cNvPr id="20" name="Text 15"/>
          <p:cNvSpPr txBox="1"/>
          <p:nvPr/>
        </p:nvSpPr>
        <p:spPr>
          <a:xfrm>
            <a:off x="1549396"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Goedkeuring belscript</a:t>
            </a:r>
            <a:endParaRPr lang="en-US" sz="1450" dirty="0"/>
          </a:p>
        </p:txBody>
      </p:sp>
      <p:sp>
        <p:nvSpPr>
          <p:cNvPr id="21" name="Text 16"/>
          <p:cNvSpPr txBox="1"/>
          <p:nvPr/>
        </p:nvSpPr>
        <p:spPr>
          <a:xfrm>
            <a:off x="1549396"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Wij schrijven, jullie lezen mee en keuren goed.</a:t>
            </a:r>
            <a:endParaRPr lang="en-US" sz="1050" dirty="0"/>
          </a:p>
        </p:txBody>
      </p:sp>
      <p:sp>
        <p:nvSpPr>
          <p:cNvPr id="22" name="Shape 17"/>
          <p:cNvSpPr/>
          <p:nvPr/>
        </p:nvSpPr>
        <p:spPr>
          <a:xfrm>
            <a:off x="6184885" y="4502139"/>
            <a:ext cx="5397487" cy="1530346"/>
          </a:xfrm>
          <a:prstGeom prst="roundRect">
            <a:avLst>
              <a:gd name="adj" fmla="val 6639"/>
            </a:avLst>
          </a:prstGeom>
          <a:solidFill>
            <a:srgbClr val="F8F4EB"/>
          </a:solidFill>
          <a:ln/>
        </p:spPr>
      </p:sp>
      <p:sp>
        <p:nvSpPr>
          <p:cNvPr id="23" name="Shape 18"/>
          <p:cNvSpPr/>
          <p:nvPr/>
        </p:nvSpPr>
        <p:spPr>
          <a:xfrm>
            <a:off x="6515084" y="4806938"/>
            <a:ext cx="380999" cy="380999"/>
          </a:xfrm>
          <a:prstGeom prst="roundRect">
            <a:avLst>
              <a:gd name="adj" fmla="val 23333"/>
            </a:avLst>
          </a:prstGeom>
          <a:solidFill>
            <a:srgbClr val="DDEBF3"/>
          </a:solidFill>
          <a:ln/>
        </p:spPr>
      </p:sp>
      <p:pic>
        <p:nvPicPr>
          <p:cNvPr id="24" name="Image 3" descr="preencoded.png">    </p:cNvPr>
          <p:cNvPicPr>
            <a:picLocks noChangeAspect="1"/>
          </p:cNvPicPr>
          <p:nvPr/>
        </p:nvPicPr>
        <p:blipFill>
          <a:blip r:embed="rId4"/>
          <a:stretch>
            <a:fillRect/>
          </a:stretch>
        </p:blipFill>
        <p:spPr>
          <a:xfrm>
            <a:off x="6610333" y="4902188"/>
            <a:ext cx="190500" cy="190500"/>
          </a:xfrm>
          <a:prstGeom prst="rect">
            <a:avLst/>
          </a:prstGeom>
        </p:spPr>
      </p:pic>
      <p:sp>
        <p:nvSpPr>
          <p:cNvPr id="25" name="Text 19"/>
          <p:cNvSpPr txBox="1"/>
          <p:nvPr/>
        </p:nvSpPr>
        <p:spPr>
          <a:xfrm>
            <a:off x="7124682"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Opvolging van afspraken</a:t>
            </a:r>
            <a:endParaRPr lang="en-US" sz="1450" dirty="0"/>
          </a:p>
        </p:txBody>
      </p:sp>
      <p:sp>
        <p:nvSpPr>
          <p:cNvPr id="26" name="Text 20"/>
          <p:cNvSpPr txBox="1"/>
          <p:nvPr/>
        </p:nvSpPr>
        <p:spPr>
          <a:xfrm>
            <a:off x="7124682"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Eén vaste persoon bij CentreBlock die de afspraken voert en ons kort laat weten hoe ze verliepen.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CentreBlock</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9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SPELREGELS</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Transparant en zonder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kleine lettertjes</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819393"/>
            <a:ext cx="253999" cy="253999"/>
          </a:xfrm>
          <a:prstGeom prst="roundRect">
            <a:avLst>
              <a:gd name="adj" fmla="val 25000"/>
            </a:avLst>
          </a:prstGeom>
          <a:solidFill>
            <a:srgbClr val="DDEBF3"/>
          </a:solidFill>
          <a:ln/>
        </p:spPr>
      </p:sp>
      <p:pic>
        <p:nvPicPr>
          <p:cNvPr id="8" name="Image 0" descr="preencoded.png">    </p:cNvPr>
          <p:cNvPicPr>
            <a:picLocks noChangeAspect="1"/>
          </p:cNvPicPr>
          <p:nvPr/>
        </p:nvPicPr>
        <p:blipFill>
          <a:blip r:embed="rId1"/>
          <a:stretch>
            <a:fillRect/>
          </a:stretch>
        </p:blipFill>
        <p:spPr>
          <a:xfrm>
            <a:off x="666748" y="2876543"/>
            <a:ext cx="139700" cy="139700"/>
          </a:xfrm>
          <a:prstGeom prst="rect">
            <a:avLst/>
          </a:prstGeom>
        </p:spPr>
      </p:pic>
      <p:sp>
        <p:nvSpPr>
          <p:cNvPr id="9" name="Text 6"/>
          <p:cNvSpPr txBox="1"/>
          <p:nvPr/>
        </p:nvSpPr>
        <p:spPr>
          <a:xfrm>
            <a:off x="1015997"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Niet-exclusief</a:t>
            </a:r>
            <a:endParaRPr lang="en-US" sz="1200" dirty="0"/>
          </a:p>
        </p:txBody>
      </p:sp>
      <p:sp>
        <p:nvSpPr>
          <p:cNvPr id="10" name="Text 7"/>
          <p:cNvSpPr txBox="1"/>
          <p:nvPr/>
        </p:nvSpPr>
        <p:spPr>
          <a:xfrm>
            <a:off x="1015997"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Jullie zitten nergens aan vast en houden alle vrijheid.</a:t>
            </a:r>
            <a:endParaRPr lang="en-US" sz="950" dirty="0"/>
          </a:p>
        </p:txBody>
      </p:sp>
      <p:sp>
        <p:nvSpPr>
          <p:cNvPr id="11" name="Shape 8"/>
          <p:cNvSpPr/>
          <p:nvPr/>
        </p:nvSpPr>
        <p:spPr>
          <a:xfrm>
            <a:off x="6349984" y="2819393"/>
            <a:ext cx="253999" cy="253999"/>
          </a:xfrm>
          <a:prstGeom prst="roundRect">
            <a:avLst>
              <a:gd name="adj" fmla="val 25000"/>
            </a:avLst>
          </a:prstGeom>
          <a:solidFill>
            <a:srgbClr val="DDEBF3"/>
          </a:solidFill>
          <a:ln/>
        </p:spPr>
      </p:sp>
      <p:pic>
        <p:nvPicPr>
          <p:cNvPr id="12" name="Image 1" descr="preencoded.png">    </p:cNvPr>
          <p:cNvPicPr>
            <a:picLocks noChangeAspect="1"/>
          </p:cNvPicPr>
          <p:nvPr/>
        </p:nvPicPr>
        <p:blipFill>
          <a:blip r:embed="rId2"/>
          <a:stretch>
            <a:fillRect/>
          </a:stretch>
        </p:blipFill>
        <p:spPr>
          <a:xfrm>
            <a:off x="6407134" y="2876543"/>
            <a:ext cx="139700" cy="139700"/>
          </a:xfrm>
          <a:prstGeom prst="rect">
            <a:avLst/>
          </a:prstGeom>
        </p:spPr>
      </p:pic>
      <p:sp>
        <p:nvSpPr>
          <p:cNvPr id="13" name="Text 9"/>
          <p:cNvSpPr txBox="1"/>
          <p:nvPr/>
        </p:nvSpPr>
        <p:spPr>
          <a:xfrm>
            <a:off x="6756383"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Bestaande relaties blijven van jullie</a:t>
            </a:r>
            <a:endParaRPr lang="en-US" sz="1200" dirty="0"/>
          </a:p>
        </p:txBody>
      </p:sp>
      <p:sp>
        <p:nvSpPr>
          <p:cNvPr id="14" name="Text 10"/>
          <p:cNvSpPr txBox="1"/>
          <p:nvPr/>
        </p:nvSpPr>
        <p:spPr>
          <a:xfrm>
            <a:off x="6756383"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Uitsluitlijst vooraf, die bedrijven benaderen wij niet.</a:t>
            </a:r>
            <a:endParaRPr lang="en-US" sz="950" dirty="0"/>
          </a:p>
        </p:txBody>
      </p:sp>
      <p:sp>
        <p:nvSpPr>
          <p:cNvPr id="15" name="Shape 11"/>
          <p:cNvSpPr/>
          <p:nvPr/>
        </p:nvSpPr>
        <p:spPr>
          <a:xfrm>
            <a:off x="609598" y="3428991"/>
            <a:ext cx="5232387" cy="0"/>
          </a:xfrm>
          <a:prstGeom prst="line">
            <a:avLst/>
          </a:prstGeom>
          <a:noFill/>
          <a:ln w="6350">
            <a:solidFill>
              <a:srgbClr val="C9C2B2"/>
            </a:solidFill>
            <a:prstDash val="solid"/>
          </a:ln>
        </p:spPr>
      </p:sp>
      <p:sp>
        <p:nvSpPr>
          <p:cNvPr id="16" name="Shape 12"/>
          <p:cNvSpPr/>
          <p:nvPr/>
        </p:nvSpPr>
        <p:spPr>
          <a:xfrm>
            <a:off x="609598" y="3530591"/>
            <a:ext cx="253999" cy="253999"/>
          </a:xfrm>
          <a:prstGeom prst="roundRect">
            <a:avLst>
              <a:gd name="adj" fmla="val 25000"/>
            </a:avLst>
          </a:prstGeom>
          <a:solidFill>
            <a:srgbClr val="DDEBF3"/>
          </a:solidFill>
          <a:ln/>
        </p:spPr>
      </p:sp>
      <p:pic>
        <p:nvPicPr>
          <p:cNvPr id="17" name="Image 2" descr="preencoded.png">    </p:cNvPr>
          <p:cNvPicPr>
            <a:picLocks noChangeAspect="1"/>
          </p:cNvPicPr>
          <p:nvPr/>
        </p:nvPicPr>
        <p:blipFill>
          <a:blip r:embed="rId3"/>
          <a:stretch>
            <a:fillRect/>
          </a:stretch>
        </p:blipFill>
        <p:spPr>
          <a:xfrm>
            <a:off x="666748" y="3587741"/>
            <a:ext cx="139700" cy="139700"/>
          </a:xfrm>
          <a:prstGeom prst="rect">
            <a:avLst/>
          </a:prstGeom>
        </p:spPr>
      </p:pic>
      <p:sp>
        <p:nvSpPr>
          <p:cNvPr id="18" name="Text 13"/>
          <p:cNvSpPr txBox="1"/>
          <p:nvPr/>
        </p:nvSpPr>
        <p:spPr>
          <a:xfrm>
            <a:off x="1015997"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Werkperiodes van 4 weken</a:t>
            </a:r>
            <a:endParaRPr lang="en-US" sz="1200" dirty="0"/>
          </a:p>
        </p:txBody>
      </p:sp>
      <p:sp>
        <p:nvSpPr>
          <p:cNvPr id="19" name="Text 14"/>
          <p:cNvSpPr txBox="1"/>
          <p:nvPr/>
        </p:nvSpPr>
        <p:spPr>
          <a:xfrm>
            <a:off x="1015997"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Vooraf gefactureerd, per werkperiode.</a:t>
            </a:r>
            <a:endParaRPr lang="en-US" sz="950" dirty="0"/>
          </a:p>
        </p:txBody>
      </p:sp>
      <p:sp>
        <p:nvSpPr>
          <p:cNvPr id="20" name="Shape 15"/>
          <p:cNvSpPr/>
          <p:nvPr/>
        </p:nvSpPr>
        <p:spPr>
          <a:xfrm>
            <a:off x="6349984" y="3428991"/>
            <a:ext cx="5232387" cy="0"/>
          </a:xfrm>
          <a:prstGeom prst="line">
            <a:avLst/>
          </a:prstGeom>
          <a:noFill/>
          <a:ln w="6350">
            <a:solidFill>
              <a:srgbClr val="C9C2B2"/>
            </a:solidFill>
            <a:prstDash val="solid"/>
          </a:ln>
        </p:spPr>
      </p:sp>
      <p:sp>
        <p:nvSpPr>
          <p:cNvPr id="21" name="Shape 16"/>
          <p:cNvSpPr/>
          <p:nvPr/>
        </p:nvSpPr>
        <p:spPr>
          <a:xfrm>
            <a:off x="6349984" y="3530591"/>
            <a:ext cx="253999" cy="253999"/>
          </a:xfrm>
          <a:prstGeom prst="roundRect">
            <a:avLst>
              <a:gd name="adj" fmla="val 25000"/>
            </a:avLst>
          </a:prstGeom>
          <a:solidFill>
            <a:srgbClr val="DDEBF3"/>
          </a:solidFill>
          <a:ln/>
        </p:spPr>
      </p:sp>
      <p:pic>
        <p:nvPicPr>
          <p:cNvPr id="22" name="Image 3" descr="preencoded.png">    </p:cNvPr>
          <p:cNvPicPr>
            <a:picLocks noChangeAspect="1"/>
          </p:cNvPicPr>
          <p:nvPr/>
        </p:nvPicPr>
        <p:blipFill>
          <a:blip r:embed="rId4"/>
          <a:stretch>
            <a:fillRect/>
          </a:stretch>
        </p:blipFill>
        <p:spPr>
          <a:xfrm>
            <a:off x="6407134" y="3587741"/>
            <a:ext cx="139700" cy="139700"/>
          </a:xfrm>
          <a:prstGeom prst="rect">
            <a:avLst/>
          </a:prstGeom>
        </p:spPr>
      </p:pic>
      <p:sp>
        <p:nvSpPr>
          <p:cNvPr id="23" name="Text 17"/>
          <p:cNvSpPr txBox="1"/>
          <p:nvPr/>
        </p:nvSpPr>
        <p:spPr>
          <a:xfrm>
            <a:off x="6756383"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Wekelijkse rapportage</a:t>
            </a:r>
            <a:endParaRPr lang="en-US" sz="1200" dirty="0"/>
          </a:p>
        </p:txBody>
      </p:sp>
      <p:sp>
        <p:nvSpPr>
          <p:cNvPr id="24" name="Text 18"/>
          <p:cNvSpPr txBox="1"/>
          <p:nvPr/>
        </p:nvSpPr>
        <p:spPr>
          <a:xfrm>
            <a:off x="6756383"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Elke week zicht op wat er gebeurd is en wat het opleverde.</a:t>
            </a:r>
            <a:endParaRPr lang="en-US" sz="950" dirty="0"/>
          </a:p>
        </p:txBody>
      </p:sp>
      <p:sp>
        <p:nvSpPr>
          <p:cNvPr id="25" name="Shape 19"/>
          <p:cNvSpPr/>
          <p:nvPr/>
        </p:nvSpPr>
        <p:spPr>
          <a:xfrm>
            <a:off x="609598" y="4140190"/>
            <a:ext cx="5232387" cy="0"/>
          </a:xfrm>
          <a:prstGeom prst="line">
            <a:avLst/>
          </a:prstGeom>
          <a:noFill/>
          <a:ln w="6350">
            <a:solidFill>
              <a:srgbClr val="C9C2B2"/>
            </a:solidFill>
            <a:prstDash val="solid"/>
          </a:ln>
        </p:spPr>
      </p:sp>
      <p:sp>
        <p:nvSpPr>
          <p:cNvPr id="26" name="Shape 20"/>
          <p:cNvSpPr/>
          <p:nvPr/>
        </p:nvSpPr>
        <p:spPr>
          <a:xfrm>
            <a:off x="609598" y="4241789"/>
            <a:ext cx="253999" cy="253999"/>
          </a:xfrm>
          <a:prstGeom prst="roundRect">
            <a:avLst>
              <a:gd name="adj" fmla="val 25000"/>
            </a:avLst>
          </a:prstGeom>
          <a:solidFill>
            <a:srgbClr val="DDEBF3"/>
          </a:solidFill>
          <a:ln/>
        </p:spPr>
      </p:sp>
      <p:pic>
        <p:nvPicPr>
          <p:cNvPr id="27" name="Image 4" descr="preencoded.png">    </p:cNvPr>
          <p:cNvPicPr>
            <a:picLocks noChangeAspect="1"/>
          </p:cNvPicPr>
          <p:nvPr/>
        </p:nvPicPr>
        <p:blipFill>
          <a:blip r:embed="rId5"/>
          <a:stretch>
            <a:fillRect/>
          </a:stretch>
        </p:blipFill>
        <p:spPr>
          <a:xfrm>
            <a:off x="666748" y="4298939"/>
            <a:ext cx="139700" cy="139700"/>
          </a:xfrm>
          <a:prstGeom prst="rect">
            <a:avLst/>
          </a:prstGeom>
        </p:spPr>
      </p:pic>
      <p:sp>
        <p:nvSpPr>
          <p:cNvPr id="28" name="Text 21"/>
          <p:cNvSpPr txBox="1"/>
          <p:nvPr/>
        </p:nvSpPr>
        <p:spPr>
          <a:xfrm>
            <a:off x="1015997"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Jullie naam, onze uitvoering</a:t>
            </a:r>
            <a:endParaRPr lang="en-US" sz="1200" dirty="0"/>
          </a:p>
        </p:txBody>
      </p:sp>
      <p:sp>
        <p:nvSpPr>
          <p:cNvPr id="29" name="Text 22"/>
          <p:cNvSpPr txBox="1"/>
          <p:nvPr/>
        </p:nvSpPr>
        <p:spPr>
          <a:xfrm>
            <a:off x="1015997"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Regionaal nummer en jullie stijl, wij voeren uit.</a:t>
            </a:r>
            <a:endParaRPr lang="en-US" sz="950" dirty="0"/>
          </a:p>
        </p:txBody>
      </p:sp>
      <p:sp>
        <p:nvSpPr>
          <p:cNvPr id="30" name="Shape 23"/>
          <p:cNvSpPr/>
          <p:nvPr/>
        </p:nvSpPr>
        <p:spPr>
          <a:xfrm>
            <a:off x="6349984" y="4140190"/>
            <a:ext cx="5232387" cy="0"/>
          </a:xfrm>
          <a:prstGeom prst="line">
            <a:avLst/>
          </a:prstGeom>
          <a:noFill/>
          <a:ln w="6350">
            <a:solidFill>
              <a:srgbClr val="C9C2B2"/>
            </a:solidFill>
            <a:prstDash val="solid"/>
          </a:ln>
        </p:spPr>
      </p:sp>
      <p:sp>
        <p:nvSpPr>
          <p:cNvPr id="31" name="Shape 24"/>
          <p:cNvSpPr/>
          <p:nvPr/>
        </p:nvSpPr>
        <p:spPr>
          <a:xfrm>
            <a:off x="6349984" y="4241789"/>
            <a:ext cx="253999" cy="253999"/>
          </a:xfrm>
          <a:prstGeom prst="roundRect">
            <a:avLst>
              <a:gd name="adj" fmla="val 25000"/>
            </a:avLst>
          </a:prstGeom>
          <a:solidFill>
            <a:srgbClr val="DDEBF3"/>
          </a:solidFill>
          <a:ln/>
        </p:spPr>
      </p:sp>
      <p:pic>
        <p:nvPicPr>
          <p:cNvPr id="32" name="Image 5" descr="preencoded.png">    </p:cNvPr>
          <p:cNvPicPr>
            <a:picLocks noChangeAspect="1"/>
          </p:cNvPicPr>
          <p:nvPr/>
        </p:nvPicPr>
        <p:blipFill>
          <a:blip r:embed="rId6"/>
          <a:stretch>
            <a:fillRect/>
          </a:stretch>
        </p:blipFill>
        <p:spPr>
          <a:xfrm>
            <a:off x="6407134" y="4298939"/>
            <a:ext cx="139700" cy="139700"/>
          </a:xfrm>
          <a:prstGeom prst="rect">
            <a:avLst/>
          </a:prstGeom>
        </p:spPr>
      </p:pic>
      <p:sp>
        <p:nvSpPr>
          <p:cNvPr id="33" name="Text 25"/>
          <p:cNvSpPr txBox="1"/>
          <p:nvPr/>
        </p:nvSpPr>
        <p:spPr>
          <a:xfrm>
            <a:off x="6756383"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Gegevens veilig</a:t>
            </a:r>
            <a:endParaRPr lang="en-US" sz="1200" dirty="0"/>
          </a:p>
        </p:txBody>
      </p:sp>
      <p:sp>
        <p:nvSpPr>
          <p:cNvPr id="34" name="Text 26"/>
          <p:cNvSpPr txBox="1"/>
          <p:nvPr/>
        </p:nvSpPr>
        <p:spPr>
          <a:xfrm>
            <a:off x="6756383"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in een verwerkersovereenkomst.</a:t>
            </a:r>
            <a:endParaRPr lang="en-US" sz="950" dirty="0"/>
          </a:p>
        </p:txBody>
      </p:sp>
      <p:sp>
        <p:nvSpPr>
          <p:cNvPr id="35" name="Shape 27"/>
          <p:cNvSpPr/>
          <p:nvPr/>
        </p:nvSpPr>
        <p:spPr>
          <a:xfrm>
            <a:off x="609598" y="4851388"/>
            <a:ext cx="5232387" cy="0"/>
          </a:xfrm>
          <a:prstGeom prst="line">
            <a:avLst/>
          </a:prstGeom>
          <a:noFill/>
          <a:ln w="6350">
            <a:solidFill>
              <a:srgbClr val="C9C2B2"/>
            </a:solidFill>
            <a:prstDash val="solid"/>
          </a:ln>
        </p:spPr>
      </p:sp>
      <p:sp>
        <p:nvSpPr>
          <p:cNvPr id="36" name="Shape 28"/>
          <p:cNvSpPr/>
          <p:nvPr/>
        </p:nvSpPr>
        <p:spPr>
          <a:xfrm>
            <a:off x="609598" y="4952988"/>
            <a:ext cx="253999" cy="253999"/>
          </a:xfrm>
          <a:prstGeom prst="roundRect">
            <a:avLst>
              <a:gd name="adj" fmla="val 25000"/>
            </a:avLst>
          </a:prstGeom>
          <a:solidFill>
            <a:srgbClr val="DDEBF3"/>
          </a:solidFill>
          <a:ln/>
        </p:spPr>
      </p:sp>
      <p:pic>
        <p:nvPicPr>
          <p:cNvPr id="37" name="Image 6" descr="preencoded.png">    </p:cNvPr>
          <p:cNvPicPr>
            <a:picLocks noChangeAspect="1"/>
          </p:cNvPicPr>
          <p:nvPr/>
        </p:nvPicPr>
        <p:blipFill>
          <a:blip r:embed="rId7"/>
          <a:stretch>
            <a:fillRect/>
          </a:stretch>
        </p:blipFill>
        <p:spPr>
          <a:xfrm>
            <a:off x="666748" y="5010137"/>
            <a:ext cx="139700" cy="139700"/>
          </a:xfrm>
          <a:prstGeom prst="rect">
            <a:avLst/>
          </a:prstGeom>
        </p:spPr>
      </p:pic>
      <p:sp>
        <p:nvSpPr>
          <p:cNvPr id="38" name="Text 29"/>
          <p:cNvSpPr txBox="1"/>
          <p:nvPr/>
        </p:nvSpPr>
        <p:spPr>
          <a:xfrm>
            <a:off x="1015997"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Evaluatie om de week</a:t>
            </a:r>
            <a:endParaRPr lang="en-US" sz="1200" dirty="0"/>
          </a:p>
        </p:txBody>
      </p:sp>
      <p:sp>
        <p:nvSpPr>
          <p:cNvPr id="39" name="Text 30"/>
          <p:cNvSpPr txBox="1"/>
          <p:nvPr/>
        </p:nvSpPr>
        <p:spPr>
          <a:xfrm>
            <a:off x="1015997"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Bij twijfel om tafel en bijsturen.</a:t>
            </a:r>
            <a:endParaRPr lang="en-US" sz="950" dirty="0"/>
          </a:p>
        </p:txBody>
      </p:sp>
      <p:sp>
        <p:nvSpPr>
          <p:cNvPr id="40" name="Shape 31"/>
          <p:cNvSpPr/>
          <p:nvPr/>
        </p:nvSpPr>
        <p:spPr>
          <a:xfrm>
            <a:off x="6349984" y="4851388"/>
            <a:ext cx="5232387" cy="0"/>
          </a:xfrm>
          <a:prstGeom prst="line">
            <a:avLst/>
          </a:prstGeom>
          <a:noFill/>
          <a:ln w="6350">
            <a:solidFill>
              <a:srgbClr val="C9C2B2"/>
            </a:solidFill>
            <a:prstDash val="solid"/>
          </a:ln>
        </p:spPr>
      </p:sp>
      <p:sp>
        <p:nvSpPr>
          <p:cNvPr id="41" name="Shape 32"/>
          <p:cNvSpPr/>
          <p:nvPr/>
        </p:nvSpPr>
        <p:spPr>
          <a:xfrm>
            <a:off x="6349984" y="4952988"/>
            <a:ext cx="253999" cy="253999"/>
          </a:xfrm>
          <a:prstGeom prst="roundRect">
            <a:avLst>
              <a:gd name="adj" fmla="val 25000"/>
            </a:avLst>
          </a:prstGeom>
          <a:solidFill>
            <a:srgbClr val="DDEBF3"/>
          </a:solidFill>
          <a:ln/>
        </p:spPr>
      </p:sp>
      <p:pic>
        <p:nvPicPr>
          <p:cNvPr id="42" name="Image 7" descr="preencoded.png">    </p:cNvPr>
          <p:cNvPicPr>
            <a:picLocks noChangeAspect="1"/>
          </p:cNvPicPr>
          <p:nvPr/>
        </p:nvPicPr>
        <p:blipFill>
          <a:blip r:embed="rId8"/>
          <a:stretch>
            <a:fillRect/>
          </a:stretch>
        </p:blipFill>
        <p:spPr>
          <a:xfrm>
            <a:off x="6407134" y="5010137"/>
            <a:ext cx="139700" cy="139700"/>
          </a:xfrm>
          <a:prstGeom prst="rect">
            <a:avLst/>
          </a:prstGeom>
        </p:spPr>
      </p:pic>
      <p:sp>
        <p:nvSpPr>
          <p:cNvPr id="43" name="Text 33"/>
          <p:cNvSpPr txBox="1"/>
          <p:nvPr/>
        </p:nvSpPr>
        <p:spPr>
          <a:xfrm>
            <a:off x="6756383"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Alles op papier</a:t>
            </a:r>
            <a:endParaRPr lang="en-US" sz="1200" dirty="0"/>
          </a:p>
        </p:txBody>
      </p:sp>
      <p:sp>
        <p:nvSpPr>
          <p:cNvPr id="44" name="Text 34"/>
          <p:cNvSpPr txBox="1"/>
          <p:nvPr/>
        </p:nvSpPr>
        <p:spPr>
          <a:xfrm>
            <a:off x="6756383"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in een korte samenwerkingsovereenkomst.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CentreBlock</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10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VOLGENDE STAP</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Akkoord op de pilot? Dan plannen we de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kick-off</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920993"/>
            <a:ext cx="304799" cy="304799"/>
          </a:xfrm>
          <a:prstGeom prst="ellipse">
            <a:avLst/>
          </a:prstGeom>
          <a:ln w="15240">
            <a:solidFill>
              <a:srgbClr val="38B6FF"/>
            </a:solidFill>
            <a:prstDash val="solid"/>
          </a:ln>
        </p:spPr>
      </p:sp>
      <p:sp>
        <p:nvSpPr>
          <p:cNvPr id="8" name="Text 6"/>
          <p:cNvSpPr txBox="1"/>
          <p:nvPr/>
        </p:nvSpPr>
        <p:spPr>
          <a:xfrm>
            <a:off x="609598" y="29209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Text 7"/>
          <p:cNvSpPr txBox="1"/>
          <p:nvPr/>
        </p:nvSpPr>
        <p:spPr>
          <a:xfrm>
            <a:off x="1117597" y="2908293"/>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Akkoord</a:t>
            </a:r>
            <a:endParaRPr lang="en-US" sz="1450" dirty="0"/>
          </a:p>
        </p:txBody>
      </p:sp>
      <p:sp>
        <p:nvSpPr>
          <p:cNvPr id="10" name="Text 8"/>
          <p:cNvSpPr txBox="1"/>
          <p:nvPr/>
        </p:nvSpPr>
        <p:spPr>
          <a:xfrm>
            <a:off x="1117597" y="3200392"/>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Jullie geven akkoord op het pilotvoorstel.</a:t>
            </a:r>
            <a:endParaRPr lang="en-US" sz="1100" dirty="0"/>
          </a:p>
        </p:txBody>
      </p:sp>
      <p:sp>
        <p:nvSpPr>
          <p:cNvPr id="11" name="Shape 9"/>
          <p:cNvSpPr/>
          <p:nvPr/>
        </p:nvSpPr>
        <p:spPr>
          <a:xfrm>
            <a:off x="609598" y="3809990"/>
            <a:ext cx="304799" cy="304799"/>
          </a:xfrm>
          <a:prstGeom prst="ellipse">
            <a:avLst/>
          </a:prstGeom>
          <a:ln w="15240">
            <a:solidFill>
              <a:srgbClr val="38B6FF"/>
            </a:solidFill>
            <a:prstDash val="solid"/>
          </a:ln>
        </p:spPr>
      </p:sp>
      <p:sp>
        <p:nvSpPr>
          <p:cNvPr id="12" name="Text 10"/>
          <p:cNvSpPr txBox="1"/>
          <p:nvPr/>
        </p:nvSpPr>
        <p:spPr>
          <a:xfrm>
            <a:off x="609598" y="3809990"/>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3" name="Text 11"/>
          <p:cNvSpPr txBox="1"/>
          <p:nvPr/>
        </p:nvSpPr>
        <p:spPr>
          <a:xfrm>
            <a:off x="1117597" y="3797291"/>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Overeenkomsten</a:t>
            </a:r>
            <a:endParaRPr lang="en-US" sz="1450" dirty="0"/>
          </a:p>
        </p:txBody>
      </p:sp>
      <p:sp>
        <p:nvSpPr>
          <p:cNvPr id="14" name="Text 12"/>
          <p:cNvSpPr txBox="1"/>
          <p:nvPr/>
        </p:nvSpPr>
        <p:spPr>
          <a:xfrm>
            <a:off x="1117597" y="4089390"/>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LINK. stuurt de samenwerkingsovereenkomst en de verwerkersovereenkomst.</a:t>
            </a:r>
            <a:endParaRPr lang="en-US" sz="1100" dirty="0"/>
          </a:p>
        </p:txBody>
      </p:sp>
      <p:sp>
        <p:nvSpPr>
          <p:cNvPr id="15" name="Shape 13"/>
          <p:cNvSpPr/>
          <p:nvPr/>
        </p:nvSpPr>
        <p:spPr>
          <a:xfrm>
            <a:off x="609598" y="4698988"/>
            <a:ext cx="304799" cy="304799"/>
          </a:xfrm>
          <a:prstGeom prst="ellipse">
            <a:avLst/>
          </a:prstGeom>
          <a:ln w="15240">
            <a:solidFill>
              <a:srgbClr val="38B6FF"/>
            </a:solidFill>
            <a:prstDash val="solid"/>
          </a:ln>
        </p:spPr>
      </p:sp>
      <p:sp>
        <p:nvSpPr>
          <p:cNvPr id="16" name="Text 14"/>
          <p:cNvSpPr txBox="1"/>
          <p:nvPr/>
        </p:nvSpPr>
        <p:spPr>
          <a:xfrm>
            <a:off x="609598" y="4698988"/>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7" name="Text 15"/>
          <p:cNvSpPr txBox="1"/>
          <p:nvPr/>
        </p:nvSpPr>
        <p:spPr>
          <a:xfrm>
            <a:off x="1117597" y="4686288"/>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Kick-off</a:t>
            </a:r>
            <a:endParaRPr lang="en-US" sz="1450" dirty="0"/>
          </a:p>
        </p:txBody>
      </p:sp>
      <p:sp>
        <p:nvSpPr>
          <p:cNvPr id="18" name="Text 16"/>
          <p:cNvSpPr txBox="1"/>
          <p:nvPr/>
        </p:nvSpPr>
        <p:spPr>
          <a:xfrm>
            <a:off x="1117597" y="4978388"/>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We plannen de kick-off en de belstart.</a:t>
            </a:r>
            <a:endParaRPr lang="en-US" sz="1100" dirty="0"/>
          </a:p>
        </p:txBody>
      </p:sp>
      <p:sp>
        <p:nvSpPr>
          <p:cNvPr id="19" name="Shape 17"/>
          <p:cNvSpPr/>
          <p:nvPr/>
        </p:nvSpPr>
        <p:spPr>
          <a:xfrm>
            <a:off x="7645381" y="2920993"/>
            <a:ext cx="3936990" cy="2666993"/>
          </a:xfrm>
          <a:prstGeom prst="roundRect">
            <a:avLst>
              <a:gd name="adj" fmla="val 3810"/>
            </a:avLst>
          </a:prstGeom>
          <a:solidFill>
            <a:srgbClr val="1B2130"/>
          </a:solidFill>
          <a:ln w="9525">
            <a:solidFill>
              <a:srgbClr val="3A4152"/>
            </a:solidFill>
            <a:prstDash val="solid"/>
          </a:ln>
        </p:spPr>
      </p:sp>
      <p:sp>
        <p:nvSpPr>
          <p:cNvPr id="20" name="Text 18"/>
          <p:cNvSpPr txBox="1"/>
          <p:nvPr/>
        </p:nvSpPr>
        <p:spPr>
          <a:xfrm>
            <a:off x="8000980" y="3251192"/>
            <a:ext cx="3225792" cy="355599"/>
          </a:xfrm>
          <a:prstGeom prst="rect">
            <a:avLst/>
          </a:prstGeom>
          <a:noFill/>
          <a:ln/>
        </p:spPr>
        <p:txBody>
          <a:bodyPr wrap="square" lIns="0" tIns="0" rIns="0" bIns="0" rtlCol="0" anchor="ctr"/>
          <a:lstStyle/>
          <a:p>
            <a:pPr indent="0" marL="0">
              <a:buNone/>
            </a:pPr>
            <a:r>
              <a:rPr lang="en-US" sz="2000" b="1" dirty="0">
                <a:solidFill>
                  <a:srgbClr val="F2EFE6"/>
                </a:solidFill>
                <a:latin typeface="Arial" pitchFamily="34" charset="0"/>
                <a:ea typeface="Arial" pitchFamily="34" charset="-122"/>
                <a:cs typeface="Arial" pitchFamily="34" charset="-120"/>
              </a:rPr>
              <a:t>Hens Boer</a:t>
            </a:r>
            <a:endParaRPr lang="en-US" sz="2000" dirty="0"/>
          </a:p>
        </p:txBody>
      </p:sp>
      <p:sp>
        <p:nvSpPr>
          <p:cNvPr id="21" name="Text 19"/>
          <p:cNvSpPr txBox="1"/>
          <p:nvPr/>
        </p:nvSpPr>
        <p:spPr>
          <a:xfrm>
            <a:off x="8000980" y="3644891"/>
            <a:ext cx="3225792" cy="215899"/>
          </a:xfrm>
          <a:prstGeom prst="rect">
            <a:avLst/>
          </a:prstGeom>
          <a:noFill/>
          <a:ln/>
        </p:spPr>
        <p:txBody>
          <a:bodyPr wrap="square" lIns="0" tIns="0" rIns="0" bIns="0" rtlCol="0" anchor="ctr"/>
          <a:lstStyle/>
          <a:p>
            <a:pPr indent="0" marL="0">
              <a:buNone/>
            </a:pPr>
            <a:r>
              <a:rPr lang="en-US" sz="1050" b="1" dirty="0">
                <a:solidFill>
                  <a:srgbClr val="38B6FF"/>
                </a:solidFill>
                <a:latin typeface="Arial" pitchFamily="34" charset="0"/>
                <a:ea typeface="Arial" pitchFamily="34" charset="-122"/>
                <a:cs typeface="Arial" pitchFamily="34" charset="-120"/>
              </a:rPr>
              <a:t>Eigenaar LINK.</a:t>
            </a:r>
            <a:endParaRPr lang="en-US" sz="1050" dirty="0"/>
          </a:p>
        </p:txBody>
      </p:sp>
      <p:sp>
        <p:nvSpPr>
          <p:cNvPr id="22" name="Text 20"/>
          <p:cNvSpPr txBox="1"/>
          <p:nvPr/>
        </p:nvSpPr>
        <p:spPr>
          <a:xfrm>
            <a:off x="8000980" y="4165590"/>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hens@linkgrp.nl</a:t>
            </a:r>
            <a:endParaRPr lang="en-US" sz="1100" dirty="0"/>
          </a:p>
        </p:txBody>
      </p:sp>
      <p:sp>
        <p:nvSpPr>
          <p:cNvPr id="23" name="Text 21"/>
          <p:cNvSpPr txBox="1"/>
          <p:nvPr/>
        </p:nvSpPr>
        <p:spPr>
          <a:xfrm>
            <a:off x="8000980" y="4521189"/>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linkgrp.nl</a:t>
            </a:r>
            <a:endParaRPr lang="en-US" sz="1100" dirty="0"/>
          </a:p>
        </p:txBody>
      </p:sp>
      <p:sp>
        <p:nvSpPr>
          <p:cNvPr id="24" name="Text 22"/>
          <p:cNvSpPr txBox="1"/>
          <p:nvPr/>
        </p:nvSpPr>
        <p:spPr>
          <a:xfrm>
            <a:off x="8000980" y="4876788"/>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Flemingweg 8, Alphen aan den Rijn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 kennismaking CentreBlock</dc:title>
  <dc:subject>PptxGenJS Presentation</dc:subject>
  <dc:creator>LINK.</dc:creator>
  <cp:lastModifiedBy>LINK.</cp:lastModifiedBy>
  <cp:revision>1</cp:revision>
  <dcterms:created xsi:type="dcterms:W3CDTF">2026-09-28T05:55:28Z</dcterms:created>
  <dcterms:modified xsi:type="dcterms:W3CDTF">2026-09-28T05:55:28Z</dcterms:modified>
</cp:coreProperties>
</file>