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15</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bijna zes maanden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eind maart.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25</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eind maart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TOT NU TOE GEBELD IS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2.629</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GESPREKSPOGINGEN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Tussen maart en september 2026, verdeeld over 24 volle beldagen.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1.470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2.100 benaderde bedrijven kregen we bij zeven op de tien de juiste persoon aan de lijn.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61</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16 tastingafspraken en 45 bedrijven die wilden proeven of bestellen.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INGEPLAND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Waarvan er 7 onder de overdrachten stonden. Samen 0,9 tasting per beldag.</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Uit die 2.629 pogingen komt het kengetal waar het voorstel op rust: 23,2 gekwalificeerde leads per duizend gesprekspogingen.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elke van de 2.629 pogingen ligt vast wanneer hij gevoerd is en wat hij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's Ochtends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Tussen 8 en 12 uur krijgen we 71,9 procent van de gebelde bedrijven te spreken. Na 15 uur zakt dat naar 54,2 procent.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Ook de dag maakt verschil</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Woensdag levert de hoogste bereikbaarheid op met 71,8 procent, donderdag de laagste met 57,2 procent.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Beldagen op de beste momenten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op de dagen en dagdelen die in jullie eigen cijfers het hoogste scoren, en na elke periode kijken we of dat nog klopt.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Per duizend pogingen levert de ochtend 26,2 leads op en het eind van de middag 15,1. Daar plannen we 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een half jaar hebben we 2.100 bedrijven benaderd en 2.629 keer gebeld. Dat is nog maar een fractie van de markt, en elk gesprek is ook een moment waarop iemand de naam Moyee hoort.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NOG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pijplijn is nog lang niet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leeg</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217</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148 terugbelafspraken en 68 bedrijven die informatie kregen.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235</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ZITTEN AAN EEN CONTRACT</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Die zijn nu voorzien, maar hun contract loopt een keer af. Wij houden ze vast.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372</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NOG NIET BEREIKT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Wel benaderd, nog geen contact gehad. Daar is nog volledige winst te halen.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2.100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BENADERD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En dat is nog maar een fractie van de markt. Er kan hier nog jaren op gebeld worden.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Elke periode die we bellen groeit deze lijst mee. Opschalen betekent dus ook sneller terug bij de bedrijven die er al in zitten.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16 leads</a:t>
            </a:r>
            <a:endParaRPr lang="en-US" sz="1250" dirty="0"/>
          </a:p>
        </p:txBody>
      </p:sp>
      <p:sp>
        <p:nvSpPr>
          <p:cNvPr id="22" name="Shape 20"/>
          <p:cNvSpPr/>
          <p:nvPr/>
        </p:nvSpPr>
        <p:spPr>
          <a:xfrm>
            <a:off x="609598" y="4394189"/>
            <a:ext cx="10972773" cy="0"/>
          </a:xfrm>
          <a:prstGeom prst="line">
            <a:avLst/>
          </a:prstGeom>
          <a:noFill/>
          <a:ln w="9525">
            <a:solidFill>
              <a:srgbClr val="3A4152"/>
            </a:solidFill>
            <a:prstDash val="solid"/>
          </a:ln>
        </p:spPr>
      </p:sp>
      <p:sp>
        <p:nvSpPr>
          <p:cNvPr id="23" name="Text 21"/>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tot 12 beldagen</a:t>
            </a:r>
            <a:endParaRPr lang="en-US" sz="1250" dirty="0"/>
          </a:p>
        </p:txBody>
      </p:sp>
      <p:sp>
        <p:nvSpPr>
          <p:cNvPr id="24" name="Text 22"/>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5" name="Text 23"/>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€ 4.000 tot € 6.000</a:t>
            </a:r>
            <a:endParaRPr lang="en-US" sz="1250" dirty="0"/>
          </a:p>
        </p:txBody>
      </p:sp>
      <p:sp>
        <p:nvSpPr>
          <p:cNvPr id="26" name="Text 24"/>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19 tot 28 leads</a:t>
            </a:r>
            <a:endParaRPr lang="en-US" sz="1250"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zijn een indicatie, gebaseerd op 23,2 gekwalificeerde leads per duizend gesprekspogingen over 2.629 gesprekken voor Moyee, bij ongeveer 100 pogingen per beldag. Minimaal vier beldagen per periode, prijzen excl. btw.</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Twee keer zoveel kan nu al.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keer</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ook.</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€ 1.500 per maand plus € 150 per tasting</a:t>
            </a:r>
            <a:endParaRPr lang="en-US" sz="1250" dirty="0"/>
          </a:p>
        </p:txBody>
      </p:sp>
      <p:sp>
        <p:nvSpPr>
          <p:cNvPr id="10" name="Text 8"/>
          <p:cNvSpPr txBox="1"/>
          <p:nvPr/>
        </p:nvSpPr>
        <p:spPr>
          <a:xfrm>
            <a:off x="825498"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11" name="Text 9"/>
          <p:cNvSpPr txBox="1"/>
          <p:nvPr/>
        </p:nvSpPr>
        <p:spPr>
          <a:xfrm>
            <a:off x="3124192"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€ 2.040</a:t>
            </a:r>
            <a:endParaRPr lang="en-US" sz="1150" dirty="0"/>
          </a:p>
        </p:txBody>
      </p:sp>
      <p:sp>
        <p:nvSpPr>
          <p:cNvPr id="12" name="Shape 10"/>
          <p:cNvSpPr/>
          <p:nvPr/>
        </p:nvSpPr>
        <p:spPr>
          <a:xfrm>
            <a:off x="825498" y="3784591"/>
            <a:ext cx="3124192" cy="0"/>
          </a:xfrm>
          <a:prstGeom prst="line">
            <a:avLst/>
          </a:prstGeom>
          <a:noFill/>
          <a:ln w="9525">
            <a:solidFill>
              <a:srgbClr val="D8D2C4"/>
            </a:solidFill>
            <a:prstDash val="solid"/>
          </a:ln>
        </p:spPr>
      </p:sp>
      <p:sp>
        <p:nvSpPr>
          <p:cNvPr id="13" name="Text 11"/>
          <p:cNvSpPr txBox="1"/>
          <p:nvPr/>
        </p:nvSpPr>
        <p:spPr>
          <a:xfrm>
            <a:off x="825498"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14" name="Text 12"/>
          <p:cNvSpPr txBox="1"/>
          <p:nvPr/>
        </p:nvSpPr>
        <p:spPr>
          <a:xfrm>
            <a:off x="3124192"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414</a:t>
            </a:r>
            <a:endParaRPr lang="en-US" sz="1150" dirty="0"/>
          </a:p>
        </p:txBody>
      </p:sp>
      <p:sp>
        <p:nvSpPr>
          <p:cNvPr id="15" name="Shape 13"/>
          <p:cNvSpPr/>
          <p:nvPr/>
        </p:nvSpPr>
        <p:spPr>
          <a:xfrm>
            <a:off x="825498" y="4190990"/>
            <a:ext cx="3124192" cy="0"/>
          </a:xfrm>
          <a:prstGeom prst="line">
            <a:avLst/>
          </a:prstGeom>
          <a:noFill/>
          <a:ln w="9525">
            <a:solidFill>
              <a:srgbClr val="D8D2C4"/>
            </a:solidFill>
            <a:prstDash val="solid"/>
          </a:ln>
        </p:spPr>
      </p:sp>
      <p:sp>
        <p:nvSpPr>
          <p:cNvPr id="16" name="Text 14"/>
          <p:cNvSpPr txBox="1"/>
          <p:nvPr/>
        </p:nvSpPr>
        <p:spPr>
          <a:xfrm>
            <a:off x="825498"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17" name="Text 15"/>
          <p:cNvSpPr txBox="1"/>
          <p:nvPr/>
        </p:nvSpPr>
        <p:spPr>
          <a:xfrm>
            <a:off x="3124192"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10</a:t>
            </a:r>
            <a:endParaRPr lang="en-US" sz="1150" dirty="0"/>
          </a:p>
        </p:txBody>
      </p:sp>
      <p:sp>
        <p:nvSpPr>
          <p:cNvPr id="18" name="Shape 16"/>
          <p:cNvSpPr/>
          <p:nvPr/>
        </p:nvSpPr>
        <p:spPr>
          <a:xfrm>
            <a:off x="825498" y="4597389"/>
            <a:ext cx="3124192" cy="0"/>
          </a:xfrm>
          <a:prstGeom prst="line">
            <a:avLst/>
          </a:prstGeom>
          <a:noFill/>
          <a:ln w="9525">
            <a:solidFill>
              <a:srgbClr val="D8D2C4"/>
            </a:solidFill>
            <a:prstDash val="solid"/>
          </a:ln>
        </p:spPr>
      </p:sp>
      <p:sp>
        <p:nvSpPr>
          <p:cNvPr id="19" name="Text 17"/>
          <p:cNvSpPr txBox="1"/>
          <p:nvPr/>
        </p:nvSpPr>
        <p:spPr>
          <a:xfrm>
            <a:off x="825498"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20" name="Text 18"/>
          <p:cNvSpPr txBox="1"/>
          <p:nvPr/>
        </p:nvSpPr>
        <p:spPr>
          <a:xfrm>
            <a:off x="3124192"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21" name="Shape 19"/>
          <p:cNvSpPr/>
          <p:nvPr/>
        </p:nvSpPr>
        <p:spPr>
          <a:xfrm>
            <a:off x="825498" y="5003787"/>
            <a:ext cx="3124192" cy="0"/>
          </a:xfrm>
          <a:prstGeom prst="line">
            <a:avLst/>
          </a:prstGeom>
          <a:noFill/>
          <a:ln w="9525">
            <a:solidFill>
              <a:srgbClr val="D8D2C4"/>
            </a:solidFill>
            <a:prstDash val="solid"/>
          </a:ln>
        </p:spPr>
      </p:sp>
      <p:sp>
        <p:nvSpPr>
          <p:cNvPr id="22" name="Text 20"/>
          <p:cNvSpPr txBox="1"/>
          <p:nvPr/>
        </p:nvSpPr>
        <p:spPr>
          <a:xfrm>
            <a:off x="825498"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23" name="Text 21"/>
          <p:cNvSpPr txBox="1"/>
          <p:nvPr/>
        </p:nvSpPr>
        <p:spPr>
          <a:xfrm>
            <a:off x="3124192"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€ 212</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TWEE KEER</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8 beldagen per 4 weken</a:t>
            </a:r>
            <a:endParaRPr lang="en-US" sz="1250" dirty="0"/>
          </a:p>
        </p:txBody>
      </p:sp>
      <p:sp>
        <p:nvSpPr>
          <p:cNvPr id="27" name="Text 25"/>
          <p:cNvSpPr txBox="1"/>
          <p:nvPr/>
        </p:nvSpPr>
        <p:spPr>
          <a:xfrm>
            <a:off x="4533889"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28" name="Text 26"/>
          <p:cNvSpPr txBox="1"/>
          <p:nvPr/>
        </p:nvSpPr>
        <p:spPr>
          <a:xfrm>
            <a:off x="6832583"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€ 4.000</a:t>
            </a:r>
            <a:endParaRPr lang="en-US" sz="1150" dirty="0"/>
          </a:p>
        </p:txBody>
      </p:sp>
      <p:sp>
        <p:nvSpPr>
          <p:cNvPr id="29" name="Shape 27"/>
          <p:cNvSpPr/>
          <p:nvPr/>
        </p:nvSpPr>
        <p:spPr>
          <a:xfrm>
            <a:off x="4533889" y="3784591"/>
            <a:ext cx="3124192" cy="0"/>
          </a:xfrm>
          <a:prstGeom prst="line">
            <a:avLst/>
          </a:prstGeom>
          <a:noFill/>
          <a:ln w="9525">
            <a:solidFill>
              <a:srgbClr val="D8D2C4"/>
            </a:solidFill>
            <a:prstDash val="solid"/>
          </a:ln>
        </p:spPr>
      </p:sp>
      <p:sp>
        <p:nvSpPr>
          <p:cNvPr id="30" name="Text 28"/>
          <p:cNvSpPr txBox="1"/>
          <p:nvPr/>
        </p:nvSpPr>
        <p:spPr>
          <a:xfrm>
            <a:off x="4533889"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31" name="Text 29"/>
          <p:cNvSpPr txBox="1"/>
          <p:nvPr/>
        </p:nvSpPr>
        <p:spPr>
          <a:xfrm>
            <a:off x="6832583"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800</a:t>
            </a:r>
            <a:endParaRPr lang="en-US" sz="1150" dirty="0"/>
          </a:p>
        </p:txBody>
      </p:sp>
      <p:sp>
        <p:nvSpPr>
          <p:cNvPr id="32" name="Shape 30"/>
          <p:cNvSpPr/>
          <p:nvPr/>
        </p:nvSpPr>
        <p:spPr>
          <a:xfrm>
            <a:off x="4533889" y="4190990"/>
            <a:ext cx="3124192" cy="0"/>
          </a:xfrm>
          <a:prstGeom prst="line">
            <a:avLst/>
          </a:prstGeom>
          <a:noFill/>
          <a:ln w="9525">
            <a:solidFill>
              <a:srgbClr val="D8D2C4"/>
            </a:solidFill>
            <a:prstDash val="solid"/>
          </a:ln>
        </p:spPr>
      </p:sp>
      <p:sp>
        <p:nvSpPr>
          <p:cNvPr id="33" name="Text 31"/>
          <p:cNvSpPr txBox="1"/>
          <p:nvPr/>
        </p:nvSpPr>
        <p:spPr>
          <a:xfrm>
            <a:off x="4533889"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34" name="Text 32"/>
          <p:cNvSpPr txBox="1"/>
          <p:nvPr/>
        </p:nvSpPr>
        <p:spPr>
          <a:xfrm>
            <a:off x="6832583"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19</a:t>
            </a:r>
            <a:endParaRPr lang="en-US" sz="1150" dirty="0"/>
          </a:p>
        </p:txBody>
      </p:sp>
      <p:sp>
        <p:nvSpPr>
          <p:cNvPr id="35" name="Shape 33"/>
          <p:cNvSpPr/>
          <p:nvPr/>
        </p:nvSpPr>
        <p:spPr>
          <a:xfrm>
            <a:off x="4533889" y="4597389"/>
            <a:ext cx="3124192" cy="0"/>
          </a:xfrm>
          <a:prstGeom prst="line">
            <a:avLst/>
          </a:prstGeom>
          <a:noFill/>
          <a:ln w="9525">
            <a:solidFill>
              <a:srgbClr val="D8D2C4"/>
            </a:solidFill>
            <a:prstDash val="solid"/>
          </a:ln>
        </p:spPr>
      </p:sp>
      <p:sp>
        <p:nvSpPr>
          <p:cNvPr id="36" name="Text 34"/>
          <p:cNvSpPr txBox="1"/>
          <p:nvPr/>
        </p:nvSpPr>
        <p:spPr>
          <a:xfrm>
            <a:off x="4533889"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37" name="Text 35"/>
          <p:cNvSpPr txBox="1"/>
          <p:nvPr/>
        </p:nvSpPr>
        <p:spPr>
          <a:xfrm>
            <a:off x="6832583"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7</a:t>
            </a:r>
            <a:endParaRPr lang="en-US" sz="1150" dirty="0"/>
          </a:p>
        </p:txBody>
      </p:sp>
      <p:sp>
        <p:nvSpPr>
          <p:cNvPr id="38" name="Shape 36"/>
          <p:cNvSpPr/>
          <p:nvPr/>
        </p:nvSpPr>
        <p:spPr>
          <a:xfrm>
            <a:off x="4533889" y="5003787"/>
            <a:ext cx="3124192" cy="0"/>
          </a:xfrm>
          <a:prstGeom prst="line">
            <a:avLst/>
          </a:prstGeom>
          <a:noFill/>
          <a:ln w="9525">
            <a:solidFill>
              <a:srgbClr val="D8D2C4"/>
            </a:solidFill>
            <a:prstDash val="solid"/>
          </a:ln>
        </p:spPr>
      </p:sp>
      <p:sp>
        <p:nvSpPr>
          <p:cNvPr id="39" name="Text 37"/>
          <p:cNvSpPr txBox="1"/>
          <p:nvPr/>
        </p:nvSpPr>
        <p:spPr>
          <a:xfrm>
            <a:off x="4533889"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40" name="Text 38"/>
          <p:cNvSpPr txBox="1"/>
          <p:nvPr/>
        </p:nvSpPr>
        <p:spPr>
          <a:xfrm>
            <a:off x="6832583"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€ 215</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DRIE KEER</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12 beldagen per 4 weken</a:t>
            </a:r>
            <a:endParaRPr lang="en-US" sz="1250" dirty="0"/>
          </a:p>
        </p:txBody>
      </p:sp>
      <p:sp>
        <p:nvSpPr>
          <p:cNvPr id="44" name="Text 42"/>
          <p:cNvSpPr txBox="1"/>
          <p:nvPr/>
        </p:nvSpPr>
        <p:spPr>
          <a:xfrm>
            <a:off x="8242279" y="3378192"/>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Kosten per 4 weken</a:t>
            </a:r>
            <a:endParaRPr lang="en-US" sz="950" dirty="0"/>
          </a:p>
        </p:txBody>
      </p:sp>
      <p:sp>
        <p:nvSpPr>
          <p:cNvPr id="45" name="Text 43"/>
          <p:cNvSpPr txBox="1"/>
          <p:nvPr/>
        </p:nvSpPr>
        <p:spPr>
          <a:xfrm>
            <a:off x="10540974" y="3378192"/>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€ 6.000</a:t>
            </a:r>
            <a:endParaRPr lang="en-US" sz="1150" dirty="0"/>
          </a:p>
        </p:txBody>
      </p:sp>
      <p:sp>
        <p:nvSpPr>
          <p:cNvPr id="46" name="Shape 44"/>
          <p:cNvSpPr/>
          <p:nvPr/>
        </p:nvSpPr>
        <p:spPr>
          <a:xfrm>
            <a:off x="8242279" y="3784591"/>
            <a:ext cx="3124192" cy="0"/>
          </a:xfrm>
          <a:prstGeom prst="line">
            <a:avLst/>
          </a:prstGeom>
          <a:noFill/>
          <a:ln w="9525">
            <a:solidFill>
              <a:srgbClr val="3A4152"/>
            </a:solidFill>
            <a:prstDash val="solid"/>
          </a:ln>
        </p:spPr>
      </p:sp>
      <p:sp>
        <p:nvSpPr>
          <p:cNvPr id="47" name="Text 45"/>
          <p:cNvSpPr txBox="1"/>
          <p:nvPr/>
        </p:nvSpPr>
        <p:spPr>
          <a:xfrm>
            <a:off x="8242279" y="3784591"/>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Gesprekspogingen</a:t>
            </a:r>
            <a:endParaRPr lang="en-US" sz="950" dirty="0"/>
          </a:p>
        </p:txBody>
      </p:sp>
      <p:sp>
        <p:nvSpPr>
          <p:cNvPr id="48" name="Text 46"/>
          <p:cNvSpPr txBox="1"/>
          <p:nvPr/>
        </p:nvSpPr>
        <p:spPr>
          <a:xfrm>
            <a:off x="10540974" y="3784591"/>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1.200</a:t>
            </a:r>
            <a:endParaRPr lang="en-US" sz="1150" dirty="0"/>
          </a:p>
        </p:txBody>
      </p:sp>
      <p:sp>
        <p:nvSpPr>
          <p:cNvPr id="49" name="Shape 47"/>
          <p:cNvSpPr/>
          <p:nvPr/>
        </p:nvSpPr>
        <p:spPr>
          <a:xfrm>
            <a:off x="8242279" y="4190990"/>
            <a:ext cx="3124192" cy="0"/>
          </a:xfrm>
          <a:prstGeom prst="line">
            <a:avLst/>
          </a:prstGeom>
          <a:noFill/>
          <a:ln w="9525">
            <a:solidFill>
              <a:srgbClr val="3A4152"/>
            </a:solidFill>
            <a:prstDash val="solid"/>
          </a:ln>
        </p:spPr>
      </p:sp>
      <p:sp>
        <p:nvSpPr>
          <p:cNvPr id="50" name="Text 48"/>
          <p:cNvSpPr txBox="1"/>
          <p:nvPr/>
        </p:nvSpPr>
        <p:spPr>
          <a:xfrm>
            <a:off x="8242279" y="4190990"/>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Verwachte leads</a:t>
            </a:r>
            <a:endParaRPr lang="en-US" sz="950" dirty="0"/>
          </a:p>
        </p:txBody>
      </p:sp>
      <p:sp>
        <p:nvSpPr>
          <p:cNvPr id="51" name="Text 49"/>
          <p:cNvSpPr txBox="1"/>
          <p:nvPr/>
        </p:nvSpPr>
        <p:spPr>
          <a:xfrm>
            <a:off x="10540974" y="4190990"/>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28</a:t>
            </a:r>
            <a:endParaRPr lang="en-US" sz="1150" dirty="0"/>
          </a:p>
        </p:txBody>
      </p:sp>
      <p:sp>
        <p:nvSpPr>
          <p:cNvPr id="52" name="Shape 50"/>
          <p:cNvSpPr/>
          <p:nvPr/>
        </p:nvSpPr>
        <p:spPr>
          <a:xfrm>
            <a:off x="8242279" y="4597389"/>
            <a:ext cx="3124192" cy="0"/>
          </a:xfrm>
          <a:prstGeom prst="line">
            <a:avLst/>
          </a:prstGeom>
          <a:noFill/>
          <a:ln w="9525">
            <a:solidFill>
              <a:srgbClr val="3A4152"/>
            </a:solidFill>
            <a:prstDash val="solid"/>
          </a:ln>
        </p:spPr>
      </p:sp>
      <p:sp>
        <p:nvSpPr>
          <p:cNvPr id="53" name="Text 51"/>
          <p:cNvSpPr txBox="1"/>
          <p:nvPr/>
        </p:nvSpPr>
        <p:spPr>
          <a:xfrm>
            <a:off x="8242279" y="4597389"/>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Waarvan tastings</a:t>
            </a:r>
            <a:endParaRPr lang="en-US" sz="950" dirty="0"/>
          </a:p>
        </p:txBody>
      </p:sp>
      <p:sp>
        <p:nvSpPr>
          <p:cNvPr id="54" name="Text 52"/>
          <p:cNvSpPr txBox="1"/>
          <p:nvPr/>
        </p:nvSpPr>
        <p:spPr>
          <a:xfrm>
            <a:off x="10540974" y="4597389"/>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10</a:t>
            </a:r>
            <a:endParaRPr lang="en-US" sz="1150" dirty="0"/>
          </a:p>
        </p:txBody>
      </p:sp>
      <p:sp>
        <p:nvSpPr>
          <p:cNvPr id="55" name="Shape 53"/>
          <p:cNvSpPr/>
          <p:nvPr/>
        </p:nvSpPr>
        <p:spPr>
          <a:xfrm>
            <a:off x="8242279" y="5003787"/>
            <a:ext cx="3124192" cy="0"/>
          </a:xfrm>
          <a:prstGeom prst="line">
            <a:avLst/>
          </a:prstGeom>
          <a:noFill/>
          <a:ln w="9525">
            <a:solidFill>
              <a:srgbClr val="3A4152"/>
            </a:solidFill>
            <a:prstDash val="solid"/>
          </a:ln>
        </p:spPr>
      </p:sp>
      <p:sp>
        <p:nvSpPr>
          <p:cNvPr id="56" name="Text 54"/>
          <p:cNvSpPr txBox="1"/>
          <p:nvPr/>
        </p:nvSpPr>
        <p:spPr>
          <a:xfrm>
            <a:off x="8242279" y="5003787"/>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lead</a:t>
            </a:r>
            <a:endParaRPr lang="en-US" sz="950" dirty="0"/>
          </a:p>
        </p:txBody>
      </p:sp>
      <p:sp>
        <p:nvSpPr>
          <p:cNvPr id="57" name="Text 55"/>
          <p:cNvSpPr txBox="1"/>
          <p:nvPr/>
        </p:nvSpPr>
        <p:spPr>
          <a:xfrm>
            <a:off x="10540974" y="5003787"/>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€ 216</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bezetting en de bellijst liggen er al. Verdubbelen kan vanaf de eerstvolgende periode, verdriedubbelen ook, en de prijs per lead blijft rond € 215.</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TEGENOVER 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nieuwe klant betaalt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29 leads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terug.</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300 kg</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KOFFIE PER JAAR</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Het verbruik van één kantoor waar we een tasting hebben ingepland. Geen uitschieter, gewoon een normaal kantoor.</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€ 6.193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OMZET PER JAAR</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Alleen de koffie, tegen € 20,64 per kilo. Cross- en upsell zitten er nog niet in.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€ 215</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KOST EEN LEAD</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Bij acht beldagen per vier weken. Eén klant van dit formaat betaalt er 29 terug.</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9</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KLANTEN PER JAAR</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Zoveel klanten van dit formaat maken een heel jaar bellen terugverdiend, uit ± 242 leads.</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acht beldagen leveren we ongeveer 242 gekwalificeerde leads per jaar op. Worden daar 9 klanten van dit formaat uit, dan staat de investering van € 52.000 quitte en loopt die omzet daarna gewoon door.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13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Zo houden we elkaar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scherp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klanten die blijven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lead een klant die drie maanden achter elkaar bestelt, dan krijgen wij daar een succesfee over. Zo verdienen wij pas extra als de klant blijft.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 Over de hoogte van de succesfee maken we samen een afspraak.</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14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15 / 15</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Verdubbelen of verdriedubbelen kan allebei direct.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2026-09-26T15:02:27Z</dcterms:created>
  <dcterms:modified xsi:type="dcterms:W3CDTF">2026-09-26T15:02:27Z</dcterms:modified>
</cp:coreProperties>
</file>