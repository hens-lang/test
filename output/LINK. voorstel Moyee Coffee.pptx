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16</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SEIZOEN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zomer was stil. Vanaf september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loopt het weer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GESPREKSPOGINGEN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GEKWALIFICEERDE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April tot en met juni</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1.480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26</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Juli en augustus</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372</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September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777</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In juli en augustus stonden er drie beldagen in twee maanden, aan beide kanten vakantie. September is met 777 gesprekken de drukste maand van de hele periode. In het najaar en de winter wordt er meer koffie gedronken en zitten er meer mensen op kantoor, dus dit is het moment om de beldagen op te voeren.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28711"/>
            <a:ext cx="3124192" cy="0"/>
          </a:xfrm>
          <a:prstGeom prst="line">
            <a:avLst/>
          </a:prstGeom>
          <a:noFill/>
          <a:ln w="9525">
            <a:solidFill>
              <a:srgbClr val="D8D2C4"/>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079230"/>
            <a:ext cx="3124192" cy="0"/>
          </a:xfrm>
          <a:prstGeom prst="line">
            <a:avLst/>
          </a:prstGeom>
          <a:noFill/>
          <a:ln w="9525">
            <a:solidFill>
              <a:srgbClr val="D8D2C4"/>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429749"/>
            <a:ext cx="3124192" cy="0"/>
          </a:xfrm>
          <a:prstGeom prst="line">
            <a:avLst/>
          </a:prstGeom>
          <a:noFill/>
          <a:ln w="9525">
            <a:solidFill>
              <a:srgbClr val="D8D2C4"/>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4780268"/>
            <a:ext cx="3124192" cy="0"/>
          </a:xfrm>
          <a:prstGeom prst="line">
            <a:avLst/>
          </a:prstGeom>
          <a:noFill/>
          <a:ln w="9525">
            <a:solidFill>
              <a:srgbClr val="D8D2C4"/>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28711"/>
            <a:ext cx="3124192" cy="0"/>
          </a:xfrm>
          <a:prstGeom prst="line">
            <a:avLst/>
          </a:prstGeom>
          <a:noFill/>
          <a:ln w="9525">
            <a:solidFill>
              <a:srgbClr val="3A4152"/>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079230"/>
            <a:ext cx="3124192" cy="0"/>
          </a:xfrm>
          <a:prstGeom prst="line">
            <a:avLst/>
          </a:prstGeom>
          <a:noFill/>
          <a:ln w="9525">
            <a:solidFill>
              <a:srgbClr val="3A4152"/>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429749"/>
            <a:ext cx="3124192" cy="0"/>
          </a:xfrm>
          <a:prstGeom prst="line">
            <a:avLst/>
          </a:prstGeom>
          <a:noFill/>
          <a:ln w="9525">
            <a:solidFill>
              <a:srgbClr val="3A4152"/>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4780268"/>
            <a:ext cx="3124192" cy="0"/>
          </a:xfrm>
          <a:prstGeom prst="line">
            <a:avLst/>
          </a:prstGeom>
          <a:noFill/>
          <a:ln w="9525">
            <a:solidFill>
              <a:srgbClr val="3A4152"/>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EEN KLANT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tasting is een kans op een klant die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jaren blijft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300 kg</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KOFFIE PER JAAR</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Het verbruik van één kantoor waar we een tasting hebben ingepland. Geen uitschieter, gewoon een normaal kantoor.</a:t>
            </a:r>
            <a:endParaRPr lang="en-US" sz="950" dirty="0"/>
          </a:p>
        </p:txBody>
      </p:sp>
      <p:sp>
        <p:nvSpPr>
          <p:cNvPr id="11" name="Shape 9"/>
          <p:cNvSpPr/>
          <p:nvPr/>
        </p:nvSpPr>
        <p:spPr>
          <a:xfrm>
            <a:off x="3390892" y="2730493"/>
            <a:ext cx="2628893" cy="2222494"/>
          </a:xfrm>
          <a:prstGeom prst="roundRect">
            <a:avLst>
              <a:gd name="adj" fmla="val 4571"/>
            </a:avLst>
          </a:prstGeom>
          <a:solidFill>
            <a:srgbClr val="000000"/>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€ 6.193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PER KLANT PER JAAR</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Alleen de koffie, tegen € 20,64 per kilo. Dat komt elk jaar opnieuw binnen zolang ze bestellen.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€ 30.964</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BIJ VIJF ZULKE KLANTEN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En cross- en upsell zitten daar nog niet in. Hoe meer tastings, hoe meer kans op zulke kantoren.</a:t>
            </a:r>
            <a:endParaRPr lang="en-US" sz="950" dirty="0"/>
          </a:p>
        </p:txBody>
      </p:sp>
      <p:sp>
        <p:nvSpPr>
          <p:cNvPr id="19" name="Shape 17"/>
          <p:cNvSpPr/>
          <p:nvPr/>
        </p:nvSpPr>
        <p:spPr>
          <a:xfrm>
            <a:off x="8953478" y="2730493"/>
            <a:ext cx="2628893" cy="2222494"/>
          </a:xfrm>
          <a:prstGeom prst="roundRect">
            <a:avLst>
              <a:gd name="adj" fmla="val 4571"/>
            </a:avLst>
          </a:prstGeom>
          <a:solidFill>
            <a:srgbClr val="F8F4EB"/>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7</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PER PERIODE</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acht beldagen. Meer beldagen betekent meer tastings, en dus meer kansen.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Daarom sturen we op zoveel mogelijk tastings. Een klant die blijft bestellen telt niet één keer mee, maar elk jaar opnieuw.</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15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16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2026-09-29T10:10:27Z</dcterms:created>
  <dcterms:modified xsi:type="dcterms:W3CDTF">2026-09-29T10:10:27Z</dcterms:modified>
</cp:coreProperties>
</file>