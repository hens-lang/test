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slideLayout" Target="../slideLayouts/slideLayout1.xml"/><Relationship Id="rId10"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0"/>
        </a:solidFill>
      </p:bgPr>
    </p:bg>
    <p:spTree>
      <p:nvGrpSpPr>
        <p:cNvPr id="1" name=""/>
        <p:cNvGrpSpPr/>
        <p:nvPr/>
      </p:nvGrpSpPr>
      <p:grpSpPr>
        <a:xfrm>
          <a:off x="0" y="0"/>
          <a:ext cx="0" cy="0"/>
          <a:chOff x="0" y="0"/>
          <a:chExt cx="0" cy="0"/>
        </a:xfrm>
      </p:grpSpPr>
      <p:sp>
        <p:nvSpPr>
          <p:cNvPr id="2" name="Shape 0"/>
          <p:cNvSpPr/>
          <p:nvPr/>
        </p:nvSpPr>
        <p:spPr>
          <a:xfrm flipH="1">
            <a:off x="8159730" y="3460741"/>
            <a:ext cx="1111247" cy="984248"/>
          </a:xfrm>
          <a:prstGeom prst="line">
            <a:avLst/>
          </a:prstGeom>
          <a:noFill/>
          <a:ln w="9525">
            <a:solidFill>
              <a:srgbClr val="38B6FF">
                <a:alpha val="30000"/>
              </a:srgbClr>
            </a:solidFill>
            <a:prstDash val="solid"/>
          </a:ln>
        </p:spPr>
      </p:sp>
      <p:sp>
        <p:nvSpPr>
          <p:cNvPr id="3" name="Shape 1"/>
          <p:cNvSpPr/>
          <p:nvPr/>
        </p:nvSpPr>
        <p:spPr>
          <a:xfrm>
            <a:off x="9270977" y="3460741"/>
            <a:ext cx="1301747" cy="476249"/>
          </a:xfrm>
          <a:prstGeom prst="line">
            <a:avLst/>
          </a:prstGeom>
          <a:noFill/>
          <a:ln w="9525">
            <a:solidFill>
              <a:srgbClr val="38B6FF">
                <a:alpha val="30000"/>
              </a:srgbClr>
            </a:solidFill>
            <a:prstDash val="solid"/>
          </a:ln>
        </p:spPr>
      </p:sp>
      <p:sp>
        <p:nvSpPr>
          <p:cNvPr id="4" name="Shape 2"/>
          <p:cNvSpPr/>
          <p:nvPr/>
        </p:nvSpPr>
        <p:spPr>
          <a:xfrm flipH="1">
            <a:off x="10159975" y="3936990"/>
            <a:ext cx="412749" cy="1206497"/>
          </a:xfrm>
          <a:prstGeom prst="line">
            <a:avLst/>
          </a:prstGeom>
          <a:noFill/>
          <a:ln w="9525">
            <a:solidFill>
              <a:srgbClr val="38B6FF">
                <a:alpha val="30000"/>
              </a:srgbClr>
            </a:solidFill>
            <a:prstDash val="solid"/>
          </a:ln>
        </p:spPr>
      </p:sp>
      <p:sp>
        <p:nvSpPr>
          <p:cNvPr id="5" name="Shape 3"/>
          <p:cNvSpPr/>
          <p:nvPr/>
        </p:nvSpPr>
        <p:spPr>
          <a:xfrm flipH="1">
            <a:off x="8889978" y="5143487"/>
            <a:ext cx="1269997" cy="444499"/>
          </a:xfrm>
          <a:prstGeom prst="line">
            <a:avLst/>
          </a:prstGeom>
          <a:noFill/>
          <a:ln w="9525">
            <a:solidFill>
              <a:srgbClr val="38B6FF">
                <a:alpha val="30000"/>
              </a:srgbClr>
            </a:solidFill>
            <a:prstDash val="solid"/>
          </a:ln>
        </p:spPr>
      </p:sp>
      <p:sp>
        <p:nvSpPr>
          <p:cNvPr id="6" name="Shape 4"/>
          <p:cNvSpPr/>
          <p:nvPr/>
        </p:nvSpPr>
        <p:spPr>
          <a:xfrm>
            <a:off x="8159730" y="4444989"/>
            <a:ext cx="730248" cy="1142997"/>
          </a:xfrm>
          <a:prstGeom prst="line">
            <a:avLst/>
          </a:prstGeom>
          <a:noFill/>
          <a:ln w="9525">
            <a:solidFill>
              <a:srgbClr val="38B6FF">
                <a:alpha val="30000"/>
              </a:srgbClr>
            </a:solidFill>
            <a:prstDash val="solid"/>
          </a:ln>
        </p:spPr>
      </p:sp>
      <p:sp>
        <p:nvSpPr>
          <p:cNvPr id="7" name="Shape 5"/>
          <p:cNvSpPr/>
          <p:nvPr/>
        </p:nvSpPr>
        <p:spPr>
          <a:xfrm flipH="1">
            <a:off x="9270977" y="2730493"/>
            <a:ext cx="1809745" cy="730248"/>
          </a:xfrm>
          <a:prstGeom prst="line">
            <a:avLst/>
          </a:prstGeom>
          <a:noFill/>
          <a:ln w="9525">
            <a:solidFill>
              <a:srgbClr val="38B6FF">
                <a:alpha val="30000"/>
              </a:srgbClr>
            </a:solidFill>
            <a:prstDash val="solid"/>
          </a:ln>
        </p:spPr>
      </p:sp>
      <p:sp>
        <p:nvSpPr>
          <p:cNvPr id="8" name="Shape 6"/>
          <p:cNvSpPr/>
          <p:nvPr/>
        </p:nvSpPr>
        <p:spPr>
          <a:xfrm flipH="1">
            <a:off x="10572724" y="2730493"/>
            <a:ext cx="507999" cy="1206497"/>
          </a:xfrm>
          <a:prstGeom prst="line">
            <a:avLst/>
          </a:prstGeom>
          <a:noFill/>
          <a:ln w="9525">
            <a:solidFill>
              <a:srgbClr val="38B6FF">
                <a:alpha val="30000"/>
              </a:srgbClr>
            </a:solidFill>
            <a:prstDash val="solid"/>
          </a:ln>
        </p:spPr>
      </p:sp>
      <p:sp>
        <p:nvSpPr>
          <p:cNvPr id="9" name="Shape 7"/>
          <p:cNvSpPr/>
          <p:nvPr/>
        </p:nvSpPr>
        <p:spPr>
          <a:xfrm>
            <a:off x="10572724" y="3936990"/>
            <a:ext cx="1047747" cy="761998"/>
          </a:xfrm>
          <a:prstGeom prst="line">
            <a:avLst/>
          </a:prstGeom>
          <a:noFill/>
          <a:ln w="9525">
            <a:solidFill>
              <a:srgbClr val="38B6FF">
                <a:alpha val="30000"/>
              </a:srgbClr>
            </a:solidFill>
            <a:prstDash val="solid"/>
          </a:ln>
        </p:spPr>
      </p:sp>
      <p:sp>
        <p:nvSpPr>
          <p:cNvPr id="10" name="Shape 8"/>
          <p:cNvSpPr/>
          <p:nvPr/>
        </p:nvSpPr>
        <p:spPr>
          <a:xfrm flipH="1">
            <a:off x="10159975" y="4698988"/>
            <a:ext cx="1460496" cy="444499"/>
          </a:xfrm>
          <a:prstGeom prst="line">
            <a:avLst/>
          </a:prstGeom>
          <a:noFill/>
          <a:ln w="9525">
            <a:solidFill>
              <a:srgbClr val="38B6FF">
                <a:alpha val="30000"/>
              </a:srgbClr>
            </a:solidFill>
            <a:prstDash val="solid"/>
          </a:ln>
        </p:spPr>
      </p:sp>
      <p:sp>
        <p:nvSpPr>
          <p:cNvPr id="11" name="Shape 9"/>
          <p:cNvSpPr/>
          <p:nvPr/>
        </p:nvSpPr>
        <p:spPr>
          <a:xfrm flipH="1">
            <a:off x="9905975" y="5143487"/>
            <a:ext cx="253999" cy="1111247"/>
          </a:xfrm>
          <a:prstGeom prst="line">
            <a:avLst/>
          </a:prstGeom>
          <a:noFill/>
          <a:ln w="9525">
            <a:solidFill>
              <a:srgbClr val="38B6FF">
                <a:alpha val="30000"/>
              </a:srgbClr>
            </a:solidFill>
            <a:prstDash val="solid"/>
          </a:ln>
        </p:spPr>
      </p:sp>
      <p:sp>
        <p:nvSpPr>
          <p:cNvPr id="12" name="Shape 10"/>
          <p:cNvSpPr/>
          <p:nvPr/>
        </p:nvSpPr>
        <p:spPr>
          <a:xfrm>
            <a:off x="8889978" y="5587986"/>
            <a:ext cx="1015997" cy="666748"/>
          </a:xfrm>
          <a:prstGeom prst="line">
            <a:avLst/>
          </a:prstGeom>
          <a:noFill/>
          <a:ln w="9525">
            <a:solidFill>
              <a:srgbClr val="38B6FF">
                <a:alpha val="30000"/>
              </a:srgbClr>
            </a:solidFill>
            <a:prstDash val="solid"/>
          </a:ln>
        </p:spPr>
      </p:sp>
      <p:sp>
        <p:nvSpPr>
          <p:cNvPr id="13" name="Shape 11"/>
          <p:cNvSpPr/>
          <p:nvPr/>
        </p:nvSpPr>
        <p:spPr>
          <a:xfrm>
            <a:off x="11620471" y="4698988"/>
            <a:ext cx="158750" cy="1206497"/>
          </a:xfrm>
          <a:prstGeom prst="line">
            <a:avLst/>
          </a:prstGeom>
          <a:noFill/>
          <a:ln w="9525">
            <a:solidFill>
              <a:srgbClr val="38B6FF">
                <a:alpha val="30000"/>
              </a:srgbClr>
            </a:solidFill>
            <a:prstDash val="solid"/>
          </a:ln>
        </p:spPr>
      </p:sp>
      <p:sp>
        <p:nvSpPr>
          <p:cNvPr id="14" name="Shape 12"/>
          <p:cNvSpPr/>
          <p:nvPr/>
        </p:nvSpPr>
        <p:spPr>
          <a:xfrm flipH="1">
            <a:off x="9905975" y="5905485"/>
            <a:ext cx="1873245" cy="349249"/>
          </a:xfrm>
          <a:prstGeom prst="line">
            <a:avLst/>
          </a:prstGeom>
          <a:noFill/>
          <a:ln w="9525">
            <a:solidFill>
              <a:srgbClr val="38B6FF">
                <a:alpha val="30000"/>
              </a:srgbClr>
            </a:solidFill>
            <a:prstDash val="solid"/>
          </a:ln>
        </p:spPr>
      </p:sp>
      <p:sp>
        <p:nvSpPr>
          <p:cNvPr id="15" name="Shape 13"/>
          <p:cNvSpPr/>
          <p:nvPr/>
        </p:nvSpPr>
        <p:spPr>
          <a:xfrm>
            <a:off x="8134330" y="4419589"/>
            <a:ext cx="50800" cy="50800"/>
          </a:xfrm>
          <a:prstGeom prst="ellipse">
            <a:avLst/>
          </a:prstGeom>
          <a:solidFill>
            <a:srgbClr val="141821"/>
          </a:solidFill>
          <a:ln w="9525">
            <a:solidFill>
              <a:srgbClr val="38B6FF">
                <a:alpha val="50000"/>
              </a:srgbClr>
            </a:solidFill>
            <a:prstDash val="solid"/>
          </a:ln>
        </p:spPr>
      </p:sp>
      <p:sp>
        <p:nvSpPr>
          <p:cNvPr id="16" name="Shape 14"/>
          <p:cNvSpPr/>
          <p:nvPr/>
        </p:nvSpPr>
        <p:spPr>
          <a:xfrm>
            <a:off x="9245577" y="3435341"/>
            <a:ext cx="50800" cy="50800"/>
          </a:xfrm>
          <a:prstGeom prst="ellipse">
            <a:avLst/>
          </a:prstGeom>
          <a:solidFill>
            <a:srgbClr val="141821"/>
          </a:solidFill>
          <a:ln w="9525">
            <a:solidFill>
              <a:srgbClr val="38B6FF">
                <a:alpha val="50000"/>
              </a:srgbClr>
            </a:solidFill>
            <a:prstDash val="solid"/>
          </a:ln>
        </p:spPr>
      </p:sp>
      <p:sp>
        <p:nvSpPr>
          <p:cNvPr id="17" name="Shape 15"/>
          <p:cNvSpPr/>
          <p:nvPr/>
        </p:nvSpPr>
        <p:spPr>
          <a:xfrm>
            <a:off x="10528274" y="3892540"/>
            <a:ext cx="88900" cy="88900"/>
          </a:xfrm>
          <a:prstGeom prst="ellipse">
            <a:avLst/>
          </a:prstGeom>
          <a:solidFill>
            <a:srgbClr val="38B6FF"/>
          </a:solidFill>
          <a:ln/>
        </p:spPr>
      </p:sp>
      <p:sp>
        <p:nvSpPr>
          <p:cNvPr id="18" name="Shape 16"/>
          <p:cNvSpPr/>
          <p:nvPr/>
        </p:nvSpPr>
        <p:spPr>
          <a:xfrm>
            <a:off x="10134575" y="5118087"/>
            <a:ext cx="50800" cy="50800"/>
          </a:xfrm>
          <a:prstGeom prst="ellipse">
            <a:avLst/>
          </a:prstGeom>
          <a:solidFill>
            <a:srgbClr val="141821"/>
          </a:solidFill>
          <a:ln w="9525">
            <a:solidFill>
              <a:srgbClr val="38B6FF">
                <a:alpha val="50000"/>
              </a:srgbClr>
            </a:solidFill>
            <a:prstDash val="solid"/>
          </a:ln>
        </p:spPr>
      </p:sp>
      <p:sp>
        <p:nvSpPr>
          <p:cNvPr id="19" name="Shape 17"/>
          <p:cNvSpPr/>
          <p:nvPr/>
        </p:nvSpPr>
        <p:spPr>
          <a:xfrm>
            <a:off x="8864578" y="5562586"/>
            <a:ext cx="50800" cy="50800"/>
          </a:xfrm>
          <a:prstGeom prst="ellipse">
            <a:avLst/>
          </a:prstGeom>
          <a:solidFill>
            <a:srgbClr val="141821"/>
          </a:solidFill>
          <a:ln w="9525">
            <a:solidFill>
              <a:srgbClr val="38B6FF">
                <a:alpha val="50000"/>
              </a:srgbClr>
            </a:solidFill>
            <a:prstDash val="solid"/>
          </a:ln>
        </p:spPr>
      </p:sp>
      <p:sp>
        <p:nvSpPr>
          <p:cNvPr id="20" name="Shape 18"/>
          <p:cNvSpPr/>
          <p:nvPr/>
        </p:nvSpPr>
        <p:spPr>
          <a:xfrm>
            <a:off x="11055322" y="2705093"/>
            <a:ext cx="50800" cy="50800"/>
          </a:xfrm>
          <a:prstGeom prst="ellipse">
            <a:avLst/>
          </a:prstGeom>
          <a:solidFill>
            <a:srgbClr val="141821"/>
          </a:solidFill>
          <a:ln w="9525">
            <a:solidFill>
              <a:srgbClr val="38B6FF">
                <a:alpha val="50000"/>
              </a:srgbClr>
            </a:solidFill>
            <a:prstDash val="solid"/>
          </a:ln>
        </p:spPr>
      </p:sp>
      <p:sp>
        <p:nvSpPr>
          <p:cNvPr id="21" name="Shape 19"/>
          <p:cNvSpPr/>
          <p:nvPr/>
        </p:nvSpPr>
        <p:spPr>
          <a:xfrm>
            <a:off x="11595071" y="4673588"/>
            <a:ext cx="50800" cy="50800"/>
          </a:xfrm>
          <a:prstGeom prst="ellipse">
            <a:avLst/>
          </a:prstGeom>
          <a:solidFill>
            <a:srgbClr val="141821"/>
          </a:solidFill>
          <a:ln w="9525">
            <a:solidFill>
              <a:srgbClr val="38B6FF">
                <a:alpha val="50000"/>
              </a:srgbClr>
            </a:solidFill>
            <a:prstDash val="solid"/>
          </a:ln>
        </p:spPr>
      </p:sp>
      <p:sp>
        <p:nvSpPr>
          <p:cNvPr id="22" name="Shape 20"/>
          <p:cNvSpPr/>
          <p:nvPr/>
        </p:nvSpPr>
        <p:spPr>
          <a:xfrm>
            <a:off x="9880575" y="6229334"/>
            <a:ext cx="50800" cy="50800"/>
          </a:xfrm>
          <a:prstGeom prst="ellipse">
            <a:avLst/>
          </a:prstGeom>
          <a:solidFill>
            <a:srgbClr val="141821"/>
          </a:solidFill>
          <a:ln w="9525">
            <a:solidFill>
              <a:srgbClr val="38B6FF">
                <a:alpha val="50000"/>
              </a:srgbClr>
            </a:solidFill>
            <a:prstDash val="solid"/>
          </a:ln>
        </p:spPr>
      </p:sp>
      <p:sp>
        <p:nvSpPr>
          <p:cNvPr id="23" name="Shape 21"/>
          <p:cNvSpPr/>
          <p:nvPr/>
        </p:nvSpPr>
        <p:spPr>
          <a:xfrm>
            <a:off x="11753821" y="5880085"/>
            <a:ext cx="50800" cy="50800"/>
          </a:xfrm>
          <a:prstGeom prst="ellipse">
            <a:avLst/>
          </a:prstGeom>
          <a:solidFill>
            <a:srgbClr val="141821"/>
          </a:solidFill>
          <a:ln w="9525">
            <a:solidFill>
              <a:srgbClr val="38B6FF">
                <a:alpha val="50000"/>
              </a:srgbClr>
            </a:solidFill>
            <a:prstDash val="solid"/>
          </a:ln>
        </p:spPr>
      </p:sp>
      <p:sp>
        <p:nvSpPr>
          <p:cNvPr id="24" name="Text 22"/>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25" name="Text 23"/>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Moyee Coffee</a:t>
            </a:r>
            <a:endParaRPr lang="en-US" sz="750" dirty="0"/>
          </a:p>
        </p:txBody>
      </p:sp>
      <p:sp>
        <p:nvSpPr>
          <p:cNvPr id="26" name="Text 24"/>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 / 14</a:t>
            </a:r>
            <a:endParaRPr lang="en-US" sz="750" dirty="0"/>
          </a:p>
        </p:txBody>
      </p:sp>
      <p:sp>
        <p:nvSpPr>
          <p:cNvPr id="27" name="Text 25"/>
          <p:cNvSpPr txBox="1"/>
          <p:nvPr/>
        </p:nvSpPr>
        <p:spPr>
          <a:xfrm>
            <a:off x="609598" y="2133595"/>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VOOR MOYEE COFFEE · SEPTEMBER 2026</a:t>
            </a:r>
            <a:endParaRPr lang="en-US" sz="950" dirty="0"/>
          </a:p>
        </p:txBody>
      </p:sp>
      <p:sp>
        <p:nvSpPr>
          <p:cNvPr id="28" name="Text 26"/>
          <p:cNvSpPr txBox="1"/>
          <p:nvPr/>
        </p:nvSpPr>
        <p:spPr>
          <a:xfrm>
            <a:off x="609598" y="2514594"/>
            <a:ext cx="8635978" cy="2031995"/>
          </a:xfrm>
          <a:prstGeom prst="rect">
            <a:avLst/>
          </a:prstGeom>
          <a:noFill/>
          <a:ln/>
        </p:spPr>
        <p:txBody>
          <a:bodyPr wrap="square" lIns="0" tIns="0" rIns="0" bIns="0" rtlCol="0" anchor="t"/>
          <a:lstStyle/>
          <a:p>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Van losse weken naar een </a:t>
            </a:r>
            <a:pPr algn="l" indent="0" marL="0">
              <a:lnSpc>
                <a:spcPct val="105000"/>
              </a:lnSpc>
              <a:buNone/>
            </a:pPr>
            <a:r>
              <a:rPr lang="en-US" sz="5000" i="1" dirty="0">
                <a:solidFill>
                  <a:srgbClr val="F2EFE6"/>
                </a:solidFill>
                <a:latin typeface="Georgia" pitchFamily="34" charset="0"/>
                <a:ea typeface="Georgia" pitchFamily="34" charset="-122"/>
                <a:cs typeface="Georgia" pitchFamily="34" charset="-120"/>
              </a:rPr>
              <a:t>vast ritme</a:t>
            </a:r>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a:t>
            </a:r>
            <a:endParaRPr lang="en-US" sz="5200" dirty="0"/>
          </a:p>
        </p:txBody>
      </p:sp>
      <p:sp>
        <p:nvSpPr>
          <p:cNvPr id="29" name="Text 27"/>
          <p:cNvSpPr txBox="1"/>
          <p:nvPr/>
        </p:nvSpPr>
        <p:spPr>
          <a:xfrm>
            <a:off x="609598" y="4711688"/>
            <a:ext cx="6667483" cy="761998"/>
          </a:xfrm>
          <a:prstGeom prst="rect">
            <a:avLst/>
          </a:prstGeom>
          <a:noFill/>
          <a:ln/>
        </p:spPr>
        <p:txBody>
          <a:bodyPr wrap="square" lIns="0" tIns="0" rIns="0" bIns="0" rtlCol="0" anchor="t"/>
          <a:lstStyle/>
          <a:p>
            <a:pPr indent="0" marL="0">
              <a:lnSpc>
                <a:spcPct val="135000"/>
              </a:lnSpc>
              <a:buNone/>
            </a:pPr>
            <a:r>
              <a:rPr lang="en-US" sz="1400" dirty="0">
                <a:solidFill>
                  <a:srgbClr val="BDC3CE"/>
                </a:solidFill>
                <a:latin typeface="Arial" pitchFamily="34" charset="0"/>
                <a:ea typeface="Arial" pitchFamily="34" charset="-122"/>
                <a:cs typeface="Arial" pitchFamily="34" charset="-120"/>
              </a:rPr>
              <a:t>Wat bijna zes maanden bellen voor Moyee heeft opgeleverd, hoe wij werken en het voorstel om vanaf nu met vaste beldagen per vier weken te draaien.</a:t>
            </a:r>
            <a:endParaRPr lang="en-US" sz="1400" dirty="0"/>
          </a:p>
        </p:txBody>
      </p:sp>
      <p:sp>
        <p:nvSpPr>
          <p:cNvPr id="30" name="Text 28"/>
          <p:cNvSpPr txBox="1"/>
          <p:nvPr/>
        </p:nvSpPr>
        <p:spPr>
          <a:xfrm>
            <a:off x="609598" y="5714986"/>
            <a:ext cx="825498" cy="406399"/>
          </a:xfrm>
          <a:prstGeom prst="rect">
            <a:avLst/>
          </a:prstGeom>
          <a:noFill/>
          <a:ln/>
        </p:spPr>
        <p:txBody>
          <a:bodyPr wrap="square" lIns="0" tIns="0" rIns="0" bIns="0" rtlCol="0" anchor="ctr"/>
          <a:lstStyle/>
          <a:p>
            <a:pPr indent="0" marL="0">
              <a:buNone/>
            </a:pPr>
            <a:r>
              <a:rPr lang="en-US" sz="1700" b="1" dirty="0">
                <a:solidFill>
                  <a:srgbClr val="F2EFE6"/>
                </a:solidFill>
                <a:latin typeface="Arial" pitchFamily="34" charset="0"/>
                <a:ea typeface="Arial" pitchFamily="34" charset="-122"/>
                <a:cs typeface="Arial" pitchFamily="34" charset="-120"/>
              </a:rPr>
              <a:t>LINK</a:t>
            </a:r>
            <a:pPr indent="0" marL="0">
              <a:buNone/>
            </a:pPr>
            <a:r>
              <a:rPr lang="en-US" sz="1700" b="1" dirty="0">
                <a:solidFill>
                  <a:srgbClr val="38B6FF"/>
                </a:solidFill>
                <a:latin typeface="Arial" pitchFamily="34" charset="0"/>
                <a:ea typeface="Arial" pitchFamily="34" charset="-122"/>
                <a:cs typeface="Arial" pitchFamily="34" charset="-120"/>
              </a:rPr>
              <a:t>.</a:t>
            </a:r>
            <a:endParaRPr lang="en-US" sz="1700" dirty="0"/>
          </a:p>
        </p:txBody>
      </p:sp>
      <p:sp>
        <p:nvSpPr>
          <p:cNvPr id="31" name="Text 29"/>
          <p:cNvSpPr txBox="1"/>
          <p:nvPr/>
        </p:nvSpPr>
        <p:spPr>
          <a:xfrm>
            <a:off x="1473196" y="5714986"/>
            <a:ext cx="279399" cy="406399"/>
          </a:xfrm>
          <a:prstGeom prst="rect">
            <a:avLst/>
          </a:prstGeom>
          <a:noFill/>
          <a:ln/>
        </p:spPr>
        <p:txBody>
          <a:bodyPr wrap="square" lIns="0" tIns="0" rIns="0" bIns="0" rtlCol="0" anchor="ctr"/>
          <a:lstStyle/>
          <a:p>
            <a:pPr algn="ctr" indent="0" marL="0">
              <a:buNone/>
            </a:pPr>
            <a:r>
              <a:rPr lang="en-US" sz="1300" dirty="0">
                <a:solidFill>
                  <a:srgbClr val="8A90A0"/>
                </a:solidFill>
                <a:latin typeface="Arial" pitchFamily="34" charset="0"/>
                <a:ea typeface="Arial" pitchFamily="34" charset="-122"/>
                <a:cs typeface="Arial" pitchFamily="34" charset="-120"/>
              </a:rPr>
              <a:t>×</a:t>
            </a:r>
            <a:endParaRPr lang="en-US" sz="1300" dirty="0"/>
          </a:p>
        </p:txBody>
      </p:sp>
      <p:pic>
        <p:nvPicPr>
          <p:cNvPr id="32" name="Image 0" descr="preencoded.png">    </p:cNvPr>
          <p:cNvPicPr>
            <a:picLocks noChangeAspect="1"/>
          </p:cNvPicPr>
          <p:nvPr/>
        </p:nvPicPr>
        <p:blipFill>
          <a:blip r:embed="rId1"/>
          <a:stretch>
            <a:fillRect/>
          </a:stretch>
        </p:blipFill>
        <p:spPr>
          <a:xfrm>
            <a:off x="1854195" y="5587986"/>
            <a:ext cx="660398" cy="660398"/>
          </a:xfrm>
          <a:prstGeom prst="rect">
            <a:avLst/>
          </a:prstGeom>
        </p:spPr>
      </p:pic>
      <p:sp>
        <p:nvSpPr>
          <p:cNvPr id="33" name="Text 30"/>
          <p:cNvSpPr txBox="1"/>
          <p:nvPr/>
        </p:nvSpPr>
        <p:spPr>
          <a:xfrm>
            <a:off x="2666993" y="5714986"/>
            <a:ext cx="1447796" cy="406399"/>
          </a:xfrm>
          <a:prstGeom prst="rect">
            <a:avLst/>
          </a:prstGeom>
          <a:noFill/>
          <a:ln/>
        </p:spPr>
        <p:txBody>
          <a:bodyPr wrap="square" lIns="0" tIns="0" rIns="0" bIns="0" rtlCol="0" anchor="ctr"/>
          <a:lstStyle/>
          <a:p>
            <a:pPr algn="l" indent="0" marL="0">
              <a:buNone/>
            </a:pPr>
            <a:r>
              <a:rPr lang="en-US" sz="1500" b="1" dirty="0">
                <a:solidFill>
                  <a:srgbClr val="F2EFE6"/>
                </a:solidFill>
                <a:latin typeface="Arial" pitchFamily="34" charset="0"/>
                <a:ea typeface="Arial" pitchFamily="34" charset="-122"/>
                <a:cs typeface="Arial" pitchFamily="34" charset="-120"/>
              </a:rPr>
              <a:t>Moyee Coffee</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2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WIE WIJ ZIJN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Bellen is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Wij doen niets anders.</a:t>
            </a:r>
            <a:endParaRPr lang="en-US" sz="3200" dirty="0"/>
          </a:p>
        </p:txBody>
      </p:sp>
      <p:sp>
        <p:nvSpPr>
          <p:cNvPr id="7" name="Text 5"/>
          <p:cNvSpPr txBox="1"/>
          <p:nvPr/>
        </p:nvSpPr>
        <p:spPr>
          <a:xfrm>
            <a:off x="609598" y="2692393"/>
            <a:ext cx="6095985" cy="3174992"/>
          </a:xfrm>
          <a:prstGeom prst="rect">
            <a:avLst/>
          </a:prstGeom>
          <a:noFill/>
          <a:ln/>
        </p:spPr>
        <p:txBody>
          <a:bodyPr wrap="square" lIns="0" tIns="0" rIns="0" bIns="0" rtlCol="0" anchor="t"/>
          <a:lstStyle/>
          <a:p>
            <a:pPr indent="0" marL="0">
              <a:lnSpc>
                <a:spcPct val="142000"/>
              </a:lnSpc>
              <a:spcAft>
                <a:spcPts val="1800"/>
              </a:spcAft>
              <a:buNone/>
            </a:pPr>
            <a:r>
              <a:rPr lang="en-US" sz="1350" dirty="0">
                <a:solidFill>
                  <a:srgbClr val="1C2230"/>
                </a:solidFill>
                <a:latin typeface="Arial" pitchFamily="34" charset="0"/>
                <a:ea typeface="Arial" pitchFamily="34" charset="-122"/>
                <a:cs typeface="Arial" pitchFamily="34" charset="-120"/>
              </a:rPr>
              <a:t>LINK. is de vaste acquisitiepartner van B2B-bedrijven. Wij bellen dagelijks namens onze klanten en leveren gekwalificeerde leads op. Geen lijstjes met namen, maar bedrijven die een tasting inplannen of direct willen bestellen, met de aanleiding erbij.</a:t>
            </a:r>
            <a:endParaRPr lang="en-US" sz="1350" dirty="0"/>
          </a:p>
          <a:p>
            <a:pPr indent="0" marL="0">
              <a:lnSpc>
                <a:spcPct val="142000"/>
              </a:lnSpc>
              <a:buNone/>
            </a:pPr>
            <a:r>
              <a:rPr lang="en-US" sz="1350" dirty="0">
                <a:solidFill>
                  <a:srgbClr val="1C2230"/>
                </a:solidFill>
                <a:latin typeface="Arial" pitchFamily="34" charset="0"/>
                <a:ea typeface="Arial" pitchFamily="34" charset="-122"/>
                <a:cs typeface="Arial" pitchFamily="34" charset="-120"/>
              </a:rPr>
              <a:t>Voor Moyee bellen we sinds eind maart. In die tijd hebben we geleerd welke bedrijven openstaan voor een gesprek, welke ingang werkt en wanneer de juiste persoon bereikbaar is. Die kennis zit nu in de bellijst en in het script.</a:t>
            </a:r>
            <a:endParaRPr lang="en-US" sz="1350" dirty="0"/>
          </a:p>
        </p:txBody>
      </p:sp>
      <p:sp>
        <p:nvSpPr>
          <p:cNvPr id="8" name="Shape 6"/>
          <p:cNvSpPr/>
          <p:nvPr/>
        </p:nvSpPr>
        <p:spPr>
          <a:xfrm>
            <a:off x="7899380" y="2666993"/>
            <a:ext cx="3682991" cy="1549396"/>
          </a:xfrm>
          <a:prstGeom prst="roundRect">
            <a:avLst>
              <a:gd name="adj" fmla="val 6557"/>
            </a:avLst>
          </a:prstGeom>
          <a:solidFill>
            <a:srgbClr val="F8F4EB"/>
          </a:solidFill>
          <a:ln/>
        </p:spPr>
      </p:sp>
      <p:sp>
        <p:nvSpPr>
          <p:cNvPr id="9" name="Text 7"/>
          <p:cNvSpPr txBox="1"/>
          <p:nvPr/>
        </p:nvSpPr>
        <p:spPr>
          <a:xfrm>
            <a:off x="8178780" y="2857493"/>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1</a:t>
            </a:r>
            <a:endParaRPr lang="en-US" sz="3400" dirty="0"/>
          </a:p>
        </p:txBody>
      </p:sp>
      <p:sp>
        <p:nvSpPr>
          <p:cNvPr id="10" name="Text 8"/>
          <p:cNvSpPr txBox="1"/>
          <p:nvPr/>
        </p:nvSpPr>
        <p:spPr>
          <a:xfrm>
            <a:off x="8178780" y="3352792"/>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vast aanspreekpunt</a:t>
            </a:r>
            <a:endParaRPr lang="en-US" sz="1250" dirty="0"/>
          </a:p>
        </p:txBody>
      </p:sp>
      <p:sp>
        <p:nvSpPr>
          <p:cNvPr id="11" name="Text 9"/>
          <p:cNvSpPr txBox="1"/>
          <p:nvPr/>
        </p:nvSpPr>
        <p:spPr>
          <a:xfrm>
            <a:off x="8178780" y="3619491"/>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Eén persoon die jullie campagne kent, van bellijst tot rapportage.</a:t>
            </a:r>
            <a:endParaRPr lang="en-US" sz="950" dirty="0"/>
          </a:p>
        </p:txBody>
      </p:sp>
      <p:sp>
        <p:nvSpPr>
          <p:cNvPr id="12" name="Shape 10"/>
          <p:cNvSpPr/>
          <p:nvPr/>
        </p:nvSpPr>
        <p:spPr>
          <a:xfrm>
            <a:off x="7899380" y="4368789"/>
            <a:ext cx="3682991" cy="1549396"/>
          </a:xfrm>
          <a:prstGeom prst="roundRect">
            <a:avLst>
              <a:gd name="adj" fmla="val 6557"/>
            </a:avLst>
          </a:prstGeom>
          <a:solidFill>
            <a:srgbClr val="F8F4EB"/>
          </a:solidFill>
          <a:ln/>
        </p:spPr>
      </p:sp>
      <p:sp>
        <p:nvSpPr>
          <p:cNvPr id="13" name="Text 11"/>
          <p:cNvSpPr txBox="1"/>
          <p:nvPr/>
        </p:nvSpPr>
        <p:spPr>
          <a:xfrm>
            <a:off x="8178780" y="4559289"/>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25</a:t>
            </a:r>
            <a:endParaRPr lang="en-US" sz="3400" dirty="0"/>
          </a:p>
        </p:txBody>
      </p:sp>
      <p:sp>
        <p:nvSpPr>
          <p:cNvPr id="14" name="Text 12"/>
          <p:cNvSpPr txBox="1"/>
          <p:nvPr/>
        </p:nvSpPr>
        <p:spPr>
          <a:xfrm>
            <a:off x="8178780" y="5054587"/>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weken samen onderweg</a:t>
            </a:r>
            <a:endParaRPr lang="en-US" sz="1250" dirty="0"/>
          </a:p>
        </p:txBody>
      </p:sp>
      <p:sp>
        <p:nvSpPr>
          <p:cNvPr id="15" name="Text 13"/>
          <p:cNvSpPr txBox="1"/>
          <p:nvPr/>
        </p:nvSpPr>
        <p:spPr>
          <a:xfrm>
            <a:off x="8178780" y="5321287"/>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Van eind maart tot en met september 2026, elke week gebeld en elke week teruggekoppeld.</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3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DOEN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Eén team dat belt, opvolgt 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leads levert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3238492"/>
          </a:xfrm>
          <a:prstGeom prst="roundRect">
            <a:avLst>
              <a:gd name="adj" fmla="val 3865"/>
            </a:avLst>
          </a:prstGeom>
          <a:solidFill>
            <a:srgbClr val="F8F4EB"/>
          </a:solidFill>
          <a:ln/>
        </p:spPr>
      </p:sp>
      <p:sp>
        <p:nvSpPr>
          <p:cNvPr id="8" name="Shape 6"/>
          <p:cNvSpPr/>
          <p:nvPr/>
        </p:nvSpPr>
        <p:spPr>
          <a:xfrm>
            <a:off x="863598" y="30733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958848" y="3168642"/>
            <a:ext cx="190500" cy="190500"/>
          </a:xfrm>
          <a:prstGeom prst="rect">
            <a:avLst/>
          </a:prstGeom>
        </p:spPr>
      </p:pic>
      <p:sp>
        <p:nvSpPr>
          <p:cNvPr id="10" name="Text 7"/>
          <p:cNvSpPr txBox="1"/>
          <p:nvPr/>
        </p:nvSpPr>
        <p:spPr>
          <a:xfrm>
            <a:off x="863598"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Cold calling</a:t>
            </a:r>
            <a:endParaRPr lang="en-US" sz="1350" dirty="0"/>
          </a:p>
        </p:txBody>
      </p:sp>
      <p:sp>
        <p:nvSpPr>
          <p:cNvPr id="11" name="Text 8"/>
          <p:cNvSpPr txBox="1"/>
          <p:nvPr/>
        </p:nvSpPr>
        <p:spPr>
          <a:xfrm>
            <a:off x="863598"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Ervaren B2B-bellers die het gesprek voeren met de beslisser. Eigen belsysteem, een nummer op jullie naam en elk gesprek vastgelegd met notities.</a:t>
            </a:r>
            <a:endParaRPr lang="en-US" sz="950" dirty="0"/>
          </a:p>
        </p:txBody>
      </p:sp>
      <p:sp>
        <p:nvSpPr>
          <p:cNvPr id="12" name="Shape 9"/>
          <p:cNvSpPr/>
          <p:nvPr/>
        </p:nvSpPr>
        <p:spPr>
          <a:xfrm>
            <a:off x="3390892" y="2793993"/>
            <a:ext cx="2628893" cy="3238492"/>
          </a:xfrm>
          <a:prstGeom prst="roundRect">
            <a:avLst>
              <a:gd name="adj" fmla="val 3865"/>
            </a:avLst>
          </a:prstGeom>
          <a:solidFill>
            <a:srgbClr val="F8F4EB"/>
          </a:solidFill>
          <a:ln/>
        </p:spPr>
      </p:sp>
      <p:sp>
        <p:nvSpPr>
          <p:cNvPr id="13" name="Shape 10"/>
          <p:cNvSpPr/>
          <p:nvPr/>
        </p:nvSpPr>
        <p:spPr>
          <a:xfrm>
            <a:off x="3644891" y="30733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3740141" y="3168642"/>
            <a:ext cx="190500" cy="190500"/>
          </a:xfrm>
          <a:prstGeom prst="rect">
            <a:avLst/>
          </a:prstGeom>
        </p:spPr>
      </p:pic>
      <p:sp>
        <p:nvSpPr>
          <p:cNvPr id="15" name="Text 11"/>
          <p:cNvSpPr txBox="1"/>
          <p:nvPr/>
        </p:nvSpPr>
        <p:spPr>
          <a:xfrm>
            <a:off x="3644891"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Data en doelgroep</a:t>
            </a:r>
            <a:endParaRPr lang="en-US" sz="1350" dirty="0"/>
          </a:p>
        </p:txBody>
      </p:sp>
      <p:sp>
        <p:nvSpPr>
          <p:cNvPr id="16" name="Text 12"/>
          <p:cNvSpPr txBox="1"/>
          <p:nvPr/>
        </p:nvSpPr>
        <p:spPr>
          <a:xfrm>
            <a:off x="3644891"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Wij bouwen de bellijst op jullie ideale klant: branche, grootte, regio en functie. Bestaande relaties en lopende trajecten gaan er vooraf uit.</a:t>
            </a:r>
            <a:endParaRPr lang="en-US" sz="950" dirty="0"/>
          </a:p>
        </p:txBody>
      </p:sp>
      <p:sp>
        <p:nvSpPr>
          <p:cNvPr id="17" name="Shape 13"/>
          <p:cNvSpPr/>
          <p:nvPr/>
        </p:nvSpPr>
        <p:spPr>
          <a:xfrm>
            <a:off x="6172185" y="2793993"/>
            <a:ext cx="2628893" cy="3238492"/>
          </a:xfrm>
          <a:prstGeom prst="roundRect">
            <a:avLst>
              <a:gd name="adj" fmla="val 3865"/>
            </a:avLst>
          </a:prstGeom>
          <a:solidFill>
            <a:srgbClr val="F8F4EB"/>
          </a:solidFill>
          <a:ln/>
        </p:spPr>
      </p:sp>
      <p:sp>
        <p:nvSpPr>
          <p:cNvPr id="18" name="Shape 14"/>
          <p:cNvSpPr/>
          <p:nvPr/>
        </p:nvSpPr>
        <p:spPr>
          <a:xfrm>
            <a:off x="6426184" y="30733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6521434" y="3168642"/>
            <a:ext cx="190500" cy="190500"/>
          </a:xfrm>
          <a:prstGeom prst="rect">
            <a:avLst/>
          </a:prstGeom>
        </p:spPr>
      </p:pic>
      <p:sp>
        <p:nvSpPr>
          <p:cNvPr id="20" name="Text 15"/>
          <p:cNvSpPr txBox="1"/>
          <p:nvPr/>
        </p:nvSpPr>
        <p:spPr>
          <a:xfrm>
            <a:off x="6426184"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Opvolging</a:t>
            </a:r>
            <a:endParaRPr lang="en-US" sz="1350" dirty="0"/>
          </a:p>
        </p:txBody>
      </p:sp>
      <p:sp>
        <p:nvSpPr>
          <p:cNvPr id="21" name="Text 16"/>
          <p:cNvSpPr txBox="1"/>
          <p:nvPr/>
        </p:nvSpPr>
        <p:spPr>
          <a:xfrm>
            <a:off x="6426184"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Terugbelafspraken komen echt terug in de bellijst en warme leads dragen we direct over, met de reden en de context erbij.</a:t>
            </a:r>
            <a:endParaRPr lang="en-US" sz="950" dirty="0"/>
          </a:p>
        </p:txBody>
      </p:sp>
      <p:sp>
        <p:nvSpPr>
          <p:cNvPr id="22" name="Shape 17"/>
          <p:cNvSpPr/>
          <p:nvPr/>
        </p:nvSpPr>
        <p:spPr>
          <a:xfrm>
            <a:off x="8953478" y="2793993"/>
            <a:ext cx="2628893" cy="3238492"/>
          </a:xfrm>
          <a:prstGeom prst="roundRect">
            <a:avLst>
              <a:gd name="adj" fmla="val 3865"/>
            </a:avLst>
          </a:prstGeom>
          <a:solidFill>
            <a:srgbClr val="000000"/>
          </a:solidFill>
          <a:ln/>
        </p:spPr>
      </p:sp>
      <p:sp>
        <p:nvSpPr>
          <p:cNvPr id="23" name="Shape 18"/>
          <p:cNvSpPr/>
          <p:nvPr/>
        </p:nvSpPr>
        <p:spPr>
          <a:xfrm>
            <a:off x="9207477" y="3073392"/>
            <a:ext cx="380999" cy="380999"/>
          </a:xfrm>
          <a:prstGeom prst="roundRect">
            <a:avLst>
              <a:gd name="adj" fmla="val 23333"/>
            </a:avLst>
          </a:prstGeom>
          <a:solidFill>
            <a:srgbClr val="203C55"/>
          </a:solidFill>
          <a:ln/>
        </p:spPr>
      </p:sp>
      <p:pic>
        <p:nvPicPr>
          <p:cNvPr id="24" name="Image 3" descr="preencoded.png">    </p:cNvPr>
          <p:cNvPicPr>
            <a:picLocks noChangeAspect="1"/>
          </p:cNvPicPr>
          <p:nvPr/>
        </p:nvPicPr>
        <p:blipFill>
          <a:blip r:embed="rId4"/>
          <a:stretch>
            <a:fillRect/>
          </a:stretch>
        </p:blipFill>
        <p:spPr>
          <a:xfrm>
            <a:off x="9302727" y="3168642"/>
            <a:ext cx="190500" cy="190500"/>
          </a:xfrm>
          <a:prstGeom prst="rect">
            <a:avLst/>
          </a:prstGeom>
        </p:spPr>
      </p:pic>
      <p:sp>
        <p:nvSpPr>
          <p:cNvPr id="25" name="Text 19"/>
          <p:cNvSpPr txBox="1"/>
          <p:nvPr/>
        </p:nvSpPr>
        <p:spPr>
          <a:xfrm>
            <a:off x="9207477"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FFFFFF"/>
                </a:solidFill>
                <a:latin typeface="Arial" pitchFamily="34" charset="0"/>
                <a:ea typeface="Arial" pitchFamily="34" charset="-122"/>
                <a:cs typeface="Arial" pitchFamily="34" charset="-120"/>
              </a:rPr>
              <a:t>Gekwalificeerde leads</a:t>
            </a:r>
            <a:endParaRPr lang="en-US" sz="1350" dirty="0"/>
          </a:p>
        </p:txBody>
      </p:sp>
      <p:sp>
        <p:nvSpPr>
          <p:cNvPr id="26" name="Text 20"/>
          <p:cNvSpPr txBox="1"/>
          <p:nvPr/>
        </p:nvSpPr>
        <p:spPr>
          <a:xfrm>
            <a:off x="9207477"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Het resultaat waar we op sturen. Een tasting in de agenda of een bedrijf dat wil bestellen, met de juiste persoon en een echte aanleiding.</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4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EEN WERKPERIODE LOOPT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Vier weken, van bellijst naar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leads</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de opvolging.</a:t>
            </a:r>
            <a:endParaRPr lang="en-US" sz="3200" dirty="0"/>
          </a:p>
        </p:txBody>
      </p:sp>
      <p:sp>
        <p:nvSpPr>
          <p:cNvPr id="7" name="Shape 5"/>
          <p:cNvSpPr/>
          <p:nvPr/>
        </p:nvSpPr>
        <p:spPr>
          <a:xfrm>
            <a:off x="609598" y="2743193"/>
            <a:ext cx="304799" cy="304799"/>
          </a:xfrm>
          <a:prstGeom prst="ellipse">
            <a:avLst/>
          </a:prstGeom>
          <a:ln w="15240">
            <a:solidFill>
              <a:srgbClr val="38B6FF"/>
            </a:solidFill>
            <a:prstDash val="solid"/>
          </a:ln>
        </p:spPr>
      </p:sp>
      <p:sp>
        <p:nvSpPr>
          <p:cNvPr id="8" name="Text 6"/>
          <p:cNvSpPr txBox="1"/>
          <p:nvPr/>
        </p:nvSpPr>
        <p:spPr>
          <a:xfrm>
            <a:off x="609598"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2895593"/>
            <a:ext cx="2349494" cy="0"/>
          </a:xfrm>
          <a:prstGeom prst="line">
            <a:avLst/>
          </a:prstGeom>
          <a:noFill/>
          <a:ln w="9525">
            <a:solidFill>
              <a:srgbClr val="38B6FF">
                <a:alpha val="40000"/>
              </a:srgbClr>
            </a:solidFill>
            <a:prstDash val="solid"/>
          </a:ln>
        </p:spPr>
      </p:sp>
      <p:sp>
        <p:nvSpPr>
          <p:cNvPr id="10" name="Text 8"/>
          <p:cNvSpPr txBox="1"/>
          <p:nvPr/>
        </p:nvSpPr>
        <p:spPr>
          <a:xfrm>
            <a:off x="609598"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Bellijst en planning</a:t>
            </a:r>
            <a:endParaRPr lang="en-US" sz="1250" dirty="0"/>
          </a:p>
        </p:txBody>
      </p:sp>
      <p:sp>
        <p:nvSpPr>
          <p:cNvPr id="11" name="Text 9"/>
          <p:cNvSpPr txBox="1"/>
          <p:nvPr/>
        </p:nvSpPr>
        <p:spPr>
          <a:xfrm>
            <a:off x="609598"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Voor elke periode zetten we de bellijst klaar en plannen we de beldagen op de dagen die in jullie eigen cijfers het beste scoren.</a:t>
            </a:r>
            <a:endParaRPr lang="en-US" sz="900" dirty="0"/>
          </a:p>
        </p:txBody>
      </p:sp>
      <p:sp>
        <p:nvSpPr>
          <p:cNvPr id="12" name="Shape 10"/>
          <p:cNvSpPr/>
          <p:nvPr/>
        </p:nvSpPr>
        <p:spPr>
          <a:xfrm>
            <a:off x="3416291" y="2743193"/>
            <a:ext cx="304799" cy="304799"/>
          </a:xfrm>
          <a:prstGeom prst="ellipse">
            <a:avLst/>
          </a:prstGeom>
          <a:ln w="15240">
            <a:solidFill>
              <a:srgbClr val="38B6FF"/>
            </a:solidFill>
            <a:prstDash val="solid"/>
          </a:ln>
        </p:spPr>
      </p:sp>
      <p:sp>
        <p:nvSpPr>
          <p:cNvPr id="13" name="Text 11"/>
          <p:cNvSpPr txBox="1"/>
          <p:nvPr/>
        </p:nvSpPr>
        <p:spPr>
          <a:xfrm>
            <a:off x="3416291"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3822690" y="2895593"/>
            <a:ext cx="2349494" cy="0"/>
          </a:xfrm>
          <a:prstGeom prst="line">
            <a:avLst/>
          </a:prstGeom>
          <a:noFill/>
          <a:ln w="9525">
            <a:solidFill>
              <a:srgbClr val="38B6FF">
                <a:alpha val="40000"/>
              </a:srgbClr>
            </a:solidFill>
            <a:prstDash val="solid"/>
          </a:ln>
        </p:spPr>
      </p:sp>
      <p:sp>
        <p:nvSpPr>
          <p:cNvPr id="15" name="Text 13"/>
          <p:cNvSpPr txBox="1"/>
          <p:nvPr/>
        </p:nvSpPr>
        <p:spPr>
          <a:xfrm>
            <a:off x="3416291"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Beldagen</a:t>
            </a:r>
            <a:endParaRPr lang="en-US" sz="1250" dirty="0"/>
          </a:p>
        </p:txBody>
      </p:sp>
      <p:sp>
        <p:nvSpPr>
          <p:cNvPr id="16" name="Text 14"/>
          <p:cNvSpPr txBox="1"/>
          <p:nvPr/>
        </p:nvSpPr>
        <p:spPr>
          <a:xfrm>
            <a:off x="3416291"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Op een beldag bellen we een volle dag door met een nummer op jullie naam. Elke tasting krijgt een bevestiging naar de prospect, elke bestellead gaat met context naar jullie toe.</a:t>
            </a:r>
            <a:endParaRPr lang="en-US" sz="900" dirty="0"/>
          </a:p>
        </p:txBody>
      </p:sp>
      <p:sp>
        <p:nvSpPr>
          <p:cNvPr id="17" name="Shape 15"/>
          <p:cNvSpPr/>
          <p:nvPr/>
        </p:nvSpPr>
        <p:spPr>
          <a:xfrm>
            <a:off x="6222984" y="2743193"/>
            <a:ext cx="304799" cy="304799"/>
          </a:xfrm>
          <a:prstGeom prst="ellipse">
            <a:avLst/>
          </a:prstGeom>
          <a:ln w="15240">
            <a:solidFill>
              <a:srgbClr val="38B6FF"/>
            </a:solidFill>
            <a:prstDash val="solid"/>
          </a:ln>
        </p:spPr>
      </p:sp>
      <p:sp>
        <p:nvSpPr>
          <p:cNvPr id="18" name="Text 16"/>
          <p:cNvSpPr txBox="1"/>
          <p:nvPr/>
        </p:nvSpPr>
        <p:spPr>
          <a:xfrm>
            <a:off x="6222984"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Shape 17"/>
          <p:cNvSpPr/>
          <p:nvPr/>
        </p:nvSpPr>
        <p:spPr>
          <a:xfrm>
            <a:off x="6629383" y="2895593"/>
            <a:ext cx="2349494" cy="0"/>
          </a:xfrm>
          <a:prstGeom prst="line">
            <a:avLst/>
          </a:prstGeom>
          <a:noFill/>
          <a:ln w="9525">
            <a:solidFill>
              <a:srgbClr val="38B6FF">
                <a:alpha val="40000"/>
              </a:srgbClr>
            </a:solidFill>
            <a:prstDash val="solid"/>
          </a:ln>
        </p:spPr>
      </p:sp>
      <p:sp>
        <p:nvSpPr>
          <p:cNvPr id="20" name="Text 18"/>
          <p:cNvSpPr txBox="1"/>
          <p:nvPr/>
        </p:nvSpPr>
        <p:spPr>
          <a:xfrm>
            <a:off x="6222984"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Wekelijkse rapportage</a:t>
            </a:r>
            <a:endParaRPr lang="en-US" sz="1250" dirty="0"/>
          </a:p>
        </p:txBody>
      </p:sp>
      <p:sp>
        <p:nvSpPr>
          <p:cNvPr id="21" name="Text 19"/>
          <p:cNvSpPr txBox="1"/>
          <p:nvPr/>
        </p:nvSpPr>
        <p:spPr>
          <a:xfrm>
            <a:off x="6222984"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Elke week een rapport met gebelde contacten, bereikbaarheid, geplande tastings, bedrijven die willen bestellen en terugbelafspraken, plus wat we terughoren uit de markt.</a:t>
            </a:r>
            <a:endParaRPr lang="en-US" sz="900" dirty="0"/>
          </a:p>
        </p:txBody>
      </p:sp>
      <p:sp>
        <p:nvSpPr>
          <p:cNvPr id="22" name="Shape 20"/>
          <p:cNvSpPr/>
          <p:nvPr/>
        </p:nvSpPr>
        <p:spPr>
          <a:xfrm>
            <a:off x="9029677" y="2743193"/>
            <a:ext cx="304799" cy="304799"/>
          </a:xfrm>
          <a:prstGeom prst="ellipse">
            <a:avLst/>
          </a:prstGeom>
          <a:ln w="15240">
            <a:solidFill>
              <a:srgbClr val="38B6FF"/>
            </a:solidFill>
            <a:prstDash val="solid"/>
          </a:ln>
        </p:spPr>
      </p:sp>
      <p:sp>
        <p:nvSpPr>
          <p:cNvPr id="23" name="Text 21"/>
          <p:cNvSpPr txBox="1"/>
          <p:nvPr/>
        </p:nvSpPr>
        <p:spPr>
          <a:xfrm>
            <a:off x="9029677"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4</a:t>
            </a:r>
            <a:endParaRPr lang="en-US" sz="1050" dirty="0"/>
          </a:p>
        </p:txBody>
      </p:sp>
      <p:sp>
        <p:nvSpPr>
          <p:cNvPr id="24" name="Text 22"/>
          <p:cNvSpPr txBox="1"/>
          <p:nvPr/>
        </p:nvSpPr>
        <p:spPr>
          <a:xfrm>
            <a:off x="9029677"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Evalueren en bijsturen</a:t>
            </a:r>
            <a:endParaRPr lang="en-US" sz="1250" dirty="0"/>
          </a:p>
        </p:txBody>
      </p:sp>
      <p:sp>
        <p:nvSpPr>
          <p:cNvPr id="25" name="Text 23"/>
          <p:cNvSpPr txBox="1"/>
          <p:nvPr/>
        </p:nvSpPr>
        <p:spPr>
          <a:xfrm>
            <a:off x="9029677"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Om de week kijken we samen naar de cijfers: klopt de doelgroep, klopt de kwaliteit van de afspraken en wat scherpen we aan.</a:t>
            </a:r>
            <a:endParaRPr lang="en-US" sz="900" dirty="0"/>
          </a:p>
        </p:txBody>
      </p:sp>
      <p:sp>
        <p:nvSpPr>
          <p:cNvPr id="26" name="Shape 24"/>
          <p:cNvSpPr/>
          <p:nvPr/>
        </p:nvSpPr>
        <p:spPr>
          <a:xfrm>
            <a:off x="609598" y="4711688"/>
            <a:ext cx="10972773" cy="1320797"/>
          </a:xfrm>
          <a:prstGeom prst="roundRect">
            <a:avLst>
              <a:gd name="adj" fmla="val 7692"/>
            </a:avLst>
          </a:prstGeom>
          <a:solidFill>
            <a:srgbClr val="1B2130"/>
          </a:solidFill>
          <a:ln w="9525">
            <a:solidFill>
              <a:srgbClr val="3A4152"/>
            </a:solidFill>
            <a:prstDash val="solid"/>
          </a:ln>
        </p:spPr>
      </p:sp>
      <p:sp>
        <p:nvSpPr>
          <p:cNvPr id="27" name="Text 25"/>
          <p:cNvSpPr txBox="1"/>
          <p:nvPr/>
        </p:nvSpPr>
        <p:spPr>
          <a:xfrm>
            <a:off x="914398" y="4927588"/>
            <a:ext cx="5079987" cy="228599"/>
          </a:xfrm>
          <a:prstGeom prst="rect">
            <a:avLst/>
          </a:prstGeom>
          <a:noFill/>
          <a:ln/>
        </p:spPr>
        <p:txBody>
          <a:bodyPr wrap="square" lIns="0" tIns="0" rIns="0" bIns="0" rtlCol="0" anchor="ctr"/>
          <a:lstStyle/>
          <a:p>
            <a:pPr indent="0" marL="0">
              <a:buNone/>
            </a:pPr>
            <a:r>
              <a:rPr lang="en-US" sz="1150" b="1" dirty="0">
                <a:solidFill>
                  <a:srgbClr val="F2EFE6"/>
                </a:solidFill>
                <a:latin typeface="Arial" pitchFamily="34" charset="0"/>
                <a:ea typeface="Arial" pitchFamily="34" charset="-122"/>
                <a:cs typeface="Arial" pitchFamily="34" charset="-120"/>
              </a:rPr>
              <a:t>Wat jullie ontvangen</a:t>
            </a:r>
            <a:endParaRPr lang="en-US" sz="1150" dirty="0"/>
          </a:p>
        </p:txBody>
      </p:sp>
      <p:pic>
        <p:nvPicPr>
          <p:cNvPr id="28" name="Image 0" descr="preencoded.png">    </p:cNvPr>
          <p:cNvPicPr>
            <a:picLocks noChangeAspect="1"/>
          </p:cNvPicPr>
          <p:nvPr/>
        </p:nvPicPr>
        <p:blipFill>
          <a:blip r:embed="rId1"/>
          <a:stretch>
            <a:fillRect/>
          </a:stretch>
        </p:blipFill>
        <p:spPr>
          <a:xfrm>
            <a:off x="914398" y="5314937"/>
            <a:ext cx="139700" cy="139700"/>
          </a:xfrm>
          <a:prstGeom prst="rect">
            <a:avLst/>
          </a:prstGeom>
        </p:spPr>
      </p:pic>
      <p:sp>
        <p:nvSpPr>
          <p:cNvPr id="29" name="Text 26"/>
          <p:cNvSpPr txBox="1"/>
          <p:nvPr/>
        </p:nvSpPr>
        <p:spPr>
          <a:xfrm>
            <a:off x="1142997"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Elke lead met bedrijfsinfo, contactpersoon en aanleiding</a:t>
            </a:r>
            <a:endParaRPr lang="en-US" sz="950" dirty="0"/>
          </a:p>
        </p:txBody>
      </p:sp>
      <p:pic>
        <p:nvPicPr>
          <p:cNvPr id="30" name="Image 1" descr="preencoded.png">    </p:cNvPr>
          <p:cNvPicPr>
            <a:picLocks noChangeAspect="1"/>
          </p:cNvPicPr>
          <p:nvPr/>
        </p:nvPicPr>
        <p:blipFill>
          <a:blip r:embed="rId2"/>
          <a:stretch>
            <a:fillRect/>
          </a:stretch>
        </p:blipFill>
        <p:spPr>
          <a:xfrm>
            <a:off x="6400784" y="5314937"/>
            <a:ext cx="139700" cy="139700"/>
          </a:xfrm>
          <a:prstGeom prst="rect">
            <a:avLst/>
          </a:prstGeom>
        </p:spPr>
      </p:pic>
      <p:sp>
        <p:nvSpPr>
          <p:cNvPr id="31" name="Text 27"/>
          <p:cNvSpPr txBox="1"/>
          <p:nvPr/>
        </p:nvSpPr>
        <p:spPr>
          <a:xfrm>
            <a:off x="6629383"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Bevestiging van de tasting naar de prospect uit naam van Moyee</a:t>
            </a:r>
            <a:endParaRPr lang="en-US" sz="950" dirty="0"/>
          </a:p>
        </p:txBody>
      </p:sp>
      <p:pic>
        <p:nvPicPr>
          <p:cNvPr id="32" name="Image 2" descr="preencoded.png">    </p:cNvPr>
          <p:cNvPicPr>
            <a:picLocks noChangeAspect="1"/>
          </p:cNvPicPr>
          <p:nvPr/>
        </p:nvPicPr>
        <p:blipFill>
          <a:blip r:embed="rId3"/>
          <a:stretch>
            <a:fillRect/>
          </a:stretch>
        </p:blipFill>
        <p:spPr>
          <a:xfrm>
            <a:off x="914398" y="5619736"/>
            <a:ext cx="139700" cy="139700"/>
          </a:xfrm>
          <a:prstGeom prst="rect">
            <a:avLst/>
          </a:prstGeom>
        </p:spPr>
      </p:pic>
      <p:sp>
        <p:nvSpPr>
          <p:cNvPr id="33" name="Text 28"/>
          <p:cNvSpPr txBox="1"/>
          <p:nvPr/>
        </p:nvSpPr>
        <p:spPr>
          <a:xfrm>
            <a:off x="1142997"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Wekelijks rapport plus alle gespreksnotities</a:t>
            </a:r>
            <a:endParaRPr lang="en-US" sz="950" dirty="0"/>
          </a:p>
        </p:txBody>
      </p:sp>
      <p:pic>
        <p:nvPicPr>
          <p:cNvPr id="34" name="Image 3" descr="preencoded.png">    </p:cNvPr>
          <p:cNvPicPr>
            <a:picLocks noChangeAspect="1"/>
          </p:cNvPicPr>
          <p:nvPr/>
        </p:nvPicPr>
        <p:blipFill>
          <a:blip r:embed="rId4"/>
          <a:stretch>
            <a:fillRect/>
          </a:stretch>
        </p:blipFill>
        <p:spPr>
          <a:xfrm>
            <a:off x="6400784" y="5619736"/>
            <a:ext cx="139700" cy="139700"/>
          </a:xfrm>
          <a:prstGeom prst="rect">
            <a:avLst/>
          </a:prstGeom>
        </p:spPr>
      </p:pic>
      <p:sp>
        <p:nvSpPr>
          <p:cNvPr id="35" name="Text 29"/>
          <p:cNvSpPr txBox="1"/>
          <p:nvPr/>
        </p:nvSpPr>
        <p:spPr>
          <a:xfrm>
            <a:off x="6629383"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Een vast aanspreekpunt en een vaste beller</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5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ER TOT NU TOE GEBELD IS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gevoel, maar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gemeten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30493"/>
            <a:ext cx="2628893" cy="2222494"/>
          </a:xfrm>
          <a:prstGeom prst="roundRect">
            <a:avLst>
              <a:gd name="adj" fmla="val 4571"/>
            </a:avLst>
          </a:prstGeom>
          <a:solidFill>
            <a:srgbClr val="F8F4EB"/>
          </a:solidFill>
          <a:ln/>
        </p:spPr>
      </p:sp>
      <p:sp>
        <p:nvSpPr>
          <p:cNvPr id="8" name="Text 6"/>
          <p:cNvSpPr txBox="1"/>
          <p:nvPr/>
        </p:nvSpPr>
        <p:spPr>
          <a:xfrm>
            <a:off x="850898"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2.629</a:t>
            </a:r>
            <a:endParaRPr lang="en-US" sz="3600" dirty="0"/>
          </a:p>
        </p:txBody>
      </p:sp>
      <p:sp>
        <p:nvSpPr>
          <p:cNvPr id="9" name="Text 7"/>
          <p:cNvSpPr txBox="1"/>
          <p:nvPr/>
        </p:nvSpPr>
        <p:spPr>
          <a:xfrm>
            <a:off x="850898"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GESPREKSPOGINGEN</a:t>
            </a:r>
            <a:endParaRPr lang="en-US" sz="900" dirty="0"/>
          </a:p>
        </p:txBody>
      </p:sp>
      <p:sp>
        <p:nvSpPr>
          <p:cNvPr id="10" name="Text 8"/>
          <p:cNvSpPr txBox="1"/>
          <p:nvPr/>
        </p:nvSpPr>
        <p:spPr>
          <a:xfrm>
            <a:off x="850898"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Tussen maart en september 2026, verdeeld over 24 volle beldagen.</a:t>
            </a:r>
            <a:endParaRPr lang="en-US" sz="950" dirty="0"/>
          </a:p>
        </p:txBody>
      </p:sp>
      <p:sp>
        <p:nvSpPr>
          <p:cNvPr id="11" name="Shape 9"/>
          <p:cNvSpPr/>
          <p:nvPr/>
        </p:nvSpPr>
        <p:spPr>
          <a:xfrm>
            <a:off x="3390892" y="2730493"/>
            <a:ext cx="2628893" cy="2222494"/>
          </a:xfrm>
          <a:prstGeom prst="roundRect">
            <a:avLst>
              <a:gd name="adj" fmla="val 4571"/>
            </a:avLst>
          </a:prstGeom>
          <a:solidFill>
            <a:srgbClr val="F8F4EB"/>
          </a:solidFill>
          <a:ln/>
        </p:spPr>
      </p:sp>
      <p:sp>
        <p:nvSpPr>
          <p:cNvPr id="12" name="Text 10"/>
          <p:cNvSpPr txBox="1"/>
          <p:nvPr/>
        </p:nvSpPr>
        <p:spPr>
          <a:xfrm>
            <a:off x="3632191"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1.470</a:t>
            </a:r>
            <a:endParaRPr lang="en-US" sz="3600" dirty="0"/>
          </a:p>
        </p:txBody>
      </p:sp>
      <p:sp>
        <p:nvSpPr>
          <p:cNvPr id="13" name="Text 11"/>
          <p:cNvSpPr txBox="1"/>
          <p:nvPr/>
        </p:nvSpPr>
        <p:spPr>
          <a:xfrm>
            <a:off x="3632191"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BEDRIJVEN GESPROKEN</a:t>
            </a:r>
            <a:endParaRPr lang="en-US" sz="900" dirty="0"/>
          </a:p>
        </p:txBody>
      </p:sp>
      <p:sp>
        <p:nvSpPr>
          <p:cNvPr id="14" name="Text 12"/>
          <p:cNvSpPr txBox="1"/>
          <p:nvPr/>
        </p:nvSpPr>
        <p:spPr>
          <a:xfrm>
            <a:off x="3632191"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Van de 2.100 benaderde bedrijven kregen we bij zeven op de tien de juiste persoon aan de lijn.</a:t>
            </a:r>
            <a:endParaRPr lang="en-US" sz="950" dirty="0"/>
          </a:p>
        </p:txBody>
      </p:sp>
      <p:sp>
        <p:nvSpPr>
          <p:cNvPr id="15" name="Shape 13"/>
          <p:cNvSpPr/>
          <p:nvPr/>
        </p:nvSpPr>
        <p:spPr>
          <a:xfrm>
            <a:off x="6172185" y="2730493"/>
            <a:ext cx="2628893" cy="2222494"/>
          </a:xfrm>
          <a:prstGeom prst="roundRect">
            <a:avLst>
              <a:gd name="adj" fmla="val 4571"/>
            </a:avLst>
          </a:prstGeom>
          <a:solidFill>
            <a:srgbClr val="F8F4EB"/>
          </a:solidFill>
          <a:ln/>
        </p:spPr>
      </p:sp>
      <p:sp>
        <p:nvSpPr>
          <p:cNvPr id="16" name="Text 14"/>
          <p:cNvSpPr txBox="1"/>
          <p:nvPr/>
        </p:nvSpPr>
        <p:spPr>
          <a:xfrm>
            <a:off x="6413484"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61</a:t>
            </a:r>
            <a:endParaRPr lang="en-US" sz="3600" dirty="0"/>
          </a:p>
        </p:txBody>
      </p:sp>
      <p:sp>
        <p:nvSpPr>
          <p:cNvPr id="17" name="Text 15"/>
          <p:cNvSpPr txBox="1"/>
          <p:nvPr/>
        </p:nvSpPr>
        <p:spPr>
          <a:xfrm>
            <a:off x="6413484"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GEKWALIFICEERDE LEADS</a:t>
            </a:r>
            <a:endParaRPr lang="en-US" sz="900" dirty="0"/>
          </a:p>
        </p:txBody>
      </p:sp>
      <p:sp>
        <p:nvSpPr>
          <p:cNvPr id="18" name="Text 16"/>
          <p:cNvSpPr txBox="1"/>
          <p:nvPr/>
        </p:nvSpPr>
        <p:spPr>
          <a:xfrm>
            <a:off x="6413484"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16 tastingafspraken en 45 bedrijven die wilden proeven of bestellen.</a:t>
            </a:r>
            <a:endParaRPr lang="en-US" sz="950" dirty="0"/>
          </a:p>
        </p:txBody>
      </p:sp>
      <p:sp>
        <p:nvSpPr>
          <p:cNvPr id="19" name="Shape 17"/>
          <p:cNvSpPr/>
          <p:nvPr/>
        </p:nvSpPr>
        <p:spPr>
          <a:xfrm>
            <a:off x="8953478" y="2730493"/>
            <a:ext cx="2628893" cy="2222494"/>
          </a:xfrm>
          <a:prstGeom prst="roundRect">
            <a:avLst>
              <a:gd name="adj" fmla="val 4571"/>
            </a:avLst>
          </a:prstGeom>
          <a:solidFill>
            <a:srgbClr val="000000"/>
          </a:solidFill>
          <a:ln/>
        </p:spPr>
      </p:sp>
      <p:sp>
        <p:nvSpPr>
          <p:cNvPr id="20" name="Text 18"/>
          <p:cNvSpPr txBox="1"/>
          <p:nvPr/>
        </p:nvSpPr>
        <p:spPr>
          <a:xfrm>
            <a:off x="9194777" y="2997193"/>
            <a:ext cx="2146295" cy="507999"/>
          </a:xfrm>
          <a:prstGeom prst="rect">
            <a:avLst/>
          </a:prstGeom>
          <a:noFill/>
          <a:ln/>
        </p:spPr>
        <p:txBody>
          <a:bodyPr wrap="square" lIns="0" tIns="0" rIns="0" bIns="0" rtlCol="0" anchor="ctr"/>
          <a:lstStyle/>
          <a:p>
            <a:pPr indent="0" marL="0">
              <a:buNone/>
            </a:pPr>
            <a:r>
              <a:rPr lang="en-US" sz="3600" b="1" dirty="0">
                <a:solidFill>
                  <a:srgbClr val="38B6FF"/>
                </a:solidFill>
                <a:latin typeface="Arial" pitchFamily="34" charset="0"/>
                <a:ea typeface="Arial" pitchFamily="34" charset="-122"/>
                <a:cs typeface="Arial" pitchFamily="34" charset="-120"/>
              </a:rPr>
              <a:t>23</a:t>
            </a:r>
            <a:endParaRPr lang="en-US" sz="3600" dirty="0"/>
          </a:p>
        </p:txBody>
      </p:sp>
      <p:sp>
        <p:nvSpPr>
          <p:cNvPr id="21" name="Text 19"/>
          <p:cNvSpPr txBox="1"/>
          <p:nvPr/>
        </p:nvSpPr>
        <p:spPr>
          <a:xfrm>
            <a:off x="9194777"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TASTINGS INGEPLAND</a:t>
            </a:r>
            <a:endParaRPr lang="en-US" sz="900" dirty="0"/>
          </a:p>
        </p:txBody>
      </p:sp>
      <p:sp>
        <p:nvSpPr>
          <p:cNvPr id="22" name="Text 20"/>
          <p:cNvSpPr txBox="1"/>
          <p:nvPr/>
        </p:nvSpPr>
        <p:spPr>
          <a:xfrm>
            <a:off x="9194777"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Waarvan er 7 onder de overdrachten stonden. Samen 0,9 tasting per beldag.</a:t>
            </a:r>
            <a:endParaRPr lang="en-US" sz="950" dirty="0"/>
          </a:p>
        </p:txBody>
      </p:sp>
      <p:sp>
        <p:nvSpPr>
          <p:cNvPr id="23" name="Shape 21"/>
          <p:cNvSpPr/>
          <p:nvPr/>
        </p:nvSpPr>
        <p:spPr>
          <a:xfrm>
            <a:off x="609598" y="5854685"/>
            <a:ext cx="76200" cy="76200"/>
          </a:xfrm>
          <a:prstGeom prst="ellipse">
            <a:avLst/>
          </a:prstGeom>
          <a:solidFill>
            <a:srgbClr val="38B6FF"/>
          </a:solidFill>
          <a:ln/>
        </p:spPr>
      </p:sp>
      <p:sp>
        <p:nvSpPr>
          <p:cNvPr id="24" name="Text 22"/>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Uit die 2.629 pogingen komt het kengetal waar het voorstel op rust: 23,2 gekwalificeerde leads per duizend gesprekspogingen.</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6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BELLEN OP DE JUISTE MOMENTEN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Niet harder bellen, maar op de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juiste dagen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2285994"/>
          </a:xfrm>
          <a:prstGeom prst="roundRect">
            <a:avLst>
              <a:gd name="adj" fmla="val 4444"/>
            </a:avLst>
          </a:prstGeom>
          <a:solidFill>
            <a:srgbClr val="1B2130"/>
          </a:solidFill>
          <a:ln w="9525">
            <a:solidFill>
              <a:srgbClr val="3A4152"/>
            </a:solidFill>
            <a:prstDash val="solid"/>
          </a:ln>
        </p:spPr>
      </p:sp>
      <p:sp>
        <p:nvSpPr>
          <p:cNvPr id="8" name="Shape 6"/>
          <p:cNvSpPr/>
          <p:nvPr/>
        </p:nvSpPr>
        <p:spPr>
          <a:xfrm>
            <a:off x="825498" y="3022592"/>
            <a:ext cx="292099" cy="292099"/>
          </a:xfrm>
          <a:prstGeom prst="ellipse">
            <a:avLst/>
          </a:prstGeom>
          <a:ln w="15240">
            <a:solidFill>
              <a:srgbClr val="38B6FF"/>
            </a:solidFill>
            <a:prstDash val="solid"/>
          </a:ln>
        </p:spPr>
      </p:sp>
      <p:sp>
        <p:nvSpPr>
          <p:cNvPr id="9" name="Text 7"/>
          <p:cNvSpPr txBox="1"/>
          <p:nvPr/>
        </p:nvSpPr>
        <p:spPr>
          <a:xfrm>
            <a:off x="825498"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Alles is geteld</a:t>
            </a:r>
            <a:endParaRPr lang="en-US" sz="1150" dirty="0"/>
          </a:p>
        </p:txBody>
      </p:sp>
      <p:sp>
        <p:nvSpPr>
          <p:cNvPr id="11" name="Text 9"/>
          <p:cNvSpPr txBox="1"/>
          <p:nvPr/>
        </p:nvSpPr>
        <p:spPr>
          <a:xfrm>
            <a:off x="825498"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Van elke van de 2.629 pogingen ligt vast wanneer hij gevoerd is en wat hij opleverde. Per dag, per dagdeel en per soort bedrijf.</a:t>
            </a:r>
            <a:endParaRPr lang="en-US" sz="875" dirty="0"/>
          </a:p>
        </p:txBody>
      </p:sp>
      <p:sp>
        <p:nvSpPr>
          <p:cNvPr id="12" name="Shape 10"/>
          <p:cNvSpPr/>
          <p:nvPr/>
        </p:nvSpPr>
        <p:spPr>
          <a:xfrm>
            <a:off x="3390892" y="2793993"/>
            <a:ext cx="2628893" cy="2285994"/>
          </a:xfrm>
          <a:prstGeom prst="roundRect">
            <a:avLst>
              <a:gd name="adj" fmla="val 4444"/>
            </a:avLst>
          </a:prstGeom>
          <a:solidFill>
            <a:srgbClr val="1B2130"/>
          </a:solidFill>
          <a:ln w="9525">
            <a:solidFill>
              <a:srgbClr val="3A4152"/>
            </a:solidFill>
            <a:prstDash val="solid"/>
          </a:ln>
        </p:spPr>
      </p:sp>
      <p:sp>
        <p:nvSpPr>
          <p:cNvPr id="13" name="Shape 11"/>
          <p:cNvSpPr/>
          <p:nvPr/>
        </p:nvSpPr>
        <p:spPr>
          <a:xfrm>
            <a:off x="3606791" y="3022592"/>
            <a:ext cx="292099" cy="292099"/>
          </a:xfrm>
          <a:prstGeom prst="ellipse">
            <a:avLst/>
          </a:prstGeom>
          <a:ln w="15240">
            <a:solidFill>
              <a:srgbClr val="38B6FF"/>
            </a:solidFill>
            <a:prstDash val="solid"/>
          </a:ln>
        </p:spPr>
      </p:sp>
      <p:sp>
        <p:nvSpPr>
          <p:cNvPr id="14" name="Text 12"/>
          <p:cNvSpPr txBox="1"/>
          <p:nvPr/>
        </p:nvSpPr>
        <p:spPr>
          <a:xfrm>
            <a:off x="3606791"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's Ochtends zit de beslisser er</a:t>
            </a:r>
            <a:endParaRPr lang="en-US" sz="1150" dirty="0"/>
          </a:p>
        </p:txBody>
      </p:sp>
      <p:sp>
        <p:nvSpPr>
          <p:cNvPr id="16" name="Text 14"/>
          <p:cNvSpPr txBox="1"/>
          <p:nvPr/>
        </p:nvSpPr>
        <p:spPr>
          <a:xfrm>
            <a:off x="3606791"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Tussen 8 en 12 uur krijgen we 71,9 procent van de gebelde bedrijven te spreken. Na 15 uur zakt dat naar 54,2 procent.</a:t>
            </a:r>
            <a:endParaRPr lang="en-US" sz="875" dirty="0"/>
          </a:p>
        </p:txBody>
      </p:sp>
      <p:sp>
        <p:nvSpPr>
          <p:cNvPr id="17" name="Shape 15"/>
          <p:cNvSpPr/>
          <p:nvPr/>
        </p:nvSpPr>
        <p:spPr>
          <a:xfrm>
            <a:off x="6172185" y="2793993"/>
            <a:ext cx="2628893" cy="2285994"/>
          </a:xfrm>
          <a:prstGeom prst="roundRect">
            <a:avLst>
              <a:gd name="adj" fmla="val 4444"/>
            </a:avLst>
          </a:prstGeom>
          <a:solidFill>
            <a:srgbClr val="1B2130"/>
          </a:solidFill>
          <a:ln w="9525">
            <a:solidFill>
              <a:srgbClr val="3A4152"/>
            </a:solidFill>
            <a:prstDash val="solid"/>
          </a:ln>
        </p:spPr>
      </p:sp>
      <p:sp>
        <p:nvSpPr>
          <p:cNvPr id="18" name="Shape 16"/>
          <p:cNvSpPr/>
          <p:nvPr/>
        </p:nvSpPr>
        <p:spPr>
          <a:xfrm>
            <a:off x="6388084" y="3022592"/>
            <a:ext cx="292099" cy="292099"/>
          </a:xfrm>
          <a:prstGeom prst="ellipse">
            <a:avLst/>
          </a:prstGeom>
          <a:ln w="15240">
            <a:solidFill>
              <a:srgbClr val="38B6FF"/>
            </a:solidFill>
            <a:prstDash val="solid"/>
          </a:ln>
        </p:spPr>
      </p:sp>
      <p:sp>
        <p:nvSpPr>
          <p:cNvPr id="19" name="Text 17"/>
          <p:cNvSpPr txBox="1"/>
          <p:nvPr/>
        </p:nvSpPr>
        <p:spPr>
          <a:xfrm>
            <a:off x="6388084"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Ook de dag maakt verschil</a:t>
            </a:r>
            <a:endParaRPr lang="en-US" sz="1150" dirty="0"/>
          </a:p>
        </p:txBody>
      </p:sp>
      <p:sp>
        <p:nvSpPr>
          <p:cNvPr id="21" name="Text 19"/>
          <p:cNvSpPr txBox="1"/>
          <p:nvPr/>
        </p:nvSpPr>
        <p:spPr>
          <a:xfrm>
            <a:off x="6388084"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Woensdag levert de hoogste bereikbaarheid op met 71,8 procent, donderdag de laagste met 57,2 procent.</a:t>
            </a:r>
            <a:endParaRPr lang="en-US" sz="875" dirty="0"/>
          </a:p>
        </p:txBody>
      </p:sp>
      <p:sp>
        <p:nvSpPr>
          <p:cNvPr id="22" name="Shape 20"/>
          <p:cNvSpPr/>
          <p:nvPr/>
        </p:nvSpPr>
        <p:spPr>
          <a:xfrm>
            <a:off x="8953478" y="2793993"/>
            <a:ext cx="2628893" cy="2285994"/>
          </a:xfrm>
          <a:prstGeom prst="roundRect">
            <a:avLst>
              <a:gd name="adj" fmla="val 4444"/>
            </a:avLst>
          </a:prstGeom>
          <a:solidFill>
            <a:srgbClr val="1B2130"/>
          </a:solidFill>
          <a:ln w="15240">
            <a:solidFill>
              <a:srgbClr val="38B6FF"/>
            </a:solidFill>
            <a:prstDash val="solid"/>
          </a:ln>
        </p:spPr>
      </p:sp>
      <p:sp>
        <p:nvSpPr>
          <p:cNvPr id="23" name="Shape 21"/>
          <p:cNvSpPr/>
          <p:nvPr/>
        </p:nvSpPr>
        <p:spPr>
          <a:xfrm>
            <a:off x="9169377" y="3022592"/>
            <a:ext cx="292099" cy="292099"/>
          </a:xfrm>
          <a:prstGeom prst="ellipse">
            <a:avLst/>
          </a:prstGeom>
          <a:ln w="15240">
            <a:solidFill>
              <a:srgbClr val="38B6FF"/>
            </a:solidFill>
            <a:prstDash val="solid"/>
          </a:ln>
        </p:spPr>
      </p:sp>
      <p:sp>
        <p:nvSpPr>
          <p:cNvPr id="24" name="Text 22"/>
          <p:cNvSpPr txBox="1"/>
          <p:nvPr/>
        </p:nvSpPr>
        <p:spPr>
          <a:xfrm>
            <a:off x="9169377"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Beldagen op de beste momenten</a:t>
            </a:r>
            <a:endParaRPr lang="en-US" sz="1150" dirty="0"/>
          </a:p>
        </p:txBody>
      </p:sp>
      <p:sp>
        <p:nvSpPr>
          <p:cNvPr id="26" name="Text 24"/>
          <p:cNvSpPr txBox="1"/>
          <p:nvPr/>
        </p:nvSpPr>
        <p:spPr>
          <a:xfrm>
            <a:off x="9169377"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We plannen de beldagen op de dagen en dagdelen die in jullie eigen cijfers het hoogste scoren, en na elke periode kijken we of dat nog klopt.</a:t>
            </a:r>
            <a:endParaRPr lang="en-US" sz="875" dirty="0"/>
          </a:p>
        </p:txBody>
      </p:sp>
      <p:sp>
        <p:nvSpPr>
          <p:cNvPr id="27" name="Shape 25"/>
          <p:cNvSpPr/>
          <p:nvPr/>
        </p:nvSpPr>
        <p:spPr>
          <a:xfrm>
            <a:off x="609598" y="5854685"/>
            <a:ext cx="76200" cy="76200"/>
          </a:xfrm>
          <a:prstGeom prst="ellipse">
            <a:avLst/>
          </a:prstGeom>
          <a:solidFill>
            <a:srgbClr val="38B6FF"/>
          </a:solidFill>
          <a:ln/>
        </p:spPr>
      </p:sp>
      <p:sp>
        <p:nvSpPr>
          <p:cNvPr id="28" name="Text 26"/>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Per duizend pogingen levert de ochtend 26,2 leads op en het eind van de middag 15,1. Daar plannen we op.</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7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EEN GEKWALIFICEERDE LEAD NOEMEN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lead om de lead.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 eisen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3536941" cy="2476494"/>
          </a:xfrm>
          <a:prstGeom prst="roundRect">
            <a:avLst>
              <a:gd name="adj" fmla="val 4103"/>
            </a:avLst>
          </a:prstGeom>
          <a:solidFill>
            <a:srgbClr val="F8F4EB"/>
          </a:solidFill>
          <a:ln/>
        </p:spPr>
      </p:sp>
      <p:sp>
        <p:nvSpPr>
          <p:cNvPr id="8" name="Shape 6"/>
          <p:cNvSpPr/>
          <p:nvPr/>
        </p:nvSpPr>
        <p:spPr>
          <a:xfrm>
            <a:off x="914398" y="31241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09647" y="3219442"/>
            <a:ext cx="190500" cy="190500"/>
          </a:xfrm>
          <a:prstGeom prst="rect">
            <a:avLst/>
          </a:prstGeom>
        </p:spPr>
      </p:pic>
      <p:sp>
        <p:nvSpPr>
          <p:cNvPr id="10" name="Text 7"/>
          <p:cNvSpPr txBox="1"/>
          <p:nvPr/>
        </p:nvSpPr>
        <p:spPr>
          <a:xfrm>
            <a:off x="91439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Fit</a:t>
            </a:r>
            <a:endParaRPr lang="en-US" sz="1600" dirty="0"/>
          </a:p>
        </p:txBody>
      </p:sp>
      <p:sp>
        <p:nvSpPr>
          <p:cNvPr id="11" name="Text 8"/>
          <p:cNvSpPr txBox="1"/>
          <p:nvPr/>
        </p:nvSpPr>
        <p:spPr>
          <a:xfrm>
            <a:off x="91439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Het bedrijf past: branche, omvang en situatie voldoen aan de criteria die we samen hebben vastgelegd.</a:t>
            </a:r>
            <a:endParaRPr lang="en-US" sz="1050" dirty="0"/>
          </a:p>
        </p:txBody>
      </p:sp>
      <p:sp>
        <p:nvSpPr>
          <p:cNvPr id="12" name="Shape 9"/>
          <p:cNvSpPr/>
          <p:nvPr/>
        </p:nvSpPr>
        <p:spPr>
          <a:xfrm>
            <a:off x="4324339" y="2793993"/>
            <a:ext cx="3536941" cy="2476494"/>
          </a:xfrm>
          <a:prstGeom prst="roundRect">
            <a:avLst>
              <a:gd name="adj" fmla="val 4103"/>
            </a:avLst>
          </a:prstGeom>
          <a:solidFill>
            <a:srgbClr val="F8F4EB"/>
          </a:solidFill>
          <a:ln/>
        </p:spPr>
      </p:sp>
      <p:sp>
        <p:nvSpPr>
          <p:cNvPr id="13" name="Shape 10"/>
          <p:cNvSpPr/>
          <p:nvPr/>
        </p:nvSpPr>
        <p:spPr>
          <a:xfrm>
            <a:off x="4629138" y="31241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4724388" y="3219442"/>
            <a:ext cx="190500" cy="190500"/>
          </a:xfrm>
          <a:prstGeom prst="rect">
            <a:avLst/>
          </a:prstGeom>
        </p:spPr>
      </p:pic>
      <p:sp>
        <p:nvSpPr>
          <p:cNvPr id="15" name="Text 11"/>
          <p:cNvSpPr txBox="1"/>
          <p:nvPr/>
        </p:nvSpPr>
        <p:spPr>
          <a:xfrm>
            <a:off x="462913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Interesse</a:t>
            </a:r>
            <a:endParaRPr lang="en-US" sz="1600" dirty="0"/>
          </a:p>
        </p:txBody>
      </p:sp>
      <p:sp>
        <p:nvSpPr>
          <p:cNvPr id="16" name="Text 12"/>
          <p:cNvSpPr txBox="1"/>
          <p:nvPr/>
        </p:nvSpPr>
        <p:spPr>
          <a:xfrm>
            <a:off x="462913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prospect wil een tasting of wil bestellen. Er is een concrete aanleiding en die leggen wij vast in de overdracht.</a:t>
            </a:r>
            <a:endParaRPr lang="en-US" sz="1050" dirty="0"/>
          </a:p>
        </p:txBody>
      </p:sp>
      <p:sp>
        <p:nvSpPr>
          <p:cNvPr id="17" name="Shape 13"/>
          <p:cNvSpPr/>
          <p:nvPr/>
        </p:nvSpPr>
        <p:spPr>
          <a:xfrm>
            <a:off x="8039080" y="2793993"/>
            <a:ext cx="3536941" cy="2476494"/>
          </a:xfrm>
          <a:prstGeom prst="roundRect">
            <a:avLst>
              <a:gd name="adj" fmla="val 4103"/>
            </a:avLst>
          </a:prstGeom>
          <a:solidFill>
            <a:srgbClr val="F8F4EB"/>
          </a:solidFill>
          <a:ln/>
        </p:spPr>
      </p:sp>
      <p:sp>
        <p:nvSpPr>
          <p:cNvPr id="18" name="Shape 14"/>
          <p:cNvSpPr/>
          <p:nvPr/>
        </p:nvSpPr>
        <p:spPr>
          <a:xfrm>
            <a:off x="8343879" y="31241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8439129" y="3219442"/>
            <a:ext cx="190500" cy="190500"/>
          </a:xfrm>
          <a:prstGeom prst="rect">
            <a:avLst/>
          </a:prstGeom>
        </p:spPr>
      </p:pic>
      <p:sp>
        <p:nvSpPr>
          <p:cNvPr id="20" name="Text 15"/>
          <p:cNvSpPr txBox="1"/>
          <p:nvPr/>
        </p:nvSpPr>
        <p:spPr>
          <a:xfrm>
            <a:off x="8343879"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Beslisser</a:t>
            </a:r>
            <a:endParaRPr lang="en-US" sz="1600" dirty="0"/>
          </a:p>
        </p:txBody>
      </p:sp>
      <p:sp>
        <p:nvSpPr>
          <p:cNvPr id="21" name="Text 16"/>
          <p:cNvSpPr txBox="1"/>
          <p:nvPr/>
        </p:nvSpPr>
        <p:spPr>
          <a:xfrm>
            <a:off x="8343879"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lead staat op naam van iemand die over de koffie gaat of daar direct invloed op heeft.</a:t>
            </a:r>
            <a:endParaRPr lang="en-US" sz="1050" dirty="0"/>
          </a:p>
        </p:txBody>
      </p:sp>
      <p:sp>
        <p:nvSpPr>
          <p:cNvPr id="22" name="Shape 17"/>
          <p:cNvSpPr/>
          <p:nvPr/>
        </p:nvSpPr>
        <p:spPr>
          <a:xfrm>
            <a:off x="609598" y="5854685"/>
            <a:ext cx="76200" cy="76200"/>
          </a:xfrm>
          <a:prstGeom prst="ellipse">
            <a:avLst/>
          </a:prstGeom>
          <a:solidFill>
            <a:srgbClr val="38B6FF"/>
          </a:solidFill>
          <a:ln/>
        </p:spPr>
      </p:sp>
      <p:sp>
        <p:nvSpPr>
          <p:cNvPr id="23" name="Text 18"/>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Valt een lead buiten deze eisen, dan telt hij niet mee. Zo blijft het aantal eerlijk en de kwaliteit hoog.</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8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NAAST DE LEADS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Elke beldag zet de naam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Moyee</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in de markt.</a:t>
            </a:r>
            <a:endParaRPr lang="en-US" sz="3200" dirty="0"/>
          </a:p>
        </p:txBody>
      </p:sp>
      <p:sp>
        <p:nvSpPr>
          <p:cNvPr id="7" name="Shape 5"/>
          <p:cNvSpPr/>
          <p:nvPr/>
        </p:nvSpPr>
        <p:spPr>
          <a:xfrm>
            <a:off x="609598" y="2793993"/>
            <a:ext cx="5397487" cy="1530346"/>
          </a:xfrm>
          <a:prstGeom prst="roundRect">
            <a:avLst>
              <a:gd name="adj" fmla="val 6639"/>
            </a:avLst>
          </a:prstGeom>
          <a:solidFill>
            <a:srgbClr val="F8F4EB"/>
          </a:solidFill>
          <a:ln/>
        </p:spPr>
      </p:sp>
      <p:sp>
        <p:nvSpPr>
          <p:cNvPr id="8" name="Shape 6"/>
          <p:cNvSpPr/>
          <p:nvPr/>
        </p:nvSpPr>
        <p:spPr>
          <a:xfrm>
            <a:off x="939798" y="30987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35047" y="3194042"/>
            <a:ext cx="190500" cy="190500"/>
          </a:xfrm>
          <a:prstGeom prst="rect">
            <a:avLst/>
          </a:prstGeom>
        </p:spPr>
      </p:pic>
      <p:sp>
        <p:nvSpPr>
          <p:cNvPr id="10" name="Text 7"/>
          <p:cNvSpPr txBox="1"/>
          <p:nvPr/>
        </p:nvSpPr>
        <p:spPr>
          <a:xfrm>
            <a:off x="1549396"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Bereik dat blijft staan</a:t>
            </a:r>
            <a:endParaRPr lang="en-US" sz="1450" dirty="0"/>
          </a:p>
        </p:txBody>
      </p:sp>
      <p:sp>
        <p:nvSpPr>
          <p:cNvPr id="11" name="Text 8"/>
          <p:cNvSpPr txBox="1"/>
          <p:nvPr/>
        </p:nvSpPr>
        <p:spPr>
          <a:xfrm>
            <a:off x="1549396"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In een half jaar hebben we 2.100 bedrijven benaderd en 2.629 keer gebeld. Dat is nog maar een fractie van de markt, en elk gesprek is ook een moment waarop iemand de naam Moyee hoort.</a:t>
            </a:r>
            <a:endParaRPr lang="en-US" sz="1050" dirty="0"/>
          </a:p>
        </p:txBody>
      </p:sp>
      <p:sp>
        <p:nvSpPr>
          <p:cNvPr id="12" name="Shape 9"/>
          <p:cNvSpPr/>
          <p:nvPr/>
        </p:nvSpPr>
        <p:spPr>
          <a:xfrm>
            <a:off x="6184885" y="2793993"/>
            <a:ext cx="5397487" cy="1530346"/>
          </a:xfrm>
          <a:prstGeom prst="roundRect">
            <a:avLst>
              <a:gd name="adj" fmla="val 6639"/>
            </a:avLst>
          </a:prstGeom>
          <a:solidFill>
            <a:srgbClr val="F8F4EB"/>
          </a:solidFill>
          <a:ln/>
        </p:spPr>
      </p:sp>
      <p:sp>
        <p:nvSpPr>
          <p:cNvPr id="13" name="Shape 10"/>
          <p:cNvSpPr/>
          <p:nvPr/>
        </p:nvSpPr>
        <p:spPr>
          <a:xfrm>
            <a:off x="6515084" y="30987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6610333" y="3194042"/>
            <a:ext cx="190500" cy="190500"/>
          </a:xfrm>
          <a:prstGeom prst="rect">
            <a:avLst/>
          </a:prstGeom>
        </p:spPr>
      </p:pic>
      <p:sp>
        <p:nvSpPr>
          <p:cNvPr id="15" name="Text 11"/>
          <p:cNvSpPr txBox="1"/>
          <p:nvPr/>
        </p:nvSpPr>
        <p:spPr>
          <a:xfrm>
            <a:off x="7124682"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Een verhaal dat blijft hangen</a:t>
            </a:r>
            <a:endParaRPr lang="en-US" sz="1450" dirty="0"/>
          </a:p>
        </p:txBody>
      </p:sp>
      <p:sp>
        <p:nvSpPr>
          <p:cNvPr id="16" name="Text 12"/>
          <p:cNvSpPr txBox="1"/>
          <p:nvPr/>
        </p:nvSpPr>
        <p:spPr>
          <a:xfrm>
            <a:off x="7124682"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Koffie uit een eerlijke keten is geen standaard product. Dat onthouden mensen, ook als het nu niet uitkomt.</a:t>
            </a:r>
            <a:endParaRPr lang="en-US" sz="1050" dirty="0"/>
          </a:p>
        </p:txBody>
      </p:sp>
      <p:sp>
        <p:nvSpPr>
          <p:cNvPr id="17" name="Shape 13"/>
          <p:cNvSpPr/>
          <p:nvPr/>
        </p:nvSpPr>
        <p:spPr>
          <a:xfrm>
            <a:off x="609598" y="4502139"/>
            <a:ext cx="5397487" cy="1530346"/>
          </a:xfrm>
          <a:prstGeom prst="roundRect">
            <a:avLst>
              <a:gd name="adj" fmla="val 6639"/>
            </a:avLst>
          </a:prstGeom>
          <a:solidFill>
            <a:srgbClr val="F8F4EB"/>
          </a:solidFill>
          <a:ln/>
        </p:spPr>
      </p:sp>
      <p:sp>
        <p:nvSpPr>
          <p:cNvPr id="18" name="Shape 14"/>
          <p:cNvSpPr/>
          <p:nvPr/>
        </p:nvSpPr>
        <p:spPr>
          <a:xfrm>
            <a:off x="939798" y="4806938"/>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1035047" y="4902188"/>
            <a:ext cx="190500" cy="190500"/>
          </a:xfrm>
          <a:prstGeom prst="rect">
            <a:avLst/>
          </a:prstGeom>
        </p:spPr>
      </p:pic>
      <p:sp>
        <p:nvSpPr>
          <p:cNvPr id="20" name="Text 15"/>
          <p:cNvSpPr txBox="1"/>
          <p:nvPr/>
        </p:nvSpPr>
        <p:spPr>
          <a:xfrm>
            <a:off x="1549396"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Een nee van nu is later een ja</a:t>
            </a:r>
            <a:endParaRPr lang="en-US" sz="1450" dirty="0"/>
          </a:p>
        </p:txBody>
      </p:sp>
      <p:sp>
        <p:nvSpPr>
          <p:cNvPr id="21" name="Text 16"/>
          <p:cNvSpPr txBox="1"/>
          <p:nvPr/>
        </p:nvSpPr>
        <p:spPr>
          <a:xfrm>
            <a:off x="1549396"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Bedrijven die nu geen ruimte hebben, weten wel wie jullie zijn. Komt er later een moment, dan is de naam er al.</a:t>
            </a:r>
            <a:endParaRPr lang="en-US" sz="1050" dirty="0"/>
          </a:p>
        </p:txBody>
      </p:sp>
      <p:sp>
        <p:nvSpPr>
          <p:cNvPr id="22" name="Shape 17"/>
          <p:cNvSpPr/>
          <p:nvPr/>
        </p:nvSpPr>
        <p:spPr>
          <a:xfrm>
            <a:off x="6184885" y="4502139"/>
            <a:ext cx="5397487" cy="1530346"/>
          </a:xfrm>
          <a:prstGeom prst="roundRect">
            <a:avLst>
              <a:gd name="adj" fmla="val 6639"/>
            </a:avLst>
          </a:prstGeom>
          <a:solidFill>
            <a:srgbClr val="000000"/>
          </a:solidFill>
          <a:ln/>
        </p:spPr>
      </p:sp>
      <p:sp>
        <p:nvSpPr>
          <p:cNvPr id="23" name="Shape 18"/>
          <p:cNvSpPr/>
          <p:nvPr/>
        </p:nvSpPr>
        <p:spPr>
          <a:xfrm>
            <a:off x="6515084" y="4806938"/>
            <a:ext cx="380999" cy="380999"/>
          </a:xfrm>
          <a:prstGeom prst="roundRect">
            <a:avLst>
              <a:gd name="adj" fmla="val 23333"/>
            </a:avLst>
          </a:prstGeom>
          <a:solidFill>
            <a:srgbClr val="DDEBF3"/>
          </a:solidFill>
          <a:ln/>
        </p:spPr>
      </p:sp>
      <p:pic>
        <p:nvPicPr>
          <p:cNvPr id="24" name="Image 3" descr="preencoded.png">    </p:cNvPr>
          <p:cNvPicPr>
            <a:picLocks noChangeAspect="1"/>
          </p:cNvPicPr>
          <p:nvPr/>
        </p:nvPicPr>
        <p:blipFill>
          <a:blip r:embed="rId4"/>
          <a:stretch>
            <a:fillRect/>
          </a:stretch>
        </p:blipFill>
        <p:spPr>
          <a:xfrm>
            <a:off x="6610333" y="4902188"/>
            <a:ext cx="190500" cy="190500"/>
          </a:xfrm>
          <a:prstGeom prst="rect">
            <a:avLst/>
          </a:prstGeom>
        </p:spPr>
      </p:pic>
      <p:sp>
        <p:nvSpPr>
          <p:cNvPr id="25" name="Text 19"/>
          <p:cNvSpPr txBox="1"/>
          <p:nvPr/>
        </p:nvSpPr>
        <p:spPr>
          <a:xfrm>
            <a:off x="7124682" y="4781538"/>
            <a:ext cx="4127490" cy="2793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De tasting als opening</a:t>
            </a:r>
            <a:endParaRPr lang="en-US" sz="1450" dirty="0"/>
          </a:p>
        </p:txBody>
      </p:sp>
      <p:sp>
        <p:nvSpPr>
          <p:cNvPr id="26" name="Text 20"/>
          <p:cNvSpPr txBox="1"/>
          <p:nvPr/>
        </p:nvSpPr>
        <p:spPr>
          <a:xfrm>
            <a:off x="7124682"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C2C8D2"/>
                </a:solidFill>
                <a:latin typeface="Arial" pitchFamily="34" charset="0"/>
                <a:ea typeface="Arial" pitchFamily="34" charset="-122"/>
                <a:cs typeface="Arial" pitchFamily="34" charset="-120"/>
              </a:rPr>
              <a:t>Gemiddeld één tasting per beldag. Dat is het moment waarop Moyee zichzelf verkoopt, en Puck doet ze straks zelf.</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9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ER NOG KLAARSTAAT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De pijplijn is nog lang niet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leeg</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30493"/>
            <a:ext cx="2628893" cy="2222494"/>
          </a:xfrm>
          <a:prstGeom prst="roundRect">
            <a:avLst>
              <a:gd name="adj" fmla="val 4571"/>
            </a:avLst>
          </a:prstGeom>
          <a:solidFill>
            <a:srgbClr val="F8F4EB"/>
          </a:solidFill>
          <a:ln/>
        </p:spPr>
      </p:sp>
      <p:sp>
        <p:nvSpPr>
          <p:cNvPr id="8" name="Text 6"/>
          <p:cNvSpPr txBox="1"/>
          <p:nvPr/>
        </p:nvSpPr>
        <p:spPr>
          <a:xfrm>
            <a:off x="850898"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217</a:t>
            </a:r>
            <a:endParaRPr lang="en-US" sz="3600" dirty="0"/>
          </a:p>
        </p:txBody>
      </p:sp>
      <p:sp>
        <p:nvSpPr>
          <p:cNvPr id="9" name="Text 7"/>
          <p:cNvSpPr txBox="1"/>
          <p:nvPr/>
        </p:nvSpPr>
        <p:spPr>
          <a:xfrm>
            <a:off x="850898"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WARME CONTACTEN OPEN</a:t>
            </a:r>
            <a:endParaRPr lang="en-US" sz="900" dirty="0"/>
          </a:p>
        </p:txBody>
      </p:sp>
      <p:sp>
        <p:nvSpPr>
          <p:cNvPr id="10" name="Text 8"/>
          <p:cNvSpPr txBox="1"/>
          <p:nvPr/>
        </p:nvSpPr>
        <p:spPr>
          <a:xfrm>
            <a:off x="850898"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148 terugbelafspraken en 68 bedrijven die informatie kregen.</a:t>
            </a:r>
            <a:endParaRPr lang="en-US" sz="950" dirty="0"/>
          </a:p>
        </p:txBody>
      </p:sp>
      <p:sp>
        <p:nvSpPr>
          <p:cNvPr id="11" name="Shape 9"/>
          <p:cNvSpPr/>
          <p:nvPr/>
        </p:nvSpPr>
        <p:spPr>
          <a:xfrm>
            <a:off x="3390892" y="2730493"/>
            <a:ext cx="2628893" cy="2222494"/>
          </a:xfrm>
          <a:prstGeom prst="roundRect">
            <a:avLst>
              <a:gd name="adj" fmla="val 4571"/>
            </a:avLst>
          </a:prstGeom>
          <a:solidFill>
            <a:srgbClr val="F8F4EB"/>
          </a:solidFill>
          <a:ln/>
        </p:spPr>
      </p:sp>
      <p:sp>
        <p:nvSpPr>
          <p:cNvPr id="12" name="Text 10"/>
          <p:cNvSpPr txBox="1"/>
          <p:nvPr/>
        </p:nvSpPr>
        <p:spPr>
          <a:xfrm>
            <a:off x="3632191"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235</a:t>
            </a:r>
            <a:endParaRPr lang="en-US" sz="3600" dirty="0"/>
          </a:p>
        </p:txBody>
      </p:sp>
      <p:sp>
        <p:nvSpPr>
          <p:cNvPr id="13" name="Text 11"/>
          <p:cNvSpPr txBox="1"/>
          <p:nvPr/>
        </p:nvSpPr>
        <p:spPr>
          <a:xfrm>
            <a:off x="3632191"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ZITTEN AAN EEN CONTRACT</a:t>
            </a:r>
            <a:endParaRPr lang="en-US" sz="900" dirty="0"/>
          </a:p>
        </p:txBody>
      </p:sp>
      <p:sp>
        <p:nvSpPr>
          <p:cNvPr id="14" name="Text 12"/>
          <p:cNvSpPr txBox="1"/>
          <p:nvPr/>
        </p:nvSpPr>
        <p:spPr>
          <a:xfrm>
            <a:off x="3632191"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Die zijn nu voorzien, maar hun contract loopt een keer af. Wij houden ze vast.</a:t>
            </a:r>
            <a:endParaRPr lang="en-US" sz="950" dirty="0"/>
          </a:p>
        </p:txBody>
      </p:sp>
      <p:sp>
        <p:nvSpPr>
          <p:cNvPr id="15" name="Shape 13"/>
          <p:cNvSpPr/>
          <p:nvPr/>
        </p:nvSpPr>
        <p:spPr>
          <a:xfrm>
            <a:off x="6172185" y="2730493"/>
            <a:ext cx="2628893" cy="2222494"/>
          </a:xfrm>
          <a:prstGeom prst="roundRect">
            <a:avLst>
              <a:gd name="adj" fmla="val 4571"/>
            </a:avLst>
          </a:prstGeom>
          <a:solidFill>
            <a:srgbClr val="F8F4EB"/>
          </a:solidFill>
          <a:ln/>
        </p:spPr>
      </p:sp>
      <p:sp>
        <p:nvSpPr>
          <p:cNvPr id="16" name="Text 14"/>
          <p:cNvSpPr txBox="1"/>
          <p:nvPr/>
        </p:nvSpPr>
        <p:spPr>
          <a:xfrm>
            <a:off x="6413484"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372</a:t>
            </a:r>
            <a:endParaRPr lang="en-US" sz="3600" dirty="0"/>
          </a:p>
        </p:txBody>
      </p:sp>
      <p:sp>
        <p:nvSpPr>
          <p:cNvPr id="17" name="Text 15"/>
          <p:cNvSpPr txBox="1"/>
          <p:nvPr/>
        </p:nvSpPr>
        <p:spPr>
          <a:xfrm>
            <a:off x="6413484"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NOG NIET BEREIKT</a:t>
            </a:r>
            <a:endParaRPr lang="en-US" sz="900" dirty="0"/>
          </a:p>
        </p:txBody>
      </p:sp>
      <p:sp>
        <p:nvSpPr>
          <p:cNvPr id="18" name="Text 16"/>
          <p:cNvSpPr txBox="1"/>
          <p:nvPr/>
        </p:nvSpPr>
        <p:spPr>
          <a:xfrm>
            <a:off x="6413484"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Wel benaderd, nog geen contact gehad. Daar is nog volledige winst te halen.</a:t>
            </a:r>
            <a:endParaRPr lang="en-US" sz="950" dirty="0"/>
          </a:p>
        </p:txBody>
      </p:sp>
      <p:sp>
        <p:nvSpPr>
          <p:cNvPr id="19" name="Shape 17"/>
          <p:cNvSpPr/>
          <p:nvPr/>
        </p:nvSpPr>
        <p:spPr>
          <a:xfrm>
            <a:off x="8953478" y="2730493"/>
            <a:ext cx="2628893" cy="2222494"/>
          </a:xfrm>
          <a:prstGeom prst="roundRect">
            <a:avLst>
              <a:gd name="adj" fmla="val 4571"/>
            </a:avLst>
          </a:prstGeom>
          <a:solidFill>
            <a:srgbClr val="000000"/>
          </a:solidFill>
          <a:ln/>
        </p:spPr>
      </p:sp>
      <p:sp>
        <p:nvSpPr>
          <p:cNvPr id="20" name="Text 18"/>
          <p:cNvSpPr txBox="1"/>
          <p:nvPr/>
        </p:nvSpPr>
        <p:spPr>
          <a:xfrm>
            <a:off x="9194777" y="2997193"/>
            <a:ext cx="2146295" cy="507999"/>
          </a:xfrm>
          <a:prstGeom prst="rect">
            <a:avLst/>
          </a:prstGeom>
          <a:noFill/>
          <a:ln/>
        </p:spPr>
        <p:txBody>
          <a:bodyPr wrap="square" lIns="0" tIns="0" rIns="0" bIns="0" rtlCol="0" anchor="ctr"/>
          <a:lstStyle/>
          <a:p>
            <a:pPr indent="0" marL="0">
              <a:buNone/>
            </a:pPr>
            <a:r>
              <a:rPr lang="en-US" sz="3600" b="1" dirty="0">
                <a:solidFill>
                  <a:srgbClr val="38B6FF"/>
                </a:solidFill>
                <a:latin typeface="Arial" pitchFamily="34" charset="0"/>
                <a:ea typeface="Arial" pitchFamily="34" charset="-122"/>
                <a:cs typeface="Arial" pitchFamily="34" charset="-120"/>
              </a:rPr>
              <a:t>2.100</a:t>
            </a:r>
            <a:endParaRPr lang="en-US" sz="3600" dirty="0"/>
          </a:p>
        </p:txBody>
      </p:sp>
      <p:sp>
        <p:nvSpPr>
          <p:cNvPr id="21" name="Text 19"/>
          <p:cNvSpPr txBox="1"/>
          <p:nvPr/>
        </p:nvSpPr>
        <p:spPr>
          <a:xfrm>
            <a:off x="9194777"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BEDRIJVEN BENADERD</a:t>
            </a:r>
            <a:endParaRPr lang="en-US" sz="900" dirty="0"/>
          </a:p>
        </p:txBody>
      </p:sp>
      <p:sp>
        <p:nvSpPr>
          <p:cNvPr id="22" name="Text 20"/>
          <p:cNvSpPr txBox="1"/>
          <p:nvPr/>
        </p:nvSpPr>
        <p:spPr>
          <a:xfrm>
            <a:off x="9194777"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En dat is nog maar een fractie van de markt. Er kan hier nog jaren op gebeld worden.</a:t>
            </a:r>
            <a:endParaRPr lang="en-US" sz="950" dirty="0"/>
          </a:p>
        </p:txBody>
      </p:sp>
      <p:sp>
        <p:nvSpPr>
          <p:cNvPr id="23" name="Shape 21"/>
          <p:cNvSpPr/>
          <p:nvPr/>
        </p:nvSpPr>
        <p:spPr>
          <a:xfrm>
            <a:off x="609598" y="5854685"/>
            <a:ext cx="76200" cy="76200"/>
          </a:xfrm>
          <a:prstGeom prst="ellipse">
            <a:avLst/>
          </a:prstGeom>
          <a:solidFill>
            <a:srgbClr val="38B6FF"/>
          </a:solidFill>
          <a:ln/>
        </p:spPr>
      </p:sp>
      <p:sp>
        <p:nvSpPr>
          <p:cNvPr id="24" name="Text 22"/>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Elke periode die we bellen groeit deze lijst mee. Opschalen betekent dus ook sneller terug bij de bedrijven die er al in zitten.</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10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HET VOORSTEL</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Vaste beldagen per vier weken,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één dagprijs</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666993"/>
            <a:ext cx="10972773" cy="2355844"/>
          </a:xfrm>
          <a:prstGeom prst="roundRect">
            <a:avLst>
              <a:gd name="adj" fmla="val 4313"/>
            </a:avLst>
          </a:prstGeom>
          <a:ln w="9525">
            <a:solidFill>
              <a:srgbClr val="3A4152"/>
            </a:solidFill>
            <a:prstDash val="solid"/>
          </a:ln>
        </p:spPr>
      </p:sp>
      <p:sp>
        <p:nvSpPr>
          <p:cNvPr id="8" name="Text 6"/>
          <p:cNvSpPr txBox="1"/>
          <p:nvPr/>
        </p:nvSpPr>
        <p:spPr>
          <a:xfrm>
            <a:off x="888998" y="2666993"/>
            <a:ext cx="2920993"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BELDAGEN PER 4 WEKEN</a:t>
            </a:r>
            <a:endParaRPr lang="en-US" sz="800" dirty="0"/>
          </a:p>
        </p:txBody>
      </p:sp>
      <p:sp>
        <p:nvSpPr>
          <p:cNvPr id="9" name="Text 7"/>
          <p:cNvSpPr txBox="1"/>
          <p:nvPr/>
        </p:nvSpPr>
        <p:spPr>
          <a:xfrm>
            <a:off x="3886190" y="2666993"/>
            <a:ext cx="23494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PRIJS PER BELDAG</a:t>
            </a:r>
            <a:endParaRPr lang="en-US" sz="800" dirty="0"/>
          </a:p>
        </p:txBody>
      </p:sp>
      <p:sp>
        <p:nvSpPr>
          <p:cNvPr id="10" name="Text 8"/>
          <p:cNvSpPr txBox="1"/>
          <p:nvPr/>
        </p:nvSpPr>
        <p:spPr>
          <a:xfrm>
            <a:off x="6324584" y="2666993"/>
            <a:ext cx="23494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PER 4 WEKEN</a:t>
            </a:r>
            <a:endParaRPr lang="en-US" sz="800" dirty="0"/>
          </a:p>
        </p:txBody>
      </p:sp>
      <p:sp>
        <p:nvSpPr>
          <p:cNvPr id="11" name="Text 9"/>
          <p:cNvSpPr txBox="1"/>
          <p:nvPr/>
        </p:nvSpPr>
        <p:spPr>
          <a:xfrm>
            <a:off x="8737578" y="2666993"/>
            <a:ext cx="25399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VERWACHTE LEADS</a:t>
            </a:r>
            <a:endParaRPr lang="en-US" sz="800" dirty="0"/>
          </a:p>
        </p:txBody>
      </p:sp>
      <p:sp>
        <p:nvSpPr>
          <p:cNvPr id="12" name="Shape 10"/>
          <p:cNvSpPr/>
          <p:nvPr/>
        </p:nvSpPr>
        <p:spPr>
          <a:xfrm>
            <a:off x="609598" y="3136892"/>
            <a:ext cx="10972773" cy="0"/>
          </a:xfrm>
          <a:prstGeom prst="line">
            <a:avLst/>
          </a:prstGeom>
          <a:noFill/>
          <a:ln w="9525">
            <a:solidFill>
              <a:srgbClr val="3A4152"/>
            </a:solidFill>
            <a:prstDash val="solid"/>
          </a:ln>
        </p:spPr>
      </p:sp>
      <p:sp>
        <p:nvSpPr>
          <p:cNvPr id="13" name="Text 11"/>
          <p:cNvSpPr txBox="1"/>
          <p:nvPr/>
        </p:nvSpPr>
        <p:spPr>
          <a:xfrm>
            <a:off x="888998" y="3136892"/>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4 beldagen</a:t>
            </a:r>
            <a:endParaRPr lang="en-US" sz="1250" dirty="0"/>
          </a:p>
        </p:txBody>
      </p:sp>
      <p:sp>
        <p:nvSpPr>
          <p:cNvPr id="14" name="Text 12"/>
          <p:cNvSpPr txBox="1"/>
          <p:nvPr/>
        </p:nvSpPr>
        <p:spPr>
          <a:xfrm>
            <a:off x="3886190" y="3136892"/>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€ 600</a:t>
            </a:r>
            <a:endParaRPr lang="en-US" sz="1250" dirty="0"/>
          </a:p>
        </p:txBody>
      </p:sp>
      <p:sp>
        <p:nvSpPr>
          <p:cNvPr id="15" name="Text 13"/>
          <p:cNvSpPr txBox="1"/>
          <p:nvPr/>
        </p:nvSpPr>
        <p:spPr>
          <a:xfrm>
            <a:off x="6324584" y="3136892"/>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€ 2.400</a:t>
            </a:r>
            <a:endParaRPr lang="en-US" sz="1250" dirty="0"/>
          </a:p>
        </p:txBody>
      </p:sp>
      <p:sp>
        <p:nvSpPr>
          <p:cNvPr id="16" name="Text 14"/>
          <p:cNvSpPr txBox="1"/>
          <p:nvPr/>
        </p:nvSpPr>
        <p:spPr>
          <a:xfrm>
            <a:off x="8737578" y="3136892"/>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9 leads</a:t>
            </a:r>
            <a:endParaRPr lang="en-US" sz="1250" dirty="0"/>
          </a:p>
        </p:txBody>
      </p:sp>
      <p:sp>
        <p:nvSpPr>
          <p:cNvPr id="17" name="Shape 15"/>
          <p:cNvSpPr/>
          <p:nvPr/>
        </p:nvSpPr>
        <p:spPr>
          <a:xfrm>
            <a:off x="609598" y="3765541"/>
            <a:ext cx="10972773" cy="0"/>
          </a:xfrm>
          <a:prstGeom prst="line">
            <a:avLst/>
          </a:prstGeom>
          <a:noFill/>
          <a:ln w="9525">
            <a:solidFill>
              <a:srgbClr val="3A4152"/>
            </a:solidFill>
            <a:prstDash val="solid"/>
          </a:ln>
        </p:spPr>
      </p:sp>
      <p:sp>
        <p:nvSpPr>
          <p:cNvPr id="18" name="Text 16"/>
          <p:cNvSpPr txBox="1"/>
          <p:nvPr/>
        </p:nvSpPr>
        <p:spPr>
          <a:xfrm>
            <a:off x="888998" y="3765541"/>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5 tot 7 beldagen</a:t>
            </a:r>
            <a:endParaRPr lang="en-US" sz="1250" dirty="0"/>
          </a:p>
        </p:txBody>
      </p:sp>
      <p:sp>
        <p:nvSpPr>
          <p:cNvPr id="19" name="Text 17"/>
          <p:cNvSpPr txBox="1"/>
          <p:nvPr/>
        </p:nvSpPr>
        <p:spPr>
          <a:xfrm>
            <a:off x="3886190" y="3765541"/>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€ 550</a:t>
            </a:r>
            <a:endParaRPr lang="en-US" sz="1250" dirty="0"/>
          </a:p>
        </p:txBody>
      </p:sp>
      <p:sp>
        <p:nvSpPr>
          <p:cNvPr id="20" name="Text 18"/>
          <p:cNvSpPr txBox="1"/>
          <p:nvPr/>
        </p:nvSpPr>
        <p:spPr>
          <a:xfrm>
            <a:off x="6324584" y="3765541"/>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€ 2.750 tot € 3.850</a:t>
            </a:r>
            <a:endParaRPr lang="en-US" sz="1250" dirty="0"/>
          </a:p>
        </p:txBody>
      </p:sp>
      <p:sp>
        <p:nvSpPr>
          <p:cNvPr id="21" name="Text 19"/>
          <p:cNvSpPr txBox="1"/>
          <p:nvPr/>
        </p:nvSpPr>
        <p:spPr>
          <a:xfrm>
            <a:off x="8737578" y="3765541"/>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12 tot 16 leads</a:t>
            </a:r>
            <a:endParaRPr lang="en-US" sz="1250" dirty="0"/>
          </a:p>
        </p:txBody>
      </p:sp>
      <p:sp>
        <p:nvSpPr>
          <p:cNvPr id="22" name="Shape 20"/>
          <p:cNvSpPr/>
          <p:nvPr/>
        </p:nvSpPr>
        <p:spPr>
          <a:xfrm>
            <a:off x="615948" y="4394189"/>
            <a:ext cx="10960073" cy="628648"/>
          </a:xfrm>
          <a:prstGeom prst="rect">
            <a:avLst/>
          </a:prstGeom>
          <a:solidFill>
            <a:srgbClr val="38B6FF">
              <a:alpha val="11000"/>
            </a:srgbClr>
          </a:solidFill>
          <a:ln/>
        </p:spPr>
      </p:sp>
      <p:sp>
        <p:nvSpPr>
          <p:cNvPr id="23" name="Shape 21"/>
          <p:cNvSpPr/>
          <p:nvPr/>
        </p:nvSpPr>
        <p:spPr>
          <a:xfrm>
            <a:off x="609598" y="4394189"/>
            <a:ext cx="10972773" cy="0"/>
          </a:xfrm>
          <a:prstGeom prst="line">
            <a:avLst/>
          </a:prstGeom>
          <a:noFill/>
          <a:ln w="9525">
            <a:solidFill>
              <a:srgbClr val="3A4152"/>
            </a:solidFill>
            <a:prstDash val="solid"/>
          </a:ln>
        </p:spPr>
      </p:sp>
      <p:sp>
        <p:nvSpPr>
          <p:cNvPr id="24" name="Text 22"/>
          <p:cNvSpPr txBox="1"/>
          <p:nvPr/>
        </p:nvSpPr>
        <p:spPr>
          <a:xfrm>
            <a:off x="888998" y="4394189"/>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8 beldagen of meer</a:t>
            </a:r>
            <a:pPr indent="0" marL="0">
              <a:buNone/>
            </a:pPr>
            <a:r>
              <a:rPr lang="en-US" sz="1000" i="1" dirty="0">
                <a:solidFill>
                  <a:srgbClr val="38B6FF"/>
                </a:solidFill>
                <a:latin typeface="Georgia" pitchFamily="34" charset="0"/>
                <a:ea typeface="Georgia" pitchFamily="34" charset="-122"/>
                <a:cs typeface="Georgia" pitchFamily="34" charset="-120"/>
              </a:rPr>
              <a:t>   ons advies</a:t>
            </a:r>
            <a:endParaRPr lang="en-US" sz="1250" dirty="0"/>
          </a:p>
        </p:txBody>
      </p:sp>
      <p:sp>
        <p:nvSpPr>
          <p:cNvPr id="25" name="Text 23"/>
          <p:cNvSpPr txBox="1"/>
          <p:nvPr/>
        </p:nvSpPr>
        <p:spPr>
          <a:xfrm>
            <a:off x="3886190" y="4394189"/>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€ 500</a:t>
            </a:r>
            <a:endParaRPr lang="en-US" sz="1250" dirty="0"/>
          </a:p>
        </p:txBody>
      </p:sp>
      <p:sp>
        <p:nvSpPr>
          <p:cNvPr id="26" name="Text 24"/>
          <p:cNvSpPr txBox="1"/>
          <p:nvPr/>
        </p:nvSpPr>
        <p:spPr>
          <a:xfrm>
            <a:off x="6324584" y="4394189"/>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vanaf € 4.000</a:t>
            </a:r>
            <a:endParaRPr lang="en-US" sz="1250" dirty="0"/>
          </a:p>
        </p:txBody>
      </p:sp>
      <p:sp>
        <p:nvSpPr>
          <p:cNvPr id="27" name="Text 25"/>
          <p:cNvSpPr txBox="1"/>
          <p:nvPr/>
        </p:nvSpPr>
        <p:spPr>
          <a:xfrm>
            <a:off x="8737578" y="4394189"/>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vanaf ± 19 leads</a:t>
            </a:r>
            <a:endParaRPr lang="en-US" sz="1250" dirty="0"/>
          </a:p>
        </p:txBody>
      </p:sp>
      <p:sp>
        <p:nvSpPr>
          <p:cNvPr id="28" name="Shape 26"/>
          <p:cNvSpPr/>
          <p:nvPr/>
        </p:nvSpPr>
        <p:spPr>
          <a:xfrm>
            <a:off x="609598" y="5854685"/>
            <a:ext cx="76200" cy="76200"/>
          </a:xfrm>
          <a:prstGeom prst="ellipse">
            <a:avLst/>
          </a:prstGeom>
          <a:solidFill>
            <a:srgbClr val="38B6FF"/>
          </a:solidFill>
          <a:ln/>
        </p:spPr>
      </p:sp>
      <p:sp>
        <p:nvSpPr>
          <p:cNvPr id="29" name="Text 27"/>
          <p:cNvSpPr txBox="1"/>
          <p:nvPr/>
        </p:nvSpPr>
        <p:spPr>
          <a:xfrm>
            <a:off x="800098" y="5651486"/>
            <a:ext cx="9905975" cy="482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Een beldag is minimaal 100 gesprekspogingen. Bij 23,2 leads per duizend pogingen, het cijfer over 2.629 gesprekken voor Moyee, komt dat neer op 2,3 leads per beldag. Minimaal vier beldagen per periode, prijzen excl. btw.</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11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DIT VOOR JULLIE BETEKENT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Bijna twee keer zoveel gesprekken, voor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dezelfde prijs</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per lead.</a:t>
            </a:r>
            <a:endParaRPr lang="en-US" sz="3200" dirty="0"/>
          </a:p>
        </p:txBody>
      </p:sp>
      <p:sp>
        <p:nvSpPr>
          <p:cNvPr id="7" name="Shape 5"/>
          <p:cNvSpPr/>
          <p:nvPr/>
        </p:nvSpPr>
        <p:spPr>
          <a:xfrm>
            <a:off x="609598" y="2489194"/>
            <a:ext cx="5384787" cy="2768593"/>
          </a:xfrm>
          <a:prstGeom prst="roundRect">
            <a:avLst>
              <a:gd name="adj" fmla="val 3670"/>
            </a:avLst>
          </a:prstGeom>
          <a:solidFill>
            <a:srgbClr val="F8F4EB"/>
          </a:solidFill>
          <a:ln/>
        </p:spPr>
      </p:sp>
      <p:sp>
        <p:nvSpPr>
          <p:cNvPr id="8" name="Text 6"/>
          <p:cNvSpPr txBox="1"/>
          <p:nvPr/>
        </p:nvSpPr>
        <p:spPr>
          <a:xfrm>
            <a:off x="939798" y="2768593"/>
            <a:ext cx="4724388" cy="190500"/>
          </a:xfrm>
          <a:prstGeom prst="rect">
            <a:avLst/>
          </a:prstGeom>
          <a:noFill/>
          <a:ln/>
        </p:spPr>
        <p:txBody>
          <a:bodyPr wrap="square" lIns="0" tIns="0" rIns="0" bIns="0" rtlCol="0" anchor="ctr"/>
          <a:lstStyle/>
          <a:p>
            <a:pPr indent="0" marL="0">
              <a:buNone/>
            </a:pPr>
            <a:r>
              <a:rPr lang="en-US" sz="800" b="1" spc="180" kern="0" dirty="0">
                <a:solidFill>
                  <a:srgbClr val="6F6A5C"/>
                </a:solidFill>
                <a:latin typeface="Arial" pitchFamily="34" charset="0"/>
                <a:ea typeface="Arial" pitchFamily="34" charset="-122"/>
                <a:cs typeface="Arial" pitchFamily="34" charset="-120"/>
              </a:rPr>
              <a:t>NU · ± 4,1 BELDAGEN</a:t>
            </a:r>
            <a:endParaRPr lang="en-US" sz="800" dirty="0"/>
          </a:p>
        </p:txBody>
      </p:sp>
      <p:sp>
        <p:nvSpPr>
          <p:cNvPr id="9" name="Text 7"/>
          <p:cNvSpPr txBox="1"/>
          <p:nvPr/>
        </p:nvSpPr>
        <p:spPr>
          <a:xfrm>
            <a:off x="939798" y="2984493"/>
            <a:ext cx="4724388" cy="330199"/>
          </a:xfrm>
          <a:prstGeom prst="rect">
            <a:avLst/>
          </a:prstGeom>
          <a:noFill/>
          <a:ln/>
        </p:spPr>
        <p:txBody>
          <a:bodyPr wrap="square" lIns="0" tIns="0" rIns="0" bIns="0" rtlCol="0" anchor="ctr"/>
          <a:lstStyle/>
          <a:p>
            <a:pPr indent="0" marL="0">
              <a:buNone/>
            </a:pPr>
            <a:r>
              <a:rPr lang="en-US" sz="1500" b="1" dirty="0">
                <a:solidFill>
                  <a:srgbClr val="1C2230"/>
                </a:solidFill>
                <a:latin typeface="Arial" pitchFamily="34" charset="0"/>
                <a:ea typeface="Arial" pitchFamily="34" charset="-122"/>
                <a:cs typeface="Arial" pitchFamily="34" charset="-120"/>
              </a:rPr>
              <a:t>€ 1.500 per maand plus € 150 per tasting</a:t>
            </a:r>
            <a:endParaRPr lang="en-US" sz="1500" dirty="0"/>
          </a:p>
        </p:txBody>
      </p:sp>
      <p:sp>
        <p:nvSpPr>
          <p:cNvPr id="10" name="Text 8"/>
          <p:cNvSpPr txBox="1"/>
          <p:nvPr/>
        </p:nvSpPr>
        <p:spPr>
          <a:xfrm>
            <a:off x="939798" y="3378192"/>
            <a:ext cx="3479791" cy="419099"/>
          </a:xfrm>
          <a:prstGeom prst="rect">
            <a:avLst/>
          </a:prstGeom>
          <a:noFill/>
          <a:ln/>
        </p:spPr>
        <p:txBody>
          <a:bodyPr wrap="square" lIns="0" tIns="0" rIns="0" bIns="0" rtlCol="0" anchor="ctr"/>
          <a:lstStyle/>
          <a:p>
            <a:pPr indent="0" marL="0">
              <a:buNone/>
            </a:pPr>
            <a:r>
              <a:rPr lang="en-US" sz="1100" dirty="0">
                <a:solidFill>
                  <a:srgbClr val="6F6A5C"/>
                </a:solidFill>
                <a:latin typeface="Arial" pitchFamily="34" charset="0"/>
                <a:ea typeface="Arial" pitchFamily="34" charset="-122"/>
                <a:cs typeface="Arial" pitchFamily="34" charset="-120"/>
              </a:rPr>
              <a:t>Kosten per 4 weken</a:t>
            </a:r>
            <a:endParaRPr lang="en-US" sz="1100" dirty="0"/>
          </a:p>
        </p:txBody>
      </p:sp>
      <p:sp>
        <p:nvSpPr>
          <p:cNvPr id="11" name="Text 9"/>
          <p:cNvSpPr txBox="1"/>
          <p:nvPr/>
        </p:nvSpPr>
        <p:spPr>
          <a:xfrm>
            <a:off x="4419589" y="3378192"/>
            <a:ext cx="1244597" cy="419099"/>
          </a:xfrm>
          <a:prstGeom prst="rect">
            <a:avLst/>
          </a:prstGeom>
          <a:noFill/>
          <a:ln/>
        </p:spPr>
        <p:txBody>
          <a:bodyPr wrap="square" lIns="0" tIns="0" rIns="0" bIns="0" rtlCol="0" anchor="ctr"/>
          <a:lstStyle/>
          <a:p>
            <a:pPr algn="r" indent="0" marL="0">
              <a:buNone/>
            </a:pPr>
            <a:r>
              <a:rPr lang="en-US" sz="1350" b="1" dirty="0">
                <a:solidFill>
                  <a:srgbClr val="1C2230"/>
                </a:solidFill>
                <a:latin typeface="Arial" pitchFamily="34" charset="0"/>
                <a:ea typeface="Arial" pitchFamily="34" charset="-122"/>
                <a:cs typeface="Arial" pitchFamily="34" charset="-120"/>
              </a:rPr>
              <a:t>± € 2.040</a:t>
            </a:r>
            <a:endParaRPr lang="en-US" sz="1350" dirty="0"/>
          </a:p>
        </p:txBody>
      </p:sp>
      <p:sp>
        <p:nvSpPr>
          <p:cNvPr id="12" name="Shape 10"/>
          <p:cNvSpPr/>
          <p:nvPr/>
        </p:nvSpPr>
        <p:spPr>
          <a:xfrm>
            <a:off x="939798" y="3797291"/>
            <a:ext cx="4724388" cy="0"/>
          </a:xfrm>
          <a:prstGeom prst="line">
            <a:avLst/>
          </a:prstGeom>
          <a:noFill/>
          <a:ln w="9525">
            <a:solidFill>
              <a:srgbClr val="D8D2C4"/>
            </a:solidFill>
            <a:prstDash val="solid"/>
          </a:ln>
        </p:spPr>
      </p:sp>
      <p:sp>
        <p:nvSpPr>
          <p:cNvPr id="13" name="Text 11"/>
          <p:cNvSpPr txBox="1"/>
          <p:nvPr/>
        </p:nvSpPr>
        <p:spPr>
          <a:xfrm>
            <a:off x="939798" y="3797291"/>
            <a:ext cx="3479791" cy="419099"/>
          </a:xfrm>
          <a:prstGeom prst="rect">
            <a:avLst/>
          </a:prstGeom>
          <a:noFill/>
          <a:ln/>
        </p:spPr>
        <p:txBody>
          <a:bodyPr wrap="square" lIns="0" tIns="0" rIns="0" bIns="0" rtlCol="0" anchor="ctr"/>
          <a:lstStyle/>
          <a:p>
            <a:pPr indent="0" marL="0">
              <a:buNone/>
            </a:pPr>
            <a:r>
              <a:rPr lang="en-US" sz="1100" dirty="0">
                <a:solidFill>
                  <a:srgbClr val="6F6A5C"/>
                </a:solidFill>
                <a:latin typeface="Arial" pitchFamily="34" charset="0"/>
                <a:ea typeface="Arial" pitchFamily="34" charset="-122"/>
                <a:cs typeface="Arial" pitchFamily="34" charset="-120"/>
              </a:rPr>
              <a:t>Gesprekspogingen</a:t>
            </a:r>
            <a:endParaRPr lang="en-US" sz="1100" dirty="0"/>
          </a:p>
        </p:txBody>
      </p:sp>
      <p:sp>
        <p:nvSpPr>
          <p:cNvPr id="14" name="Text 12"/>
          <p:cNvSpPr txBox="1"/>
          <p:nvPr/>
        </p:nvSpPr>
        <p:spPr>
          <a:xfrm>
            <a:off x="4419589" y="3797291"/>
            <a:ext cx="1244597" cy="419099"/>
          </a:xfrm>
          <a:prstGeom prst="rect">
            <a:avLst/>
          </a:prstGeom>
          <a:noFill/>
          <a:ln/>
        </p:spPr>
        <p:txBody>
          <a:bodyPr wrap="square" lIns="0" tIns="0" rIns="0" bIns="0" rtlCol="0" anchor="ctr"/>
          <a:lstStyle/>
          <a:p>
            <a:pPr algn="r" indent="0" marL="0">
              <a:buNone/>
            </a:pPr>
            <a:r>
              <a:rPr lang="en-US" sz="1350" b="1" dirty="0">
                <a:solidFill>
                  <a:srgbClr val="1C2230"/>
                </a:solidFill>
                <a:latin typeface="Arial" pitchFamily="34" charset="0"/>
                <a:ea typeface="Arial" pitchFamily="34" charset="-122"/>
                <a:cs typeface="Arial" pitchFamily="34" charset="-120"/>
              </a:rPr>
              <a:t>± 414</a:t>
            </a:r>
            <a:endParaRPr lang="en-US" sz="1350" dirty="0"/>
          </a:p>
        </p:txBody>
      </p:sp>
      <p:sp>
        <p:nvSpPr>
          <p:cNvPr id="15" name="Shape 13"/>
          <p:cNvSpPr/>
          <p:nvPr/>
        </p:nvSpPr>
        <p:spPr>
          <a:xfrm>
            <a:off x="939798" y="4216389"/>
            <a:ext cx="4724388" cy="0"/>
          </a:xfrm>
          <a:prstGeom prst="line">
            <a:avLst/>
          </a:prstGeom>
          <a:noFill/>
          <a:ln w="9525">
            <a:solidFill>
              <a:srgbClr val="D8D2C4"/>
            </a:solidFill>
            <a:prstDash val="solid"/>
          </a:ln>
        </p:spPr>
      </p:sp>
      <p:sp>
        <p:nvSpPr>
          <p:cNvPr id="16" name="Text 14"/>
          <p:cNvSpPr txBox="1"/>
          <p:nvPr/>
        </p:nvSpPr>
        <p:spPr>
          <a:xfrm>
            <a:off x="939798" y="4216389"/>
            <a:ext cx="3479791" cy="419099"/>
          </a:xfrm>
          <a:prstGeom prst="rect">
            <a:avLst/>
          </a:prstGeom>
          <a:noFill/>
          <a:ln/>
        </p:spPr>
        <p:txBody>
          <a:bodyPr wrap="square" lIns="0" tIns="0" rIns="0" bIns="0" rtlCol="0" anchor="ctr"/>
          <a:lstStyle/>
          <a:p>
            <a:pPr indent="0" marL="0">
              <a:buNone/>
            </a:pPr>
            <a:r>
              <a:rPr lang="en-US" sz="1100" dirty="0">
                <a:solidFill>
                  <a:srgbClr val="6F6A5C"/>
                </a:solidFill>
                <a:latin typeface="Arial" pitchFamily="34" charset="0"/>
                <a:ea typeface="Arial" pitchFamily="34" charset="-122"/>
                <a:cs typeface="Arial" pitchFamily="34" charset="-120"/>
              </a:rPr>
              <a:t>Verwachte leads</a:t>
            </a:r>
            <a:endParaRPr lang="en-US" sz="1100" dirty="0"/>
          </a:p>
        </p:txBody>
      </p:sp>
      <p:sp>
        <p:nvSpPr>
          <p:cNvPr id="17" name="Text 15"/>
          <p:cNvSpPr txBox="1"/>
          <p:nvPr/>
        </p:nvSpPr>
        <p:spPr>
          <a:xfrm>
            <a:off x="4419589" y="4216389"/>
            <a:ext cx="1244597" cy="419099"/>
          </a:xfrm>
          <a:prstGeom prst="rect">
            <a:avLst/>
          </a:prstGeom>
          <a:noFill/>
          <a:ln/>
        </p:spPr>
        <p:txBody>
          <a:bodyPr wrap="square" lIns="0" tIns="0" rIns="0" bIns="0" rtlCol="0" anchor="ctr"/>
          <a:lstStyle/>
          <a:p>
            <a:pPr algn="r" indent="0" marL="0">
              <a:buNone/>
            </a:pPr>
            <a:r>
              <a:rPr lang="en-US" sz="1350" b="1" dirty="0">
                <a:solidFill>
                  <a:srgbClr val="1C2230"/>
                </a:solidFill>
                <a:latin typeface="Arial" pitchFamily="34" charset="0"/>
                <a:ea typeface="Arial" pitchFamily="34" charset="-122"/>
                <a:cs typeface="Arial" pitchFamily="34" charset="-120"/>
              </a:rPr>
              <a:t>± 10</a:t>
            </a:r>
            <a:endParaRPr lang="en-US" sz="1350" dirty="0"/>
          </a:p>
        </p:txBody>
      </p:sp>
      <p:sp>
        <p:nvSpPr>
          <p:cNvPr id="18" name="Shape 16"/>
          <p:cNvSpPr/>
          <p:nvPr/>
        </p:nvSpPr>
        <p:spPr>
          <a:xfrm>
            <a:off x="939798" y="4635488"/>
            <a:ext cx="4724388" cy="0"/>
          </a:xfrm>
          <a:prstGeom prst="line">
            <a:avLst/>
          </a:prstGeom>
          <a:noFill/>
          <a:ln w="9525">
            <a:solidFill>
              <a:srgbClr val="D8D2C4"/>
            </a:solidFill>
            <a:prstDash val="solid"/>
          </a:ln>
        </p:spPr>
      </p:sp>
      <p:sp>
        <p:nvSpPr>
          <p:cNvPr id="19" name="Text 17"/>
          <p:cNvSpPr txBox="1"/>
          <p:nvPr/>
        </p:nvSpPr>
        <p:spPr>
          <a:xfrm>
            <a:off x="939798" y="4635488"/>
            <a:ext cx="3479791" cy="419099"/>
          </a:xfrm>
          <a:prstGeom prst="rect">
            <a:avLst/>
          </a:prstGeom>
          <a:noFill/>
          <a:ln/>
        </p:spPr>
        <p:txBody>
          <a:bodyPr wrap="square" lIns="0" tIns="0" rIns="0" bIns="0" rtlCol="0" anchor="ctr"/>
          <a:lstStyle/>
          <a:p>
            <a:pPr indent="0" marL="0">
              <a:buNone/>
            </a:pPr>
            <a:r>
              <a:rPr lang="en-US" sz="1100" dirty="0">
                <a:solidFill>
                  <a:srgbClr val="6F6A5C"/>
                </a:solidFill>
                <a:latin typeface="Arial" pitchFamily="34" charset="0"/>
                <a:ea typeface="Arial" pitchFamily="34" charset="-122"/>
                <a:cs typeface="Arial" pitchFamily="34" charset="-120"/>
              </a:rPr>
              <a:t>Prijs per lead</a:t>
            </a:r>
            <a:endParaRPr lang="en-US" sz="1100" dirty="0"/>
          </a:p>
        </p:txBody>
      </p:sp>
      <p:sp>
        <p:nvSpPr>
          <p:cNvPr id="20" name="Text 18"/>
          <p:cNvSpPr txBox="1"/>
          <p:nvPr/>
        </p:nvSpPr>
        <p:spPr>
          <a:xfrm>
            <a:off x="4419589" y="4635488"/>
            <a:ext cx="1244597" cy="419099"/>
          </a:xfrm>
          <a:prstGeom prst="rect">
            <a:avLst/>
          </a:prstGeom>
          <a:noFill/>
          <a:ln/>
        </p:spPr>
        <p:txBody>
          <a:bodyPr wrap="square" lIns="0" tIns="0" rIns="0" bIns="0" rtlCol="0" anchor="ctr"/>
          <a:lstStyle/>
          <a:p>
            <a:pPr algn="r" indent="0" marL="0">
              <a:buNone/>
            </a:pPr>
            <a:r>
              <a:rPr lang="en-US" sz="1350" b="1" dirty="0">
                <a:solidFill>
                  <a:srgbClr val="1C2230"/>
                </a:solidFill>
                <a:latin typeface="Arial" pitchFamily="34" charset="0"/>
                <a:ea typeface="Arial" pitchFamily="34" charset="-122"/>
                <a:cs typeface="Arial" pitchFamily="34" charset="-120"/>
              </a:rPr>
              <a:t>± € 212</a:t>
            </a:r>
            <a:endParaRPr lang="en-US" sz="1350" dirty="0"/>
          </a:p>
        </p:txBody>
      </p:sp>
      <p:sp>
        <p:nvSpPr>
          <p:cNvPr id="21" name="Shape 19"/>
          <p:cNvSpPr/>
          <p:nvPr/>
        </p:nvSpPr>
        <p:spPr>
          <a:xfrm>
            <a:off x="6197585" y="2489194"/>
            <a:ext cx="5384787" cy="2768593"/>
          </a:xfrm>
          <a:prstGeom prst="roundRect">
            <a:avLst>
              <a:gd name="adj" fmla="val 3670"/>
            </a:avLst>
          </a:prstGeom>
          <a:solidFill>
            <a:srgbClr val="000000"/>
          </a:solidFill>
          <a:ln/>
        </p:spPr>
      </p:sp>
      <p:sp>
        <p:nvSpPr>
          <p:cNvPr id="22" name="Text 20"/>
          <p:cNvSpPr txBox="1"/>
          <p:nvPr/>
        </p:nvSpPr>
        <p:spPr>
          <a:xfrm>
            <a:off x="6527784" y="2768593"/>
            <a:ext cx="4724388" cy="190500"/>
          </a:xfrm>
          <a:prstGeom prst="rect">
            <a:avLst/>
          </a:prstGeom>
          <a:noFill/>
          <a:ln/>
        </p:spPr>
        <p:txBody>
          <a:bodyPr wrap="square" lIns="0" tIns="0" rIns="0" bIns="0" rtlCol="0" anchor="ctr"/>
          <a:lstStyle/>
          <a:p>
            <a:pPr indent="0" marL="0">
              <a:buNone/>
            </a:pPr>
            <a:r>
              <a:rPr lang="en-US" sz="800" b="1" spc="180" kern="0" dirty="0">
                <a:solidFill>
                  <a:srgbClr val="38B6FF"/>
                </a:solidFill>
                <a:latin typeface="Arial" pitchFamily="34" charset="0"/>
                <a:ea typeface="Arial" pitchFamily="34" charset="-122"/>
                <a:cs typeface="Arial" pitchFamily="34" charset="-120"/>
              </a:rPr>
              <a:t>VOORSTEL · ACHT BELDAGEN</a:t>
            </a:r>
            <a:endParaRPr lang="en-US" sz="800" dirty="0"/>
          </a:p>
        </p:txBody>
      </p:sp>
      <p:sp>
        <p:nvSpPr>
          <p:cNvPr id="23" name="Text 21"/>
          <p:cNvSpPr txBox="1"/>
          <p:nvPr/>
        </p:nvSpPr>
        <p:spPr>
          <a:xfrm>
            <a:off x="6527784" y="2984493"/>
            <a:ext cx="4724388" cy="330199"/>
          </a:xfrm>
          <a:prstGeom prst="rect">
            <a:avLst/>
          </a:prstGeom>
          <a:noFill/>
          <a:ln/>
        </p:spPr>
        <p:txBody>
          <a:bodyPr wrap="square" lIns="0" tIns="0" rIns="0" bIns="0" rtlCol="0" anchor="ctr"/>
          <a:lstStyle/>
          <a:p>
            <a:pPr indent="0" marL="0">
              <a:buNone/>
            </a:pPr>
            <a:r>
              <a:rPr lang="en-US" sz="1500" b="1" dirty="0">
                <a:solidFill>
                  <a:srgbClr val="F2EFE6"/>
                </a:solidFill>
                <a:latin typeface="Arial" pitchFamily="34" charset="0"/>
                <a:ea typeface="Arial" pitchFamily="34" charset="-122"/>
                <a:cs typeface="Arial" pitchFamily="34" charset="-120"/>
              </a:rPr>
              <a:t>€ 500 per beldag, verder niets</a:t>
            </a:r>
            <a:endParaRPr lang="en-US" sz="1500" dirty="0"/>
          </a:p>
        </p:txBody>
      </p:sp>
      <p:sp>
        <p:nvSpPr>
          <p:cNvPr id="24" name="Text 22"/>
          <p:cNvSpPr txBox="1"/>
          <p:nvPr/>
        </p:nvSpPr>
        <p:spPr>
          <a:xfrm>
            <a:off x="6527784" y="3378192"/>
            <a:ext cx="3479791" cy="4190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Kosten per 4 weken</a:t>
            </a:r>
            <a:endParaRPr lang="en-US" sz="1100" dirty="0"/>
          </a:p>
        </p:txBody>
      </p:sp>
      <p:sp>
        <p:nvSpPr>
          <p:cNvPr id="25" name="Text 23"/>
          <p:cNvSpPr txBox="1"/>
          <p:nvPr/>
        </p:nvSpPr>
        <p:spPr>
          <a:xfrm>
            <a:off x="10007575" y="3378192"/>
            <a:ext cx="1244597" cy="419099"/>
          </a:xfrm>
          <a:prstGeom prst="rect">
            <a:avLst/>
          </a:prstGeom>
          <a:noFill/>
          <a:ln/>
        </p:spPr>
        <p:txBody>
          <a:bodyPr wrap="square" lIns="0" tIns="0" rIns="0" bIns="0" rtlCol="0" anchor="ctr"/>
          <a:lstStyle/>
          <a:p>
            <a:pPr algn="r" indent="0" marL="0">
              <a:buNone/>
            </a:pPr>
            <a:r>
              <a:rPr lang="en-US" sz="1350" b="1" dirty="0">
                <a:solidFill>
                  <a:srgbClr val="38B6FF"/>
                </a:solidFill>
                <a:latin typeface="Arial" pitchFamily="34" charset="0"/>
                <a:ea typeface="Arial" pitchFamily="34" charset="-122"/>
                <a:cs typeface="Arial" pitchFamily="34" charset="-120"/>
              </a:rPr>
              <a:t>€ 4.000</a:t>
            </a:r>
            <a:endParaRPr lang="en-US" sz="1350" dirty="0"/>
          </a:p>
        </p:txBody>
      </p:sp>
      <p:sp>
        <p:nvSpPr>
          <p:cNvPr id="26" name="Shape 24"/>
          <p:cNvSpPr/>
          <p:nvPr/>
        </p:nvSpPr>
        <p:spPr>
          <a:xfrm>
            <a:off x="6527784" y="3797291"/>
            <a:ext cx="4724388" cy="0"/>
          </a:xfrm>
          <a:prstGeom prst="line">
            <a:avLst/>
          </a:prstGeom>
          <a:noFill/>
          <a:ln w="9525">
            <a:solidFill>
              <a:srgbClr val="3A4152"/>
            </a:solidFill>
            <a:prstDash val="solid"/>
          </a:ln>
        </p:spPr>
      </p:sp>
      <p:sp>
        <p:nvSpPr>
          <p:cNvPr id="27" name="Text 25"/>
          <p:cNvSpPr txBox="1"/>
          <p:nvPr/>
        </p:nvSpPr>
        <p:spPr>
          <a:xfrm>
            <a:off x="6527784" y="3797291"/>
            <a:ext cx="3479791" cy="4190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Gesprekspogingen</a:t>
            </a:r>
            <a:endParaRPr lang="en-US" sz="1100" dirty="0"/>
          </a:p>
        </p:txBody>
      </p:sp>
      <p:sp>
        <p:nvSpPr>
          <p:cNvPr id="28" name="Text 26"/>
          <p:cNvSpPr txBox="1"/>
          <p:nvPr/>
        </p:nvSpPr>
        <p:spPr>
          <a:xfrm>
            <a:off x="10007575" y="3797291"/>
            <a:ext cx="1244597" cy="419099"/>
          </a:xfrm>
          <a:prstGeom prst="rect">
            <a:avLst/>
          </a:prstGeom>
          <a:noFill/>
          <a:ln/>
        </p:spPr>
        <p:txBody>
          <a:bodyPr wrap="square" lIns="0" tIns="0" rIns="0" bIns="0" rtlCol="0" anchor="ctr"/>
          <a:lstStyle/>
          <a:p>
            <a:pPr algn="r" indent="0" marL="0">
              <a:buNone/>
            </a:pPr>
            <a:r>
              <a:rPr lang="en-US" sz="1350" b="1" dirty="0">
                <a:solidFill>
                  <a:srgbClr val="38B6FF"/>
                </a:solidFill>
                <a:latin typeface="Arial" pitchFamily="34" charset="0"/>
                <a:ea typeface="Arial" pitchFamily="34" charset="-122"/>
                <a:cs typeface="Arial" pitchFamily="34" charset="-120"/>
              </a:rPr>
              <a:t>800</a:t>
            </a:r>
            <a:endParaRPr lang="en-US" sz="1350" dirty="0"/>
          </a:p>
        </p:txBody>
      </p:sp>
      <p:sp>
        <p:nvSpPr>
          <p:cNvPr id="29" name="Shape 27"/>
          <p:cNvSpPr/>
          <p:nvPr/>
        </p:nvSpPr>
        <p:spPr>
          <a:xfrm>
            <a:off x="6527784" y="4216389"/>
            <a:ext cx="4724388" cy="0"/>
          </a:xfrm>
          <a:prstGeom prst="line">
            <a:avLst/>
          </a:prstGeom>
          <a:noFill/>
          <a:ln w="9525">
            <a:solidFill>
              <a:srgbClr val="3A4152"/>
            </a:solidFill>
            <a:prstDash val="solid"/>
          </a:ln>
        </p:spPr>
      </p:sp>
      <p:sp>
        <p:nvSpPr>
          <p:cNvPr id="30" name="Text 28"/>
          <p:cNvSpPr txBox="1"/>
          <p:nvPr/>
        </p:nvSpPr>
        <p:spPr>
          <a:xfrm>
            <a:off x="6527784" y="4216389"/>
            <a:ext cx="3479791" cy="4190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Verwachte leads</a:t>
            </a:r>
            <a:endParaRPr lang="en-US" sz="1100" dirty="0"/>
          </a:p>
        </p:txBody>
      </p:sp>
      <p:sp>
        <p:nvSpPr>
          <p:cNvPr id="31" name="Text 29"/>
          <p:cNvSpPr txBox="1"/>
          <p:nvPr/>
        </p:nvSpPr>
        <p:spPr>
          <a:xfrm>
            <a:off x="10007575" y="4216389"/>
            <a:ext cx="1244597" cy="419099"/>
          </a:xfrm>
          <a:prstGeom prst="rect">
            <a:avLst/>
          </a:prstGeom>
          <a:noFill/>
          <a:ln/>
        </p:spPr>
        <p:txBody>
          <a:bodyPr wrap="square" lIns="0" tIns="0" rIns="0" bIns="0" rtlCol="0" anchor="ctr"/>
          <a:lstStyle/>
          <a:p>
            <a:pPr algn="r" indent="0" marL="0">
              <a:buNone/>
            </a:pPr>
            <a:r>
              <a:rPr lang="en-US" sz="1350" b="1" dirty="0">
                <a:solidFill>
                  <a:srgbClr val="38B6FF"/>
                </a:solidFill>
                <a:latin typeface="Arial" pitchFamily="34" charset="0"/>
                <a:ea typeface="Arial" pitchFamily="34" charset="-122"/>
                <a:cs typeface="Arial" pitchFamily="34" charset="-120"/>
              </a:rPr>
              <a:t>± 19</a:t>
            </a:r>
            <a:endParaRPr lang="en-US" sz="1350" dirty="0"/>
          </a:p>
        </p:txBody>
      </p:sp>
      <p:sp>
        <p:nvSpPr>
          <p:cNvPr id="32" name="Shape 30"/>
          <p:cNvSpPr/>
          <p:nvPr/>
        </p:nvSpPr>
        <p:spPr>
          <a:xfrm>
            <a:off x="6527784" y="4635488"/>
            <a:ext cx="4724388" cy="0"/>
          </a:xfrm>
          <a:prstGeom prst="line">
            <a:avLst/>
          </a:prstGeom>
          <a:noFill/>
          <a:ln w="9525">
            <a:solidFill>
              <a:srgbClr val="3A4152"/>
            </a:solidFill>
            <a:prstDash val="solid"/>
          </a:ln>
        </p:spPr>
      </p:sp>
      <p:sp>
        <p:nvSpPr>
          <p:cNvPr id="33" name="Text 31"/>
          <p:cNvSpPr txBox="1"/>
          <p:nvPr/>
        </p:nvSpPr>
        <p:spPr>
          <a:xfrm>
            <a:off x="6527784" y="4635488"/>
            <a:ext cx="3479791" cy="4190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Prijs per lead</a:t>
            </a:r>
            <a:endParaRPr lang="en-US" sz="1100" dirty="0"/>
          </a:p>
        </p:txBody>
      </p:sp>
      <p:sp>
        <p:nvSpPr>
          <p:cNvPr id="34" name="Text 32"/>
          <p:cNvSpPr txBox="1"/>
          <p:nvPr/>
        </p:nvSpPr>
        <p:spPr>
          <a:xfrm>
            <a:off x="10007575" y="4635488"/>
            <a:ext cx="1244597" cy="419099"/>
          </a:xfrm>
          <a:prstGeom prst="rect">
            <a:avLst/>
          </a:prstGeom>
          <a:noFill/>
          <a:ln/>
        </p:spPr>
        <p:txBody>
          <a:bodyPr wrap="square" lIns="0" tIns="0" rIns="0" bIns="0" rtlCol="0" anchor="ctr"/>
          <a:lstStyle/>
          <a:p>
            <a:pPr algn="r" indent="0" marL="0">
              <a:buNone/>
            </a:pPr>
            <a:r>
              <a:rPr lang="en-US" sz="1350" b="1" dirty="0">
                <a:solidFill>
                  <a:srgbClr val="38B6FF"/>
                </a:solidFill>
                <a:latin typeface="Arial" pitchFamily="34" charset="0"/>
                <a:ea typeface="Arial" pitchFamily="34" charset="-122"/>
                <a:cs typeface="Arial" pitchFamily="34" charset="-120"/>
              </a:rPr>
              <a:t>€ 215</a:t>
            </a:r>
            <a:endParaRPr lang="en-US" sz="1350" dirty="0"/>
          </a:p>
        </p:txBody>
      </p:sp>
      <p:sp>
        <p:nvSpPr>
          <p:cNvPr id="35" name="Shape 33"/>
          <p:cNvSpPr/>
          <p:nvPr/>
        </p:nvSpPr>
        <p:spPr>
          <a:xfrm>
            <a:off x="609598" y="5854685"/>
            <a:ext cx="76200" cy="76200"/>
          </a:xfrm>
          <a:prstGeom prst="ellipse">
            <a:avLst/>
          </a:prstGeom>
          <a:solidFill>
            <a:srgbClr val="38B6FF"/>
          </a:solidFill>
          <a:ln/>
        </p:spPr>
      </p:sp>
      <p:sp>
        <p:nvSpPr>
          <p:cNvPr id="36" name="Text 34"/>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Acht beldagen is 93 procent meer gesprekken dan we nu per periode voeren, tegen vrijwel dezelfde prijs per lead. En jullie weten vooraf wat een periode kost, in plaats van achteraf.</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12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AFSPRAKEN OVER HET RESULTAAT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Zo houden we elkaar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scherp</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2285994"/>
          </a:xfrm>
          <a:prstGeom prst="roundRect">
            <a:avLst>
              <a:gd name="adj" fmla="val 4444"/>
            </a:avLst>
          </a:prstGeom>
          <a:solidFill>
            <a:srgbClr val="1B2130"/>
          </a:solidFill>
          <a:ln w="9525">
            <a:solidFill>
              <a:srgbClr val="3A4152"/>
            </a:solidFill>
            <a:prstDash val="solid"/>
          </a:ln>
        </p:spPr>
      </p:sp>
      <p:sp>
        <p:nvSpPr>
          <p:cNvPr id="8" name="Shape 6"/>
          <p:cNvSpPr/>
          <p:nvPr/>
        </p:nvSpPr>
        <p:spPr>
          <a:xfrm>
            <a:off x="825498" y="3022592"/>
            <a:ext cx="292099" cy="292099"/>
          </a:xfrm>
          <a:prstGeom prst="ellipse">
            <a:avLst/>
          </a:prstGeom>
          <a:ln w="15240">
            <a:solidFill>
              <a:srgbClr val="38B6FF"/>
            </a:solidFill>
            <a:prstDash val="solid"/>
          </a:ln>
        </p:spPr>
      </p:sp>
      <p:sp>
        <p:nvSpPr>
          <p:cNvPr id="9" name="Text 7"/>
          <p:cNvSpPr txBox="1"/>
          <p:nvPr/>
        </p:nvSpPr>
        <p:spPr>
          <a:xfrm>
            <a:off x="825498"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Onder de verwachting</a:t>
            </a:r>
            <a:endParaRPr lang="en-US" sz="1150" dirty="0"/>
          </a:p>
        </p:txBody>
      </p:sp>
      <p:sp>
        <p:nvSpPr>
          <p:cNvPr id="11" name="Text 9"/>
          <p:cNvSpPr txBox="1"/>
          <p:nvPr/>
        </p:nvSpPr>
        <p:spPr>
          <a:xfrm>
            <a:off x="825498"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Halen we het verwachte aantal leads in een periode niet, dan halen we de ontbrekende leads in de volgende werkperiode in. Zonder extra kosten.</a:t>
            </a:r>
            <a:endParaRPr lang="en-US" sz="875" dirty="0"/>
          </a:p>
        </p:txBody>
      </p:sp>
      <p:sp>
        <p:nvSpPr>
          <p:cNvPr id="12" name="Shape 10"/>
          <p:cNvSpPr/>
          <p:nvPr/>
        </p:nvSpPr>
        <p:spPr>
          <a:xfrm>
            <a:off x="3390892" y="2793993"/>
            <a:ext cx="2628893" cy="2285994"/>
          </a:xfrm>
          <a:prstGeom prst="roundRect">
            <a:avLst>
              <a:gd name="adj" fmla="val 4444"/>
            </a:avLst>
          </a:prstGeom>
          <a:solidFill>
            <a:srgbClr val="1B2130"/>
          </a:solidFill>
          <a:ln w="9525">
            <a:solidFill>
              <a:srgbClr val="3A4152"/>
            </a:solidFill>
            <a:prstDash val="solid"/>
          </a:ln>
        </p:spPr>
      </p:sp>
      <p:sp>
        <p:nvSpPr>
          <p:cNvPr id="13" name="Shape 11"/>
          <p:cNvSpPr/>
          <p:nvPr/>
        </p:nvSpPr>
        <p:spPr>
          <a:xfrm>
            <a:off x="3606791" y="3022592"/>
            <a:ext cx="292099" cy="292099"/>
          </a:xfrm>
          <a:prstGeom prst="ellipse">
            <a:avLst/>
          </a:prstGeom>
          <a:ln w="15240">
            <a:solidFill>
              <a:srgbClr val="38B6FF"/>
            </a:solidFill>
            <a:prstDash val="solid"/>
          </a:ln>
        </p:spPr>
      </p:sp>
      <p:sp>
        <p:nvSpPr>
          <p:cNvPr id="14" name="Text 12"/>
          <p:cNvSpPr txBox="1"/>
          <p:nvPr/>
        </p:nvSpPr>
        <p:spPr>
          <a:xfrm>
            <a:off x="3606791"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Boven de verwachting</a:t>
            </a:r>
            <a:endParaRPr lang="en-US" sz="1150" dirty="0"/>
          </a:p>
        </p:txBody>
      </p:sp>
      <p:sp>
        <p:nvSpPr>
          <p:cNvPr id="16" name="Text 14"/>
          <p:cNvSpPr txBox="1"/>
          <p:nvPr/>
        </p:nvSpPr>
        <p:spPr>
          <a:xfrm>
            <a:off x="3606791"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Loopt het harder, dan bellen we de beldagen gewoon vol. Wat er extra uit komt is voor jullie, zonder extra factuur.</a:t>
            </a:r>
            <a:endParaRPr lang="en-US" sz="875" dirty="0"/>
          </a:p>
        </p:txBody>
      </p:sp>
      <p:sp>
        <p:nvSpPr>
          <p:cNvPr id="17" name="Shape 15"/>
          <p:cNvSpPr/>
          <p:nvPr/>
        </p:nvSpPr>
        <p:spPr>
          <a:xfrm>
            <a:off x="6172185" y="2793993"/>
            <a:ext cx="2628893" cy="2285994"/>
          </a:xfrm>
          <a:prstGeom prst="roundRect">
            <a:avLst>
              <a:gd name="adj" fmla="val 4444"/>
            </a:avLst>
          </a:prstGeom>
          <a:solidFill>
            <a:srgbClr val="1B2130"/>
          </a:solidFill>
          <a:ln w="9525">
            <a:solidFill>
              <a:srgbClr val="3A4152"/>
            </a:solidFill>
            <a:prstDash val="solid"/>
          </a:ln>
        </p:spPr>
      </p:sp>
      <p:sp>
        <p:nvSpPr>
          <p:cNvPr id="18" name="Shape 16"/>
          <p:cNvSpPr/>
          <p:nvPr/>
        </p:nvSpPr>
        <p:spPr>
          <a:xfrm>
            <a:off x="6388084" y="3022592"/>
            <a:ext cx="292099" cy="292099"/>
          </a:xfrm>
          <a:prstGeom prst="ellipse">
            <a:avLst/>
          </a:prstGeom>
          <a:ln w="15240">
            <a:solidFill>
              <a:srgbClr val="38B6FF"/>
            </a:solidFill>
            <a:prstDash val="solid"/>
          </a:ln>
        </p:spPr>
      </p:sp>
      <p:sp>
        <p:nvSpPr>
          <p:cNvPr id="19" name="Text 17"/>
          <p:cNvSpPr txBox="1"/>
          <p:nvPr/>
        </p:nvSpPr>
        <p:spPr>
          <a:xfrm>
            <a:off x="6388084"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Vastgelegd, opzegbaar met een maand</a:t>
            </a:r>
            <a:endParaRPr lang="en-US" sz="1150" dirty="0"/>
          </a:p>
        </p:txBody>
      </p:sp>
      <p:sp>
        <p:nvSpPr>
          <p:cNvPr id="21" name="Text 19"/>
          <p:cNvSpPr txBox="1"/>
          <p:nvPr/>
        </p:nvSpPr>
        <p:spPr>
          <a:xfrm>
            <a:off x="6388084"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We leggen het aantal beldagen vast, zodat wij de capaciteit kunnen reserveren en jullie weten waar je aan toe bent. Opzeggen kan met een maand.</a:t>
            </a:r>
            <a:endParaRPr lang="en-US" sz="875" dirty="0"/>
          </a:p>
        </p:txBody>
      </p:sp>
      <p:sp>
        <p:nvSpPr>
          <p:cNvPr id="22" name="Shape 20"/>
          <p:cNvSpPr/>
          <p:nvPr/>
        </p:nvSpPr>
        <p:spPr>
          <a:xfrm>
            <a:off x="8953478" y="2793993"/>
            <a:ext cx="2628893" cy="2285994"/>
          </a:xfrm>
          <a:prstGeom prst="roundRect">
            <a:avLst>
              <a:gd name="adj" fmla="val 4444"/>
            </a:avLst>
          </a:prstGeom>
          <a:solidFill>
            <a:srgbClr val="1B2130"/>
          </a:solidFill>
          <a:ln w="15240">
            <a:solidFill>
              <a:srgbClr val="38B6FF"/>
            </a:solidFill>
            <a:prstDash val="solid"/>
          </a:ln>
        </p:spPr>
      </p:sp>
      <p:sp>
        <p:nvSpPr>
          <p:cNvPr id="23" name="Shape 21"/>
          <p:cNvSpPr/>
          <p:nvPr/>
        </p:nvSpPr>
        <p:spPr>
          <a:xfrm>
            <a:off x="9169377" y="3022592"/>
            <a:ext cx="292099" cy="292099"/>
          </a:xfrm>
          <a:prstGeom prst="ellipse">
            <a:avLst/>
          </a:prstGeom>
          <a:ln w="15240">
            <a:solidFill>
              <a:srgbClr val="38B6FF"/>
            </a:solidFill>
            <a:prstDash val="solid"/>
          </a:ln>
        </p:spPr>
      </p:sp>
      <p:sp>
        <p:nvSpPr>
          <p:cNvPr id="24" name="Text 22"/>
          <p:cNvSpPr txBox="1"/>
          <p:nvPr/>
        </p:nvSpPr>
        <p:spPr>
          <a:xfrm>
            <a:off x="9169377"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Succesfee bij klanten die blijven</a:t>
            </a:r>
            <a:endParaRPr lang="en-US" sz="1150" dirty="0"/>
          </a:p>
        </p:txBody>
      </p:sp>
      <p:sp>
        <p:nvSpPr>
          <p:cNvPr id="26" name="Text 24"/>
          <p:cNvSpPr txBox="1"/>
          <p:nvPr/>
        </p:nvSpPr>
        <p:spPr>
          <a:xfrm>
            <a:off x="9169377"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Wordt een lead een klant die drie maanden achter elkaar bestelt, dan krijgen wij daar een succesfee over. Zo verdienen wij pas extra als de klant blijft.</a:t>
            </a:r>
            <a:endParaRPr lang="en-US" sz="875" dirty="0"/>
          </a:p>
        </p:txBody>
      </p:sp>
      <p:sp>
        <p:nvSpPr>
          <p:cNvPr id="27" name="Shape 25"/>
          <p:cNvSpPr/>
          <p:nvPr/>
        </p:nvSpPr>
        <p:spPr>
          <a:xfrm>
            <a:off x="609598" y="5854685"/>
            <a:ext cx="76200" cy="76200"/>
          </a:xfrm>
          <a:prstGeom prst="ellipse">
            <a:avLst/>
          </a:prstGeom>
          <a:solidFill>
            <a:srgbClr val="38B6FF"/>
          </a:solidFill>
          <a:ln/>
        </p:spPr>
      </p:sp>
      <p:sp>
        <p:nvSpPr>
          <p:cNvPr id="28" name="Text 26"/>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De verwachting komt uit jullie eigen cijfers, dus we sturen op iets dat we al waargemaakt hebben. Over de hoogte van de succesfee maken we samen een afspraak.</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13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SPELREGELS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Transparant en zonder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kleine lettertjes</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819393"/>
            <a:ext cx="253999" cy="253999"/>
          </a:xfrm>
          <a:prstGeom prst="roundRect">
            <a:avLst>
              <a:gd name="adj" fmla="val 25000"/>
            </a:avLst>
          </a:prstGeom>
          <a:solidFill>
            <a:srgbClr val="DDEBF3"/>
          </a:solidFill>
          <a:ln/>
        </p:spPr>
      </p:sp>
      <p:pic>
        <p:nvPicPr>
          <p:cNvPr id="8" name="Image 0" descr="preencoded.png">    </p:cNvPr>
          <p:cNvPicPr>
            <a:picLocks noChangeAspect="1"/>
          </p:cNvPicPr>
          <p:nvPr/>
        </p:nvPicPr>
        <p:blipFill>
          <a:blip r:embed="rId1"/>
          <a:stretch>
            <a:fillRect/>
          </a:stretch>
        </p:blipFill>
        <p:spPr>
          <a:xfrm>
            <a:off x="666748" y="2876543"/>
            <a:ext cx="139700" cy="139700"/>
          </a:xfrm>
          <a:prstGeom prst="rect">
            <a:avLst/>
          </a:prstGeom>
        </p:spPr>
      </p:pic>
      <p:sp>
        <p:nvSpPr>
          <p:cNvPr id="9" name="Text 6"/>
          <p:cNvSpPr txBox="1"/>
          <p:nvPr/>
        </p:nvSpPr>
        <p:spPr>
          <a:xfrm>
            <a:off x="1015997"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Werkperiodes van 4 weken</a:t>
            </a:r>
            <a:endParaRPr lang="en-US" sz="1200" dirty="0"/>
          </a:p>
        </p:txBody>
      </p:sp>
      <p:sp>
        <p:nvSpPr>
          <p:cNvPr id="10" name="Text 7"/>
          <p:cNvSpPr txBox="1"/>
          <p:nvPr/>
        </p:nvSpPr>
        <p:spPr>
          <a:xfrm>
            <a:off x="1015997"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Vooraf gefactureerd, per werkperiode.</a:t>
            </a:r>
            <a:endParaRPr lang="en-US" sz="950" dirty="0"/>
          </a:p>
        </p:txBody>
      </p:sp>
      <p:sp>
        <p:nvSpPr>
          <p:cNvPr id="11" name="Shape 8"/>
          <p:cNvSpPr/>
          <p:nvPr/>
        </p:nvSpPr>
        <p:spPr>
          <a:xfrm>
            <a:off x="6349984" y="2819393"/>
            <a:ext cx="253999" cy="253999"/>
          </a:xfrm>
          <a:prstGeom prst="roundRect">
            <a:avLst>
              <a:gd name="adj" fmla="val 25000"/>
            </a:avLst>
          </a:prstGeom>
          <a:solidFill>
            <a:srgbClr val="DDEBF3"/>
          </a:solidFill>
          <a:ln/>
        </p:spPr>
      </p:sp>
      <p:pic>
        <p:nvPicPr>
          <p:cNvPr id="12" name="Image 1" descr="preencoded.png">    </p:cNvPr>
          <p:cNvPicPr>
            <a:picLocks noChangeAspect="1"/>
          </p:cNvPicPr>
          <p:nvPr/>
        </p:nvPicPr>
        <p:blipFill>
          <a:blip r:embed="rId2"/>
          <a:stretch>
            <a:fillRect/>
          </a:stretch>
        </p:blipFill>
        <p:spPr>
          <a:xfrm>
            <a:off x="6407134" y="2876543"/>
            <a:ext cx="139700" cy="139700"/>
          </a:xfrm>
          <a:prstGeom prst="rect">
            <a:avLst/>
          </a:prstGeom>
        </p:spPr>
      </p:pic>
      <p:sp>
        <p:nvSpPr>
          <p:cNvPr id="13" name="Text 9"/>
          <p:cNvSpPr txBox="1"/>
          <p:nvPr/>
        </p:nvSpPr>
        <p:spPr>
          <a:xfrm>
            <a:off x="6756383"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Opzegtermijn van één maand</a:t>
            </a:r>
            <a:endParaRPr lang="en-US" sz="1200" dirty="0"/>
          </a:p>
        </p:txBody>
      </p:sp>
      <p:sp>
        <p:nvSpPr>
          <p:cNvPr id="14" name="Text 10"/>
          <p:cNvSpPr txBox="1"/>
          <p:nvPr/>
        </p:nvSpPr>
        <p:spPr>
          <a:xfrm>
            <a:off x="6756383"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We leggen het aantal beldagen vast, opzeggen kan met een maand.</a:t>
            </a:r>
            <a:endParaRPr lang="en-US" sz="950" dirty="0"/>
          </a:p>
        </p:txBody>
      </p:sp>
      <p:sp>
        <p:nvSpPr>
          <p:cNvPr id="15" name="Shape 11"/>
          <p:cNvSpPr/>
          <p:nvPr/>
        </p:nvSpPr>
        <p:spPr>
          <a:xfrm>
            <a:off x="609598" y="3428991"/>
            <a:ext cx="5232387" cy="0"/>
          </a:xfrm>
          <a:prstGeom prst="line">
            <a:avLst/>
          </a:prstGeom>
          <a:noFill/>
          <a:ln w="6350">
            <a:solidFill>
              <a:srgbClr val="C9C2B2"/>
            </a:solidFill>
            <a:prstDash val="solid"/>
          </a:ln>
        </p:spPr>
      </p:sp>
      <p:sp>
        <p:nvSpPr>
          <p:cNvPr id="16" name="Shape 12"/>
          <p:cNvSpPr/>
          <p:nvPr/>
        </p:nvSpPr>
        <p:spPr>
          <a:xfrm>
            <a:off x="609598" y="3530591"/>
            <a:ext cx="253999" cy="253999"/>
          </a:xfrm>
          <a:prstGeom prst="roundRect">
            <a:avLst>
              <a:gd name="adj" fmla="val 25000"/>
            </a:avLst>
          </a:prstGeom>
          <a:solidFill>
            <a:srgbClr val="DDEBF3"/>
          </a:solidFill>
          <a:ln/>
        </p:spPr>
      </p:sp>
      <p:pic>
        <p:nvPicPr>
          <p:cNvPr id="17" name="Image 2" descr="preencoded.png">    </p:cNvPr>
          <p:cNvPicPr>
            <a:picLocks noChangeAspect="1"/>
          </p:cNvPicPr>
          <p:nvPr/>
        </p:nvPicPr>
        <p:blipFill>
          <a:blip r:embed="rId3"/>
          <a:stretch>
            <a:fillRect/>
          </a:stretch>
        </p:blipFill>
        <p:spPr>
          <a:xfrm>
            <a:off x="666748" y="3587741"/>
            <a:ext cx="139700" cy="139700"/>
          </a:xfrm>
          <a:prstGeom prst="rect">
            <a:avLst/>
          </a:prstGeom>
        </p:spPr>
      </p:pic>
      <p:sp>
        <p:nvSpPr>
          <p:cNvPr id="18" name="Text 13"/>
          <p:cNvSpPr txBox="1"/>
          <p:nvPr/>
        </p:nvSpPr>
        <p:spPr>
          <a:xfrm>
            <a:off x="1015997"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Bestaande relaties blijven van jullie</a:t>
            </a:r>
            <a:endParaRPr lang="en-US" sz="1200" dirty="0"/>
          </a:p>
        </p:txBody>
      </p:sp>
      <p:sp>
        <p:nvSpPr>
          <p:cNvPr id="19" name="Text 14"/>
          <p:cNvSpPr txBox="1"/>
          <p:nvPr/>
        </p:nvSpPr>
        <p:spPr>
          <a:xfrm>
            <a:off x="1015997"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Uitsluitlijst vooraf, die bedrijven benaderen wij niet.</a:t>
            </a:r>
            <a:endParaRPr lang="en-US" sz="950" dirty="0"/>
          </a:p>
        </p:txBody>
      </p:sp>
      <p:sp>
        <p:nvSpPr>
          <p:cNvPr id="20" name="Shape 15"/>
          <p:cNvSpPr/>
          <p:nvPr/>
        </p:nvSpPr>
        <p:spPr>
          <a:xfrm>
            <a:off x="6349984" y="3428991"/>
            <a:ext cx="5232387" cy="0"/>
          </a:xfrm>
          <a:prstGeom prst="line">
            <a:avLst/>
          </a:prstGeom>
          <a:noFill/>
          <a:ln w="6350">
            <a:solidFill>
              <a:srgbClr val="C9C2B2"/>
            </a:solidFill>
            <a:prstDash val="solid"/>
          </a:ln>
        </p:spPr>
      </p:sp>
      <p:sp>
        <p:nvSpPr>
          <p:cNvPr id="21" name="Shape 16"/>
          <p:cNvSpPr/>
          <p:nvPr/>
        </p:nvSpPr>
        <p:spPr>
          <a:xfrm>
            <a:off x="6349984" y="3530591"/>
            <a:ext cx="253999" cy="253999"/>
          </a:xfrm>
          <a:prstGeom prst="roundRect">
            <a:avLst>
              <a:gd name="adj" fmla="val 25000"/>
            </a:avLst>
          </a:prstGeom>
          <a:solidFill>
            <a:srgbClr val="DDEBF3"/>
          </a:solidFill>
          <a:ln/>
        </p:spPr>
      </p:sp>
      <p:pic>
        <p:nvPicPr>
          <p:cNvPr id="22" name="Image 3" descr="preencoded.png">    </p:cNvPr>
          <p:cNvPicPr>
            <a:picLocks noChangeAspect="1"/>
          </p:cNvPicPr>
          <p:nvPr/>
        </p:nvPicPr>
        <p:blipFill>
          <a:blip r:embed="rId4"/>
          <a:stretch>
            <a:fillRect/>
          </a:stretch>
        </p:blipFill>
        <p:spPr>
          <a:xfrm>
            <a:off x="6407134" y="3587741"/>
            <a:ext cx="139700" cy="139700"/>
          </a:xfrm>
          <a:prstGeom prst="rect">
            <a:avLst/>
          </a:prstGeom>
        </p:spPr>
      </p:pic>
      <p:sp>
        <p:nvSpPr>
          <p:cNvPr id="23" name="Text 17"/>
          <p:cNvSpPr txBox="1"/>
          <p:nvPr/>
        </p:nvSpPr>
        <p:spPr>
          <a:xfrm>
            <a:off x="6756383"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Wekelijkse rapportage</a:t>
            </a:r>
            <a:endParaRPr lang="en-US" sz="1200" dirty="0"/>
          </a:p>
        </p:txBody>
      </p:sp>
      <p:sp>
        <p:nvSpPr>
          <p:cNvPr id="24" name="Text 18"/>
          <p:cNvSpPr txBox="1"/>
          <p:nvPr/>
        </p:nvSpPr>
        <p:spPr>
          <a:xfrm>
            <a:off x="6756383"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Elke week zicht op wat er gebeld is en wat het opleverde.</a:t>
            </a:r>
            <a:endParaRPr lang="en-US" sz="950" dirty="0"/>
          </a:p>
        </p:txBody>
      </p:sp>
      <p:sp>
        <p:nvSpPr>
          <p:cNvPr id="25" name="Shape 19"/>
          <p:cNvSpPr/>
          <p:nvPr/>
        </p:nvSpPr>
        <p:spPr>
          <a:xfrm>
            <a:off x="609598" y="4140190"/>
            <a:ext cx="5232387" cy="0"/>
          </a:xfrm>
          <a:prstGeom prst="line">
            <a:avLst/>
          </a:prstGeom>
          <a:noFill/>
          <a:ln w="6350">
            <a:solidFill>
              <a:srgbClr val="C9C2B2"/>
            </a:solidFill>
            <a:prstDash val="solid"/>
          </a:ln>
        </p:spPr>
      </p:sp>
      <p:sp>
        <p:nvSpPr>
          <p:cNvPr id="26" name="Shape 20"/>
          <p:cNvSpPr/>
          <p:nvPr/>
        </p:nvSpPr>
        <p:spPr>
          <a:xfrm>
            <a:off x="609598" y="4241789"/>
            <a:ext cx="253999" cy="253999"/>
          </a:xfrm>
          <a:prstGeom prst="roundRect">
            <a:avLst>
              <a:gd name="adj" fmla="val 25000"/>
            </a:avLst>
          </a:prstGeom>
          <a:solidFill>
            <a:srgbClr val="DDEBF3"/>
          </a:solidFill>
          <a:ln/>
        </p:spPr>
      </p:sp>
      <p:pic>
        <p:nvPicPr>
          <p:cNvPr id="27" name="Image 4" descr="preencoded.png">    </p:cNvPr>
          <p:cNvPicPr>
            <a:picLocks noChangeAspect="1"/>
          </p:cNvPicPr>
          <p:nvPr/>
        </p:nvPicPr>
        <p:blipFill>
          <a:blip r:embed="rId5"/>
          <a:stretch>
            <a:fillRect/>
          </a:stretch>
        </p:blipFill>
        <p:spPr>
          <a:xfrm>
            <a:off x="666748" y="4298939"/>
            <a:ext cx="139700" cy="139700"/>
          </a:xfrm>
          <a:prstGeom prst="rect">
            <a:avLst/>
          </a:prstGeom>
        </p:spPr>
      </p:pic>
      <p:sp>
        <p:nvSpPr>
          <p:cNvPr id="28" name="Text 21"/>
          <p:cNvSpPr txBox="1"/>
          <p:nvPr/>
        </p:nvSpPr>
        <p:spPr>
          <a:xfrm>
            <a:off x="1015997"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Eén vast aanspreekpunt</a:t>
            </a:r>
            <a:endParaRPr lang="en-US" sz="1200" dirty="0"/>
          </a:p>
        </p:txBody>
      </p:sp>
      <p:sp>
        <p:nvSpPr>
          <p:cNvPr id="29" name="Text 22"/>
          <p:cNvSpPr txBox="1"/>
          <p:nvPr/>
        </p:nvSpPr>
        <p:spPr>
          <a:xfrm>
            <a:off x="1015997"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Bij LINK. en bij Moyee, zodat er niets tussen wal en schip valt.</a:t>
            </a:r>
            <a:endParaRPr lang="en-US" sz="950" dirty="0"/>
          </a:p>
        </p:txBody>
      </p:sp>
      <p:sp>
        <p:nvSpPr>
          <p:cNvPr id="30" name="Shape 23"/>
          <p:cNvSpPr/>
          <p:nvPr/>
        </p:nvSpPr>
        <p:spPr>
          <a:xfrm>
            <a:off x="6349984" y="4140190"/>
            <a:ext cx="5232387" cy="0"/>
          </a:xfrm>
          <a:prstGeom prst="line">
            <a:avLst/>
          </a:prstGeom>
          <a:noFill/>
          <a:ln w="6350">
            <a:solidFill>
              <a:srgbClr val="C9C2B2"/>
            </a:solidFill>
            <a:prstDash val="solid"/>
          </a:ln>
        </p:spPr>
      </p:sp>
      <p:sp>
        <p:nvSpPr>
          <p:cNvPr id="31" name="Shape 24"/>
          <p:cNvSpPr/>
          <p:nvPr/>
        </p:nvSpPr>
        <p:spPr>
          <a:xfrm>
            <a:off x="6349984" y="4241789"/>
            <a:ext cx="253999" cy="253999"/>
          </a:xfrm>
          <a:prstGeom prst="roundRect">
            <a:avLst>
              <a:gd name="adj" fmla="val 25000"/>
            </a:avLst>
          </a:prstGeom>
          <a:solidFill>
            <a:srgbClr val="DDEBF3"/>
          </a:solidFill>
          <a:ln/>
        </p:spPr>
      </p:sp>
      <p:pic>
        <p:nvPicPr>
          <p:cNvPr id="32" name="Image 5" descr="preencoded.png">    </p:cNvPr>
          <p:cNvPicPr>
            <a:picLocks noChangeAspect="1"/>
          </p:cNvPicPr>
          <p:nvPr/>
        </p:nvPicPr>
        <p:blipFill>
          <a:blip r:embed="rId6"/>
          <a:stretch>
            <a:fillRect/>
          </a:stretch>
        </p:blipFill>
        <p:spPr>
          <a:xfrm>
            <a:off x="6407134" y="4298939"/>
            <a:ext cx="139700" cy="139700"/>
          </a:xfrm>
          <a:prstGeom prst="rect">
            <a:avLst/>
          </a:prstGeom>
        </p:spPr>
      </p:pic>
      <p:sp>
        <p:nvSpPr>
          <p:cNvPr id="33" name="Text 25"/>
          <p:cNvSpPr txBox="1"/>
          <p:nvPr/>
        </p:nvSpPr>
        <p:spPr>
          <a:xfrm>
            <a:off x="6756383"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Terugkoppeling op de leads</a:t>
            </a:r>
            <a:endParaRPr lang="en-US" sz="1200" dirty="0"/>
          </a:p>
        </p:txBody>
      </p:sp>
      <p:sp>
        <p:nvSpPr>
          <p:cNvPr id="34" name="Text 26"/>
          <p:cNvSpPr txBox="1"/>
          <p:nvPr/>
        </p:nvSpPr>
        <p:spPr>
          <a:xfrm>
            <a:off x="6756383"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Kort laten weten wat een tasting of een bestellead opleverde, dat maakt de volgende beter.</a:t>
            </a:r>
            <a:endParaRPr lang="en-US" sz="950" dirty="0"/>
          </a:p>
        </p:txBody>
      </p:sp>
      <p:sp>
        <p:nvSpPr>
          <p:cNvPr id="35" name="Shape 27"/>
          <p:cNvSpPr/>
          <p:nvPr/>
        </p:nvSpPr>
        <p:spPr>
          <a:xfrm>
            <a:off x="609598" y="4851388"/>
            <a:ext cx="5232387" cy="0"/>
          </a:xfrm>
          <a:prstGeom prst="line">
            <a:avLst/>
          </a:prstGeom>
          <a:noFill/>
          <a:ln w="6350">
            <a:solidFill>
              <a:srgbClr val="C9C2B2"/>
            </a:solidFill>
            <a:prstDash val="solid"/>
          </a:ln>
        </p:spPr>
      </p:sp>
      <p:sp>
        <p:nvSpPr>
          <p:cNvPr id="36" name="Shape 28"/>
          <p:cNvSpPr/>
          <p:nvPr/>
        </p:nvSpPr>
        <p:spPr>
          <a:xfrm>
            <a:off x="609598" y="4952988"/>
            <a:ext cx="253999" cy="253999"/>
          </a:xfrm>
          <a:prstGeom prst="roundRect">
            <a:avLst>
              <a:gd name="adj" fmla="val 25000"/>
            </a:avLst>
          </a:prstGeom>
          <a:solidFill>
            <a:srgbClr val="DDEBF3"/>
          </a:solidFill>
          <a:ln/>
        </p:spPr>
      </p:sp>
      <p:pic>
        <p:nvPicPr>
          <p:cNvPr id="37" name="Image 6" descr="preencoded.png">    </p:cNvPr>
          <p:cNvPicPr>
            <a:picLocks noChangeAspect="1"/>
          </p:cNvPicPr>
          <p:nvPr/>
        </p:nvPicPr>
        <p:blipFill>
          <a:blip r:embed="rId7"/>
          <a:stretch>
            <a:fillRect/>
          </a:stretch>
        </p:blipFill>
        <p:spPr>
          <a:xfrm>
            <a:off x="666748" y="5010137"/>
            <a:ext cx="139700" cy="139700"/>
          </a:xfrm>
          <a:prstGeom prst="rect">
            <a:avLst/>
          </a:prstGeom>
        </p:spPr>
      </p:pic>
      <p:sp>
        <p:nvSpPr>
          <p:cNvPr id="38" name="Text 29"/>
          <p:cNvSpPr txBox="1"/>
          <p:nvPr/>
        </p:nvSpPr>
        <p:spPr>
          <a:xfrm>
            <a:off x="1015997"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Jullie naam, onze uitvoering</a:t>
            </a:r>
            <a:endParaRPr lang="en-US" sz="1200" dirty="0"/>
          </a:p>
        </p:txBody>
      </p:sp>
      <p:sp>
        <p:nvSpPr>
          <p:cNvPr id="39" name="Text 30"/>
          <p:cNvSpPr txBox="1"/>
          <p:nvPr/>
        </p:nvSpPr>
        <p:spPr>
          <a:xfrm>
            <a:off x="1015997"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Nummer op jullie naam en jullie stijl, wij voeren uit.</a:t>
            </a:r>
            <a:endParaRPr lang="en-US" sz="950" dirty="0"/>
          </a:p>
        </p:txBody>
      </p:sp>
      <p:sp>
        <p:nvSpPr>
          <p:cNvPr id="40" name="Shape 31"/>
          <p:cNvSpPr/>
          <p:nvPr/>
        </p:nvSpPr>
        <p:spPr>
          <a:xfrm>
            <a:off x="6349984" y="4851388"/>
            <a:ext cx="5232387" cy="0"/>
          </a:xfrm>
          <a:prstGeom prst="line">
            <a:avLst/>
          </a:prstGeom>
          <a:noFill/>
          <a:ln w="6350">
            <a:solidFill>
              <a:srgbClr val="C9C2B2"/>
            </a:solidFill>
            <a:prstDash val="solid"/>
          </a:ln>
        </p:spPr>
      </p:sp>
      <p:sp>
        <p:nvSpPr>
          <p:cNvPr id="41" name="Shape 32"/>
          <p:cNvSpPr/>
          <p:nvPr/>
        </p:nvSpPr>
        <p:spPr>
          <a:xfrm>
            <a:off x="6349984" y="4952988"/>
            <a:ext cx="253999" cy="253999"/>
          </a:xfrm>
          <a:prstGeom prst="roundRect">
            <a:avLst>
              <a:gd name="adj" fmla="val 25000"/>
            </a:avLst>
          </a:prstGeom>
          <a:solidFill>
            <a:srgbClr val="DDEBF3"/>
          </a:solidFill>
          <a:ln/>
        </p:spPr>
      </p:sp>
      <p:pic>
        <p:nvPicPr>
          <p:cNvPr id="42" name="Image 7" descr="preencoded.png">    </p:cNvPr>
          <p:cNvPicPr>
            <a:picLocks noChangeAspect="1"/>
          </p:cNvPicPr>
          <p:nvPr/>
        </p:nvPicPr>
        <p:blipFill>
          <a:blip r:embed="rId8"/>
          <a:stretch>
            <a:fillRect/>
          </a:stretch>
        </p:blipFill>
        <p:spPr>
          <a:xfrm>
            <a:off x="6407134" y="5010137"/>
            <a:ext cx="139700" cy="139700"/>
          </a:xfrm>
          <a:prstGeom prst="rect">
            <a:avLst/>
          </a:prstGeom>
        </p:spPr>
      </p:pic>
      <p:sp>
        <p:nvSpPr>
          <p:cNvPr id="43" name="Text 33"/>
          <p:cNvSpPr txBox="1"/>
          <p:nvPr/>
        </p:nvSpPr>
        <p:spPr>
          <a:xfrm>
            <a:off x="6756383"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Gegevens veilig</a:t>
            </a:r>
            <a:endParaRPr lang="en-US" sz="1200" dirty="0"/>
          </a:p>
        </p:txBody>
      </p:sp>
      <p:sp>
        <p:nvSpPr>
          <p:cNvPr id="44" name="Text 34"/>
          <p:cNvSpPr txBox="1"/>
          <p:nvPr/>
        </p:nvSpPr>
        <p:spPr>
          <a:xfrm>
            <a:off x="6756383"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verwerkersovereenkomst.</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14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VOLGENDE STAP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Akkoord op het model? Dan start de eerste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werkperiode</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Text 7"/>
          <p:cNvSpPr txBox="1"/>
          <p:nvPr/>
        </p:nvSpPr>
        <p:spPr>
          <a:xfrm>
            <a:off x="1117597" y="2908293"/>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Puck aan boord</a:t>
            </a:r>
            <a:endParaRPr lang="en-US" sz="1450" dirty="0"/>
          </a:p>
        </p:txBody>
      </p:sp>
      <p:sp>
        <p:nvSpPr>
          <p:cNvPr id="10" name="Text 8"/>
          <p:cNvSpPr txBox="1"/>
          <p:nvPr/>
        </p:nvSpPr>
        <p:spPr>
          <a:xfrm>
            <a:off x="1117597" y="3200392"/>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 lopen samen de werkwijze door, zodat Puck weet wat er uit een beldag komt: de tastings die zij voert en de bestelleads die zij opvolgt.</a:t>
            </a:r>
            <a:endParaRPr lang="en-US" sz="1100" dirty="0"/>
          </a:p>
        </p:txBody>
      </p:sp>
      <p:sp>
        <p:nvSpPr>
          <p:cNvPr id="11" name="Shape 9"/>
          <p:cNvSpPr/>
          <p:nvPr/>
        </p:nvSpPr>
        <p:spPr>
          <a:xfrm>
            <a:off x="609598" y="3809990"/>
            <a:ext cx="304799" cy="304799"/>
          </a:xfrm>
          <a:prstGeom prst="ellipse">
            <a:avLst/>
          </a:prstGeom>
          <a:ln w="15240">
            <a:solidFill>
              <a:srgbClr val="38B6FF"/>
            </a:solidFill>
            <a:prstDash val="solid"/>
          </a:ln>
        </p:spPr>
      </p:sp>
      <p:sp>
        <p:nvSpPr>
          <p:cNvPr id="12" name="Text 10"/>
          <p:cNvSpPr txBox="1"/>
          <p:nvPr/>
        </p:nvSpPr>
        <p:spPr>
          <a:xfrm>
            <a:off x="609598" y="3809990"/>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3" name="Text 11"/>
          <p:cNvSpPr txBox="1"/>
          <p:nvPr/>
        </p:nvSpPr>
        <p:spPr>
          <a:xfrm>
            <a:off x="1117597" y="3797291"/>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Aantal beldagen kiezen</a:t>
            </a:r>
            <a:endParaRPr lang="en-US" sz="1450" dirty="0"/>
          </a:p>
        </p:txBody>
      </p:sp>
      <p:sp>
        <p:nvSpPr>
          <p:cNvPr id="14" name="Text 12"/>
          <p:cNvSpPr txBox="1"/>
          <p:nvPr/>
        </p:nvSpPr>
        <p:spPr>
          <a:xfrm>
            <a:off x="1117597" y="4089390"/>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Jullie kiezen hoeveel beldagen per vier weken. Ons advies is acht.</a:t>
            </a:r>
            <a:endParaRPr lang="en-US" sz="1100" dirty="0"/>
          </a:p>
        </p:txBody>
      </p:sp>
      <p:sp>
        <p:nvSpPr>
          <p:cNvPr id="15" name="Shape 13"/>
          <p:cNvSpPr/>
          <p:nvPr/>
        </p:nvSpPr>
        <p:spPr>
          <a:xfrm>
            <a:off x="609598" y="4698988"/>
            <a:ext cx="304799" cy="304799"/>
          </a:xfrm>
          <a:prstGeom prst="ellipse">
            <a:avLst/>
          </a:prstGeom>
          <a:ln w="15240">
            <a:solidFill>
              <a:srgbClr val="38B6FF"/>
            </a:solidFill>
            <a:prstDash val="solid"/>
          </a:ln>
        </p:spPr>
      </p:sp>
      <p:sp>
        <p:nvSpPr>
          <p:cNvPr id="16" name="Text 14"/>
          <p:cNvSpPr txBox="1"/>
          <p:nvPr/>
        </p:nvSpPr>
        <p:spPr>
          <a:xfrm>
            <a:off x="609598" y="4698988"/>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7" name="Text 15"/>
          <p:cNvSpPr txBox="1"/>
          <p:nvPr/>
        </p:nvSpPr>
        <p:spPr>
          <a:xfrm>
            <a:off x="1117597" y="4686288"/>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Start eerste periode</a:t>
            </a:r>
            <a:endParaRPr lang="en-US" sz="1450" dirty="0"/>
          </a:p>
        </p:txBody>
      </p:sp>
      <p:sp>
        <p:nvSpPr>
          <p:cNvPr id="18" name="Text 16"/>
          <p:cNvSpPr txBox="1"/>
          <p:nvPr/>
        </p:nvSpPr>
        <p:spPr>
          <a:xfrm>
            <a:off x="1117597" y="4978388"/>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 zetten de bellijst klaar, plannen de beldagen op de beste dagen en gaan van start.</a:t>
            </a:r>
            <a:endParaRPr lang="en-US" sz="1100" dirty="0"/>
          </a:p>
        </p:txBody>
      </p:sp>
      <p:sp>
        <p:nvSpPr>
          <p:cNvPr id="19" name="Shape 17"/>
          <p:cNvSpPr/>
          <p:nvPr/>
        </p:nvSpPr>
        <p:spPr>
          <a:xfrm>
            <a:off x="7645381" y="2920993"/>
            <a:ext cx="3936990" cy="2666993"/>
          </a:xfrm>
          <a:prstGeom prst="roundRect">
            <a:avLst>
              <a:gd name="adj" fmla="val 3810"/>
            </a:avLst>
          </a:prstGeom>
          <a:solidFill>
            <a:srgbClr val="1B2130"/>
          </a:solidFill>
          <a:ln w="9525">
            <a:solidFill>
              <a:srgbClr val="3A4152"/>
            </a:solidFill>
            <a:prstDash val="solid"/>
          </a:ln>
        </p:spPr>
      </p:sp>
      <p:sp>
        <p:nvSpPr>
          <p:cNvPr id="20" name="Text 18"/>
          <p:cNvSpPr txBox="1"/>
          <p:nvPr/>
        </p:nvSpPr>
        <p:spPr>
          <a:xfrm>
            <a:off x="8000980" y="3251192"/>
            <a:ext cx="3225792" cy="355599"/>
          </a:xfrm>
          <a:prstGeom prst="rect">
            <a:avLst/>
          </a:prstGeom>
          <a:noFill/>
          <a:ln/>
        </p:spPr>
        <p:txBody>
          <a:bodyPr wrap="square" lIns="0" tIns="0" rIns="0" bIns="0" rtlCol="0" anchor="ctr"/>
          <a:lstStyle/>
          <a:p>
            <a:pPr indent="0" marL="0">
              <a:buNone/>
            </a:pPr>
            <a:r>
              <a:rPr lang="en-US" sz="2000" b="1" dirty="0">
                <a:solidFill>
                  <a:srgbClr val="F2EFE6"/>
                </a:solidFill>
                <a:latin typeface="Arial" pitchFamily="34" charset="0"/>
                <a:ea typeface="Arial" pitchFamily="34" charset="-122"/>
                <a:cs typeface="Arial" pitchFamily="34" charset="-120"/>
              </a:rPr>
              <a:t>Hens Boer</a:t>
            </a:r>
            <a:endParaRPr lang="en-US" sz="2000" dirty="0"/>
          </a:p>
        </p:txBody>
      </p:sp>
      <p:sp>
        <p:nvSpPr>
          <p:cNvPr id="21" name="Text 19"/>
          <p:cNvSpPr txBox="1"/>
          <p:nvPr/>
        </p:nvSpPr>
        <p:spPr>
          <a:xfrm>
            <a:off x="8000980" y="3644891"/>
            <a:ext cx="3225792" cy="215899"/>
          </a:xfrm>
          <a:prstGeom prst="rect">
            <a:avLst/>
          </a:prstGeom>
          <a:noFill/>
          <a:ln/>
        </p:spPr>
        <p:txBody>
          <a:bodyPr wrap="square" lIns="0" tIns="0" rIns="0" bIns="0" rtlCol="0" anchor="ctr"/>
          <a:lstStyle/>
          <a:p>
            <a:pPr indent="0" marL="0">
              <a:buNone/>
            </a:pPr>
            <a:r>
              <a:rPr lang="en-US" sz="1050" b="1" dirty="0">
                <a:solidFill>
                  <a:srgbClr val="38B6FF"/>
                </a:solidFill>
                <a:latin typeface="Arial" pitchFamily="34" charset="0"/>
                <a:ea typeface="Arial" pitchFamily="34" charset="-122"/>
                <a:cs typeface="Arial" pitchFamily="34" charset="-120"/>
              </a:rPr>
              <a:t>Eigenaar LINK.</a:t>
            </a:r>
            <a:endParaRPr lang="en-US" sz="1050" dirty="0"/>
          </a:p>
        </p:txBody>
      </p:sp>
      <p:sp>
        <p:nvSpPr>
          <p:cNvPr id="22" name="Text 20"/>
          <p:cNvSpPr txBox="1"/>
          <p:nvPr/>
        </p:nvSpPr>
        <p:spPr>
          <a:xfrm>
            <a:off x="8000980" y="4165590"/>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hens@linkgrp.nl</a:t>
            </a:r>
            <a:endParaRPr lang="en-US" sz="1100" dirty="0"/>
          </a:p>
        </p:txBody>
      </p:sp>
      <p:sp>
        <p:nvSpPr>
          <p:cNvPr id="23" name="Text 21"/>
          <p:cNvSpPr txBox="1"/>
          <p:nvPr/>
        </p:nvSpPr>
        <p:spPr>
          <a:xfrm>
            <a:off x="8000980" y="4521189"/>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linkgrp.nl</a:t>
            </a:r>
            <a:endParaRPr lang="en-US" sz="1100" dirty="0"/>
          </a:p>
        </p:txBody>
      </p:sp>
      <p:sp>
        <p:nvSpPr>
          <p:cNvPr id="24" name="Text 22"/>
          <p:cNvSpPr txBox="1"/>
          <p:nvPr/>
        </p:nvSpPr>
        <p:spPr>
          <a:xfrm>
            <a:off x="8000980" y="4876788"/>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Flemingweg 8, Alphen aan den Rijn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LINK. voorstel Moyee Coffee</dc:title>
  <dc:subject>PptxGenJS Presentation</dc:subject>
  <dc:creator>LINK.</dc:creator>
  <cp:lastModifiedBy>LINK.</cp:lastModifiedBy>
  <cp:revision>1</cp:revision>
  <dcterms:created xsi:type="dcterms:W3CDTF">2026-09-26T14:43:39Z</dcterms:created>
  <dcterms:modified xsi:type="dcterms:W3CDTF">2026-09-26T14:43:39Z</dcterms:modified>
</cp:coreProperties>
</file>