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bijna zes maanden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eind maart.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25</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eind maart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TOT NU TOE GEBELD IS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2.629</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GESPREKSPOGINGEN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Tussen maart en september 2026, verdeeld over 24 volle beldagen.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1.470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2.100 benaderde bedrijven kregen we bij zeven op de tien de juiste persoon aan de lijn.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61</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16 tastingafspraken en 45 bedrijven die wilden proeven of bestellen.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INGEPLAND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Waarvan er 7 onder de overdrachten stonden. Samen 0,9 tasting per beldag.</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Uit die 2.629 pogingen komt het kengetal waar het voorstel op rust: 23,2 gekwalificeerde leads per duizend gesprekspogingen.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elke van de 2.629 pogingen ligt vast wanneer hij gevoerd is en wat hij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's Ochtends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Tussen 8 en 12 uur krijgen we 71,9 procent van de gebelde bedrijven te spreken. Na 15 uur zakt dat naar 54,2 procent.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Ook de dag maakt verschil</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Woensdag levert de hoogste bereikbaarheid op met 71,8 procent, donderdag de laagste met 57,2 procent.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Beldagen op de beste momenten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op de dagen en dagdelen die in jullie eigen cijfers het hoogste scoren, en na elke periode kijken we of dat nog klopt.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Per duizend pogingen levert de ochtend 26,2 leads op en het eind van de middag 15,1. Daar plannen we 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een half jaar hebben we 2.100 bedrijven benaderd en 2.629 keer gebeld. Dat is nog maar een fractie van de markt, en elk gesprek is ook een moment waarop iemand de naam Moyee hoort.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NOG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pijplijn is nog lang niet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leeg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217</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148 terugbelafspraken en 68 bedrijven die informatie kregen.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235</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ZITTEN AAN EEN CONTRACT</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Die zijn nu voorzien, maar hun contract loopt een keer af. Wij houden ze vast.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372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NOG NIET BEREIKT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Wel benaderd, nog geen contact gehad. Daar is nog volledige winst te halen.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2.100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BENADERD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En dat is nog maar een fractie van de markt. Er kan hier nog jaren op gebeld worden.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Elke periode die we bellen groeit deze lijst mee. Opschalen betekent dus ook sneller terug bij de bedrijven die er al in zitten.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16 leads</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pPr indent="0" marL="0">
              <a:buNone/>
            </a:pPr>
            <a:r>
              <a:rPr lang="en-US" sz="1000" i="1" dirty="0">
                <a:solidFill>
                  <a:srgbClr val="38B6FF"/>
                </a:solidFill>
                <a:latin typeface="Georgia" pitchFamily="34" charset="0"/>
                <a:ea typeface="Georgia" pitchFamily="34" charset="-122"/>
                <a:cs typeface="Georgia" pitchFamily="34" charset="-120"/>
              </a:rPr>
              <a:t>   ons advies</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€ 4.000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19 leads</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zijn een indicatie, gebaseerd op 23,2 gekwalificeerde leads per duizend gesprekspogingen over 2.629 gesprekken voor Moyee, bij ongeveer 100 pogingen per beldag.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DIT VOOR JULLIE BETEKENT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Bijna twee keer zoveel gesprekken, voor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dezelfde prijs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per lead.</a:t>
            </a:r>
            <a:endParaRPr lang="en-US" sz="3200" dirty="0"/>
          </a:p>
        </p:txBody>
      </p:sp>
      <p:sp>
        <p:nvSpPr>
          <p:cNvPr id="7" name="Shape 5"/>
          <p:cNvSpPr/>
          <p:nvPr/>
        </p:nvSpPr>
        <p:spPr>
          <a:xfrm>
            <a:off x="609598" y="2489194"/>
            <a:ext cx="5384787" cy="2768593"/>
          </a:xfrm>
          <a:prstGeom prst="roundRect">
            <a:avLst>
              <a:gd name="adj" fmla="val 3670"/>
            </a:avLst>
          </a:prstGeom>
          <a:solidFill>
            <a:srgbClr val="F8F4EB"/>
          </a:solidFill>
          <a:ln/>
        </p:spPr>
      </p:sp>
      <p:sp>
        <p:nvSpPr>
          <p:cNvPr id="8" name="Text 6"/>
          <p:cNvSpPr txBox="1"/>
          <p:nvPr/>
        </p:nvSpPr>
        <p:spPr>
          <a:xfrm>
            <a:off x="939798" y="2768593"/>
            <a:ext cx="4724388"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 · ± 4,1 BELDAGEN</a:t>
            </a:r>
            <a:endParaRPr lang="en-US" sz="800" dirty="0"/>
          </a:p>
        </p:txBody>
      </p:sp>
      <p:sp>
        <p:nvSpPr>
          <p:cNvPr id="9" name="Text 7"/>
          <p:cNvSpPr txBox="1"/>
          <p:nvPr/>
        </p:nvSpPr>
        <p:spPr>
          <a:xfrm>
            <a:off x="939798" y="2984493"/>
            <a:ext cx="4724388" cy="3301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€ 1.500 per maand plus € 150 per tasting</a:t>
            </a:r>
            <a:endParaRPr lang="en-US" sz="1500" dirty="0"/>
          </a:p>
        </p:txBody>
      </p:sp>
      <p:sp>
        <p:nvSpPr>
          <p:cNvPr id="10" name="Text 8"/>
          <p:cNvSpPr txBox="1"/>
          <p:nvPr/>
        </p:nvSpPr>
        <p:spPr>
          <a:xfrm>
            <a:off x="939798" y="3378192"/>
            <a:ext cx="3479791" cy="4190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Kosten per 4 weken</a:t>
            </a:r>
            <a:endParaRPr lang="en-US" sz="1100" dirty="0"/>
          </a:p>
        </p:txBody>
      </p:sp>
      <p:sp>
        <p:nvSpPr>
          <p:cNvPr id="11" name="Text 9"/>
          <p:cNvSpPr txBox="1"/>
          <p:nvPr/>
        </p:nvSpPr>
        <p:spPr>
          <a:xfrm>
            <a:off x="4419589" y="3378192"/>
            <a:ext cx="1244597" cy="4190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€ 2.040</a:t>
            </a:r>
            <a:endParaRPr lang="en-US" sz="1350" dirty="0"/>
          </a:p>
        </p:txBody>
      </p:sp>
      <p:sp>
        <p:nvSpPr>
          <p:cNvPr id="12" name="Shape 10"/>
          <p:cNvSpPr/>
          <p:nvPr/>
        </p:nvSpPr>
        <p:spPr>
          <a:xfrm>
            <a:off x="939798" y="3797291"/>
            <a:ext cx="4724388" cy="0"/>
          </a:xfrm>
          <a:prstGeom prst="line">
            <a:avLst/>
          </a:prstGeom>
          <a:noFill/>
          <a:ln w="9525">
            <a:solidFill>
              <a:srgbClr val="D8D2C4"/>
            </a:solidFill>
            <a:prstDash val="solid"/>
          </a:ln>
        </p:spPr>
      </p:sp>
      <p:sp>
        <p:nvSpPr>
          <p:cNvPr id="13" name="Text 11"/>
          <p:cNvSpPr txBox="1"/>
          <p:nvPr/>
        </p:nvSpPr>
        <p:spPr>
          <a:xfrm>
            <a:off x="939798" y="3797291"/>
            <a:ext cx="3479791" cy="4190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Gesprekspogingen</a:t>
            </a:r>
            <a:endParaRPr lang="en-US" sz="1100" dirty="0"/>
          </a:p>
        </p:txBody>
      </p:sp>
      <p:sp>
        <p:nvSpPr>
          <p:cNvPr id="14" name="Text 12"/>
          <p:cNvSpPr txBox="1"/>
          <p:nvPr/>
        </p:nvSpPr>
        <p:spPr>
          <a:xfrm>
            <a:off x="4419589" y="3797291"/>
            <a:ext cx="1244597" cy="4190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414</a:t>
            </a:r>
            <a:endParaRPr lang="en-US" sz="1350" dirty="0"/>
          </a:p>
        </p:txBody>
      </p:sp>
      <p:sp>
        <p:nvSpPr>
          <p:cNvPr id="15" name="Shape 13"/>
          <p:cNvSpPr/>
          <p:nvPr/>
        </p:nvSpPr>
        <p:spPr>
          <a:xfrm>
            <a:off x="939798" y="4216389"/>
            <a:ext cx="4724388" cy="0"/>
          </a:xfrm>
          <a:prstGeom prst="line">
            <a:avLst/>
          </a:prstGeom>
          <a:noFill/>
          <a:ln w="9525">
            <a:solidFill>
              <a:srgbClr val="D8D2C4"/>
            </a:solidFill>
            <a:prstDash val="solid"/>
          </a:ln>
        </p:spPr>
      </p:sp>
      <p:sp>
        <p:nvSpPr>
          <p:cNvPr id="16" name="Text 14"/>
          <p:cNvSpPr txBox="1"/>
          <p:nvPr/>
        </p:nvSpPr>
        <p:spPr>
          <a:xfrm>
            <a:off x="939798" y="4216389"/>
            <a:ext cx="3479791" cy="4190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Verwachte leads</a:t>
            </a:r>
            <a:endParaRPr lang="en-US" sz="1100" dirty="0"/>
          </a:p>
        </p:txBody>
      </p:sp>
      <p:sp>
        <p:nvSpPr>
          <p:cNvPr id="17" name="Text 15"/>
          <p:cNvSpPr txBox="1"/>
          <p:nvPr/>
        </p:nvSpPr>
        <p:spPr>
          <a:xfrm>
            <a:off x="4419589" y="4216389"/>
            <a:ext cx="1244597" cy="4190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10</a:t>
            </a:r>
            <a:endParaRPr lang="en-US" sz="1350" dirty="0"/>
          </a:p>
        </p:txBody>
      </p:sp>
      <p:sp>
        <p:nvSpPr>
          <p:cNvPr id="18" name="Shape 16"/>
          <p:cNvSpPr/>
          <p:nvPr/>
        </p:nvSpPr>
        <p:spPr>
          <a:xfrm>
            <a:off x="939798" y="4635488"/>
            <a:ext cx="4724388" cy="0"/>
          </a:xfrm>
          <a:prstGeom prst="line">
            <a:avLst/>
          </a:prstGeom>
          <a:noFill/>
          <a:ln w="9525">
            <a:solidFill>
              <a:srgbClr val="D8D2C4"/>
            </a:solidFill>
            <a:prstDash val="solid"/>
          </a:ln>
        </p:spPr>
      </p:sp>
      <p:sp>
        <p:nvSpPr>
          <p:cNvPr id="19" name="Text 17"/>
          <p:cNvSpPr txBox="1"/>
          <p:nvPr/>
        </p:nvSpPr>
        <p:spPr>
          <a:xfrm>
            <a:off x="939798" y="4635488"/>
            <a:ext cx="3479791" cy="4190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Prijs per lead</a:t>
            </a:r>
            <a:endParaRPr lang="en-US" sz="1100" dirty="0"/>
          </a:p>
        </p:txBody>
      </p:sp>
      <p:sp>
        <p:nvSpPr>
          <p:cNvPr id="20" name="Text 18"/>
          <p:cNvSpPr txBox="1"/>
          <p:nvPr/>
        </p:nvSpPr>
        <p:spPr>
          <a:xfrm>
            <a:off x="4419589" y="4635488"/>
            <a:ext cx="1244597" cy="4190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€ 212</a:t>
            </a:r>
            <a:endParaRPr lang="en-US" sz="1350" dirty="0"/>
          </a:p>
        </p:txBody>
      </p:sp>
      <p:sp>
        <p:nvSpPr>
          <p:cNvPr id="21" name="Shape 19"/>
          <p:cNvSpPr/>
          <p:nvPr/>
        </p:nvSpPr>
        <p:spPr>
          <a:xfrm>
            <a:off x="6197585" y="2489194"/>
            <a:ext cx="5384787" cy="2768593"/>
          </a:xfrm>
          <a:prstGeom prst="roundRect">
            <a:avLst>
              <a:gd name="adj" fmla="val 3670"/>
            </a:avLst>
          </a:prstGeom>
          <a:solidFill>
            <a:srgbClr val="000000"/>
          </a:solidFill>
          <a:ln/>
        </p:spPr>
      </p:sp>
      <p:sp>
        <p:nvSpPr>
          <p:cNvPr id="22" name="Text 20"/>
          <p:cNvSpPr txBox="1"/>
          <p:nvPr/>
        </p:nvSpPr>
        <p:spPr>
          <a:xfrm>
            <a:off x="6527784" y="2768593"/>
            <a:ext cx="4724388"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 · ACHT BELDAGEN</a:t>
            </a:r>
            <a:endParaRPr lang="en-US" sz="800" dirty="0"/>
          </a:p>
        </p:txBody>
      </p:sp>
      <p:sp>
        <p:nvSpPr>
          <p:cNvPr id="23" name="Text 21"/>
          <p:cNvSpPr txBox="1"/>
          <p:nvPr/>
        </p:nvSpPr>
        <p:spPr>
          <a:xfrm>
            <a:off x="6527784" y="2984493"/>
            <a:ext cx="4724388" cy="330199"/>
          </a:xfrm>
          <a:prstGeom prst="rect">
            <a:avLst/>
          </a:prstGeom>
          <a:noFill/>
          <a:ln/>
        </p:spPr>
        <p:txBody>
          <a:bodyPr wrap="square" lIns="0" tIns="0" rIns="0" bIns="0" rtlCol="0" anchor="ctr"/>
          <a:lstStyle/>
          <a:p>
            <a:pPr indent="0" marL="0">
              <a:buNone/>
            </a:pPr>
            <a:r>
              <a:rPr lang="en-US" sz="1500" b="1" dirty="0">
                <a:solidFill>
                  <a:srgbClr val="F2EFE6"/>
                </a:solidFill>
                <a:latin typeface="Arial" pitchFamily="34" charset="0"/>
                <a:ea typeface="Arial" pitchFamily="34" charset="-122"/>
                <a:cs typeface="Arial" pitchFamily="34" charset="-120"/>
              </a:rPr>
              <a:t>€ 500 per beldag, verder niets</a:t>
            </a:r>
            <a:endParaRPr lang="en-US" sz="1500" dirty="0"/>
          </a:p>
        </p:txBody>
      </p:sp>
      <p:sp>
        <p:nvSpPr>
          <p:cNvPr id="24" name="Text 22"/>
          <p:cNvSpPr txBox="1"/>
          <p:nvPr/>
        </p:nvSpPr>
        <p:spPr>
          <a:xfrm>
            <a:off x="6527784" y="3378192"/>
            <a:ext cx="3479791" cy="4190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Kosten per 4 weken</a:t>
            </a:r>
            <a:endParaRPr lang="en-US" sz="1100" dirty="0"/>
          </a:p>
        </p:txBody>
      </p:sp>
      <p:sp>
        <p:nvSpPr>
          <p:cNvPr id="25" name="Text 23"/>
          <p:cNvSpPr txBox="1"/>
          <p:nvPr/>
        </p:nvSpPr>
        <p:spPr>
          <a:xfrm>
            <a:off x="10007575" y="3378192"/>
            <a:ext cx="1244597" cy="4190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€ 4.000</a:t>
            </a:r>
            <a:endParaRPr lang="en-US" sz="1350" dirty="0"/>
          </a:p>
        </p:txBody>
      </p:sp>
      <p:sp>
        <p:nvSpPr>
          <p:cNvPr id="26" name="Shape 24"/>
          <p:cNvSpPr/>
          <p:nvPr/>
        </p:nvSpPr>
        <p:spPr>
          <a:xfrm>
            <a:off x="6527784" y="3797291"/>
            <a:ext cx="4724388" cy="0"/>
          </a:xfrm>
          <a:prstGeom prst="line">
            <a:avLst/>
          </a:prstGeom>
          <a:noFill/>
          <a:ln w="9525">
            <a:solidFill>
              <a:srgbClr val="3A4152"/>
            </a:solidFill>
            <a:prstDash val="solid"/>
          </a:ln>
        </p:spPr>
      </p:sp>
      <p:sp>
        <p:nvSpPr>
          <p:cNvPr id="27" name="Text 25"/>
          <p:cNvSpPr txBox="1"/>
          <p:nvPr/>
        </p:nvSpPr>
        <p:spPr>
          <a:xfrm>
            <a:off x="6527784" y="3797291"/>
            <a:ext cx="3479791" cy="4190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Gesprekspogingen</a:t>
            </a:r>
            <a:endParaRPr lang="en-US" sz="1100" dirty="0"/>
          </a:p>
        </p:txBody>
      </p:sp>
      <p:sp>
        <p:nvSpPr>
          <p:cNvPr id="28" name="Text 26"/>
          <p:cNvSpPr txBox="1"/>
          <p:nvPr/>
        </p:nvSpPr>
        <p:spPr>
          <a:xfrm>
            <a:off x="10007575" y="3797291"/>
            <a:ext cx="1244597" cy="4190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800</a:t>
            </a:r>
            <a:endParaRPr lang="en-US" sz="1350" dirty="0"/>
          </a:p>
        </p:txBody>
      </p:sp>
      <p:sp>
        <p:nvSpPr>
          <p:cNvPr id="29" name="Shape 27"/>
          <p:cNvSpPr/>
          <p:nvPr/>
        </p:nvSpPr>
        <p:spPr>
          <a:xfrm>
            <a:off x="6527784" y="4216389"/>
            <a:ext cx="4724388" cy="0"/>
          </a:xfrm>
          <a:prstGeom prst="line">
            <a:avLst/>
          </a:prstGeom>
          <a:noFill/>
          <a:ln w="9525">
            <a:solidFill>
              <a:srgbClr val="3A4152"/>
            </a:solidFill>
            <a:prstDash val="solid"/>
          </a:ln>
        </p:spPr>
      </p:sp>
      <p:sp>
        <p:nvSpPr>
          <p:cNvPr id="30" name="Text 28"/>
          <p:cNvSpPr txBox="1"/>
          <p:nvPr/>
        </p:nvSpPr>
        <p:spPr>
          <a:xfrm>
            <a:off x="6527784" y="4216389"/>
            <a:ext cx="3479791" cy="4190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Verwachte leads</a:t>
            </a:r>
            <a:endParaRPr lang="en-US" sz="1100" dirty="0"/>
          </a:p>
        </p:txBody>
      </p:sp>
      <p:sp>
        <p:nvSpPr>
          <p:cNvPr id="31" name="Text 29"/>
          <p:cNvSpPr txBox="1"/>
          <p:nvPr/>
        </p:nvSpPr>
        <p:spPr>
          <a:xfrm>
            <a:off x="10007575" y="4216389"/>
            <a:ext cx="1244597" cy="4190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19</a:t>
            </a:r>
            <a:endParaRPr lang="en-US" sz="1350" dirty="0"/>
          </a:p>
        </p:txBody>
      </p:sp>
      <p:sp>
        <p:nvSpPr>
          <p:cNvPr id="32" name="Shape 30"/>
          <p:cNvSpPr/>
          <p:nvPr/>
        </p:nvSpPr>
        <p:spPr>
          <a:xfrm>
            <a:off x="6527784" y="4635488"/>
            <a:ext cx="4724388" cy="0"/>
          </a:xfrm>
          <a:prstGeom prst="line">
            <a:avLst/>
          </a:prstGeom>
          <a:noFill/>
          <a:ln w="9525">
            <a:solidFill>
              <a:srgbClr val="3A4152"/>
            </a:solidFill>
            <a:prstDash val="solid"/>
          </a:ln>
        </p:spPr>
      </p:sp>
      <p:sp>
        <p:nvSpPr>
          <p:cNvPr id="33" name="Text 31"/>
          <p:cNvSpPr txBox="1"/>
          <p:nvPr/>
        </p:nvSpPr>
        <p:spPr>
          <a:xfrm>
            <a:off x="6527784" y="4635488"/>
            <a:ext cx="3479791" cy="4190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Prijs per lead</a:t>
            </a:r>
            <a:endParaRPr lang="en-US" sz="1100" dirty="0"/>
          </a:p>
        </p:txBody>
      </p:sp>
      <p:sp>
        <p:nvSpPr>
          <p:cNvPr id="34" name="Text 32"/>
          <p:cNvSpPr txBox="1"/>
          <p:nvPr/>
        </p:nvSpPr>
        <p:spPr>
          <a:xfrm>
            <a:off x="10007575" y="4635488"/>
            <a:ext cx="1244597" cy="4190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€ 215</a:t>
            </a:r>
            <a:endParaRPr lang="en-US" sz="1350" dirty="0"/>
          </a:p>
        </p:txBody>
      </p:sp>
      <p:sp>
        <p:nvSpPr>
          <p:cNvPr id="35" name="Shape 33"/>
          <p:cNvSpPr/>
          <p:nvPr/>
        </p:nvSpPr>
        <p:spPr>
          <a:xfrm>
            <a:off x="609598" y="5854685"/>
            <a:ext cx="76200" cy="76200"/>
          </a:xfrm>
          <a:prstGeom prst="ellipse">
            <a:avLst/>
          </a:prstGeom>
          <a:solidFill>
            <a:srgbClr val="38B6FF"/>
          </a:solidFill>
          <a:ln/>
        </p:spPr>
      </p:sp>
      <p:sp>
        <p:nvSpPr>
          <p:cNvPr id="36" name="Text 34"/>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Acht beldagen is 93 procent meer gesprekken dan we nu per periode voeren, tegen vrijwel dezelfde prijs per lead. En jullie weten vooraf wat een periode kost, in plaats van achteraf.</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Ons advies is acht.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2026-09-26T14:48:43Z</dcterms:created>
  <dcterms:modified xsi:type="dcterms:W3CDTF">2026-09-26T14:48:43Z</dcterms:modified>
</cp:coreProperties>
</file>