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13</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negentien weken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mei.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19</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Mei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NEGENTIEN WEKEN MOYEE IN CIJFERS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Opgeleverd tussen mei en september 2026, over negentien weken bellen.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1.572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GEBELDE CONTACTEN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we in die periode aan de lijn hebben geprobeerd te krijgen.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38%</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BEREIKBAARHEID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gebelde contacten kregen we de juiste persoon daadwerkelijk te spreken.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LEADS PER BELDAG</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Gemiddeld over negentien weken, bij één beldag per week. Dit getal is de basis onder het voorstel.</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Gemiddeld één tasting per beldag. De overige leads willen bestellen en hoeven alleen nog opgevolgd te worden.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 gesprek leggen we vast wanneer het gevoerd is en wat het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Wanneer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Uit negentien weken Moyee-data halen we op welke dagen en dagdelen we de beslisser ook daadwerkelijk aan de lijn krijgen.</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Beldagen op de beste dagen</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niet op de dagen die ons uitkomen, maar op de dagen die in jullie cijfers het hoogste scoren.</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scherper</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levert nieuwe data op. De indeling van de beldagen past zich daarop aan, zonder dat de prijs verandert.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concrete dagen en dagdelen lopen we maandag samen door, met de cijfers erbij.</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negentien weken hebben we 1.572 bedrijven gebeld. Dat is nog maar een fractie van de markt, dus we kunnen hier nog lang op doorbellen.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578094"/>
          </a:xfrm>
          <a:prstGeom prst="roundRect">
            <a:avLst>
              <a:gd name="adj" fmla="val 3941"/>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 leads</a:t>
            </a:r>
            <a:endParaRPr lang="en-US" sz="1250" dirty="0"/>
          </a:p>
        </p:txBody>
      </p:sp>
      <p:sp>
        <p:nvSpPr>
          <p:cNvPr id="17" name="Shape 15"/>
          <p:cNvSpPr/>
          <p:nvPr/>
        </p:nvSpPr>
        <p:spPr>
          <a:xfrm>
            <a:off x="609598" y="3663941"/>
            <a:ext cx="10972773" cy="0"/>
          </a:xfrm>
          <a:prstGeom prst="line">
            <a:avLst/>
          </a:prstGeom>
          <a:noFill/>
          <a:ln w="9525">
            <a:solidFill>
              <a:srgbClr val="3A4152"/>
            </a:solidFill>
            <a:prstDash val="solid"/>
          </a:ln>
        </p:spPr>
      </p:sp>
      <p:sp>
        <p:nvSpPr>
          <p:cNvPr id="18" name="Text 16"/>
          <p:cNvSpPr txBox="1"/>
          <p:nvPr/>
        </p:nvSpPr>
        <p:spPr>
          <a:xfrm>
            <a:off x="888998" y="3663941"/>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 beldagen</a:t>
            </a:r>
            <a:endParaRPr lang="en-US" sz="1250" dirty="0"/>
          </a:p>
        </p:txBody>
      </p:sp>
      <p:sp>
        <p:nvSpPr>
          <p:cNvPr id="19" name="Text 17"/>
          <p:cNvSpPr txBox="1"/>
          <p:nvPr/>
        </p:nvSpPr>
        <p:spPr>
          <a:xfrm>
            <a:off x="3886190" y="3663941"/>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663941"/>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€ 3.300</a:t>
            </a:r>
            <a:endParaRPr lang="en-US" sz="1250" dirty="0"/>
          </a:p>
        </p:txBody>
      </p:sp>
      <p:sp>
        <p:nvSpPr>
          <p:cNvPr id="21" name="Text 19"/>
          <p:cNvSpPr txBox="1"/>
          <p:nvPr/>
        </p:nvSpPr>
        <p:spPr>
          <a:xfrm>
            <a:off x="8737578" y="3663941"/>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14 leads</a:t>
            </a:r>
            <a:endParaRPr lang="en-US" sz="1250" dirty="0"/>
          </a:p>
        </p:txBody>
      </p:sp>
      <p:sp>
        <p:nvSpPr>
          <p:cNvPr id="22" name="Shape 20"/>
          <p:cNvSpPr/>
          <p:nvPr/>
        </p:nvSpPr>
        <p:spPr>
          <a:xfrm>
            <a:off x="615948" y="4190990"/>
            <a:ext cx="10960073" cy="527049"/>
          </a:xfrm>
          <a:prstGeom prst="rect">
            <a:avLst/>
          </a:prstGeom>
          <a:solidFill>
            <a:srgbClr val="38B6FF">
              <a:alpha val="11000"/>
            </a:srgbClr>
          </a:solidFill>
          <a:ln/>
        </p:spPr>
      </p:sp>
      <p:sp>
        <p:nvSpPr>
          <p:cNvPr id="23" name="Shape 21"/>
          <p:cNvSpPr/>
          <p:nvPr/>
        </p:nvSpPr>
        <p:spPr>
          <a:xfrm>
            <a:off x="609598" y="4190990"/>
            <a:ext cx="10972773" cy="0"/>
          </a:xfrm>
          <a:prstGeom prst="line">
            <a:avLst/>
          </a:prstGeom>
          <a:noFill/>
          <a:ln w="9525">
            <a:solidFill>
              <a:srgbClr val="3A4152"/>
            </a:solidFill>
            <a:prstDash val="solid"/>
          </a:ln>
        </p:spPr>
      </p:sp>
      <p:sp>
        <p:nvSpPr>
          <p:cNvPr id="24" name="Text 22"/>
          <p:cNvSpPr txBox="1"/>
          <p:nvPr/>
        </p:nvSpPr>
        <p:spPr>
          <a:xfrm>
            <a:off x="888998" y="4190990"/>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a:t>
            </a:r>
            <a:pPr indent="0" marL="0">
              <a:buNone/>
            </a:pPr>
            <a:r>
              <a:rPr lang="en-US" sz="1000" i="1" dirty="0">
                <a:solidFill>
                  <a:srgbClr val="38B6FF"/>
                </a:solidFill>
                <a:latin typeface="Georgia" pitchFamily="34" charset="0"/>
                <a:ea typeface="Georgia" pitchFamily="34" charset="-122"/>
                <a:cs typeface="Georgia" pitchFamily="34" charset="-120"/>
              </a:rPr>
              <a:t>   ons advies</a:t>
            </a:r>
            <a:endParaRPr lang="en-US" sz="1250" dirty="0"/>
          </a:p>
        </p:txBody>
      </p:sp>
      <p:sp>
        <p:nvSpPr>
          <p:cNvPr id="25" name="Text 23"/>
          <p:cNvSpPr txBox="1"/>
          <p:nvPr/>
        </p:nvSpPr>
        <p:spPr>
          <a:xfrm>
            <a:off x="3886190" y="4190990"/>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190990"/>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a:t>
            </a:r>
            <a:endParaRPr lang="en-US" sz="1250" dirty="0"/>
          </a:p>
        </p:txBody>
      </p:sp>
      <p:sp>
        <p:nvSpPr>
          <p:cNvPr id="27" name="Text 25"/>
          <p:cNvSpPr txBox="1"/>
          <p:nvPr/>
        </p:nvSpPr>
        <p:spPr>
          <a:xfrm>
            <a:off x="8737578" y="4190990"/>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leads</a:t>
            </a:r>
            <a:endParaRPr lang="en-US" sz="1250" dirty="0"/>
          </a:p>
        </p:txBody>
      </p:sp>
      <p:sp>
        <p:nvSpPr>
          <p:cNvPr id="28" name="Shape 26"/>
          <p:cNvSpPr/>
          <p:nvPr/>
        </p:nvSpPr>
        <p:spPr>
          <a:xfrm>
            <a:off x="609598" y="4718038"/>
            <a:ext cx="10972773" cy="0"/>
          </a:xfrm>
          <a:prstGeom prst="line">
            <a:avLst/>
          </a:prstGeom>
          <a:noFill/>
          <a:ln w="9525">
            <a:solidFill>
              <a:srgbClr val="3A4152"/>
            </a:solidFill>
            <a:prstDash val="solid"/>
          </a:ln>
        </p:spPr>
      </p:sp>
      <p:sp>
        <p:nvSpPr>
          <p:cNvPr id="29" name="Text 27"/>
          <p:cNvSpPr txBox="1"/>
          <p:nvPr/>
        </p:nvSpPr>
        <p:spPr>
          <a:xfrm>
            <a:off x="888998" y="4718038"/>
            <a:ext cx="2920993"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 of meer</a:t>
            </a:r>
            <a:endParaRPr lang="en-US" sz="1250" dirty="0"/>
          </a:p>
        </p:txBody>
      </p:sp>
      <p:sp>
        <p:nvSpPr>
          <p:cNvPr id="30" name="Text 28"/>
          <p:cNvSpPr txBox="1"/>
          <p:nvPr/>
        </p:nvSpPr>
        <p:spPr>
          <a:xfrm>
            <a:off x="3886190" y="4718038"/>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€ 475</a:t>
            </a:r>
            <a:endParaRPr lang="en-US" sz="1250" dirty="0"/>
          </a:p>
        </p:txBody>
      </p:sp>
      <p:sp>
        <p:nvSpPr>
          <p:cNvPr id="31" name="Text 29"/>
          <p:cNvSpPr txBox="1"/>
          <p:nvPr/>
        </p:nvSpPr>
        <p:spPr>
          <a:xfrm>
            <a:off x="6324584" y="4718038"/>
            <a:ext cx="23494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€ 4.750</a:t>
            </a:r>
            <a:endParaRPr lang="en-US" sz="1250" dirty="0"/>
          </a:p>
        </p:txBody>
      </p:sp>
      <p:sp>
        <p:nvSpPr>
          <p:cNvPr id="32" name="Text 30"/>
          <p:cNvSpPr txBox="1"/>
          <p:nvPr/>
        </p:nvSpPr>
        <p:spPr>
          <a:xfrm>
            <a:off x="8737578" y="4718038"/>
            <a:ext cx="2539994" cy="52704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in overleg</a:t>
            </a:r>
            <a:endParaRPr lang="en-US" sz="1250" dirty="0"/>
          </a:p>
        </p:txBody>
      </p:sp>
      <p:sp>
        <p:nvSpPr>
          <p:cNvPr id="33" name="Shape 31"/>
          <p:cNvSpPr/>
          <p:nvPr/>
        </p:nvSpPr>
        <p:spPr>
          <a:xfrm>
            <a:off x="609598" y="5854685"/>
            <a:ext cx="76200" cy="76200"/>
          </a:xfrm>
          <a:prstGeom prst="ellipse">
            <a:avLst/>
          </a:prstGeom>
          <a:solidFill>
            <a:srgbClr val="38B6FF"/>
          </a:solidFill>
          <a:ln/>
        </p:spPr>
      </p:sp>
      <p:sp>
        <p:nvSpPr>
          <p:cNvPr id="34" name="Text 32"/>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Gerekend met 2,4 gekwalificeerde leads per beldag, het gemiddelde over negentien weken Moyee. Daarvan is er gemiddeld één per beldag een tasting. Minimaal vier beldagen per periode, prijzen excl. btw.</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DIT VOOR JULLIE BETEKENT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Meer beldagen, en toch een lagere prijs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per lead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539994"/>
            <a:ext cx="5384787" cy="2920993"/>
          </a:xfrm>
          <a:prstGeom prst="roundRect">
            <a:avLst>
              <a:gd name="adj" fmla="val 3478"/>
            </a:avLst>
          </a:prstGeom>
          <a:solidFill>
            <a:srgbClr val="F8F4EB"/>
          </a:solidFill>
          <a:ln/>
        </p:spPr>
      </p:sp>
      <p:sp>
        <p:nvSpPr>
          <p:cNvPr id="8" name="Text 6"/>
          <p:cNvSpPr txBox="1"/>
          <p:nvPr/>
        </p:nvSpPr>
        <p:spPr>
          <a:xfrm>
            <a:off x="939798" y="2819393"/>
            <a:ext cx="4724388"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 · VIER BELDAGEN</a:t>
            </a:r>
            <a:endParaRPr lang="en-US" sz="800" dirty="0"/>
          </a:p>
        </p:txBody>
      </p:sp>
      <p:sp>
        <p:nvSpPr>
          <p:cNvPr id="9" name="Text 7"/>
          <p:cNvSpPr txBox="1"/>
          <p:nvPr/>
        </p:nvSpPr>
        <p:spPr>
          <a:xfrm>
            <a:off x="939798" y="3035292"/>
            <a:ext cx="4724388" cy="3301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€ 1.500 per maand plus € 150 per tasting</a:t>
            </a:r>
            <a:endParaRPr lang="en-US" sz="1500" dirty="0"/>
          </a:p>
        </p:txBody>
      </p:sp>
      <p:sp>
        <p:nvSpPr>
          <p:cNvPr id="10" name="Text 8"/>
          <p:cNvSpPr txBox="1"/>
          <p:nvPr/>
        </p:nvSpPr>
        <p:spPr>
          <a:xfrm>
            <a:off x="939798" y="3479791"/>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Kosten per 4 weken</a:t>
            </a:r>
            <a:endParaRPr lang="en-US" sz="1100" dirty="0"/>
          </a:p>
        </p:txBody>
      </p:sp>
      <p:sp>
        <p:nvSpPr>
          <p:cNvPr id="11" name="Text 9"/>
          <p:cNvSpPr txBox="1"/>
          <p:nvPr/>
        </p:nvSpPr>
        <p:spPr>
          <a:xfrm>
            <a:off x="4419589" y="3479791"/>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€ 2.400</a:t>
            </a:r>
            <a:endParaRPr lang="en-US" sz="1350" dirty="0"/>
          </a:p>
        </p:txBody>
      </p:sp>
      <p:sp>
        <p:nvSpPr>
          <p:cNvPr id="12" name="Shape 10"/>
          <p:cNvSpPr/>
          <p:nvPr/>
        </p:nvSpPr>
        <p:spPr>
          <a:xfrm>
            <a:off x="939798" y="3949690"/>
            <a:ext cx="4724388" cy="0"/>
          </a:xfrm>
          <a:prstGeom prst="line">
            <a:avLst/>
          </a:prstGeom>
          <a:noFill/>
          <a:ln w="9525">
            <a:solidFill>
              <a:srgbClr val="D8D2C4"/>
            </a:solidFill>
            <a:prstDash val="solid"/>
          </a:ln>
        </p:spPr>
      </p:sp>
      <p:sp>
        <p:nvSpPr>
          <p:cNvPr id="13" name="Text 11"/>
          <p:cNvSpPr txBox="1"/>
          <p:nvPr/>
        </p:nvSpPr>
        <p:spPr>
          <a:xfrm>
            <a:off x="939798" y="3949690"/>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Waarvan tastingfees</a:t>
            </a:r>
            <a:endParaRPr lang="en-US" sz="1100" dirty="0"/>
          </a:p>
        </p:txBody>
      </p:sp>
      <p:sp>
        <p:nvSpPr>
          <p:cNvPr id="14" name="Text 12"/>
          <p:cNvSpPr txBox="1"/>
          <p:nvPr/>
        </p:nvSpPr>
        <p:spPr>
          <a:xfrm>
            <a:off x="4419589" y="3949690"/>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€ 900</a:t>
            </a:r>
            <a:endParaRPr lang="en-US" sz="1350" dirty="0"/>
          </a:p>
        </p:txBody>
      </p:sp>
      <p:sp>
        <p:nvSpPr>
          <p:cNvPr id="15" name="Shape 13"/>
          <p:cNvSpPr/>
          <p:nvPr/>
        </p:nvSpPr>
        <p:spPr>
          <a:xfrm>
            <a:off x="939798" y="4419589"/>
            <a:ext cx="4724388" cy="0"/>
          </a:xfrm>
          <a:prstGeom prst="line">
            <a:avLst/>
          </a:prstGeom>
          <a:noFill/>
          <a:ln w="9525">
            <a:solidFill>
              <a:srgbClr val="D8D2C4"/>
            </a:solidFill>
            <a:prstDash val="solid"/>
          </a:ln>
        </p:spPr>
      </p:sp>
      <p:sp>
        <p:nvSpPr>
          <p:cNvPr id="16" name="Text 14"/>
          <p:cNvSpPr txBox="1"/>
          <p:nvPr/>
        </p:nvSpPr>
        <p:spPr>
          <a:xfrm>
            <a:off x="939798" y="4419589"/>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Verwachte leads</a:t>
            </a:r>
            <a:endParaRPr lang="en-US" sz="1100" dirty="0"/>
          </a:p>
        </p:txBody>
      </p:sp>
      <p:sp>
        <p:nvSpPr>
          <p:cNvPr id="17" name="Text 15"/>
          <p:cNvSpPr txBox="1"/>
          <p:nvPr/>
        </p:nvSpPr>
        <p:spPr>
          <a:xfrm>
            <a:off x="4419589" y="4419589"/>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10</a:t>
            </a:r>
            <a:endParaRPr lang="en-US" sz="1350" dirty="0"/>
          </a:p>
        </p:txBody>
      </p:sp>
      <p:sp>
        <p:nvSpPr>
          <p:cNvPr id="18" name="Shape 16"/>
          <p:cNvSpPr/>
          <p:nvPr/>
        </p:nvSpPr>
        <p:spPr>
          <a:xfrm>
            <a:off x="939798" y="4889488"/>
            <a:ext cx="4724388" cy="0"/>
          </a:xfrm>
          <a:prstGeom prst="line">
            <a:avLst/>
          </a:prstGeom>
          <a:noFill/>
          <a:ln w="9525">
            <a:solidFill>
              <a:srgbClr val="D8D2C4"/>
            </a:solidFill>
            <a:prstDash val="solid"/>
          </a:ln>
        </p:spPr>
      </p:sp>
      <p:sp>
        <p:nvSpPr>
          <p:cNvPr id="19" name="Text 17"/>
          <p:cNvSpPr txBox="1"/>
          <p:nvPr/>
        </p:nvSpPr>
        <p:spPr>
          <a:xfrm>
            <a:off x="939798" y="4889488"/>
            <a:ext cx="3479791" cy="469899"/>
          </a:xfrm>
          <a:prstGeom prst="rect">
            <a:avLst/>
          </a:prstGeom>
          <a:noFill/>
          <a:ln/>
        </p:spPr>
        <p:txBody>
          <a:bodyPr wrap="square" lIns="0" tIns="0" rIns="0" bIns="0" rtlCol="0" anchor="ctr"/>
          <a:lstStyle/>
          <a:p>
            <a:pPr indent="0" marL="0">
              <a:buNone/>
            </a:pPr>
            <a:r>
              <a:rPr lang="en-US" sz="1100" dirty="0">
                <a:solidFill>
                  <a:srgbClr val="6F6A5C"/>
                </a:solidFill>
                <a:latin typeface="Arial" pitchFamily="34" charset="0"/>
                <a:ea typeface="Arial" pitchFamily="34" charset="-122"/>
                <a:cs typeface="Arial" pitchFamily="34" charset="-120"/>
              </a:rPr>
              <a:t>Prijs per lead</a:t>
            </a:r>
            <a:endParaRPr lang="en-US" sz="1100" dirty="0"/>
          </a:p>
        </p:txBody>
      </p:sp>
      <p:sp>
        <p:nvSpPr>
          <p:cNvPr id="20" name="Text 18"/>
          <p:cNvSpPr txBox="1"/>
          <p:nvPr/>
        </p:nvSpPr>
        <p:spPr>
          <a:xfrm>
            <a:off x="4419589" y="4889488"/>
            <a:ext cx="1244597" cy="469899"/>
          </a:xfrm>
          <a:prstGeom prst="rect">
            <a:avLst/>
          </a:prstGeom>
          <a:noFill/>
          <a:ln/>
        </p:spPr>
        <p:txBody>
          <a:bodyPr wrap="square" lIns="0" tIns="0" rIns="0" bIns="0" rtlCol="0" anchor="ctr"/>
          <a:lstStyle/>
          <a:p>
            <a:pPr algn="r" indent="0" marL="0">
              <a:buNone/>
            </a:pPr>
            <a:r>
              <a:rPr lang="en-US" sz="1350" b="1" dirty="0">
                <a:solidFill>
                  <a:srgbClr val="1C2230"/>
                </a:solidFill>
                <a:latin typeface="Arial" pitchFamily="34" charset="0"/>
                <a:ea typeface="Arial" pitchFamily="34" charset="-122"/>
                <a:cs typeface="Arial" pitchFamily="34" charset="-120"/>
              </a:rPr>
              <a:t>± € 250</a:t>
            </a:r>
            <a:endParaRPr lang="en-US" sz="1350" dirty="0"/>
          </a:p>
        </p:txBody>
      </p:sp>
      <p:sp>
        <p:nvSpPr>
          <p:cNvPr id="21" name="Shape 19"/>
          <p:cNvSpPr/>
          <p:nvPr/>
        </p:nvSpPr>
        <p:spPr>
          <a:xfrm>
            <a:off x="6197585" y="2539994"/>
            <a:ext cx="5384787" cy="2920993"/>
          </a:xfrm>
          <a:prstGeom prst="roundRect">
            <a:avLst>
              <a:gd name="adj" fmla="val 3478"/>
            </a:avLst>
          </a:prstGeom>
          <a:solidFill>
            <a:srgbClr val="000000"/>
          </a:solidFill>
          <a:ln/>
        </p:spPr>
      </p:sp>
      <p:sp>
        <p:nvSpPr>
          <p:cNvPr id="22" name="Text 20"/>
          <p:cNvSpPr txBox="1"/>
          <p:nvPr/>
        </p:nvSpPr>
        <p:spPr>
          <a:xfrm>
            <a:off x="6527784" y="2819393"/>
            <a:ext cx="4724388"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 · ACHT BELDAGEN</a:t>
            </a:r>
            <a:endParaRPr lang="en-US" sz="800" dirty="0"/>
          </a:p>
        </p:txBody>
      </p:sp>
      <p:sp>
        <p:nvSpPr>
          <p:cNvPr id="23" name="Text 21"/>
          <p:cNvSpPr txBox="1"/>
          <p:nvPr/>
        </p:nvSpPr>
        <p:spPr>
          <a:xfrm>
            <a:off x="6527784" y="3035292"/>
            <a:ext cx="4724388" cy="330199"/>
          </a:xfrm>
          <a:prstGeom prst="rect">
            <a:avLst/>
          </a:prstGeom>
          <a:noFill/>
          <a:ln/>
        </p:spPr>
        <p:txBody>
          <a:bodyPr wrap="square" lIns="0" tIns="0" rIns="0" bIns="0" rtlCol="0" anchor="ctr"/>
          <a:lstStyle/>
          <a:p>
            <a:pPr indent="0" marL="0">
              <a:buNone/>
            </a:pPr>
            <a:r>
              <a:rPr lang="en-US" sz="1500" b="1" dirty="0">
                <a:solidFill>
                  <a:srgbClr val="F2EFE6"/>
                </a:solidFill>
                <a:latin typeface="Arial" pitchFamily="34" charset="0"/>
                <a:ea typeface="Arial" pitchFamily="34" charset="-122"/>
                <a:cs typeface="Arial" pitchFamily="34" charset="-120"/>
              </a:rPr>
              <a:t>€ 500 per beldag, verder niets</a:t>
            </a:r>
            <a:endParaRPr lang="en-US" sz="1500" dirty="0"/>
          </a:p>
        </p:txBody>
      </p:sp>
      <p:sp>
        <p:nvSpPr>
          <p:cNvPr id="24" name="Text 22"/>
          <p:cNvSpPr txBox="1"/>
          <p:nvPr/>
        </p:nvSpPr>
        <p:spPr>
          <a:xfrm>
            <a:off x="6527784" y="3479791"/>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Kosten per 4 weken</a:t>
            </a:r>
            <a:endParaRPr lang="en-US" sz="1100" dirty="0"/>
          </a:p>
        </p:txBody>
      </p:sp>
      <p:sp>
        <p:nvSpPr>
          <p:cNvPr id="25" name="Text 23"/>
          <p:cNvSpPr txBox="1"/>
          <p:nvPr/>
        </p:nvSpPr>
        <p:spPr>
          <a:xfrm>
            <a:off x="10007575" y="3479791"/>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€ 4.000</a:t>
            </a:r>
            <a:endParaRPr lang="en-US" sz="1350" dirty="0"/>
          </a:p>
        </p:txBody>
      </p:sp>
      <p:sp>
        <p:nvSpPr>
          <p:cNvPr id="26" name="Shape 24"/>
          <p:cNvSpPr/>
          <p:nvPr/>
        </p:nvSpPr>
        <p:spPr>
          <a:xfrm>
            <a:off x="6527784" y="3949690"/>
            <a:ext cx="4724388" cy="0"/>
          </a:xfrm>
          <a:prstGeom prst="line">
            <a:avLst/>
          </a:prstGeom>
          <a:noFill/>
          <a:ln w="9525">
            <a:solidFill>
              <a:srgbClr val="3A4152"/>
            </a:solidFill>
            <a:prstDash val="solid"/>
          </a:ln>
        </p:spPr>
      </p:sp>
      <p:sp>
        <p:nvSpPr>
          <p:cNvPr id="27" name="Text 25"/>
          <p:cNvSpPr txBox="1"/>
          <p:nvPr/>
        </p:nvSpPr>
        <p:spPr>
          <a:xfrm>
            <a:off x="6527784" y="3949690"/>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Waarvan tastingfees</a:t>
            </a:r>
            <a:endParaRPr lang="en-US" sz="1100" dirty="0"/>
          </a:p>
        </p:txBody>
      </p:sp>
      <p:sp>
        <p:nvSpPr>
          <p:cNvPr id="28" name="Text 26"/>
          <p:cNvSpPr txBox="1"/>
          <p:nvPr/>
        </p:nvSpPr>
        <p:spPr>
          <a:xfrm>
            <a:off x="10007575" y="3949690"/>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€ 0</a:t>
            </a:r>
            <a:endParaRPr lang="en-US" sz="1350" dirty="0"/>
          </a:p>
        </p:txBody>
      </p:sp>
      <p:sp>
        <p:nvSpPr>
          <p:cNvPr id="29" name="Shape 27"/>
          <p:cNvSpPr/>
          <p:nvPr/>
        </p:nvSpPr>
        <p:spPr>
          <a:xfrm>
            <a:off x="6527784" y="4419589"/>
            <a:ext cx="4724388" cy="0"/>
          </a:xfrm>
          <a:prstGeom prst="line">
            <a:avLst/>
          </a:prstGeom>
          <a:noFill/>
          <a:ln w="9525">
            <a:solidFill>
              <a:srgbClr val="3A4152"/>
            </a:solidFill>
            <a:prstDash val="solid"/>
          </a:ln>
        </p:spPr>
      </p:sp>
      <p:sp>
        <p:nvSpPr>
          <p:cNvPr id="30" name="Text 28"/>
          <p:cNvSpPr txBox="1"/>
          <p:nvPr/>
        </p:nvSpPr>
        <p:spPr>
          <a:xfrm>
            <a:off x="6527784" y="4419589"/>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Verwachte leads</a:t>
            </a:r>
            <a:endParaRPr lang="en-US" sz="1100" dirty="0"/>
          </a:p>
        </p:txBody>
      </p:sp>
      <p:sp>
        <p:nvSpPr>
          <p:cNvPr id="31" name="Text 29"/>
          <p:cNvSpPr txBox="1"/>
          <p:nvPr/>
        </p:nvSpPr>
        <p:spPr>
          <a:xfrm>
            <a:off x="10007575" y="4419589"/>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19</a:t>
            </a:r>
            <a:endParaRPr lang="en-US" sz="1350" dirty="0"/>
          </a:p>
        </p:txBody>
      </p:sp>
      <p:sp>
        <p:nvSpPr>
          <p:cNvPr id="32" name="Shape 30"/>
          <p:cNvSpPr/>
          <p:nvPr/>
        </p:nvSpPr>
        <p:spPr>
          <a:xfrm>
            <a:off x="6527784" y="4889488"/>
            <a:ext cx="4724388" cy="0"/>
          </a:xfrm>
          <a:prstGeom prst="line">
            <a:avLst/>
          </a:prstGeom>
          <a:noFill/>
          <a:ln w="9525">
            <a:solidFill>
              <a:srgbClr val="3A4152"/>
            </a:solidFill>
            <a:prstDash val="solid"/>
          </a:ln>
        </p:spPr>
      </p:sp>
      <p:sp>
        <p:nvSpPr>
          <p:cNvPr id="33" name="Text 31"/>
          <p:cNvSpPr txBox="1"/>
          <p:nvPr/>
        </p:nvSpPr>
        <p:spPr>
          <a:xfrm>
            <a:off x="6527784" y="4889488"/>
            <a:ext cx="3479791" cy="4698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Prijs per lead</a:t>
            </a:r>
            <a:endParaRPr lang="en-US" sz="1100" dirty="0"/>
          </a:p>
        </p:txBody>
      </p:sp>
      <p:sp>
        <p:nvSpPr>
          <p:cNvPr id="34" name="Text 32"/>
          <p:cNvSpPr txBox="1"/>
          <p:nvPr/>
        </p:nvSpPr>
        <p:spPr>
          <a:xfrm>
            <a:off x="10007575" y="4889488"/>
            <a:ext cx="1244597" cy="469899"/>
          </a:xfrm>
          <a:prstGeom prst="rect">
            <a:avLst/>
          </a:prstGeom>
          <a:noFill/>
          <a:ln/>
        </p:spPr>
        <p:txBody>
          <a:bodyPr wrap="square" lIns="0" tIns="0" rIns="0" bIns="0" rtlCol="0" anchor="ctr"/>
          <a:lstStyle/>
          <a:p>
            <a:pPr algn="r" indent="0" marL="0">
              <a:buNone/>
            </a:pPr>
            <a:r>
              <a:rPr lang="en-US" sz="1350" b="1" dirty="0">
                <a:solidFill>
                  <a:srgbClr val="38B6FF"/>
                </a:solidFill>
                <a:latin typeface="Arial" pitchFamily="34" charset="0"/>
                <a:ea typeface="Arial" pitchFamily="34" charset="-122"/>
                <a:cs typeface="Arial" pitchFamily="34" charset="-120"/>
              </a:rPr>
              <a:t>€ 208</a:t>
            </a:r>
            <a:endParaRPr lang="en-US" sz="1350" dirty="0"/>
          </a:p>
        </p:txBody>
      </p:sp>
      <p:sp>
        <p:nvSpPr>
          <p:cNvPr id="35" name="Shape 33"/>
          <p:cNvSpPr/>
          <p:nvPr/>
        </p:nvSpPr>
        <p:spPr>
          <a:xfrm>
            <a:off x="609598" y="5854685"/>
            <a:ext cx="76200" cy="76200"/>
          </a:xfrm>
          <a:prstGeom prst="ellipse">
            <a:avLst/>
          </a:prstGeom>
          <a:solidFill>
            <a:srgbClr val="38B6FF"/>
          </a:solidFill>
          <a:ln/>
        </p:spPr>
      </p:sp>
      <p:sp>
        <p:nvSpPr>
          <p:cNvPr id="36" name="Text 34"/>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vier beldagen betalen jullie ongeveer hetzelfde als nu, vanaf zes beldagen zakt de prijs per lead.</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Wat als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meer of minder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is.</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Geen kosten per tasting meer</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De dagprijs is alles. Er komt geen bedrag per tasting meer bovenop, dus jullie weten vooraf precies wat een periode kost.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13 / 13</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Ons advies is acht.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2026-09-26T14:08:28Z</dcterms:created>
  <dcterms:modified xsi:type="dcterms:W3CDTF">2026-09-26T14:08:28Z</dcterms:modified>
</cp:coreProperties>
</file>