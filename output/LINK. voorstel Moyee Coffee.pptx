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14</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MOYEE COFFEE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Van losse weken naar een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vast ritme</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bijna zes maanden bellen voor Moyee heeft opgeleverd, hoe wij werken en het voorstel om vanaf nu met vaste beldagen per vier weken te draaien.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pic>
        <p:nvPicPr>
          <p:cNvPr id="32" name="Image 0" descr="preencoded.png">    </p:cNvPr>
          <p:cNvPicPr>
            <a:picLocks noChangeAspect="1"/>
          </p:cNvPicPr>
          <p:nvPr/>
        </p:nvPicPr>
        <p:blipFill>
          <a:blip r:embed="rId1"/>
          <a:stretch>
            <a:fillRect/>
          </a:stretch>
        </p:blipFill>
        <p:spPr>
          <a:xfrm>
            <a:off x="1854195" y="5587986"/>
            <a:ext cx="660398" cy="660398"/>
          </a:xfrm>
          <a:prstGeom prst="rect">
            <a:avLst/>
          </a:prstGeom>
        </p:spPr>
      </p:pic>
      <p:sp>
        <p:nvSpPr>
          <p:cNvPr id="33" name="Text 30"/>
          <p:cNvSpPr txBox="1"/>
          <p:nvPr/>
        </p:nvSpPr>
        <p:spPr>
          <a:xfrm>
            <a:off x="2666993" y="5714986"/>
            <a:ext cx="1447796" cy="406399"/>
          </a:xfrm>
          <a:prstGeom prst="rect">
            <a:avLst/>
          </a:prstGeom>
          <a:noFill/>
          <a:ln/>
        </p:spPr>
        <p:txBody>
          <a:bodyPr wrap="square" lIns="0" tIns="0" rIns="0" bIns="0" rtlCol="0" anchor="ctr"/>
          <a:lstStyle/>
          <a:p>
            <a:pPr algn="l" indent="0" marL="0">
              <a:buNone/>
            </a:pPr>
            <a:r>
              <a:rPr lang="en-US" sz="1500" b="1" dirty="0">
                <a:solidFill>
                  <a:srgbClr val="F2EFE6"/>
                </a:solidFill>
                <a:latin typeface="Arial" pitchFamily="34" charset="0"/>
                <a:ea typeface="Arial" pitchFamily="34" charset="-122"/>
                <a:cs typeface="Arial" pitchFamily="34" charset="-120"/>
              </a:rPr>
              <a:t>Moyee Coffee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leads op. Geen lijstjes met namen, maar bedrijven die een tasting inplannen of direct willen bestellen, met de aanleiding erbij.</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Voor Moyee bellen we sinds eind maart. In die tijd hebben we geleerd welke bedrijven openstaan voor een gesprek, welke ingang werkt en wanneer de juiste persoon bereikbaar is. Die kennis zit nu in de bellijst en in het script.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bellijst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25</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samen onderweg</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Van eind maart tot en met september 2026, elke week gebeld en elke week teruggekoppeld.</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leads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jullie ideale klant: branche, grootte, regio en functie. Bestaande relaties en lopende trajecten gaan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leads</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tasting in de agenda of een bedrijf dat wil bestellen, met de juiste persoon en een echte aanleiding.</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WERKPERIODE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weken, van bellijst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leads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opvolging.</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Bellijst en planning</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Voor elke periode zetten we de bellijst klaar en plannen we de beldagen op de dagen die in jullie eigen cijfers het beste scoren.</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Beldagen</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Op een beldag bellen we een volle dag door met een nummer op jullie naam. Elke tasting krijgt een bevestiging naar de prospect, elke bestellead gaat met context naar jullie toe.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gebelde contacten, bereikbaarheid, geplande tastings, bedrijven die willen bestellen en terugbelafspraken,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Evalueren en 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kijken we samen naar de cijfers: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Elke lead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van de tasting naar de prospect uit naam van Moyee</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 en een vaste beller</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ER TOT NU TOE GEBELD IS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gevoel, maar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gemeten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2.629</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GESPREKSPOGINGEN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Tussen maart en september 2026, verdeeld over 24 volle beldagen.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1.470</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Van de 2.100 benaderde bedrijven kregen we bij zeven op de tien de juiste persoon aan de lijn.</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61</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GEKWALIFICEERDE LEADS</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16 tastingafspraken en 45 bedrijven die wilden proeven of bestellen.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23</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TASTINGS INGEPLAND</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Waarvan er 7 onder de overdrachten stonden. Samen 0,9 tasting per beldag.</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Uit die 2.629 pogingen komt het kengetal waar het voorstel op rust: 23,2 gekwalificeerde leads per duizend gesprekspogingen.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BELLEN OP DE JUISTE MOMENTEN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Niet harder bellen, maar op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juiste dagen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Alles is geteld</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Van elke van de 2.629 pogingen ligt vast wanneer hij gevoerd is en wat hij opleverde. Per dag, per dagdeel en per soort bedrijf.</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's Ochtends zit de beslisser er</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Tussen 8 en 12 uur krijgen we 71,9 procent van de gebelde bedrijven te spreken. Na 15 uur zakt dat naar 54,2 procent.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Ook de dag maakt verschil</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Woensdag levert de hoogste bereikbaarheid op met 71,8 procent, donderdag de laagste met 57,2 procent.</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Beldagen op de beste momenten</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plannen de beldagen op de dagen en dagdelen die in jullie eigen cijfers het hoogste scoren, en na elke periode kijken we of dat nog klopt.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Per duizend pogingen levert de ochtend 26,2 leads op en het eind van de middag 15,1. Daar plannen we op.</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7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LEAD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lead om de lead.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die we samen hebben vastgelegd.</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wil een tasting of wil bestellen. Er is een concrete aanleiding en die leggen wij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lead staat op naam van iemand die over de koffie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lead buiten deze eisen, dan telt hij niet mee. Zo blijft het aantal eerlijk en de kwaliteit hoog.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NAAST DE LEADS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Elke beldag zet de naam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Moyee</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in de markt.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Bereik dat blijft staan</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In een half jaar hebben we 2.100 bedrijven benaderd en 2.629 keer gebeld. Dat is nog maar een fractie van de markt, en elk gesprek is ook een moment waarop iemand de naam Moyee hoort.</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Een verhaal dat blijft hangen</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Koffie uit een eerlijke keten is geen standaard product. Dat onthouden mensen, ook als het nu niet uitkomt.</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Een nee van nu is later een ja</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Bedrijven die nu geen ruimte hebben, weten wel wie jullie zijn. Komt er later een moment, dan is de naam er al.</a:t>
            </a:r>
            <a:endParaRPr lang="en-US" sz="1050" dirty="0"/>
          </a:p>
        </p:txBody>
      </p:sp>
      <p:sp>
        <p:nvSpPr>
          <p:cNvPr id="22" name="Shape 17"/>
          <p:cNvSpPr/>
          <p:nvPr/>
        </p:nvSpPr>
        <p:spPr>
          <a:xfrm>
            <a:off x="6184885" y="4502139"/>
            <a:ext cx="5397487" cy="1530346"/>
          </a:xfrm>
          <a:prstGeom prst="roundRect">
            <a:avLst>
              <a:gd name="adj" fmla="val 6639"/>
            </a:avLst>
          </a:prstGeom>
          <a:solidFill>
            <a:srgbClr val="000000"/>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De tasting als opening</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C2C8D2"/>
                </a:solidFill>
                <a:latin typeface="Arial" pitchFamily="34" charset="0"/>
                <a:ea typeface="Arial" pitchFamily="34" charset="-122"/>
                <a:cs typeface="Arial" pitchFamily="34" charset="-120"/>
              </a:rPr>
              <a:t>Gemiddeld één tasting per beldag. Dat is het moment waarop Moyee zichzelf verkoopt, en Puck doet ze straks zelf.</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ER NOG KLAARSTAAT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De pijplijn is nog lang niet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leeg</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217</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WARME CONTACTEN OPEN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148 terugbelafspraken en 68 bedrijven die informatie kregen.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235</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ZITTEN AAN EEN CONTRACT</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Die zijn nu voorzien, maar hun contract loopt een keer af. Wij houden ze vast.</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372</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NOG NIET BEREIKT</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Wel benaderd, nog geen contact gehad. Daar is nog volledige winst te halen.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2.100</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BENADERD</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En dat is nog maar een fractie van de markt. Er kan hier nog jaren op gebeld worden.</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Elke periode die we bellen groeit deze lijst mee. Opschalen betekent dus ook sneller terug bij de bedrijven die er al in zitten.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VOORSTEL</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Vaste beldagen per vier weken,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één dagprijs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BELDAGEN PER 4 WEKEN</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PRIJS PER BELDAG</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4 WEKEN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VERWACHTE LEADS</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4 beldagen</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€ 600</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€ 2.400</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9 leads</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 tot 7 beldagen</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€ 550</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€ 2.750 tot € 3.850</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12 tot 16 leads</a:t>
            </a:r>
            <a:endParaRPr lang="en-US" sz="1250" dirty="0"/>
          </a:p>
        </p:txBody>
      </p:sp>
      <p:sp>
        <p:nvSpPr>
          <p:cNvPr id="22" name="Shape 20"/>
          <p:cNvSpPr/>
          <p:nvPr/>
        </p:nvSpPr>
        <p:spPr>
          <a:xfrm>
            <a:off x="609598" y="4394189"/>
            <a:ext cx="10972773" cy="0"/>
          </a:xfrm>
          <a:prstGeom prst="line">
            <a:avLst/>
          </a:prstGeom>
          <a:noFill/>
          <a:ln w="9525">
            <a:solidFill>
              <a:srgbClr val="3A4152"/>
            </a:solidFill>
            <a:prstDash val="solid"/>
          </a:ln>
        </p:spPr>
      </p:sp>
      <p:sp>
        <p:nvSpPr>
          <p:cNvPr id="23" name="Text 21"/>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 tot 12 beldagen</a:t>
            </a:r>
            <a:endParaRPr lang="en-US" sz="1250" dirty="0"/>
          </a:p>
        </p:txBody>
      </p:sp>
      <p:sp>
        <p:nvSpPr>
          <p:cNvPr id="24" name="Text 22"/>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€ 500</a:t>
            </a:r>
            <a:endParaRPr lang="en-US" sz="1250" dirty="0"/>
          </a:p>
        </p:txBody>
      </p:sp>
      <p:sp>
        <p:nvSpPr>
          <p:cNvPr id="25" name="Text 23"/>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€ 4.000 tot € 6.000</a:t>
            </a:r>
            <a:endParaRPr lang="en-US" sz="1250" dirty="0"/>
          </a:p>
        </p:txBody>
      </p:sp>
      <p:sp>
        <p:nvSpPr>
          <p:cNvPr id="26" name="Text 24"/>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19 tot 28 leads</a:t>
            </a:r>
            <a:endParaRPr lang="en-US" sz="1250"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aantallen zijn een indicatie, gebaseerd op 23,2 gekwalificeerde leads per duizend gesprekspogingen over 2.629 gesprekken voor Moyee, bij ongeveer 100 pogingen per beldag. Minimaal vier beldagen per periode, prijzen excl. btw.</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11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OPSCHALEN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Twee keer zoveel kan nu al.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keer</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ook.</a:t>
            </a:r>
            <a:endParaRPr lang="en-US" sz="3200" dirty="0"/>
          </a:p>
        </p:txBody>
      </p:sp>
      <p:sp>
        <p:nvSpPr>
          <p:cNvPr id="7" name="Shape 5"/>
          <p:cNvSpPr/>
          <p:nvPr/>
        </p:nvSpPr>
        <p:spPr>
          <a:xfrm>
            <a:off x="609598" y="2489194"/>
            <a:ext cx="3555991" cy="2768593"/>
          </a:xfrm>
          <a:prstGeom prst="roundRect">
            <a:avLst>
              <a:gd name="adj" fmla="val 3670"/>
            </a:avLst>
          </a:prstGeom>
          <a:solidFill>
            <a:srgbClr val="F8F4EB"/>
          </a:solidFill>
          <a:ln/>
        </p:spPr>
      </p:sp>
      <p:sp>
        <p:nvSpPr>
          <p:cNvPr id="8" name="Text 6"/>
          <p:cNvSpPr txBox="1"/>
          <p:nvPr/>
        </p:nvSpPr>
        <p:spPr>
          <a:xfrm>
            <a:off x="825498"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NU</a:t>
            </a:r>
            <a:endParaRPr lang="en-US" sz="800" dirty="0"/>
          </a:p>
        </p:txBody>
      </p:sp>
      <p:sp>
        <p:nvSpPr>
          <p:cNvPr id="9" name="Text 7"/>
          <p:cNvSpPr txBox="1"/>
          <p:nvPr/>
        </p:nvSpPr>
        <p:spPr>
          <a:xfrm>
            <a:off x="825498"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€ 1.500 per maand plus € 150 per tasting</a:t>
            </a:r>
            <a:endParaRPr lang="en-US" sz="1250" dirty="0"/>
          </a:p>
        </p:txBody>
      </p:sp>
      <p:sp>
        <p:nvSpPr>
          <p:cNvPr id="10" name="Text 8"/>
          <p:cNvSpPr txBox="1"/>
          <p:nvPr/>
        </p:nvSpPr>
        <p:spPr>
          <a:xfrm>
            <a:off x="825498" y="3378192"/>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Kosten per 4 weken</a:t>
            </a:r>
            <a:endParaRPr lang="en-US" sz="950" dirty="0"/>
          </a:p>
        </p:txBody>
      </p:sp>
      <p:sp>
        <p:nvSpPr>
          <p:cNvPr id="11" name="Text 9"/>
          <p:cNvSpPr txBox="1"/>
          <p:nvPr/>
        </p:nvSpPr>
        <p:spPr>
          <a:xfrm>
            <a:off x="3124192" y="3378192"/>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€ 2.040</a:t>
            </a:r>
            <a:endParaRPr lang="en-US" sz="1150" dirty="0"/>
          </a:p>
        </p:txBody>
      </p:sp>
      <p:sp>
        <p:nvSpPr>
          <p:cNvPr id="12" name="Shape 10"/>
          <p:cNvSpPr/>
          <p:nvPr/>
        </p:nvSpPr>
        <p:spPr>
          <a:xfrm>
            <a:off x="825498" y="3784591"/>
            <a:ext cx="3124192" cy="0"/>
          </a:xfrm>
          <a:prstGeom prst="line">
            <a:avLst/>
          </a:prstGeom>
          <a:noFill/>
          <a:ln w="9525">
            <a:solidFill>
              <a:srgbClr val="D8D2C4"/>
            </a:solidFill>
            <a:prstDash val="solid"/>
          </a:ln>
        </p:spPr>
      </p:sp>
      <p:sp>
        <p:nvSpPr>
          <p:cNvPr id="13" name="Text 11"/>
          <p:cNvSpPr txBox="1"/>
          <p:nvPr/>
        </p:nvSpPr>
        <p:spPr>
          <a:xfrm>
            <a:off x="825498" y="3784591"/>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Gesprekspogingen</a:t>
            </a:r>
            <a:endParaRPr lang="en-US" sz="950" dirty="0"/>
          </a:p>
        </p:txBody>
      </p:sp>
      <p:sp>
        <p:nvSpPr>
          <p:cNvPr id="14" name="Text 12"/>
          <p:cNvSpPr txBox="1"/>
          <p:nvPr/>
        </p:nvSpPr>
        <p:spPr>
          <a:xfrm>
            <a:off x="3124192" y="3784591"/>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414</a:t>
            </a:r>
            <a:endParaRPr lang="en-US" sz="1150" dirty="0"/>
          </a:p>
        </p:txBody>
      </p:sp>
      <p:sp>
        <p:nvSpPr>
          <p:cNvPr id="15" name="Shape 13"/>
          <p:cNvSpPr/>
          <p:nvPr/>
        </p:nvSpPr>
        <p:spPr>
          <a:xfrm>
            <a:off x="825498" y="4190990"/>
            <a:ext cx="3124192" cy="0"/>
          </a:xfrm>
          <a:prstGeom prst="line">
            <a:avLst/>
          </a:prstGeom>
          <a:noFill/>
          <a:ln w="9525">
            <a:solidFill>
              <a:srgbClr val="D8D2C4"/>
            </a:solidFill>
            <a:prstDash val="solid"/>
          </a:ln>
        </p:spPr>
      </p:sp>
      <p:sp>
        <p:nvSpPr>
          <p:cNvPr id="16" name="Text 14"/>
          <p:cNvSpPr txBox="1"/>
          <p:nvPr/>
        </p:nvSpPr>
        <p:spPr>
          <a:xfrm>
            <a:off x="825498" y="4190990"/>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Verwachte leads</a:t>
            </a:r>
            <a:endParaRPr lang="en-US" sz="950" dirty="0"/>
          </a:p>
        </p:txBody>
      </p:sp>
      <p:sp>
        <p:nvSpPr>
          <p:cNvPr id="17" name="Text 15"/>
          <p:cNvSpPr txBox="1"/>
          <p:nvPr/>
        </p:nvSpPr>
        <p:spPr>
          <a:xfrm>
            <a:off x="3124192" y="4190990"/>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10</a:t>
            </a:r>
            <a:endParaRPr lang="en-US" sz="1150" dirty="0"/>
          </a:p>
        </p:txBody>
      </p:sp>
      <p:sp>
        <p:nvSpPr>
          <p:cNvPr id="18" name="Shape 16"/>
          <p:cNvSpPr/>
          <p:nvPr/>
        </p:nvSpPr>
        <p:spPr>
          <a:xfrm>
            <a:off x="825498" y="4597389"/>
            <a:ext cx="3124192" cy="0"/>
          </a:xfrm>
          <a:prstGeom prst="line">
            <a:avLst/>
          </a:prstGeom>
          <a:noFill/>
          <a:ln w="9525">
            <a:solidFill>
              <a:srgbClr val="D8D2C4"/>
            </a:solidFill>
            <a:prstDash val="solid"/>
          </a:ln>
        </p:spPr>
      </p:sp>
      <p:sp>
        <p:nvSpPr>
          <p:cNvPr id="19" name="Text 17"/>
          <p:cNvSpPr txBox="1"/>
          <p:nvPr/>
        </p:nvSpPr>
        <p:spPr>
          <a:xfrm>
            <a:off x="825498" y="4597389"/>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Waarvan tastings</a:t>
            </a:r>
            <a:endParaRPr lang="en-US" sz="950" dirty="0"/>
          </a:p>
        </p:txBody>
      </p:sp>
      <p:sp>
        <p:nvSpPr>
          <p:cNvPr id="20" name="Text 18"/>
          <p:cNvSpPr txBox="1"/>
          <p:nvPr/>
        </p:nvSpPr>
        <p:spPr>
          <a:xfrm>
            <a:off x="3124192" y="4597389"/>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a:t>
            </a:r>
            <a:endParaRPr lang="en-US" sz="1150" dirty="0"/>
          </a:p>
        </p:txBody>
      </p:sp>
      <p:sp>
        <p:nvSpPr>
          <p:cNvPr id="21" name="Shape 19"/>
          <p:cNvSpPr/>
          <p:nvPr/>
        </p:nvSpPr>
        <p:spPr>
          <a:xfrm>
            <a:off x="825498" y="5003787"/>
            <a:ext cx="3124192" cy="0"/>
          </a:xfrm>
          <a:prstGeom prst="line">
            <a:avLst/>
          </a:prstGeom>
          <a:noFill/>
          <a:ln w="9525">
            <a:solidFill>
              <a:srgbClr val="D8D2C4"/>
            </a:solidFill>
            <a:prstDash val="solid"/>
          </a:ln>
        </p:spPr>
      </p:sp>
      <p:sp>
        <p:nvSpPr>
          <p:cNvPr id="22" name="Text 20"/>
          <p:cNvSpPr txBox="1"/>
          <p:nvPr/>
        </p:nvSpPr>
        <p:spPr>
          <a:xfrm>
            <a:off x="825498" y="5003787"/>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Prijs per lead</a:t>
            </a:r>
            <a:endParaRPr lang="en-US" sz="950" dirty="0"/>
          </a:p>
        </p:txBody>
      </p:sp>
      <p:sp>
        <p:nvSpPr>
          <p:cNvPr id="23" name="Text 21"/>
          <p:cNvSpPr txBox="1"/>
          <p:nvPr/>
        </p:nvSpPr>
        <p:spPr>
          <a:xfrm>
            <a:off x="3124192" y="5003787"/>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€ 212</a:t>
            </a:r>
            <a:endParaRPr lang="en-US" sz="1150" dirty="0"/>
          </a:p>
        </p:txBody>
      </p:sp>
      <p:sp>
        <p:nvSpPr>
          <p:cNvPr id="24" name="Shape 22"/>
          <p:cNvSpPr/>
          <p:nvPr/>
        </p:nvSpPr>
        <p:spPr>
          <a:xfrm>
            <a:off x="4317989" y="2489194"/>
            <a:ext cx="3555991" cy="2768593"/>
          </a:xfrm>
          <a:prstGeom prst="roundRect">
            <a:avLst>
              <a:gd name="adj" fmla="val 3670"/>
            </a:avLst>
          </a:prstGeom>
          <a:solidFill>
            <a:srgbClr val="F8F4EB"/>
          </a:solidFill>
          <a:ln/>
        </p:spPr>
      </p:sp>
      <p:sp>
        <p:nvSpPr>
          <p:cNvPr id="25" name="Text 23"/>
          <p:cNvSpPr txBox="1"/>
          <p:nvPr/>
        </p:nvSpPr>
        <p:spPr>
          <a:xfrm>
            <a:off x="4533889"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TWEE KEER</a:t>
            </a:r>
            <a:endParaRPr lang="en-US" sz="800" dirty="0"/>
          </a:p>
        </p:txBody>
      </p:sp>
      <p:sp>
        <p:nvSpPr>
          <p:cNvPr id="26" name="Text 24"/>
          <p:cNvSpPr txBox="1"/>
          <p:nvPr/>
        </p:nvSpPr>
        <p:spPr>
          <a:xfrm>
            <a:off x="453388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8 beldagen per 4 weken</a:t>
            </a:r>
            <a:endParaRPr lang="en-US" sz="1250" dirty="0"/>
          </a:p>
        </p:txBody>
      </p:sp>
      <p:sp>
        <p:nvSpPr>
          <p:cNvPr id="27" name="Text 25"/>
          <p:cNvSpPr txBox="1"/>
          <p:nvPr/>
        </p:nvSpPr>
        <p:spPr>
          <a:xfrm>
            <a:off x="4533889" y="3378192"/>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Kosten per 4 weken</a:t>
            </a:r>
            <a:endParaRPr lang="en-US" sz="950" dirty="0"/>
          </a:p>
        </p:txBody>
      </p:sp>
      <p:sp>
        <p:nvSpPr>
          <p:cNvPr id="28" name="Text 26"/>
          <p:cNvSpPr txBox="1"/>
          <p:nvPr/>
        </p:nvSpPr>
        <p:spPr>
          <a:xfrm>
            <a:off x="6832583" y="3378192"/>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€ 4.000</a:t>
            </a:r>
            <a:endParaRPr lang="en-US" sz="1150" dirty="0"/>
          </a:p>
        </p:txBody>
      </p:sp>
      <p:sp>
        <p:nvSpPr>
          <p:cNvPr id="29" name="Shape 27"/>
          <p:cNvSpPr/>
          <p:nvPr/>
        </p:nvSpPr>
        <p:spPr>
          <a:xfrm>
            <a:off x="4533889" y="3784591"/>
            <a:ext cx="3124192" cy="0"/>
          </a:xfrm>
          <a:prstGeom prst="line">
            <a:avLst/>
          </a:prstGeom>
          <a:noFill/>
          <a:ln w="9525">
            <a:solidFill>
              <a:srgbClr val="D8D2C4"/>
            </a:solidFill>
            <a:prstDash val="solid"/>
          </a:ln>
        </p:spPr>
      </p:sp>
      <p:sp>
        <p:nvSpPr>
          <p:cNvPr id="30" name="Text 28"/>
          <p:cNvSpPr txBox="1"/>
          <p:nvPr/>
        </p:nvSpPr>
        <p:spPr>
          <a:xfrm>
            <a:off x="4533889" y="3784591"/>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Gesprekspogingen</a:t>
            </a:r>
            <a:endParaRPr lang="en-US" sz="950" dirty="0"/>
          </a:p>
        </p:txBody>
      </p:sp>
      <p:sp>
        <p:nvSpPr>
          <p:cNvPr id="31" name="Text 29"/>
          <p:cNvSpPr txBox="1"/>
          <p:nvPr/>
        </p:nvSpPr>
        <p:spPr>
          <a:xfrm>
            <a:off x="6832583" y="3784591"/>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800</a:t>
            </a:r>
            <a:endParaRPr lang="en-US" sz="1150" dirty="0"/>
          </a:p>
        </p:txBody>
      </p:sp>
      <p:sp>
        <p:nvSpPr>
          <p:cNvPr id="32" name="Shape 30"/>
          <p:cNvSpPr/>
          <p:nvPr/>
        </p:nvSpPr>
        <p:spPr>
          <a:xfrm>
            <a:off x="4533889" y="4190990"/>
            <a:ext cx="3124192" cy="0"/>
          </a:xfrm>
          <a:prstGeom prst="line">
            <a:avLst/>
          </a:prstGeom>
          <a:noFill/>
          <a:ln w="9525">
            <a:solidFill>
              <a:srgbClr val="D8D2C4"/>
            </a:solidFill>
            <a:prstDash val="solid"/>
          </a:ln>
        </p:spPr>
      </p:sp>
      <p:sp>
        <p:nvSpPr>
          <p:cNvPr id="33" name="Text 31"/>
          <p:cNvSpPr txBox="1"/>
          <p:nvPr/>
        </p:nvSpPr>
        <p:spPr>
          <a:xfrm>
            <a:off x="4533889" y="4190990"/>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Verwachte leads</a:t>
            </a:r>
            <a:endParaRPr lang="en-US" sz="950" dirty="0"/>
          </a:p>
        </p:txBody>
      </p:sp>
      <p:sp>
        <p:nvSpPr>
          <p:cNvPr id="34" name="Text 32"/>
          <p:cNvSpPr txBox="1"/>
          <p:nvPr/>
        </p:nvSpPr>
        <p:spPr>
          <a:xfrm>
            <a:off x="6832583" y="4190990"/>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19</a:t>
            </a:r>
            <a:endParaRPr lang="en-US" sz="1150" dirty="0"/>
          </a:p>
        </p:txBody>
      </p:sp>
      <p:sp>
        <p:nvSpPr>
          <p:cNvPr id="35" name="Shape 33"/>
          <p:cNvSpPr/>
          <p:nvPr/>
        </p:nvSpPr>
        <p:spPr>
          <a:xfrm>
            <a:off x="4533889" y="4597389"/>
            <a:ext cx="3124192" cy="0"/>
          </a:xfrm>
          <a:prstGeom prst="line">
            <a:avLst/>
          </a:prstGeom>
          <a:noFill/>
          <a:ln w="9525">
            <a:solidFill>
              <a:srgbClr val="D8D2C4"/>
            </a:solidFill>
            <a:prstDash val="solid"/>
          </a:ln>
        </p:spPr>
      </p:sp>
      <p:sp>
        <p:nvSpPr>
          <p:cNvPr id="36" name="Text 34"/>
          <p:cNvSpPr txBox="1"/>
          <p:nvPr/>
        </p:nvSpPr>
        <p:spPr>
          <a:xfrm>
            <a:off x="4533889" y="4597389"/>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Waarvan tastings</a:t>
            </a:r>
            <a:endParaRPr lang="en-US" sz="950" dirty="0"/>
          </a:p>
        </p:txBody>
      </p:sp>
      <p:sp>
        <p:nvSpPr>
          <p:cNvPr id="37" name="Text 35"/>
          <p:cNvSpPr txBox="1"/>
          <p:nvPr/>
        </p:nvSpPr>
        <p:spPr>
          <a:xfrm>
            <a:off x="6832583" y="4597389"/>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7</a:t>
            </a:r>
            <a:endParaRPr lang="en-US" sz="1150" dirty="0"/>
          </a:p>
        </p:txBody>
      </p:sp>
      <p:sp>
        <p:nvSpPr>
          <p:cNvPr id="38" name="Shape 36"/>
          <p:cNvSpPr/>
          <p:nvPr/>
        </p:nvSpPr>
        <p:spPr>
          <a:xfrm>
            <a:off x="4533889" y="5003787"/>
            <a:ext cx="3124192" cy="0"/>
          </a:xfrm>
          <a:prstGeom prst="line">
            <a:avLst/>
          </a:prstGeom>
          <a:noFill/>
          <a:ln w="9525">
            <a:solidFill>
              <a:srgbClr val="D8D2C4"/>
            </a:solidFill>
            <a:prstDash val="solid"/>
          </a:ln>
        </p:spPr>
      </p:sp>
      <p:sp>
        <p:nvSpPr>
          <p:cNvPr id="39" name="Text 37"/>
          <p:cNvSpPr txBox="1"/>
          <p:nvPr/>
        </p:nvSpPr>
        <p:spPr>
          <a:xfrm>
            <a:off x="4533889" y="5003787"/>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Prijs per lead</a:t>
            </a:r>
            <a:endParaRPr lang="en-US" sz="950" dirty="0"/>
          </a:p>
        </p:txBody>
      </p:sp>
      <p:sp>
        <p:nvSpPr>
          <p:cNvPr id="40" name="Text 38"/>
          <p:cNvSpPr txBox="1"/>
          <p:nvPr/>
        </p:nvSpPr>
        <p:spPr>
          <a:xfrm>
            <a:off x="6832583" y="5003787"/>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€ 215</a:t>
            </a:r>
            <a:endParaRPr lang="en-US" sz="1150" dirty="0"/>
          </a:p>
        </p:txBody>
      </p:sp>
      <p:sp>
        <p:nvSpPr>
          <p:cNvPr id="41" name="Shape 39"/>
          <p:cNvSpPr/>
          <p:nvPr/>
        </p:nvSpPr>
        <p:spPr>
          <a:xfrm>
            <a:off x="8026380" y="2489194"/>
            <a:ext cx="3555991" cy="2768593"/>
          </a:xfrm>
          <a:prstGeom prst="roundRect">
            <a:avLst>
              <a:gd name="adj" fmla="val 3670"/>
            </a:avLst>
          </a:prstGeom>
          <a:solidFill>
            <a:srgbClr val="000000"/>
          </a:solidFill>
          <a:ln/>
        </p:spPr>
      </p:sp>
      <p:sp>
        <p:nvSpPr>
          <p:cNvPr id="42" name="Text 40"/>
          <p:cNvSpPr txBox="1"/>
          <p:nvPr/>
        </p:nvSpPr>
        <p:spPr>
          <a:xfrm>
            <a:off x="8242279" y="2743193"/>
            <a:ext cx="3124192" cy="190500"/>
          </a:xfrm>
          <a:prstGeom prst="rect">
            <a:avLst/>
          </a:prstGeom>
          <a:noFill/>
          <a:ln/>
        </p:spPr>
        <p:txBody>
          <a:bodyPr wrap="square" lIns="0" tIns="0" rIns="0" bIns="0" rtlCol="0" anchor="ctr"/>
          <a:lstStyle/>
          <a:p>
            <a:pPr indent="0" marL="0">
              <a:buNone/>
            </a:pPr>
            <a:r>
              <a:rPr lang="en-US" sz="800" b="1" spc="180" kern="0" dirty="0">
                <a:solidFill>
                  <a:srgbClr val="38B6FF"/>
                </a:solidFill>
                <a:latin typeface="Arial" pitchFamily="34" charset="0"/>
                <a:ea typeface="Arial" pitchFamily="34" charset="-122"/>
                <a:cs typeface="Arial" pitchFamily="34" charset="-120"/>
              </a:rPr>
              <a:t>DRIE KEER</a:t>
            </a:r>
            <a:endParaRPr lang="en-US" sz="800" dirty="0"/>
          </a:p>
        </p:txBody>
      </p:sp>
      <p:sp>
        <p:nvSpPr>
          <p:cNvPr id="43" name="Text 41"/>
          <p:cNvSpPr txBox="1"/>
          <p:nvPr/>
        </p:nvSpPr>
        <p:spPr>
          <a:xfrm>
            <a:off x="824227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F2EFE6"/>
                </a:solidFill>
                <a:latin typeface="Arial" pitchFamily="34" charset="0"/>
                <a:ea typeface="Arial" pitchFamily="34" charset="-122"/>
                <a:cs typeface="Arial" pitchFamily="34" charset="-120"/>
              </a:rPr>
              <a:t>12 beldagen per 4 weken</a:t>
            </a:r>
            <a:endParaRPr lang="en-US" sz="1250" dirty="0"/>
          </a:p>
        </p:txBody>
      </p:sp>
      <p:sp>
        <p:nvSpPr>
          <p:cNvPr id="44" name="Text 42"/>
          <p:cNvSpPr txBox="1"/>
          <p:nvPr/>
        </p:nvSpPr>
        <p:spPr>
          <a:xfrm>
            <a:off x="8242279" y="3378192"/>
            <a:ext cx="2578094" cy="4063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Kosten per 4 weken</a:t>
            </a:r>
            <a:endParaRPr lang="en-US" sz="950" dirty="0"/>
          </a:p>
        </p:txBody>
      </p:sp>
      <p:sp>
        <p:nvSpPr>
          <p:cNvPr id="45" name="Text 43"/>
          <p:cNvSpPr txBox="1"/>
          <p:nvPr/>
        </p:nvSpPr>
        <p:spPr>
          <a:xfrm>
            <a:off x="10540974" y="3378192"/>
            <a:ext cx="825498" cy="40639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€ 6.000</a:t>
            </a:r>
            <a:endParaRPr lang="en-US" sz="1150" dirty="0"/>
          </a:p>
        </p:txBody>
      </p:sp>
      <p:sp>
        <p:nvSpPr>
          <p:cNvPr id="46" name="Shape 44"/>
          <p:cNvSpPr/>
          <p:nvPr/>
        </p:nvSpPr>
        <p:spPr>
          <a:xfrm>
            <a:off x="8242279" y="3784591"/>
            <a:ext cx="3124192" cy="0"/>
          </a:xfrm>
          <a:prstGeom prst="line">
            <a:avLst/>
          </a:prstGeom>
          <a:noFill/>
          <a:ln w="9525">
            <a:solidFill>
              <a:srgbClr val="3A4152"/>
            </a:solidFill>
            <a:prstDash val="solid"/>
          </a:ln>
        </p:spPr>
      </p:sp>
      <p:sp>
        <p:nvSpPr>
          <p:cNvPr id="47" name="Text 45"/>
          <p:cNvSpPr txBox="1"/>
          <p:nvPr/>
        </p:nvSpPr>
        <p:spPr>
          <a:xfrm>
            <a:off x="8242279" y="3784591"/>
            <a:ext cx="2578094" cy="4063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Gesprekspogingen</a:t>
            </a:r>
            <a:endParaRPr lang="en-US" sz="950" dirty="0"/>
          </a:p>
        </p:txBody>
      </p:sp>
      <p:sp>
        <p:nvSpPr>
          <p:cNvPr id="48" name="Text 46"/>
          <p:cNvSpPr txBox="1"/>
          <p:nvPr/>
        </p:nvSpPr>
        <p:spPr>
          <a:xfrm>
            <a:off x="10540974" y="3784591"/>
            <a:ext cx="825498" cy="40639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1.200</a:t>
            </a:r>
            <a:endParaRPr lang="en-US" sz="1150" dirty="0"/>
          </a:p>
        </p:txBody>
      </p:sp>
      <p:sp>
        <p:nvSpPr>
          <p:cNvPr id="49" name="Shape 47"/>
          <p:cNvSpPr/>
          <p:nvPr/>
        </p:nvSpPr>
        <p:spPr>
          <a:xfrm>
            <a:off x="8242279" y="4190990"/>
            <a:ext cx="3124192" cy="0"/>
          </a:xfrm>
          <a:prstGeom prst="line">
            <a:avLst/>
          </a:prstGeom>
          <a:noFill/>
          <a:ln w="9525">
            <a:solidFill>
              <a:srgbClr val="3A4152"/>
            </a:solidFill>
            <a:prstDash val="solid"/>
          </a:ln>
        </p:spPr>
      </p:sp>
      <p:sp>
        <p:nvSpPr>
          <p:cNvPr id="50" name="Text 48"/>
          <p:cNvSpPr txBox="1"/>
          <p:nvPr/>
        </p:nvSpPr>
        <p:spPr>
          <a:xfrm>
            <a:off x="8242279" y="4190990"/>
            <a:ext cx="2578094" cy="4063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Verwachte leads</a:t>
            </a:r>
            <a:endParaRPr lang="en-US" sz="950" dirty="0"/>
          </a:p>
        </p:txBody>
      </p:sp>
      <p:sp>
        <p:nvSpPr>
          <p:cNvPr id="51" name="Text 49"/>
          <p:cNvSpPr txBox="1"/>
          <p:nvPr/>
        </p:nvSpPr>
        <p:spPr>
          <a:xfrm>
            <a:off x="10540974" y="4190990"/>
            <a:ext cx="825498" cy="40639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28</a:t>
            </a:r>
            <a:endParaRPr lang="en-US" sz="1150" dirty="0"/>
          </a:p>
        </p:txBody>
      </p:sp>
      <p:sp>
        <p:nvSpPr>
          <p:cNvPr id="52" name="Shape 50"/>
          <p:cNvSpPr/>
          <p:nvPr/>
        </p:nvSpPr>
        <p:spPr>
          <a:xfrm>
            <a:off x="8242279" y="4597389"/>
            <a:ext cx="3124192" cy="0"/>
          </a:xfrm>
          <a:prstGeom prst="line">
            <a:avLst/>
          </a:prstGeom>
          <a:noFill/>
          <a:ln w="9525">
            <a:solidFill>
              <a:srgbClr val="3A4152"/>
            </a:solidFill>
            <a:prstDash val="solid"/>
          </a:ln>
        </p:spPr>
      </p:sp>
      <p:sp>
        <p:nvSpPr>
          <p:cNvPr id="53" name="Text 51"/>
          <p:cNvSpPr txBox="1"/>
          <p:nvPr/>
        </p:nvSpPr>
        <p:spPr>
          <a:xfrm>
            <a:off x="8242279" y="4597389"/>
            <a:ext cx="2578094" cy="4063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Waarvan tastings</a:t>
            </a:r>
            <a:endParaRPr lang="en-US" sz="950" dirty="0"/>
          </a:p>
        </p:txBody>
      </p:sp>
      <p:sp>
        <p:nvSpPr>
          <p:cNvPr id="54" name="Text 52"/>
          <p:cNvSpPr txBox="1"/>
          <p:nvPr/>
        </p:nvSpPr>
        <p:spPr>
          <a:xfrm>
            <a:off x="10540974" y="4597389"/>
            <a:ext cx="825498" cy="40639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10</a:t>
            </a:r>
            <a:endParaRPr lang="en-US" sz="1150" dirty="0"/>
          </a:p>
        </p:txBody>
      </p:sp>
      <p:sp>
        <p:nvSpPr>
          <p:cNvPr id="55" name="Shape 53"/>
          <p:cNvSpPr/>
          <p:nvPr/>
        </p:nvSpPr>
        <p:spPr>
          <a:xfrm>
            <a:off x="8242279" y="5003787"/>
            <a:ext cx="3124192" cy="0"/>
          </a:xfrm>
          <a:prstGeom prst="line">
            <a:avLst/>
          </a:prstGeom>
          <a:noFill/>
          <a:ln w="9525">
            <a:solidFill>
              <a:srgbClr val="3A4152"/>
            </a:solidFill>
            <a:prstDash val="solid"/>
          </a:ln>
        </p:spPr>
      </p:sp>
      <p:sp>
        <p:nvSpPr>
          <p:cNvPr id="56" name="Text 54"/>
          <p:cNvSpPr txBox="1"/>
          <p:nvPr/>
        </p:nvSpPr>
        <p:spPr>
          <a:xfrm>
            <a:off x="8242279" y="5003787"/>
            <a:ext cx="2578094" cy="4063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Prijs per lead</a:t>
            </a:r>
            <a:endParaRPr lang="en-US" sz="950" dirty="0"/>
          </a:p>
        </p:txBody>
      </p:sp>
      <p:sp>
        <p:nvSpPr>
          <p:cNvPr id="57" name="Text 55"/>
          <p:cNvSpPr txBox="1"/>
          <p:nvPr/>
        </p:nvSpPr>
        <p:spPr>
          <a:xfrm>
            <a:off x="10540974" y="5003787"/>
            <a:ext cx="825498" cy="40639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€ 216</a:t>
            </a:r>
            <a:endParaRPr lang="en-US" sz="1150" dirty="0"/>
          </a:p>
        </p:txBody>
      </p:sp>
      <p:sp>
        <p:nvSpPr>
          <p:cNvPr id="58" name="Shape 56"/>
          <p:cNvSpPr/>
          <p:nvPr/>
        </p:nvSpPr>
        <p:spPr>
          <a:xfrm>
            <a:off x="609598" y="5854685"/>
            <a:ext cx="76200" cy="76200"/>
          </a:xfrm>
          <a:prstGeom prst="ellipse">
            <a:avLst/>
          </a:prstGeom>
          <a:solidFill>
            <a:srgbClr val="38B6FF"/>
          </a:solidFill>
          <a:ln/>
        </p:spPr>
      </p:sp>
      <p:sp>
        <p:nvSpPr>
          <p:cNvPr id="59" name="Text 57"/>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De bezetting en de bellijst liggen er al. Verdubbelen kan vanaf de eerstvolgende periode, verdriedubbelen ook, en de prijs per lead blijft rond € 215.</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12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AFSPRAKEN OVER HET RESULTAAT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Zo houden we elkaar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scherp</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Onder de verwachting</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Halen we het verwachte aantal leads in een periode niet, dan halen we de ontbrekende leads in de volgende werkperiode in. Zonder extra kosten.</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de verwachting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Loopt het harder, dan bellen we de beldagen gewoon vol. Wat er extra uit komt is voor jullie, zonder extra factuur.</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Vastgelegd, opzegbaar met een maand</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leggen het aantal beldagen vast, zodat wij de capaciteit kunnen reserveren en jullie weten waar je aan toe bent. Opzeggen kan met een maand.</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klanten die blijven</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lead een klant die drie maanden achter elkaar bestelt, dan krijgen wij daar een succesfee over. Zo verdienen wij pas extra als de klant blijft.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verwachting komt uit jullie eigen cijfers, dus we sturen op iets dat we al waargemaakt hebben. Over de hoogte van de succesfee maken we samen een afspraak.</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13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Opzegtermijn van één maand</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We leggen het aantal beldagen vast, opzeggen kan met een maand.</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gebeld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Eén vast aanspreekpunt</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LINK. en bij Moyee, zodat er niets tussen wal en schip valt.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Terugkoppeling op de leads</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Kort laten weten wat een tasting of een bestellead opleverde, dat maakt de volgende beter.</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Nummer op jullie naam en jullie stijl, wij voeren uit.</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14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het model? Dan start de eerste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werkperiode</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Puck aan boord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lopen samen de werkwijze door, zodat Puck weet wat er uit een beldag komt: de tastings die zij voert en de bestelleads die zij opvolgt.</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Aantal beldagen kiezen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kiezen hoeveel beldagen per vier weken. Verdubbelen of verdriedubbelen kan allebei direct.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Start eerste periode</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zetten de bellijst klaar, plannen de beldagen op de beste dagen en gaan van 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Moyee Coffee</dc:title>
  <dc:subject>PptxGenJS Presentation</dc:subject>
  <dc:creator>LINK.</dc:creator>
  <cp:lastModifiedBy>LINK.</cp:lastModifiedBy>
  <cp:revision>1</cp:revision>
  <dcterms:created xsi:type="dcterms:W3CDTF">2026-09-26T14:52:04Z</dcterms:created>
  <dcterms:modified xsi:type="dcterms:W3CDTF">2026-09-26T14:52:04Z</dcterms:modified>
</cp:coreProperties>
</file>