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84591"/>
            <a:ext cx="3124192" cy="0"/>
          </a:xfrm>
          <a:prstGeom prst="line">
            <a:avLst/>
          </a:prstGeom>
          <a:noFill/>
          <a:ln w="9525">
            <a:solidFill>
              <a:srgbClr val="D8D2C4"/>
            </a:solidFill>
            <a:prstDash val="solid"/>
          </a:ln>
        </p:spPr>
      </p:sp>
      <p:sp>
        <p:nvSpPr>
          <p:cNvPr id="13" name="Text 11"/>
          <p:cNvSpPr txBox="1"/>
          <p:nvPr/>
        </p:nvSpPr>
        <p:spPr>
          <a:xfrm>
            <a:off x="825498"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190990"/>
            <a:ext cx="3124192" cy="0"/>
          </a:xfrm>
          <a:prstGeom prst="line">
            <a:avLst/>
          </a:prstGeom>
          <a:noFill/>
          <a:ln w="9525">
            <a:solidFill>
              <a:srgbClr val="D8D2C4"/>
            </a:solidFill>
            <a:prstDash val="solid"/>
          </a:ln>
        </p:spPr>
      </p:sp>
      <p:sp>
        <p:nvSpPr>
          <p:cNvPr id="16" name="Text 14"/>
          <p:cNvSpPr txBox="1"/>
          <p:nvPr/>
        </p:nvSpPr>
        <p:spPr>
          <a:xfrm>
            <a:off x="825498"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597389"/>
            <a:ext cx="3124192" cy="0"/>
          </a:xfrm>
          <a:prstGeom prst="line">
            <a:avLst/>
          </a:prstGeom>
          <a:noFill/>
          <a:ln w="9525">
            <a:solidFill>
              <a:srgbClr val="D8D2C4"/>
            </a:solidFill>
            <a:prstDash val="solid"/>
          </a:ln>
        </p:spPr>
      </p:sp>
      <p:sp>
        <p:nvSpPr>
          <p:cNvPr id="19" name="Text 17"/>
          <p:cNvSpPr txBox="1"/>
          <p:nvPr/>
        </p:nvSpPr>
        <p:spPr>
          <a:xfrm>
            <a:off x="825498"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5003787"/>
            <a:ext cx="3124192" cy="0"/>
          </a:xfrm>
          <a:prstGeom prst="line">
            <a:avLst/>
          </a:prstGeom>
          <a:noFill/>
          <a:ln w="9525">
            <a:solidFill>
              <a:srgbClr val="D8D2C4"/>
            </a:solidFill>
            <a:prstDash val="solid"/>
          </a:ln>
        </p:spPr>
      </p:sp>
      <p:sp>
        <p:nvSpPr>
          <p:cNvPr id="22" name="Text 20"/>
          <p:cNvSpPr txBox="1"/>
          <p:nvPr/>
        </p:nvSpPr>
        <p:spPr>
          <a:xfrm>
            <a:off x="825498"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84591"/>
            <a:ext cx="3124192" cy="0"/>
          </a:xfrm>
          <a:prstGeom prst="line">
            <a:avLst/>
          </a:prstGeom>
          <a:noFill/>
          <a:ln w="9525">
            <a:solidFill>
              <a:srgbClr val="D8D2C4"/>
            </a:solidFill>
            <a:prstDash val="solid"/>
          </a:ln>
        </p:spPr>
      </p:sp>
      <p:sp>
        <p:nvSpPr>
          <p:cNvPr id="30" name="Text 28"/>
          <p:cNvSpPr txBox="1"/>
          <p:nvPr/>
        </p:nvSpPr>
        <p:spPr>
          <a:xfrm>
            <a:off x="4533889"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190990"/>
            <a:ext cx="3124192" cy="0"/>
          </a:xfrm>
          <a:prstGeom prst="line">
            <a:avLst/>
          </a:prstGeom>
          <a:noFill/>
          <a:ln w="9525">
            <a:solidFill>
              <a:srgbClr val="D8D2C4"/>
            </a:solidFill>
            <a:prstDash val="solid"/>
          </a:ln>
        </p:spPr>
      </p:sp>
      <p:sp>
        <p:nvSpPr>
          <p:cNvPr id="33" name="Text 31"/>
          <p:cNvSpPr txBox="1"/>
          <p:nvPr/>
        </p:nvSpPr>
        <p:spPr>
          <a:xfrm>
            <a:off x="4533889"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597389"/>
            <a:ext cx="3124192" cy="0"/>
          </a:xfrm>
          <a:prstGeom prst="line">
            <a:avLst/>
          </a:prstGeom>
          <a:noFill/>
          <a:ln w="9525">
            <a:solidFill>
              <a:srgbClr val="D8D2C4"/>
            </a:solidFill>
            <a:prstDash val="solid"/>
          </a:ln>
        </p:spPr>
      </p:sp>
      <p:sp>
        <p:nvSpPr>
          <p:cNvPr id="36" name="Text 34"/>
          <p:cNvSpPr txBox="1"/>
          <p:nvPr/>
        </p:nvSpPr>
        <p:spPr>
          <a:xfrm>
            <a:off x="4533889"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5003787"/>
            <a:ext cx="3124192" cy="0"/>
          </a:xfrm>
          <a:prstGeom prst="line">
            <a:avLst/>
          </a:prstGeom>
          <a:noFill/>
          <a:ln w="9525">
            <a:solidFill>
              <a:srgbClr val="D8D2C4"/>
            </a:solidFill>
            <a:prstDash val="solid"/>
          </a:ln>
        </p:spPr>
      </p:sp>
      <p:sp>
        <p:nvSpPr>
          <p:cNvPr id="39" name="Text 37"/>
          <p:cNvSpPr txBox="1"/>
          <p:nvPr/>
        </p:nvSpPr>
        <p:spPr>
          <a:xfrm>
            <a:off x="4533889"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84591"/>
            <a:ext cx="3124192" cy="0"/>
          </a:xfrm>
          <a:prstGeom prst="line">
            <a:avLst/>
          </a:prstGeom>
          <a:noFill/>
          <a:ln w="9525">
            <a:solidFill>
              <a:srgbClr val="3A4152"/>
            </a:solidFill>
            <a:prstDash val="solid"/>
          </a:ln>
        </p:spPr>
      </p:sp>
      <p:sp>
        <p:nvSpPr>
          <p:cNvPr id="47" name="Text 45"/>
          <p:cNvSpPr txBox="1"/>
          <p:nvPr/>
        </p:nvSpPr>
        <p:spPr>
          <a:xfrm>
            <a:off x="8242279" y="3784591"/>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84591"/>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190990"/>
            <a:ext cx="3124192" cy="0"/>
          </a:xfrm>
          <a:prstGeom prst="line">
            <a:avLst/>
          </a:prstGeom>
          <a:noFill/>
          <a:ln w="9525">
            <a:solidFill>
              <a:srgbClr val="3A4152"/>
            </a:solidFill>
            <a:prstDash val="solid"/>
          </a:ln>
        </p:spPr>
      </p:sp>
      <p:sp>
        <p:nvSpPr>
          <p:cNvPr id="50" name="Text 48"/>
          <p:cNvSpPr txBox="1"/>
          <p:nvPr/>
        </p:nvSpPr>
        <p:spPr>
          <a:xfrm>
            <a:off x="8242279" y="4190990"/>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190990"/>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597389"/>
            <a:ext cx="3124192" cy="0"/>
          </a:xfrm>
          <a:prstGeom prst="line">
            <a:avLst/>
          </a:prstGeom>
          <a:noFill/>
          <a:ln w="9525">
            <a:solidFill>
              <a:srgbClr val="3A4152"/>
            </a:solidFill>
            <a:prstDash val="solid"/>
          </a:ln>
        </p:spPr>
      </p:sp>
      <p:sp>
        <p:nvSpPr>
          <p:cNvPr id="53" name="Text 51"/>
          <p:cNvSpPr txBox="1"/>
          <p:nvPr/>
        </p:nvSpPr>
        <p:spPr>
          <a:xfrm>
            <a:off x="8242279" y="4597389"/>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597389"/>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5003787"/>
            <a:ext cx="3124192" cy="0"/>
          </a:xfrm>
          <a:prstGeom prst="line">
            <a:avLst/>
          </a:prstGeom>
          <a:noFill/>
          <a:ln w="9525">
            <a:solidFill>
              <a:srgbClr val="3A4152"/>
            </a:solidFill>
            <a:prstDash val="solid"/>
          </a:ln>
        </p:spPr>
      </p:sp>
      <p:sp>
        <p:nvSpPr>
          <p:cNvPr id="56" name="Text 54"/>
          <p:cNvSpPr txBox="1"/>
          <p:nvPr/>
        </p:nvSpPr>
        <p:spPr>
          <a:xfrm>
            <a:off x="8242279" y="5003787"/>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5003787"/>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EEN KLANT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tasting is een kans op een klant die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jaren blijft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000000"/>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PER KLANT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Alleen de koffie, tegen € 20,64 per kilo. Dat komt elk jaar opnieuw binnen zolang ze bestellen.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€ 30.964</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BIJ VIJF ZULKE KLANTEN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En cross- en upsell zitten daar nog niet in. Hoe meer tastings, hoe meer kans op zulke kantoren.</a:t>
            </a:r>
            <a:endParaRPr lang="en-US" sz="950" dirty="0"/>
          </a:p>
        </p:txBody>
      </p:sp>
      <p:sp>
        <p:nvSpPr>
          <p:cNvPr id="19" name="Shape 17"/>
          <p:cNvSpPr/>
          <p:nvPr/>
        </p:nvSpPr>
        <p:spPr>
          <a:xfrm>
            <a:off x="8953478" y="2730493"/>
            <a:ext cx="2628893" cy="2222494"/>
          </a:xfrm>
          <a:prstGeom prst="roundRect">
            <a:avLst>
              <a:gd name="adj" fmla="val 4571"/>
            </a:avLst>
          </a:prstGeom>
          <a:solidFill>
            <a:srgbClr val="F8F4EB"/>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7</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PER PERIODE</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acht beldagen. Meer beldagen betekent meer tastings, en dus meer kansen.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Daarom sturen we op zoveel mogelijk tastings. Een klant die blijft bestellen telt niet één keer mee, maar elk jaar opnieuw.</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2026-09-26T17:27:31Z</dcterms:created>
  <dcterms:modified xsi:type="dcterms:W3CDTF">2026-09-26T17:27:31Z</dcterms:modified>
</cp:coreProperties>
</file>