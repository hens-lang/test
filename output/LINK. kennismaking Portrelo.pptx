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Lst>
  <p:notesMasterIdLst>
    <p:notesMasterId r:id="rId12"/>
  </p:notesMasterIdLst>
  <p:sldSz cx="12191970" cy="6858000"/>
  <p:notesSz cx="6858000" cy="1219197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notesMaster" Target="notesMasters/notesMaster1.xml"/><Relationship Id="rId13" Type="http://schemas.openxmlformats.org/officeDocument/2006/relationships/presProps" Target="presProps.xml"/><Relationship Id="rId14" Type="http://schemas.openxmlformats.org/officeDocument/2006/relationships/viewProps" Target="viewProps.xml"/><Relationship Id="rId15" Type="http://schemas.openxmlformats.org/officeDocument/2006/relationships/theme" Target="theme/theme1.xml"/><Relationship Id="rId16"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image" Target="../media/image-1-1.png"/><Relationship Id="rId2" Type="http://schemas.openxmlformats.org/officeDocument/2006/relationships/slideLayout" Target="../slideLayouts/slideLayout1.xml"/><Relationship Id="rId3"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image" Target="../media/image-3-1.png"/><Relationship Id="rId2" Type="http://schemas.openxmlformats.org/officeDocument/2006/relationships/image" Target="../media/image-3-2.png"/><Relationship Id="rId3" Type="http://schemas.openxmlformats.org/officeDocument/2006/relationships/image" Target="../media/image-3-3.png"/><Relationship Id="rId4" Type="http://schemas.openxmlformats.org/officeDocument/2006/relationships/image" Target="../media/image-3-4.png"/><Relationship Id="rId5" Type="http://schemas.openxmlformats.org/officeDocument/2006/relationships/slideLayout" Target="../slideLayouts/slideLayout1.xml"/><Relationship Id="rId6"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image" Target="../media/image-4-1.png"/><Relationship Id="rId2" Type="http://schemas.openxmlformats.org/officeDocument/2006/relationships/image" Target="../media/image-4-2.png"/><Relationship Id="rId3" Type="http://schemas.openxmlformats.org/officeDocument/2006/relationships/image" Target="../media/image-4-3.png"/><Relationship Id="rId4" Type="http://schemas.openxmlformats.org/officeDocument/2006/relationships/image" Target="../media/image-4-4.png"/><Relationship Id="rId5" Type="http://schemas.openxmlformats.org/officeDocument/2006/relationships/slideLayout" Target="../slideLayouts/slideLayout1.xml"/><Relationship Id="rId6"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image" Target="../media/image-5-1.png"/><Relationship Id="rId2" Type="http://schemas.openxmlformats.org/officeDocument/2006/relationships/image" Target="../media/image-5-2.png"/><Relationship Id="rId3" Type="http://schemas.openxmlformats.org/officeDocument/2006/relationships/image" Target="../media/image-5-3.png"/><Relationship Id="rId4" Type="http://schemas.openxmlformats.org/officeDocument/2006/relationships/slideLayout" Target="../slideLayouts/slideLayout1.xml"/><Relationship Id="rId5"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image" Target="../media/image-6-1.png"/><Relationship Id="rId2" Type="http://schemas.openxmlformats.org/officeDocument/2006/relationships/image" Target="../media/image-6-2.png"/><Relationship Id="rId3" Type="http://schemas.openxmlformats.org/officeDocument/2006/relationships/image" Target="../media/image-6-3.png"/><Relationship Id="rId4" Type="http://schemas.openxmlformats.org/officeDocument/2006/relationships/image" Target="../media/image-6-4.png"/><Relationship Id="rId5" Type="http://schemas.openxmlformats.org/officeDocument/2006/relationships/image" Target="../media/image-6-5.png"/><Relationship Id="rId6" Type="http://schemas.openxmlformats.org/officeDocument/2006/relationships/image" Target="../media/image-6-6.png"/><Relationship Id="rId7" Type="http://schemas.openxmlformats.org/officeDocument/2006/relationships/slideLayout" Target="../slideLayouts/slideLayout1.xml"/><Relationship Id="rId8"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image" Target="../media/image-8-1.png"/><Relationship Id="rId2" Type="http://schemas.openxmlformats.org/officeDocument/2006/relationships/image" Target="../media/image-8-2.png"/><Relationship Id="rId3" Type="http://schemas.openxmlformats.org/officeDocument/2006/relationships/image" Target="../media/image-8-3.png"/><Relationship Id="rId4" Type="http://schemas.openxmlformats.org/officeDocument/2006/relationships/image" Target="../media/image-8-4.png"/><Relationship Id="rId5" Type="http://schemas.openxmlformats.org/officeDocument/2006/relationships/slideLayout" Target="../slideLayouts/slideLayout1.xml"/><Relationship Id="rId6"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image" Target="../media/image-9-1.png"/><Relationship Id="rId2" Type="http://schemas.openxmlformats.org/officeDocument/2006/relationships/image" Target="../media/image-9-2.png"/><Relationship Id="rId3" Type="http://schemas.openxmlformats.org/officeDocument/2006/relationships/image" Target="../media/image-9-3.png"/><Relationship Id="rId4" Type="http://schemas.openxmlformats.org/officeDocument/2006/relationships/image" Target="../media/image-9-4.png"/><Relationship Id="rId5" Type="http://schemas.openxmlformats.org/officeDocument/2006/relationships/image" Target="../media/image-9-5.png"/><Relationship Id="rId6" Type="http://schemas.openxmlformats.org/officeDocument/2006/relationships/image" Target="../media/image-9-6.png"/><Relationship Id="rId7" Type="http://schemas.openxmlformats.org/officeDocument/2006/relationships/image" Target="../media/image-9-7.png"/><Relationship Id="rId8" Type="http://schemas.openxmlformats.org/officeDocument/2006/relationships/image" Target="../media/image-9-8.png"/><Relationship Id="rId9" Type="http://schemas.openxmlformats.org/officeDocument/2006/relationships/slideLayout" Target="../slideLayouts/slideLayout1.xml"/><Relationship Id="rId10"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0.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070A10"/>
        </a:solidFill>
      </p:bgPr>
    </p:bg>
    <p:spTree>
      <p:nvGrpSpPr>
        <p:cNvPr id="1" name=""/>
        <p:cNvGrpSpPr/>
        <p:nvPr/>
      </p:nvGrpSpPr>
      <p:grpSpPr>
        <a:xfrm>
          <a:off x="0" y="0"/>
          <a:ext cx="0" cy="0"/>
          <a:chOff x="0" y="0"/>
          <a:chExt cx="0" cy="0"/>
        </a:xfrm>
      </p:grpSpPr>
      <p:sp>
        <p:nvSpPr>
          <p:cNvPr id="2" name="Shape 0"/>
          <p:cNvSpPr/>
          <p:nvPr/>
        </p:nvSpPr>
        <p:spPr>
          <a:xfrm flipH="1">
            <a:off x="8159730" y="3460741"/>
            <a:ext cx="1111247" cy="984248"/>
          </a:xfrm>
          <a:prstGeom prst="line">
            <a:avLst/>
          </a:prstGeom>
          <a:noFill/>
          <a:ln w="9525">
            <a:solidFill>
              <a:srgbClr val="38B6FF">
                <a:alpha val="30000"/>
              </a:srgbClr>
            </a:solidFill>
            <a:prstDash val="solid"/>
          </a:ln>
        </p:spPr>
      </p:sp>
      <p:sp>
        <p:nvSpPr>
          <p:cNvPr id="3" name="Shape 1"/>
          <p:cNvSpPr/>
          <p:nvPr/>
        </p:nvSpPr>
        <p:spPr>
          <a:xfrm>
            <a:off x="9270977" y="3460741"/>
            <a:ext cx="1301747" cy="476249"/>
          </a:xfrm>
          <a:prstGeom prst="line">
            <a:avLst/>
          </a:prstGeom>
          <a:noFill/>
          <a:ln w="9525">
            <a:solidFill>
              <a:srgbClr val="38B6FF">
                <a:alpha val="30000"/>
              </a:srgbClr>
            </a:solidFill>
            <a:prstDash val="solid"/>
          </a:ln>
        </p:spPr>
      </p:sp>
      <p:sp>
        <p:nvSpPr>
          <p:cNvPr id="4" name="Shape 2"/>
          <p:cNvSpPr/>
          <p:nvPr/>
        </p:nvSpPr>
        <p:spPr>
          <a:xfrm flipH="1">
            <a:off x="10159975" y="3936990"/>
            <a:ext cx="412749" cy="1206497"/>
          </a:xfrm>
          <a:prstGeom prst="line">
            <a:avLst/>
          </a:prstGeom>
          <a:noFill/>
          <a:ln w="9525">
            <a:solidFill>
              <a:srgbClr val="38B6FF">
                <a:alpha val="30000"/>
              </a:srgbClr>
            </a:solidFill>
            <a:prstDash val="solid"/>
          </a:ln>
        </p:spPr>
      </p:sp>
      <p:sp>
        <p:nvSpPr>
          <p:cNvPr id="5" name="Shape 3"/>
          <p:cNvSpPr/>
          <p:nvPr/>
        </p:nvSpPr>
        <p:spPr>
          <a:xfrm flipH="1">
            <a:off x="8889978" y="5143487"/>
            <a:ext cx="1269997" cy="444499"/>
          </a:xfrm>
          <a:prstGeom prst="line">
            <a:avLst/>
          </a:prstGeom>
          <a:noFill/>
          <a:ln w="9525">
            <a:solidFill>
              <a:srgbClr val="38B6FF">
                <a:alpha val="30000"/>
              </a:srgbClr>
            </a:solidFill>
            <a:prstDash val="solid"/>
          </a:ln>
        </p:spPr>
      </p:sp>
      <p:sp>
        <p:nvSpPr>
          <p:cNvPr id="6" name="Shape 4"/>
          <p:cNvSpPr/>
          <p:nvPr/>
        </p:nvSpPr>
        <p:spPr>
          <a:xfrm>
            <a:off x="8159730" y="4444989"/>
            <a:ext cx="730248" cy="1142997"/>
          </a:xfrm>
          <a:prstGeom prst="line">
            <a:avLst/>
          </a:prstGeom>
          <a:noFill/>
          <a:ln w="9525">
            <a:solidFill>
              <a:srgbClr val="38B6FF">
                <a:alpha val="30000"/>
              </a:srgbClr>
            </a:solidFill>
            <a:prstDash val="solid"/>
          </a:ln>
        </p:spPr>
      </p:sp>
      <p:sp>
        <p:nvSpPr>
          <p:cNvPr id="7" name="Shape 5"/>
          <p:cNvSpPr/>
          <p:nvPr/>
        </p:nvSpPr>
        <p:spPr>
          <a:xfrm flipH="1">
            <a:off x="9270977" y="2730493"/>
            <a:ext cx="1809745" cy="730248"/>
          </a:xfrm>
          <a:prstGeom prst="line">
            <a:avLst/>
          </a:prstGeom>
          <a:noFill/>
          <a:ln w="9525">
            <a:solidFill>
              <a:srgbClr val="38B6FF">
                <a:alpha val="30000"/>
              </a:srgbClr>
            </a:solidFill>
            <a:prstDash val="solid"/>
          </a:ln>
        </p:spPr>
      </p:sp>
      <p:sp>
        <p:nvSpPr>
          <p:cNvPr id="8" name="Shape 6"/>
          <p:cNvSpPr/>
          <p:nvPr/>
        </p:nvSpPr>
        <p:spPr>
          <a:xfrm flipH="1">
            <a:off x="10572724" y="2730493"/>
            <a:ext cx="507999" cy="1206497"/>
          </a:xfrm>
          <a:prstGeom prst="line">
            <a:avLst/>
          </a:prstGeom>
          <a:noFill/>
          <a:ln w="9525">
            <a:solidFill>
              <a:srgbClr val="38B6FF">
                <a:alpha val="30000"/>
              </a:srgbClr>
            </a:solidFill>
            <a:prstDash val="solid"/>
          </a:ln>
        </p:spPr>
      </p:sp>
      <p:sp>
        <p:nvSpPr>
          <p:cNvPr id="9" name="Shape 7"/>
          <p:cNvSpPr/>
          <p:nvPr/>
        </p:nvSpPr>
        <p:spPr>
          <a:xfrm>
            <a:off x="10572724" y="3936990"/>
            <a:ext cx="1047747" cy="761998"/>
          </a:xfrm>
          <a:prstGeom prst="line">
            <a:avLst/>
          </a:prstGeom>
          <a:noFill/>
          <a:ln w="9525">
            <a:solidFill>
              <a:srgbClr val="38B6FF">
                <a:alpha val="30000"/>
              </a:srgbClr>
            </a:solidFill>
            <a:prstDash val="solid"/>
          </a:ln>
        </p:spPr>
      </p:sp>
      <p:sp>
        <p:nvSpPr>
          <p:cNvPr id="10" name="Shape 8"/>
          <p:cNvSpPr/>
          <p:nvPr/>
        </p:nvSpPr>
        <p:spPr>
          <a:xfrm flipH="1">
            <a:off x="10159975" y="4698988"/>
            <a:ext cx="1460496" cy="444499"/>
          </a:xfrm>
          <a:prstGeom prst="line">
            <a:avLst/>
          </a:prstGeom>
          <a:noFill/>
          <a:ln w="9525">
            <a:solidFill>
              <a:srgbClr val="38B6FF">
                <a:alpha val="30000"/>
              </a:srgbClr>
            </a:solidFill>
            <a:prstDash val="solid"/>
          </a:ln>
        </p:spPr>
      </p:sp>
      <p:sp>
        <p:nvSpPr>
          <p:cNvPr id="11" name="Shape 9"/>
          <p:cNvSpPr/>
          <p:nvPr/>
        </p:nvSpPr>
        <p:spPr>
          <a:xfrm flipH="1">
            <a:off x="9905975" y="5143487"/>
            <a:ext cx="253999" cy="1111247"/>
          </a:xfrm>
          <a:prstGeom prst="line">
            <a:avLst/>
          </a:prstGeom>
          <a:noFill/>
          <a:ln w="9525">
            <a:solidFill>
              <a:srgbClr val="38B6FF">
                <a:alpha val="30000"/>
              </a:srgbClr>
            </a:solidFill>
            <a:prstDash val="solid"/>
          </a:ln>
        </p:spPr>
      </p:sp>
      <p:sp>
        <p:nvSpPr>
          <p:cNvPr id="12" name="Shape 10"/>
          <p:cNvSpPr/>
          <p:nvPr/>
        </p:nvSpPr>
        <p:spPr>
          <a:xfrm>
            <a:off x="8889978" y="5587986"/>
            <a:ext cx="1015997" cy="666748"/>
          </a:xfrm>
          <a:prstGeom prst="line">
            <a:avLst/>
          </a:prstGeom>
          <a:noFill/>
          <a:ln w="9525">
            <a:solidFill>
              <a:srgbClr val="38B6FF">
                <a:alpha val="30000"/>
              </a:srgbClr>
            </a:solidFill>
            <a:prstDash val="solid"/>
          </a:ln>
        </p:spPr>
      </p:sp>
      <p:sp>
        <p:nvSpPr>
          <p:cNvPr id="13" name="Shape 11"/>
          <p:cNvSpPr/>
          <p:nvPr/>
        </p:nvSpPr>
        <p:spPr>
          <a:xfrm>
            <a:off x="11620471" y="4698988"/>
            <a:ext cx="158750" cy="1206497"/>
          </a:xfrm>
          <a:prstGeom prst="line">
            <a:avLst/>
          </a:prstGeom>
          <a:noFill/>
          <a:ln w="9525">
            <a:solidFill>
              <a:srgbClr val="38B6FF">
                <a:alpha val="30000"/>
              </a:srgbClr>
            </a:solidFill>
            <a:prstDash val="solid"/>
          </a:ln>
        </p:spPr>
      </p:sp>
      <p:sp>
        <p:nvSpPr>
          <p:cNvPr id="14" name="Shape 12"/>
          <p:cNvSpPr/>
          <p:nvPr/>
        </p:nvSpPr>
        <p:spPr>
          <a:xfrm flipH="1">
            <a:off x="9905975" y="5905485"/>
            <a:ext cx="1873245" cy="349249"/>
          </a:xfrm>
          <a:prstGeom prst="line">
            <a:avLst/>
          </a:prstGeom>
          <a:noFill/>
          <a:ln w="9525">
            <a:solidFill>
              <a:srgbClr val="38B6FF">
                <a:alpha val="30000"/>
              </a:srgbClr>
            </a:solidFill>
            <a:prstDash val="solid"/>
          </a:ln>
        </p:spPr>
      </p:sp>
      <p:sp>
        <p:nvSpPr>
          <p:cNvPr id="15" name="Shape 13"/>
          <p:cNvSpPr/>
          <p:nvPr/>
        </p:nvSpPr>
        <p:spPr>
          <a:xfrm>
            <a:off x="8134330" y="4419589"/>
            <a:ext cx="50800" cy="50800"/>
          </a:xfrm>
          <a:prstGeom prst="ellipse">
            <a:avLst/>
          </a:prstGeom>
          <a:solidFill>
            <a:srgbClr val="141821"/>
          </a:solidFill>
          <a:ln w="9525">
            <a:solidFill>
              <a:srgbClr val="38B6FF">
                <a:alpha val="50000"/>
              </a:srgbClr>
            </a:solidFill>
            <a:prstDash val="solid"/>
          </a:ln>
        </p:spPr>
      </p:sp>
      <p:sp>
        <p:nvSpPr>
          <p:cNvPr id="16" name="Shape 14"/>
          <p:cNvSpPr/>
          <p:nvPr/>
        </p:nvSpPr>
        <p:spPr>
          <a:xfrm>
            <a:off x="9245577" y="3435341"/>
            <a:ext cx="50800" cy="50800"/>
          </a:xfrm>
          <a:prstGeom prst="ellipse">
            <a:avLst/>
          </a:prstGeom>
          <a:solidFill>
            <a:srgbClr val="141821"/>
          </a:solidFill>
          <a:ln w="9525">
            <a:solidFill>
              <a:srgbClr val="38B6FF">
                <a:alpha val="50000"/>
              </a:srgbClr>
            </a:solidFill>
            <a:prstDash val="solid"/>
          </a:ln>
        </p:spPr>
      </p:sp>
      <p:sp>
        <p:nvSpPr>
          <p:cNvPr id="17" name="Shape 15"/>
          <p:cNvSpPr/>
          <p:nvPr/>
        </p:nvSpPr>
        <p:spPr>
          <a:xfrm>
            <a:off x="10528274" y="3892540"/>
            <a:ext cx="88900" cy="88900"/>
          </a:xfrm>
          <a:prstGeom prst="ellipse">
            <a:avLst/>
          </a:prstGeom>
          <a:solidFill>
            <a:srgbClr val="38B6FF"/>
          </a:solidFill>
          <a:ln/>
        </p:spPr>
      </p:sp>
      <p:sp>
        <p:nvSpPr>
          <p:cNvPr id="18" name="Shape 16"/>
          <p:cNvSpPr/>
          <p:nvPr/>
        </p:nvSpPr>
        <p:spPr>
          <a:xfrm>
            <a:off x="10134575" y="5118087"/>
            <a:ext cx="50800" cy="50800"/>
          </a:xfrm>
          <a:prstGeom prst="ellipse">
            <a:avLst/>
          </a:prstGeom>
          <a:solidFill>
            <a:srgbClr val="141821"/>
          </a:solidFill>
          <a:ln w="9525">
            <a:solidFill>
              <a:srgbClr val="38B6FF">
                <a:alpha val="50000"/>
              </a:srgbClr>
            </a:solidFill>
            <a:prstDash val="solid"/>
          </a:ln>
        </p:spPr>
      </p:sp>
      <p:sp>
        <p:nvSpPr>
          <p:cNvPr id="19" name="Shape 17"/>
          <p:cNvSpPr/>
          <p:nvPr/>
        </p:nvSpPr>
        <p:spPr>
          <a:xfrm>
            <a:off x="8864578" y="5562586"/>
            <a:ext cx="50800" cy="50800"/>
          </a:xfrm>
          <a:prstGeom prst="ellipse">
            <a:avLst/>
          </a:prstGeom>
          <a:solidFill>
            <a:srgbClr val="141821"/>
          </a:solidFill>
          <a:ln w="9525">
            <a:solidFill>
              <a:srgbClr val="38B6FF">
                <a:alpha val="50000"/>
              </a:srgbClr>
            </a:solidFill>
            <a:prstDash val="solid"/>
          </a:ln>
        </p:spPr>
      </p:sp>
      <p:sp>
        <p:nvSpPr>
          <p:cNvPr id="20" name="Shape 18"/>
          <p:cNvSpPr/>
          <p:nvPr/>
        </p:nvSpPr>
        <p:spPr>
          <a:xfrm>
            <a:off x="11055322" y="2705093"/>
            <a:ext cx="50800" cy="50800"/>
          </a:xfrm>
          <a:prstGeom prst="ellipse">
            <a:avLst/>
          </a:prstGeom>
          <a:solidFill>
            <a:srgbClr val="141821"/>
          </a:solidFill>
          <a:ln w="9525">
            <a:solidFill>
              <a:srgbClr val="38B6FF">
                <a:alpha val="50000"/>
              </a:srgbClr>
            </a:solidFill>
            <a:prstDash val="solid"/>
          </a:ln>
        </p:spPr>
      </p:sp>
      <p:sp>
        <p:nvSpPr>
          <p:cNvPr id="21" name="Shape 19"/>
          <p:cNvSpPr/>
          <p:nvPr/>
        </p:nvSpPr>
        <p:spPr>
          <a:xfrm>
            <a:off x="11595071" y="4673588"/>
            <a:ext cx="50800" cy="50800"/>
          </a:xfrm>
          <a:prstGeom prst="ellipse">
            <a:avLst/>
          </a:prstGeom>
          <a:solidFill>
            <a:srgbClr val="141821"/>
          </a:solidFill>
          <a:ln w="9525">
            <a:solidFill>
              <a:srgbClr val="38B6FF">
                <a:alpha val="50000"/>
              </a:srgbClr>
            </a:solidFill>
            <a:prstDash val="solid"/>
          </a:ln>
        </p:spPr>
      </p:sp>
      <p:sp>
        <p:nvSpPr>
          <p:cNvPr id="22" name="Shape 20"/>
          <p:cNvSpPr/>
          <p:nvPr/>
        </p:nvSpPr>
        <p:spPr>
          <a:xfrm>
            <a:off x="9880575" y="6229334"/>
            <a:ext cx="50800" cy="50800"/>
          </a:xfrm>
          <a:prstGeom prst="ellipse">
            <a:avLst/>
          </a:prstGeom>
          <a:solidFill>
            <a:srgbClr val="141821"/>
          </a:solidFill>
          <a:ln w="9525">
            <a:solidFill>
              <a:srgbClr val="38B6FF">
                <a:alpha val="50000"/>
              </a:srgbClr>
            </a:solidFill>
            <a:prstDash val="solid"/>
          </a:ln>
        </p:spPr>
      </p:sp>
      <p:sp>
        <p:nvSpPr>
          <p:cNvPr id="23" name="Shape 21"/>
          <p:cNvSpPr/>
          <p:nvPr/>
        </p:nvSpPr>
        <p:spPr>
          <a:xfrm>
            <a:off x="11753821" y="5880085"/>
            <a:ext cx="50800" cy="50800"/>
          </a:xfrm>
          <a:prstGeom prst="ellipse">
            <a:avLst/>
          </a:prstGeom>
          <a:solidFill>
            <a:srgbClr val="141821"/>
          </a:solidFill>
          <a:ln w="9525">
            <a:solidFill>
              <a:srgbClr val="38B6FF">
                <a:alpha val="50000"/>
              </a:srgbClr>
            </a:solidFill>
            <a:prstDash val="solid"/>
          </a:ln>
        </p:spPr>
      </p:sp>
      <p:sp>
        <p:nvSpPr>
          <p:cNvPr id="24" name="Text 22"/>
          <p:cNvSpPr txBox="1"/>
          <p:nvPr/>
        </p:nvSpPr>
        <p:spPr>
          <a:xfrm>
            <a:off x="596899" y="368299"/>
            <a:ext cx="1904995" cy="330199"/>
          </a:xfrm>
          <a:prstGeom prst="rect">
            <a:avLst/>
          </a:prstGeom>
          <a:noFill/>
          <a:ln/>
        </p:spPr>
        <p:txBody>
          <a:bodyPr wrap="square" lIns="0" tIns="0" rIns="0" bIns="0" rtlCol="0" anchor="ctr"/>
          <a:lstStyle/>
          <a:p>
            <a:pPr algn="l" indent="0" marL="0">
              <a:buNone/>
            </a:pPr>
            <a:r>
              <a:rPr lang="en-US" sz="1800" b="1" dirty="0">
                <a:solidFill>
                  <a:srgbClr val="F2EFE6"/>
                </a:solidFill>
                <a:latin typeface="Arial" pitchFamily="34" charset="0"/>
                <a:ea typeface="Arial" pitchFamily="34" charset="-122"/>
                <a:cs typeface="Arial" pitchFamily="34" charset="-120"/>
              </a:rPr>
              <a:t>LINK</a:t>
            </a:r>
            <a:pPr algn="l" indent="0" marL="0">
              <a:buNone/>
            </a:pPr>
            <a:r>
              <a:rPr lang="en-US" sz="1800" b="1" dirty="0">
                <a:solidFill>
                  <a:srgbClr val="38B6FF"/>
                </a:solidFill>
                <a:latin typeface="Arial" pitchFamily="34" charset="0"/>
                <a:ea typeface="Arial" pitchFamily="34" charset="-122"/>
                <a:cs typeface="Arial" pitchFamily="34" charset="-120"/>
              </a:rPr>
              <a:t>.</a:t>
            </a:r>
            <a:endParaRPr lang="en-US" sz="1800" dirty="0"/>
          </a:p>
        </p:txBody>
      </p:sp>
      <p:sp>
        <p:nvSpPr>
          <p:cNvPr id="25" name="Text 23"/>
          <p:cNvSpPr txBox="1"/>
          <p:nvPr/>
        </p:nvSpPr>
        <p:spPr>
          <a:xfrm>
            <a:off x="609598" y="6381734"/>
            <a:ext cx="5714986" cy="228599"/>
          </a:xfrm>
          <a:prstGeom prst="rect">
            <a:avLst/>
          </a:prstGeom>
          <a:noFill/>
          <a:ln/>
        </p:spPr>
        <p:txBody>
          <a:bodyPr wrap="square" lIns="0" tIns="0" rIns="0" bIns="0" rtlCol="0" anchor="ctr"/>
          <a:lstStyle/>
          <a:p>
            <a:pPr algn="l" indent="0" marL="0">
              <a:buNone/>
            </a:pPr>
            <a:r>
              <a:rPr lang="en-US" sz="750" b="1" spc="100" kern="0" dirty="0">
                <a:solidFill>
                  <a:srgbClr val="BDC3CE"/>
                </a:solidFill>
                <a:latin typeface="Arial" pitchFamily="34" charset="0"/>
                <a:ea typeface="Arial" pitchFamily="34" charset="-122"/>
                <a:cs typeface="Arial" pitchFamily="34" charset="-120"/>
              </a:rPr>
              <a:t>LINK. · Kennismaking Portrelo</a:t>
            </a:r>
            <a:endParaRPr lang="en-US" sz="750" dirty="0"/>
          </a:p>
        </p:txBody>
      </p:sp>
      <p:sp>
        <p:nvSpPr>
          <p:cNvPr id="26" name="Text 24"/>
          <p:cNvSpPr txBox="1"/>
          <p:nvPr/>
        </p:nvSpPr>
        <p:spPr>
          <a:xfrm>
            <a:off x="9677376" y="6381734"/>
            <a:ext cx="1904995" cy="228599"/>
          </a:xfrm>
          <a:prstGeom prst="rect">
            <a:avLst/>
          </a:prstGeom>
          <a:noFill/>
          <a:ln/>
        </p:spPr>
        <p:txBody>
          <a:bodyPr wrap="square" lIns="0" tIns="0" rIns="0" bIns="0" rtlCol="0" anchor="ctr"/>
          <a:lstStyle/>
          <a:p>
            <a:pPr algn="r" indent="0" marL="0">
              <a:buNone/>
            </a:pPr>
            <a:r>
              <a:rPr lang="en-US" sz="750" b="1" spc="100" kern="0" dirty="0">
                <a:solidFill>
                  <a:srgbClr val="BDC3CE"/>
                </a:solidFill>
                <a:latin typeface="Arial" pitchFamily="34" charset="0"/>
                <a:ea typeface="Arial" pitchFamily="34" charset="-122"/>
                <a:cs typeface="Arial" pitchFamily="34" charset="-120"/>
              </a:rPr>
              <a:t>1 / 10</a:t>
            </a:r>
            <a:endParaRPr lang="en-US" sz="750" dirty="0"/>
          </a:p>
        </p:txBody>
      </p:sp>
      <p:sp>
        <p:nvSpPr>
          <p:cNvPr id="27" name="Text 25"/>
          <p:cNvSpPr txBox="1"/>
          <p:nvPr/>
        </p:nvSpPr>
        <p:spPr>
          <a:xfrm>
            <a:off x="609598" y="2133595"/>
            <a:ext cx="10159975" cy="215899"/>
          </a:xfrm>
          <a:prstGeom prst="rect">
            <a:avLst/>
          </a:prstGeom>
          <a:noFill/>
          <a:ln/>
        </p:spPr>
        <p:txBody>
          <a:bodyPr wrap="square" lIns="0" tIns="0" rIns="0" bIns="0" rtlCol="0" anchor="ctr"/>
          <a:lstStyle/>
          <a:p>
            <a:pPr algn="l" indent="0" marL="0">
              <a:buNone/>
            </a:pPr>
            <a:r>
              <a:rPr lang="en-US" sz="950" b="1" spc="400" kern="0" dirty="0">
                <a:solidFill>
                  <a:srgbClr val="38B6FF"/>
                </a:solidFill>
                <a:latin typeface="Arial" pitchFamily="34" charset="0"/>
                <a:ea typeface="Arial" pitchFamily="34" charset="-122"/>
                <a:cs typeface="Arial" pitchFamily="34" charset="-120"/>
              </a:rPr>
              <a:t>VOOR BERRY · PORTRELO · SEPTEMBER 2026</a:t>
            </a:r>
            <a:endParaRPr lang="en-US" sz="950" dirty="0"/>
          </a:p>
        </p:txBody>
      </p:sp>
      <p:sp>
        <p:nvSpPr>
          <p:cNvPr id="28" name="Text 26"/>
          <p:cNvSpPr txBox="1"/>
          <p:nvPr/>
        </p:nvSpPr>
        <p:spPr>
          <a:xfrm>
            <a:off x="609598" y="2514594"/>
            <a:ext cx="8635978" cy="2031995"/>
          </a:xfrm>
          <a:prstGeom prst="rect">
            <a:avLst/>
          </a:prstGeom>
          <a:noFill/>
          <a:ln/>
        </p:spPr>
        <p:txBody>
          <a:bodyPr wrap="square" lIns="0" tIns="0" rIns="0" bIns="0" rtlCol="0" anchor="t"/>
          <a:lstStyle/>
          <a:p>
            <a:pPr algn="l" indent="0" marL="0">
              <a:lnSpc>
                <a:spcPct val="105000"/>
              </a:lnSpc>
              <a:buNone/>
            </a:pPr>
            <a:r>
              <a:rPr lang="en-US" sz="5200" b="1" dirty="0">
                <a:solidFill>
                  <a:srgbClr val="F2EFE6"/>
                </a:solidFill>
                <a:latin typeface="Arial" pitchFamily="34" charset="0"/>
                <a:ea typeface="Arial" pitchFamily="34" charset="-122"/>
                <a:cs typeface="Arial" pitchFamily="34" charset="-120"/>
              </a:rPr>
              <a:t>Structureel </a:t>
            </a:r>
            <a:pPr algn="l" indent="0" marL="0">
              <a:lnSpc>
                <a:spcPct val="105000"/>
              </a:lnSpc>
              <a:buNone/>
            </a:pPr>
            <a:r>
              <a:rPr lang="en-US" sz="5000" i="1" dirty="0">
                <a:solidFill>
                  <a:srgbClr val="F2EFE6"/>
                </a:solidFill>
                <a:latin typeface="Georgia" pitchFamily="34" charset="0"/>
                <a:ea typeface="Georgia" pitchFamily="34" charset="-122"/>
                <a:cs typeface="Georgia" pitchFamily="34" charset="-120"/>
              </a:rPr>
              <a:t>nieuwe klanten</a:t>
            </a:r>
            <a:pPr algn="l" indent="0" marL="0">
              <a:lnSpc>
                <a:spcPct val="105000"/>
              </a:lnSpc>
              <a:buNone/>
            </a:pPr>
            <a:r>
              <a:rPr lang="en-US" sz="5200" b="1" dirty="0">
                <a:solidFill>
                  <a:srgbClr val="F2EFE6"/>
                </a:solidFill>
                <a:latin typeface="Arial" pitchFamily="34" charset="0"/>
                <a:ea typeface="Arial" pitchFamily="34" charset="-122"/>
                <a:cs typeface="Arial" pitchFamily="34" charset="-120"/>
              </a:rPr>
              <a:t> aan tafel.</a:t>
            </a:r>
            <a:endParaRPr lang="en-US" sz="5200" dirty="0"/>
          </a:p>
        </p:txBody>
      </p:sp>
      <p:sp>
        <p:nvSpPr>
          <p:cNvPr id="29" name="Text 27"/>
          <p:cNvSpPr txBox="1"/>
          <p:nvPr/>
        </p:nvSpPr>
        <p:spPr>
          <a:xfrm>
            <a:off x="609598" y="4711688"/>
            <a:ext cx="6667483" cy="761998"/>
          </a:xfrm>
          <a:prstGeom prst="rect">
            <a:avLst/>
          </a:prstGeom>
          <a:noFill/>
          <a:ln/>
        </p:spPr>
        <p:txBody>
          <a:bodyPr wrap="square" lIns="0" tIns="0" rIns="0" bIns="0" rtlCol="0" anchor="t"/>
          <a:lstStyle/>
          <a:p>
            <a:pPr indent="0" marL="0">
              <a:lnSpc>
                <a:spcPct val="135000"/>
              </a:lnSpc>
              <a:buNone/>
            </a:pPr>
            <a:r>
              <a:rPr lang="en-US" sz="1400" dirty="0">
                <a:solidFill>
                  <a:srgbClr val="BDC3CE"/>
                </a:solidFill>
                <a:latin typeface="Arial" pitchFamily="34" charset="0"/>
                <a:ea typeface="Arial" pitchFamily="34" charset="-122"/>
                <a:cs typeface="Arial" pitchFamily="34" charset="-120"/>
              </a:rPr>
              <a:t>Wat LINK. voor Portrelo kan betekenen: in de maanden voor de lancering aan tafel bij communicatieteams, zorginstellingen en gemeenten, zodat er in januari al demo's in de agenda staan.</a:t>
            </a:r>
            <a:endParaRPr lang="en-US" sz="1400" dirty="0"/>
          </a:p>
        </p:txBody>
      </p:sp>
      <p:sp>
        <p:nvSpPr>
          <p:cNvPr id="30" name="Text 28"/>
          <p:cNvSpPr txBox="1"/>
          <p:nvPr/>
        </p:nvSpPr>
        <p:spPr>
          <a:xfrm>
            <a:off x="609598" y="5714986"/>
            <a:ext cx="825498" cy="406399"/>
          </a:xfrm>
          <a:prstGeom prst="rect">
            <a:avLst/>
          </a:prstGeom>
          <a:noFill/>
          <a:ln/>
        </p:spPr>
        <p:txBody>
          <a:bodyPr wrap="square" lIns="0" tIns="0" rIns="0" bIns="0" rtlCol="0" anchor="ctr"/>
          <a:lstStyle/>
          <a:p>
            <a:pPr indent="0" marL="0">
              <a:buNone/>
            </a:pPr>
            <a:r>
              <a:rPr lang="en-US" sz="1700" b="1" dirty="0">
                <a:solidFill>
                  <a:srgbClr val="F2EFE6"/>
                </a:solidFill>
                <a:latin typeface="Arial" pitchFamily="34" charset="0"/>
                <a:ea typeface="Arial" pitchFamily="34" charset="-122"/>
                <a:cs typeface="Arial" pitchFamily="34" charset="-120"/>
              </a:rPr>
              <a:t>LINK</a:t>
            </a:r>
            <a:pPr indent="0" marL="0">
              <a:buNone/>
            </a:pPr>
            <a:r>
              <a:rPr lang="en-US" sz="1700" b="1" dirty="0">
                <a:solidFill>
                  <a:srgbClr val="38B6FF"/>
                </a:solidFill>
                <a:latin typeface="Arial" pitchFamily="34" charset="0"/>
                <a:ea typeface="Arial" pitchFamily="34" charset="-122"/>
                <a:cs typeface="Arial" pitchFamily="34" charset="-120"/>
              </a:rPr>
              <a:t>.</a:t>
            </a:r>
            <a:endParaRPr lang="en-US" sz="1700" dirty="0"/>
          </a:p>
        </p:txBody>
      </p:sp>
      <p:sp>
        <p:nvSpPr>
          <p:cNvPr id="31" name="Text 29"/>
          <p:cNvSpPr txBox="1"/>
          <p:nvPr/>
        </p:nvSpPr>
        <p:spPr>
          <a:xfrm>
            <a:off x="1473196" y="5714986"/>
            <a:ext cx="279399" cy="406399"/>
          </a:xfrm>
          <a:prstGeom prst="rect">
            <a:avLst/>
          </a:prstGeom>
          <a:noFill/>
          <a:ln/>
        </p:spPr>
        <p:txBody>
          <a:bodyPr wrap="square" lIns="0" tIns="0" rIns="0" bIns="0" rtlCol="0" anchor="ctr"/>
          <a:lstStyle/>
          <a:p>
            <a:pPr algn="ctr" indent="0" marL="0">
              <a:buNone/>
            </a:pPr>
            <a:r>
              <a:rPr lang="en-US" sz="1300" dirty="0">
                <a:solidFill>
                  <a:srgbClr val="8A90A0"/>
                </a:solidFill>
                <a:latin typeface="Arial" pitchFamily="34" charset="0"/>
                <a:ea typeface="Arial" pitchFamily="34" charset="-122"/>
                <a:cs typeface="Arial" pitchFamily="34" charset="-120"/>
              </a:rPr>
              <a:t>×</a:t>
            </a:r>
            <a:endParaRPr lang="en-US" sz="1300" dirty="0"/>
          </a:p>
        </p:txBody>
      </p:sp>
      <p:sp>
        <p:nvSpPr>
          <p:cNvPr id="32" name="Shape 30"/>
          <p:cNvSpPr/>
          <p:nvPr/>
        </p:nvSpPr>
        <p:spPr>
          <a:xfrm>
            <a:off x="1854195" y="5714986"/>
            <a:ext cx="1534579" cy="406399"/>
          </a:xfrm>
          <a:prstGeom prst="roundRect">
            <a:avLst>
              <a:gd name="adj" fmla="val 21875"/>
            </a:avLst>
          </a:prstGeom>
          <a:solidFill>
            <a:srgbClr val="F8F4EB"/>
          </a:solidFill>
          <a:ln/>
        </p:spPr>
      </p:sp>
      <p:pic>
        <p:nvPicPr>
          <p:cNvPr id="33" name="Image 0" descr="preencoded.png">    </p:cNvPr>
          <p:cNvPicPr>
            <a:picLocks noChangeAspect="1"/>
          </p:cNvPicPr>
          <p:nvPr/>
        </p:nvPicPr>
        <p:blipFill>
          <a:blip r:embed="rId1"/>
          <a:stretch>
            <a:fillRect/>
          </a:stretch>
        </p:blipFill>
        <p:spPr>
          <a:xfrm>
            <a:off x="2031995" y="5791186"/>
            <a:ext cx="1178980" cy="253999"/>
          </a:xfrm>
          <a:prstGeom prst="rect">
            <a:avLst/>
          </a:prstGeom>
        </p:spPr>
      </p:pic>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E9E0CD"/>
        </a:solidFill>
      </p:bgPr>
    </p:bg>
    <p:spTree>
      <p:nvGrpSpPr>
        <p:cNvPr id="1" name=""/>
        <p:cNvGrpSpPr/>
        <p:nvPr/>
      </p:nvGrpSpPr>
      <p:grpSpPr>
        <a:xfrm>
          <a:off x="0" y="0"/>
          <a:ext cx="0" cy="0"/>
          <a:chOff x="0" y="0"/>
          <a:chExt cx="0" cy="0"/>
        </a:xfrm>
      </p:grpSpPr>
      <p:sp>
        <p:nvSpPr>
          <p:cNvPr id="2" name="Text 0"/>
          <p:cNvSpPr txBox="1"/>
          <p:nvPr/>
        </p:nvSpPr>
        <p:spPr>
          <a:xfrm>
            <a:off x="596899" y="368299"/>
            <a:ext cx="1904995" cy="330199"/>
          </a:xfrm>
          <a:prstGeom prst="rect">
            <a:avLst/>
          </a:prstGeom>
          <a:noFill/>
          <a:ln/>
        </p:spPr>
        <p:txBody>
          <a:bodyPr wrap="square" lIns="0" tIns="0" rIns="0" bIns="0" rtlCol="0" anchor="ctr"/>
          <a:lstStyle/>
          <a:p>
            <a:pPr algn="l" indent="0" marL="0">
              <a:buNone/>
            </a:pPr>
            <a:r>
              <a:rPr lang="en-US" sz="1800" b="1" dirty="0">
                <a:solidFill>
                  <a:srgbClr val="1C2230"/>
                </a:solidFill>
                <a:latin typeface="Arial" pitchFamily="34" charset="0"/>
                <a:ea typeface="Arial" pitchFamily="34" charset="-122"/>
                <a:cs typeface="Arial" pitchFamily="34" charset="-120"/>
              </a:rPr>
              <a:t>LINK</a:t>
            </a:r>
            <a:pPr algn="l" indent="0" marL="0">
              <a:buNone/>
            </a:pPr>
            <a:r>
              <a:rPr lang="en-US" sz="1800" b="1" dirty="0">
                <a:solidFill>
                  <a:srgbClr val="38B6FF"/>
                </a:solidFill>
                <a:latin typeface="Arial" pitchFamily="34" charset="0"/>
                <a:ea typeface="Arial" pitchFamily="34" charset="-122"/>
                <a:cs typeface="Arial" pitchFamily="34" charset="-120"/>
              </a:rPr>
              <a:t>.</a:t>
            </a:r>
            <a:endParaRPr lang="en-US" sz="1800" dirty="0"/>
          </a:p>
        </p:txBody>
      </p:sp>
      <p:sp>
        <p:nvSpPr>
          <p:cNvPr id="3" name="Text 1"/>
          <p:cNvSpPr txBox="1"/>
          <p:nvPr/>
        </p:nvSpPr>
        <p:spPr>
          <a:xfrm>
            <a:off x="609598" y="6381734"/>
            <a:ext cx="5714986" cy="228599"/>
          </a:xfrm>
          <a:prstGeom prst="rect">
            <a:avLst/>
          </a:prstGeom>
          <a:noFill/>
          <a:ln/>
        </p:spPr>
        <p:txBody>
          <a:bodyPr wrap="square" lIns="0" tIns="0" rIns="0" bIns="0" rtlCol="0" anchor="ctr"/>
          <a:lstStyle/>
          <a:p>
            <a:pPr algn="l" indent="0" marL="0">
              <a:buNone/>
            </a:pPr>
            <a:r>
              <a:rPr lang="en-US" sz="750" b="1" spc="100" kern="0" dirty="0">
                <a:solidFill>
                  <a:srgbClr val="6F6A5C"/>
                </a:solidFill>
                <a:latin typeface="Arial" pitchFamily="34" charset="0"/>
                <a:ea typeface="Arial" pitchFamily="34" charset="-122"/>
                <a:cs typeface="Arial" pitchFamily="34" charset="-120"/>
              </a:rPr>
              <a:t>LINK. · Kennismaking Portrelo</a:t>
            </a:r>
            <a:endParaRPr lang="en-US" sz="750" dirty="0"/>
          </a:p>
        </p:txBody>
      </p:sp>
      <p:sp>
        <p:nvSpPr>
          <p:cNvPr id="4" name="Text 2"/>
          <p:cNvSpPr txBox="1"/>
          <p:nvPr/>
        </p:nvSpPr>
        <p:spPr>
          <a:xfrm>
            <a:off x="9677376" y="6381734"/>
            <a:ext cx="1904995" cy="228599"/>
          </a:xfrm>
          <a:prstGeom prst="rect">
            <a:avLst/>
          </a:prstGeom>
          <a:noFill/>
          <a:ln/>
        </p:spPr>
        <p:txBody>
          <a:bodyPr wrap="square" lIns="0" tIns="0" rIns="0" bIns="0" rtlCol="0" anchor="ctr"/>
          <a:lstStyle/>
          <a:p>
            <a:pPr algn="r" indent="0" marL="0">
              <a:buNone/>
            </a:pPr>
            <a:r>
              <a:rPr lang="en-US" sz="750" b="1" spc="100" kern="0" dirty="0">
                <a:solidFill>
                  <a:srgbClr val="6F6A5C"/>
                </a:solidFill>
                <a:latin typeface="Arial" pitchFamily="34" charset="0"/>
                <a:ea typeface="Arial" pitchFamily="34" charset="-122"/>
                <a:cs typeface="Arial" pitchFamily="34" charset="-120"/>
              </a:rPr>
              <a:t>2 / 10</a:t>
            </a:r>
            <a:endParaRPr lang="en-US" sz="750" dirty="0"/>
          </a:p>
        </p:txBody>
      </p:sp>
      <p:sp>
        <p:nvSpPr>
          <p:cNvPr id="5" name="Text 3"/>
          <p:cNvSpPr txBox="1"/>
          <p:nvPr/>
        </p:nvSpPr>
        <p:spPr>
          <a:xfrm>
            <a:off x="609598" y="1206497"/>
            <a:ext cx="10159975" cy="215899"/>
          </a:xfrm>
          <a:prstGeom prst="rect">
            <a:avLst/>
          </a:prstGeom>
          <a:noFill/>
          <a:ln/>
        </p:spPr>
        <p:txBody>
          <a:bodyPr wrap="square" lIns="0" tIns="0" rIns="0" bIns="0" rtlCol="0" anchor="ctr"/>
          <a:lstStyle/>
          <a:p>
            <a:pPr algn="l" indent="0" marL="0">
              <a:buNone/>
            </a:pPr>
            <a:r>
              <a:rPr lang="en-US" sz="950" b="1" spc="400" kern="0" dirty="0">
                <a:solidFill>
                  <a:srgbClr val="38B6FF"/>
                </a:solidFill>
                <a:latin typeface="Arial" pitchFamily="34" charset="0"/>
                <a:ea typeface="Arial" pitchFamily="34" charset="-122"/>
                <a:cs typeface="Arial" pitchFamily="34" charset="-120"/>
              </a:rPr>
              <a:t>WIE WIJ ZIJN</a:t>
            </a:r>
            <a:endParaRPr lang="en-US" sz="950" dirty="0"/>
          </a:p>
        </p:txBody>
      </p:sp>
      <p:sp>
        <p:nvSpPr>
          <p:cNvPr id="6" name="Text 4"/>
          <p:cNvSpPr txBox="1"/>
          <p:nvPr/>
        </p:nvSpPr>
        <p:spPr>
          <a:xfrm>
            <a:off x="609598" y="1511296"/>
            <a:ext cx="10972773" cy="1142997"/>
          </a:xfrm>
          <a:prstGeom prst="rect">
            <a:avLst/>
          </a:prstGeom>
          <a:noFill/>
          <a:ln/>
        </p:spPr>
        <p:txBody>
          <a:bodyPr wrap="square" lIns="0" tIns="0" rIns="0" bIns="0" rtlCol="0" anchor="t"/>
          <a:lstStyle/>
          <a:p>
            <a:pPr algn="l" indent="0" marL="0">
              <a:lnSpc>
                <a:spcPct val="108000"/>
              </a:lnSpc>
              <a:buNone/>
            </a:pPr>
            <a:r>
              <a:rPr lang="en-US" sz="3200" b="1" dirty="0">
                <a:solidFill>
                  <a:srgbClr val="1C2230"/>
                </a:solidFill>
                <a:latin typeface="Arial" pitchFamily="34" charset="0"/>
                <a:ea typeface="Arial" pitchFamily="34" charset="-122"/>
                <a:cs typeface="Arial" pitchFamily="34" charset="-120"/>
              </a:rPr>
              <a:t>Bellen is een </a:t>
            </a:r>
            <a:pPr algn="l" indent="0" marL="0">
              <a:lnSpc>
                <a:spcPct val="108000"/>
              </a:lnSpc>
              <a:buNone/>
            </a:pPr>
            <a:r>
              <a:rPr lang="en-US" sz="3000" i="1" dirty="0">
                <a:solidFill>
                  <a:srgbClr val="1C2230"/>
                </a:solidFill>
                <a:latin typeface="Georgia" pitchFamily="34" charset="0"/>
                <a:ea typeface="Georgia" pitchFamily="34" charset="-122"/>
                <a:cs typeface="Georgia" pitchFamily="34" charset="-120"/>
              </a:rPr>
              <a:t>vak</a:t>
            </a:r>
            <a:pPr algn="l" indent="0" marL="0">
              <a:lnSpc>
                <a:spcPct val="108000"/>
              </a:lnSpc>
              <a:buNone/>
            </a:pPr>
            <a:r>
              <a:rPr lang="en-US" sz="3200" b="1" dirty="0">
                <a:solidFill>
                  <a:srgbClr val="1C2230"/>
                </a:solidFill>
                <a:latin typeface="Arial" pitchFamily="34" charset="0"/>
                <a:ea typeface="Arial" pitchFamily="34" charset="-122"/>
                <a:cs typeface="Arial" pitchFamily="34" charset="-120"/>
              </a:rPr>
              <a:t>. Wij doen niets anders.</a:t>
            </a:r>
            <a:endParaRPr lang="en-US" sz="3200" dirty="0"/>
          </a:p>
        </p:txBody>
      </p:sp>
      <p:sp>
        <p:nvSpPr>
          <p:cNvPr id="7" name="Text 5"/>
          <p:cNvSpPr txBox="1"/>
          <p:nvPr/>
        </p:nvSpPr>
        <p:spPr>
          <a:xfrm>
            <a:off x="609598" y="2692393"/>
            <a:ext cx="6095985" cy="3174992"/>
          </a:xfrm>
          <a:prstGeom prst="rect">
            <a:avLst/>
          </a:prstGeom>
          <a:noFill/>
          <a:ln/>
        </p:spPr>
        <p:txBody>
          <a:bodyPr wrap="square" lIns="0" tIns="0" rIns="0" bIns="0" rtlCol="0" anchor="t"/>
          <a:lstStyle/>
          <a:p>
            <a:pPr indent="0" marL="0">
              <a:lnSpc>
                <a:spcPct val="142000"/>
              </a:lnSpc>
              <a:spcAft>
                <a:spcPts val="1800"/>
              </a:spcAft>
              <a:buNone/>
            </a:pPr>
            <a:r>
              <a:rPr lang="en-US" sz="1350" dirty="0">
                <a:solidFill>
                  <a:srgbClr val="1C2230"/>
                </a:solidFill>
                <a:latin typeface="Arial" pitchFamily="34" charset="0"/>
                <a:ea typeface="Arial" pitchFamily="34" charset="-122"/>
                <a:cs typeface="Arial" pitchFamily="34" charset="-120"/>
              </a:rPr>
              <a:t>LINK. is de vaste acquisitiepartner van B2B-bedrijven. Wij bellen dagelijks namens onze klanten en leveren gekwalificeerde afspraken op. Geen lijstjes met namen, maar gesprekken in jullie agenda met een beslisser die weet waarom hij aan tafel zit.</a:t>
            </a:r>
            <a:endParaRPr lang="en-US" sz="1350" dirty="0"/>
          </a:p>
          <a:p>
            <a:pPr indent="0" marL="0">
              <a:lnSpc>
                <a:spcPct val="142000"/>
              </a:lnSpc>
              <a:buNone/>
            </a:pPr>
            <a:r>
              <a:rPr lang="en-US" sz="1350" dirty="0">
                <a:solidFill>
                  <a:srgbClr val="1C2230"/>
                </a:solidFill>
                <a:latin typeface="Arial" pitchFamily="34" charset="0"/>
                <a:ea typeface="Arial" pitchFamily="34" charset="-122"/>
                <a:cs typeface="Arial" pitchFamily="34" charset="-120"/>
              </a:rPr>
              <a:t>We werken voor bedrijven met een sterke B2B-propositie, in uiteenlopende branches. Geen bureau op afstand, maar een partner die elke week met je schakelt.</a:t>
            </a:r>
            <a:endParaRPr lang="en-US" sz="1350" dirty="0"/>
          </a:p>
        </p:txBody>
      </p:sp>
      <p:sp>
        <p:nvSpPr>
          <p:cNvPr id="8" name="Shape 6"/>
          <p:cNvSpPr/>
          <p:nvPr/>
        </p:nvSpPr>
        <p:spPr>
          <a:xfrm>
            <a:off x="7899380" y="2666993"/>
            <a:ext cx="3682991" cy="1549396"/>
          </a:xfrm>
          <a:prstGeom prst="roundRect">
            <a:avLst>
              <a:gd name="adj" fmla="val 6557"/>
            </a:avLst>
          </a:prstGeom>
          <a:solidFill>
            <a:srgbClr val="F8F4EB"/>
          </a:solidFill>
          <a:ln/>
        </p:spPr>
      </p:sp>
      <p:sp>
        <p:nvSpPr>
          <p:cNvPr id="9" name="Text 7"/>
          <p:cNvSpPr txBox="1"/>
          <p:nvPr/>
        </p:nvSpPr>
        <p:spPr>
          <a:xfrm>
            <a:off x="8178780" y="2857493"/>
            <a:ext cx="3124192" cy="469899"/>
          </a:xfrm>
          <a:prstGeom prst="rect">
            <a:avLst/>
          </a:prstGeom>
          <a:noFill/>
          <a:ln/>
        </p:spPr>
        <p:txBody>
          <a:bodyPr wrap="square" lIns="0" tIns="0" rIns="0" bIns="0" rtlCol="0" anchor="ctr"/>
          <a:lstStyle/>
          <a:p>
            <a:pPr indent="0" marL="0">
              <a:buNone/>
            </a:pPr>
            <a:r>
              <a:rPr lang="en-US" sz="3400" b="1" dirty="0">
                <a:solidFill>
                  <a:srgbClr val="38B6FF"/>
                </a:solidFill>
                <a:latin typeface="Arial" pitchFamily="34" charset="0"/>
                <a:ea typeface="Arial" pitchFamily="34" charset="-122"/>
                <a:cs typeface="Arial" pitchFamily="34" charset="-120"/>
              </a:rPr>
              <a:t>1</a:t>
            </a:r>
            <a:endParaRPr lang="en-US" sz="3400" dirty="0"/>
          </a:p>
        </p:txBody>
      </p:sp>
      <p:sp>
        <p:nvSpPr>
          <p:cNvPr id="10" name="Text 8"/>
          <p:cNvSpPr txBox="1"/>
          <p:nvPr/>
        </p:nvSpPr>
        <p:spPr>
          <a:xfrm>
            <a:off x="8178780" y="3352792"/>
            <a:ext cx="3124192" cy="241299"/>
          </a:xfrm>
          <a:prstGeom prst="rect">
            <a:avLst/>
          </a:prstGeom>
          <a:noFill/>
          <a:ln/>
        </p:spPr>
        <p:txBody>
          <a:bodyPr wrap="square" lIns="0" tIns="0" rIns="0" bIns="0" rtlCol="0" anchor="ctr"/>
          <a:lstStyle/>
          <a:p>
            <a:pPr indent="0" marL="0">
              <a:buNone/>
            </a:pPr>
            <a:r>
              <a:rPr lang="en-US" sz="1250" b="1" dirty="0">
                <a:solidFill>
                  <a:srgbClr val="1C2230"/>
                </a:solidFill>
                <a:latin typeface="Arial" pitchFamily="34" charset="0"/>
                <a:ea typeface="Arial" pitchFamily="34" charset="-122"/>
                <a:cs typeface="Arial" pitchFamily="34" charset="-120"/>
              </a:rPr>
              <a:t>vast aanspreekpunt</a:t>
            </a:r>
            <a:endParaRPr lang="en-US" sz="1250" dirty="0"/>
          </a:p>
        </p:txBody>
      </p:sp>
      <p:sp>
        <p:nvSpPr>
          <p:cNvPr id="11" name="Text 9"/>
          <p:cNvSpPr txBox="1"/>
          <p:nvPr/>
        </p:nvSpPr>
        <p:spPr>
          <a:xfrm>
            <a:off x="8178780" y="3619491"/>
            <a:ext cx="3124192" cy="507999"/>
          </a:xfrm>
          <a:prstGeom prst="rect">
            <a:avLst/>
          </a:prstGeom>
          <a:noFill/>
          <a:ln/>
        </p:spPr>
        <p:txBody>
          <a:bodyPr wrap="square" lIns="0" tIns="0" rIns="0" bIns="0" rtlCol="0" anchor="t"/>
          <a:lstStyle/>
          <a:p>
            <a:pPr indent="0" marL="0">
              <a:lnSpc>
                <a:spcPct val="130000"/>
              </a:lnSpc>
              <a:buNone/>
            </a:pPr>
            <a:r>
              <a:rPr lang="en-US" sz="950" dirty="0">
                <a:solidFill>
                  <a:srgbClr val="6F6A5C"/>
                </a:solidFill>
                <a:latin typeface="Arial" pitchFamily="34" charset="0"/>
                <a:ea typeface="Arial" pitchFamily="34" charset="-122"/>
                <a:cs typeface="Arial" pitchFamily="34" charset="-120"/>
              </a:rPr>
              <a:t>Eén persoon die jullie campagne kent, van script tot rapportage.</a:t>
            </a:r>
            <a:endParaRPr lang="en-US" sz="950" dirty="0"/>
          </a:p>
        </p:txBody>
      </p:sp>
      <p:sp>
        <p:nvSpPr>
          <p:cNvPr id="12" name="Shape 10"/>
          <p:cNvSpPr/>
          <p:nvPr/>
        </p:nvSpPr>
        <p:spPr>
          <a:xfrm>
            <a:off x="7899380" y="4368789"/>
            <a:ext cx="3682991" cy="1549396"/>
          </a:xfrm>
          <a:prstGeom prst="roundRect">
            <a:avLst>
              <a:gd name="adj" fmla="val 6557"/>
            </a:avLst>
          </a:prstGeom>
          <a:solidFill>
            <a:srgbClr val="F8F4EB"/>
          </a:solidFill>
          <a:ln/>
        </p:spPr>
      </p:sp>
      <p:sp>
        <p:nvSpPr>
          <p:cNvPr id="13" name="Text 11"/>
          <p:cNvSpPr txBox="1"/>
          <p:nvPr/>
        </p:nvSpPr>
        <p:spPr>
          <a:xfrm>
            <a:off x="8178780" y="4559289"/>
            <a:ext cx="3124192" cy="469899"/>
          </a:xfrm>
          <a:prstGeom prst="rect">
            <a:avLst/>
          </a:prstGeom>
          <a:noFill/>
          <a:ln/>
        </p:spPr>
        <p:txBody>
          <a:bodyPr wrap="square" lIns="0" tIns="0" rIns="0" bIns="0" rtlCol="0" anchor="ctr"/>
          <a:lstStyle/>
          <a:p>
            <a:pPr indent="0" marL="0">
              <a:buNone/>
            </a:pPr>
            <a:r>
              <a:rPr lang="en-US" sz="3400" b="1" dirty="0">
                <a:solidFill>
                  <a:srgbClr val="38B6FF"/>
                </a:solidFill>
                <a:latin typeface="Arial" pitchFamily="34" charset="0"/>
                <a:ea typeface="Arial" pitchFamily="34" charset="-122"/>
                <a:cs typeface="Arial" pitchFamily="34" charset="-120"/>
              </a:rPr>
              <a:t>4</a:t>
            </a:r>
            <a:endParaRPr lang="en-US" sz="3400" dirty="0"/>
          </a:p>
        </p:txBody>
      </p:sp>
      <p:sp>
        <p:nvSpPr>
          <p:cNvPr id="14" name="Text 12"/>
          <p:cNvSpPr txBox="1"/>
          <p:nvPr/>
        </p:nvSpPr>
        <p:spPr>
          <a:xfrm>
            <a:off x="8178780" y="5054587"/>
            <a:ext cx="3124192" cy="241299"/>
          </a:xfrm>
          <a:prstGeom prst="rect">
            <a:avLst/>
          </a:prstGeom>
          <a:noFill/>
          <a:ln/>
        </p:spPr>
        <p:txBody>
          <a:bodyPr wrap="square" lIns="0" tIns="0" rIns="0" bIns="0" rtlCol="0" anchor="ctr"/>
          <a:lstStyle/>
          <a:p>
            <a:pPr indent="0" marL="0">
              <a:buNone/>
            </a:pPr>
            <a:r>
              <a:rPr lang="en-US" sz="1250" b="1" dirty="0">
                <a:solidFill>
                  <a:srgbClr val="1C2230"/>
                </a:solidFill>
                <a:latin typeface="Arial" pitchFamily="34" charset="0"/>
                <a:ea typeface="Arial" pitchFamily="34" charset="-122"/>
                <a:cs typeface="Arial" pitchFamily="34" charset="-120"/>
              </a:rPr>
              <a:t>weken per werkperiode</a:t>
            </a:r>
            <a:endParaRPr lang="en-US" sz="1250" dirty="0"/>
          </a:p>
        </p:txBody>
      </p:sp>
      <p:sp>
        <p:nvSpPr>
          <p:cNvPr id="15" name="Text 13"/>
          <p:cNvSpPr txBox="1"/>
          <p:nvPr/>
        </p:nvSpPr>
        <p:spPr>
          <a:xfrm>
            <a:off x="8178780" y="5321287"/>
            <a:ext cx="3124192" cy="507999"/>
          </a:xfrm>
          <a:prstGeom prst="rect">
            <a:avLst/>
          </a:prstGeom>
          <a:noFill/>
          <a:ln/>
        </p:spPr>
        <p:txBody>
          <a:bodyPr wrap="square" lIns="0" tIns="0" rIns="0" bIns="0" rtlCol="0" anchor="t"/>
          <a:lstStyle/>
          <a:p>
            <a:pPr indent="0" marL="0">
              <a:lnSpc>
                <a:spcPct val="130000"/>
              </a:lnSpc>
              <a:buNone/>
            </a:pPr>
            <a:r>
              <a:rPr lang="en-US" sz="950" dirty="0">
                <a:solidFill>
                  <a:srgbClr val="6F6A5C"/>
                </a:solidFill>
                <a:latin typeface="Arial" pitchFamily="34" charset="0"/>
                <a:ea typeface="Arial" pitchFamily="34" charset="-122"/>
                <a:cs typeface="Arial" pitchFamily="34" charset="-120"/>
              </a:rPr>
              <a:t>Vaste rapportage en vaste evaluatiemomenten, elke werkperiode opnieuw.</a:t>
            </a:r>
            <a:endParaRPr lang="en-US" sz="95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E9E0CD"/>
        </a:solidFill>
      </p:bgPr>
    </p:bg>
    <p:spTree>
      <p:nvGrpSpPr>
        <p:cNvPr id="1" name=""/>
        <p:cNvGrpSpPr/>
        <p:nvPr/>
      </p:nvGrpSpPr>
      <p:grpSpPr>
        <a:xfrm>
          <a:off x="0" y="0"/>
          <a:ext cx="0" cy="0"/>
          <a:chOff x="0" y="0"/>
          <a:chExt cx="0" cy="0"/>
        </a:xfrm>
      </p:grpSpPr>
      <p:sp>
        <p:nvSpPr>
          <p:cNvPr id="2" name="Text 0"/>
          <p:cNvSpPr txBox="1"/>
          <p:nvPr/>
        </p:nvSpPr>
        <p:spPr>
          <a:xfrm>
            <a:off x="596899" y="368299"/>
            <a:ext cx="1904995" cy="330199"/>
          </a:xfrm>
          <a:prstGeom prst="rect">
            <a:avLst/>
          </a:prstGeom>
          <a:noFill/>
          <a:ln/>
        </p:spPr>
        <p:txBody>
          <a:bodyPr wrap="square" lIns="0" tIns="0" rIns="0" bIns="0" rtlCol="0" anchor="ctr"/>
          <a:lstStyle/>
          <a:p>
            <a:pPr algn="l" indent="0" marL="0">
              <a:buNone/>
            </a:pPr>
            <a:r>
              <a:rPr lang="en-US" sz="1800" b="1" dirty="0">
                <a:solidFill>
                  <a:srgbClr val="1C2230"/>
                </a:solidFill>
                <a:latin typeface="Arial" pitchFamily="34" charset="0"/>
                <a:ea typeface="Arial" pitchFamily="34" charset="-122"/>
                <a:cs typeface="Arial" pitchFamily="34" charset="-120"/>
              </a:rPr>
              <a:t>LINK</a:t>
            </a:r>
            <a:pPr algn="l" indent="0" marL="0">
              <a:buNone/>
            </a:pPr>
            <a:r>
              <a:rPr lang="en-US" sz="1800" b="1" dirty="0">
                <a:solidFill>
                  <a:srgbClr val="38B6FF"/>
                </a:solidFill>
                <a:latin typeface="Arial" pitchFamily="34" charset="0"/>
                <a:ea typeface="Arial" pitchFamily="34" charset="-122"/>
                <a:cs typeface="Arial" pitchFamily="34" charset="-120"/>
              </a:rPr>
              <a:t>.</a:t>
            </a:r>
            <a:endParaRPr lang="en-US" sz="1800" dirty="0"/>
          </a:p>
        </p:txBody>
      </p:sp>
      <p:sp>
        <p:nvSpPr>
          <p:cNvPr id="3" name="Text 1"/>
          <p:cNvSpPr txBox="1"/>
          <p:nvPr/>
        </p:nvSpPr>
        <p:spPr>
          <a:xfrm>
            <a:off x="609598" y="6381734"/>
            <a:ext cx="5714986" cy="228599"/>
          </a:xfrm>
          <a:prstGeom prst="rect">
            <a:avLst/>
          </a:prstGeom>
          <a:noFill/>
          <a:ln/>
        </p:spPr>
        <p:txBody>
          <a:bodyPr wrap="square" lIns="0" tIns="0" rIns="0" bIns="0" rtlCol="0" anchor="ctr"/>
          <a:lstStyle/>
          <a:p>
            <a:pPr algn="l" indent="0" marL="0">
              <a:buNone/>
            </a:pPr>
            <a:r>
              <a:rPr lang="en-US" sz="750" b="1" spc="100" kern="0" dirty="0">
                <a:solidFill>
                  <a:srgbClr val="6F6A5C"/>
                </a:solidFill>
                <a:latin typeface="Arial" pitchFamily="34" charset="0"/>
                <a:ea typeface="Arial" pitchFamily="34" charset="-122"/>
                <a:cs typeface="Arial" pitchFamily="34" charset="-120"/>
              </a:rPr>
              <a:t>LINK. · Kennismaking Portrelo</a:t>
            </a:r>
            <a:endParaRPr lang="en-US" sz="750" dirty="0"/>
          </a:p>
        </p:txBody>
      </p:sp>
      <p:sp>
        <p:nvSpPr>
          <p:cNvPr id="4" name="Text 2"/>
          <p:cNvSpPr txBox="1"/>
          <p:nvPr/>
        </p:nvSpPr>
        <p:spPr>
          <a:xfrm>
            <a:off x="9677376" y="6381734"/>
            <a:ext cx="1904995" cy="228599"/>
          </a:xfrm>
          <a:prstGeom prst="rect">
            <a:avLst/>
          </a:prstGeom>
          <a:noFill/>
          <a:ln/>
        </p:spPr>
        <p:txBody>
          <a:bodyPr wrap="square" lIns="0" tIns="0" rIns="0" bIns="0" rtlCol="0" anchor="ctr"/>
          <a:lstStyle/>
          <a:p>
            <a:pPr algn="r" indent="0" marL="0">
              <a:buNone/>
            </a:pPr>
            <a:r>
              <a:rPr lang="en-US" sz="750" b="1" spc="100" kern="0" dirty="0">
                <a:solidFill>
                  <a:srgbClr val="6F6A5C"/>
                </a:solidFill>
                <a:latin typeface="Arial" pitchFamily="34" charset="0"/>
                <a:ea typeface="Arial" pitchFamily="34" charset="-122"/>
                <a:cs typeface="Arial" pitchFamily="34" charset="-120"/>
              </a:rPr>
              <a:t>3 / 10</a:t>
            </a:r>
            <a:endParaRPr lang="en-US" sz="750" dirty="0"/>
          </a:p>
        </p:txBody>
      </p:sp>
      <p:sp>
        <p:nvSpPr>
          <p:cNvPr id="5" name="Text 3"/>
          <p:cNvSpPr txBox="1"/>
          <p:nvPr/>
        </p:nvSpPr>
        <p:spPr>
          <a:xfrm>
            <a:off x="609598" y="1206497"/>
            <a:ext cx="10159975" cy="215899"/>
          </a:xfrm>
          <a:prstGeom prst="rect">
            <a:avLst/>
          </a:prstGeom>
          <a:noFill/>
          <a:ln/>
        </p:spPr>
        <p:txBody>
          <a:bodyPr wrap="square" lIns="0" tIns="0" rIns="0" bIns="0" rtlCol="0" anchor="ctr"/>
          <a:lstStyle/>
          <a:p>
            <a:pPr algn="l" indent="0" marL="0">
              <a:buNone/>
            </a:pPr>
            <a:r>
              <a:rPr lang="en-US" sz="950" b="1" spc="400" kern="0" dirty="0">
                <a:solidFill>
                  <a:srgbClr val="38B6FF"/>
                </a:solidFill>
                <a:latin typeface="Arial" pitchFamily="34" charset="0"/>
                <a:ea typeface="Arial" pitchFamily="34" charset="-122"/>
                <a:cs typeface="Arial" pitchFamily="34" charset="-120"/>
              </a:rPr>
              <a:t>WAT WIJ DOEN</a:t>
            </a:r>
            <a:endParaRPr lang="en-US" sz="950" dirty="0"/>
          </a:p>
        </p:txBody>
      </p:sp>
      <p:sp>
        <p:nvSpPr>
          <p:cNvPr id="6" name="Text 4"/>
          <p:cNvSpPr txBox="1"/>
          <p:nvPr/>
        </p:nvSpPr>
        <p:spPr>
          <a:xfrm>
            <a:off x="609598" y="1511296"/>
            <a:ext cx="10972773" cy="1142997"/>
          </a:xfrm>
          <a:prstGeom prst="rect">
            <a:avLst/>
          </a:prstGeom>
          <a:noFill/>
          <a:ln/>
        </p:spPr>
        <p:txBody>
          <a:bodyPr wrap="square" lIns="0" tIns="0" rIns="0" bIns="0" rtlCol="0" anchor="t"/>
          <a:lstStyle/>
          <a:p>
            <a:pPr algn="l" indent="0" marL="0">
              <a:lnSpc>
                <a:spcPct val="108000"/>
              </a:lnSpc>
              <a:buNone/>
            </a:pPr>
            <a:r>
              <a:rPr lang="en-US" sz="3200" b="1" dirty="0">
                <a:solidFill>
                  <a:srgbClr val="1C2230"/>
                </a:solidFill>
                <a:latin typeface="Arial" pitchFamily="34" charset="0"/>
                <a:ea typeface="Arial" pitchFamily="34" charset="-122"/>
                <a:cs typeface="Arial" pitchFamily="34" charset="-120"/>
              </a:rPr>
              <a:t>Eén team dat belt, opvolgt en </a:t>
            </a:r>
            <a:pPr algn="l" indent="0" marL="0">
              <a:lnSpc>
                <a:spcPct val="108000"/>
              </a:lnSpc>
              <a:buNone/>
            </a:pPr>
            <a:r>
              <a:rPr lang="en-US" sz="3000" i="1" dirty="0">
                <a:solidFill>
                  <a:srgbClr val="1C2230"/>
                </a:solidFill>
                <a:latin typeface="Georgia" pitchFamily="34" charset="0"/>
                <a:ea typeface="Georgia" pitchFamily="34" charset="-122"/>
                <a:cs typeface="Georgia" pitchFamily="34" charset="-120"/>
              </a:rPr>
              <a:t>afspraken levert</a:t>
            </a:r>
            <a:pPr algn="l" indent="0" marL="0">
              <a:lnSpc>
                <a:spcPct val="108000"/>
              </a:lnSpc>
              <a:buNone/>
            </a:pPr>
            <a:r>
              <a:rPr lang="en-US" sz="3200" b="1" dirty="0">
                <a:solidFill>
                  <a:srgbClr val="1C2230"/>
                </a:solidFill>
                <a:latin typeface="Arial" pitchFamily="34" charset="0"/>
                <a:ea typeface="Arial" pitchFamily="34" charset="-122"/>
                <a:cs typeface="Arial" pitchFamily="34" charset="-120"/>
              </a:rPr>
              <a:t>.</a:t>
            </a:r>
            <a:endParaRPr lang="en-US" sz="3200" dirty="0"/>
          </a:p>
        </p:txBody>
      </p:sp>
      <p:sp>
        <p:nvSpPr>
          <p:cNvPr id="7" name="Shape 5"/>
          <p:cNvSpPr/>
          <p:nvPr/>
        </p:nvSpPr>
        <p:spPr>
          <a:xfrm>
            <a:off x="609598" y="2793993"/>
            <a:ext cx="2628893" cy="3238492"/>
          </a:xfrm>
          <a:prstGeom prst="roundRect">
            <a:avLst>
              <a:gd name="adj" fmla="val 3865"/>
            </a:avLst>
          </a:prstGeom>
          <a:solidFill>
            <a:srgbClr val="F8F4EB"/>
          </a:solidFill>
          <a:ln/>
        </p:spPr>
      </p:sp>
      <p:sp>
        <p:nvSpPr>
          <p:cNvPr id="8" name="Shape 6"/>
          <p:cNvSpPr/>
          <p:nvPr/>
        </p:nvSpPr>
        <p:spPr>
          <a:xfrm>
            <a:off x="863598" y="3073392"/>
            <a:ext cx="380999" cy="380999"/>
          </a:xfrm>
          <a:prstGeom prst="roundRect">
            <a:avLst>
              <a:gd name="adj" fmla="val 23333"/>
            </a:avLst>
          </a:prstGeom>
          <a:solidFill>
            <a:srgbClr val="DDEBF3"/>
          </a:solidFill>
          <a:ln/>
        </p:spPr>
      </p:sp>
      <p:pic>
        <p:nvPicPr>
          <p:cNvPr id="9" name="Image 0" descr="preencoded.png">    </p:cNvPr>
          <p:cNvPicPr>
            <a:picLocks noChangeAspect="1"/>
          </p:cNvPicPr>
          <p:nvPr/>
        </p:nvPicPr>
        <p:blipFill>
          <a:blip r:embed="rId1"/>
          <a:stretch>
            <a:fillRect/>
          </a:stretch>
        </p:blipFill>
        <p:spPr>
          <a:xfrm>
            <a:off x="958848" y="3168642"/>
            <a:ext cx="190500" cy="190500"/>
          </a:xfrm>
          <a:prstGeom prst="rect">
            <a:avLst/>
          </a:prstGeom>
        </p:spPr>
      </p:pic>
      <p:sp>
        <p:nvSpPr>
          <p:cNvPr id="10" name="Text 7"/>
          <p:cNvSpPr txBox="1"/>
          <p:nvPr/>
        </p:nvSpPr>
        <p:spPr>
          <a:xfrm>
            <a:off x="863598" y="3632191"/>
            <a:ext cx="2120895" cy="533399"/>
          </a:xfrm>
          <a:prstGeom prst="rect">
            <a:avLst/>
          </a:prstGeom>
          <a:noFill/>
          <a:ln/>
        </p:spPr>
        <p:txBody>
          <a:bodyPr wrap="square" lIns="0" tIns="0" rIns="0" bIns="0" rtlCol="0" anchor="t"/>
          <a:lstStyle/>
          <a:p>
            <a:pPr indent="0" marL="0">
              <a:lnSpc>
                <a:spcPct val="115000"/>
              </a:lnSpc>
              <a:buNone/>
            </a:pPr>
            <a:r>
              <a:rPr lang="en-US" sz="1350" b="1" dirty="0">
                <a:solidFill>
                  <a:srgbClr val="1C2230"/>
                </a:solidFill>
                <a:latin typeface="Arial" pitchFamily="34" charset="0"/>
                <a:ea typeface="Arial" pitchFamily="34" charset="-122"/>
                <a:cs typeface="Arial" pitchFamily="34" charset="-120"/>
              </a:rPr>
              <a:t>Cold calling</a:t>
            </a:r>
            <a:endParaRPr lang="en-US" sz="1350" dirty="0"/>
          </a:p>
        </p:txBody>
      </p:sp>
      <p:sp>
        <p:nvSpPr>
          <p:cNvPr id="11" name="Text 8"/>
          <p:cNvSpPr txBox="1"/>
          <p:nvPr/>
        </p:nvSpPr>
        <p:spPr>
          <a:xfrm>
            <a:off x="863598" y="4203689"/>
            <a:ext cx="2120895" cy="1587496"/>
          </a:xfrm>
          <a:prstGeom prst="rect">
            <a:avLst/>
          </a:prstGeom>
          <a:noFill/>
          <a:ln/>
        </p:spPr>
        <p:txBody>
          <a:bodyPr wrap="square" lIns="0" tIns="0" rIns="0" bIns="0" rtlCol="0" anchor="t"/>
          <a:lstStyle/>
          <a:p>
            <a:pPr indent="0" marL="0">
              <a:lnSpc>
                <a:spcPct val="135000"/>
              </a:lnSpc>
              <a:buNone/>
            </a:pPr>
            <a:r>
              <a:rPr lang="en-US" sz="950" dirty="0">
                <a:solidFill>
                  <a:srgbClr val="6F6A5C"/>
                </a:solidFill>
                <a:latin typeface="Arial" pitchFamily="34" charset="0"/>
                <a:ea typeface="Arial" pitchFamily="34" charset="-122"/>
                <a:cs typeface="Arial" pitchFamily="34" charset="-120"/>
              </a:rPr>
              <a:t>Ervaren B2B-bellers die het gesprek voeren met de beslisser. Eigen belsysteem, een regionaal telefoonnummer op jullie naam en elk gesprek vastgelegd met notities.</a:t>
            </a:r>
            <a:endParaRPr lang="en-US" sz="950" dirty="0"/>
          </a:p>
        </p:txBody>
      </p:sp>
      <p:sp>
        <p:nvSpPr>
          <p:cNvPr id="12" name="Shape 9"/>
          <p:cNvSpPr/>
          <p:nvPr/>
        </p:nvSpPr>
        <p:spPr>
          <a:xfrm>
            <a:off x="3390892" y="2793993"/>
            <a:ext cx="2628893" cy="3238492"/>
          </a:xfrm>
          <a:prstGeom prst="roundRect">
            <a:avLst>
              <a:gd name="adj" fmla="val 3865"/>
            </a:avLst>
          </a:prstGeom>
          <a:solidFill>
            <a:srgbClr val="F8F4EB"/>
          </a:solidFill>
          <a:ln/>
        </p:spPr>
      </p:sp>
      <p:sp>
        <p:nvSpPr>
          <p:cNvPr id="13" name="Shape 10"/>
          <p:cNvSpPr/>
          <p:nvPr/>
        </p:nvSpPr>
        <p:spPr>
          <a:xfrm>
            <a:off x="3644891" y="3073392"/>
            <a:ext cx="380999" cy="380999"/>
          </a:xfrm>
          <a:prstGeom prst="roundRect">
            <a:avLst>
              <a:gd name="adj" fmla="val 23333"/>
            </a:avLst>
          </a:prstGeom>
          <a:solidFill>
            <a:srgbClr val="DDEBF3"/>
          </a:solidFill>
          <a:ln/>
        </p:spPr>
      </p:sp>
      <p:pic>
        <p:nvPicPr>
          <p:cNvPr id="14" name="Image 1" descr="preencoded.png">    </p:cNvPr>
          <p:cNvPicPr>
            <a:picLocks noChangeAspect="1"/>
          </p:cNvPicPr>
          <p:nvPr/>
        </p:nvPicPr>
        <p:blipFill>
          <a:blip r:embed="rId2"/>
          <a:stretch>
            <a:fillRect/>
          </a:stretch>
        </p:blipFill>
        <p:spPr>
          <a:xfrm>
            <a:off x="3740141" y="3168642"/>
            <a:ext cx="190500" cy="190500"/>
          </a:xfrm>
          <a:prstGeom prst="rect">
            <a:avLst/>
          </a:prstGeom>
        </p:spPr>
      </p:pic>
      <p:sp>
        <p:nvSpPr>
          <p:cNvPr id="15" name="Text 11"/>
          <p:cNvSpPr txBox="1"/>
          <p:nvPr/>
        </p:nvSpPr>
        <p:spPr>
          <a:xfrm>
            <a:off x="3644891" y="3632191"/>
            <a:ext cx="2120895" cy="533399"/>
          </a:xfrm>
          <a:prstGeom prst="rect">
            <a:avLst/>
          </a:prstGeom>
          <a:noFill/>
          <a:ln/>
        </p:spPr>
        <p:txBody>
          <a:bodyPr wrap="square" lIns="0" tIns="0" rIns="0" bIns="0" rtlCol="0" anchor="t"/>
          <a:lstStyle/>
          <a:p>
            <a:pPr indent="0" marL="0">
              <a:lnSpc>
                <a:spcPct val="115000"/>
              </a:lnSpc>
              <a:buNone/>
            </a:pPr>
            <a:r>
              <a:rPr lang="en-US" sz="1350" b="1" dirty="0">
                <a:solidFill>
                  <a:srgbClr val="1C2230"/>
                </a:solidFill>
                <a:latin typeface="Arial" pitchFamily="34" charset="0"/>
                <a:ea typeface="Arial" pitchFamily="34" charset="-122"/>
                <a:cs typeface="Arial" pitchFamily="34" charset="-120"/>
              </a:rPr>
              <a:t>Data en doelgroep</a:t>
            </a:r>
            <a:endParaRPr lang="en-US" sz="1350" dirty="0"/>
          </a:p>
        </p:txBody>
      </p:sp>
      <p:sp>
        <p:nvSpPr>
          <p:cNvPr id="16" name="Text 12"/>
          <p:cNvSpPr txBox="1"/>
          <p:nvPr/>
        </p:nvSpPr>
        <p:spPr>
          <a:xfrm>
            <a:off x="3644891" y="4203689"/>
            <a:ext cx="2120895" cy="1587496"/>
          </a:xfrm>
          <a:prstGeom prst="rect">
            <a:avLst/>
          </a:prstGeom>
          <a:noFill/>
          <a:ln/>
        </p:spPr>
        <p:txBody>
          <a:bodyPr wrap="square" lIns="0" tIns="0" rIns="0" bIns="0" rtlCol="0" anchor="t"/>
          <a:lstStyle/>
          <a:p>
            <a:pPr indent="0" marL="0">
              <a:lnSpc>
                <a:spcPct val="135000"/>
              </a:lnSpc>
              <a:buNone/>
            </a:pPr>
            <a:r>
              <a:rPr lang="en-US" sz="950" dirty="0">
                <a:solidFill>
                  <a:srgbClr val="6F6A5C"/>
                </a:solidFill>
                <a:latin typeface="Arial" pitchFamily="34" charset="0"/>
                <a:ea typeface="Arial" pitchFamily="34" charset="-122"/>
                <a:cs typeface="Arial" pitchFamily="34" charset="-120"/>
              </a:rPr>
              <a:t>Wij bouwen de bellijst op basis van jullie ideale klant: branche, grootte, regio en functie. Bestaande relaties en uitsluitingen halen we er vooraf uit.</a:t>
            </a:r>
            <a:endParaRPr lang="en-US" sz="950" dirty="0"/>
          </a:p>
        </p:txBody>
      </p:sp>
      <p:sp>
        <p:nvSpPr>
          <p:cNvPr id="17" name="Shape 13"/>
          <p:cNvSpPr/>
          <p:nvPr/>
        </p:nvSpPr>
        <p:spPr>
          <a:xfrm>
            <a:off x="6172185" y="2793993"/>
            <a:ext cx="2628893" cy="3238492"/>
          </a:xfrm>
          <a:prstGeom prst="roundRect">
            <a:avLst>
              <a:gd name="adj" fmla="val 3865"/>
            </a:avLst>
          </a:prstGeom>
          <a:solidFill>
            <a:srgbClr val="F8F4EB"/>
          </a:solidFill>
          <a:ln/>
        </p:spPr>
      </p:sp>
      <p:sp>
        <p:nvSpPr>
          <p:cNvPr id="18" name="Shape 14"/>
          <p:cNvSpPr/>
          <p:nvPr/>
        </p:nvSpPr>
        <p:spPr>
          <a:xfrm>
            <a:off x="6426184" y="3073392"/>
            <a:ext cx="380999" cy="380999"/>
          </a:xfrm>
          <a:prstGeom prst="roundRect">
            <a:avLst>
              <a:gd name="adj" fmla="val 23333"/>
            </a:avLst>
          </a:prstGeom>
          <a:solidFill>
            <a:srgbClr val="DDEBF3"/>
          </a:solidFill>
          <a:ln/>
        </p:spPr>
      </p:sp>
      <p:pic>
        <p:nvPicPr>
          <p:cNvPr id="19" name="Image 2" descr="preencoded.png">    </p:cNvPr>
          <p:cNvPicPr>
            <a:picLocks noChangeAspect="1"/>
          </p:cNvPicPr>
          <p:nvPr/>
        </p:nvPicPr>
        <p:blipFill>
          <a:blip r:embed="rId3"/>
          <a:stretch>
            <a:fillRect/>
          </a:stretch>
        </p:blipFill>
        <p:spPr>
          <a:xfrm>
            <a:off x="6521434" y="3168642"/>
            <a:ext cx="190500" cy="190500"/>
          </a:xfrm>
          <a:prstGeom prst="rect">
            <a:avLst/>
          </a:prstGeom>
        </p:spPr>
      </p:pic>
      <p:sp>
        <p:nvSpPr>
          <p:cNvPr id="20" name="Text 15"/>
          <p:cNvSpPr txBox="1"/>
          <p:nvPr/>
        </p:nvSpPr>
        <p:spPr>
          <a:xfrm>
            <a:off x="6426184" y="3632191"/>
            <a:ext cx="2120895" cy="533399"/>
          </a:xfrm>
          <a:prstGeom prst="rect">
            <a:avLst/>
          </a:prstGeom>
          <a:noFill/>
          <a:ln/>
        </p:spPr>
        <p:txBody>
          <a:bodyPr wrap="square" lIns="0" tIns="0" rIns="0" bIns="0" rtlCol="0" anchor="t"/>
          <a:lstStyle/>
          <a:p>
            <a:pPr indent="0" marL="0">
              <a:lnSpc>
                <a:spcPct val="115000"/>
              </a:lnSpc>
              <a:buNone/>
            </a:pPr>
            <a:r>
              <a:rPr lang="en-US" sz="1350" b="1" dirty="0">
                <a:solidFill>
                  <a:srgbClr val="1C2230"/>
                </a:solidFill>
                <a:latin typeface="Arial" pitchFamily="34" charset="0"/>
                <a:ea typeface="Arial" pitchFamily="34" charset="-122"/>
                <a:cs typeface="Arial" pitchFamily="34" charset="-120"/>
              </a:rPr>
              <a:t>Opvolging</a:t>
            </a:r>
            <a:endParaRPr lang="en-US" sz="1350" dirty="0"/>
          </a:p>
        </p:txBody>
      </p:sp>
      <p:sp>
        <p:nvSpPr>
          <p:cNvPr id="21" name="Text 16"/>
          <p:cNvSpPr txBox="1"/>
          <p:nvPr/>
        </p:nvSpPr>
        <p:spPr>
          <a:xfrm>
            <a:off x="6426184" y="4203689"/>
            <a:ext cx="2120895" cy="1587496"/>
          </a:xfrm>
          <a:prstGeom prst="rect">
            <a:avLst/>
          </a:prstGeom>
          <a:noFill/>
          <a:ln/>
        </p:spPr>
        <p:txBody>
          <a:bodyPr wrap="square" lIns="0" tIns="0" rIns="0" bIns="0" rtlCol="0" anchor="t"/>
          <a:lstStyle/>
          <a:p>
            <a:pPr indent="0" marL="0">
              <a:lnSpc>
                <a:spcPct val="135000"/>
              </a:lnSpc>
              <a:buNone/>
            </a:pPr>
            <a:r>
              <a:rPr lang="en-US" sz="950" dirty="0">
                <a:solidFill>
                  <a:srgbClr val="6F6A5C"/>
                </a:solidFill>
                <a:latin typeface="Arial" pitchFamily="34" charset="0"/>
                <a:ea typeface="Arial" pitchFamily="34" charset="-122"/>
                <a:cs typeface="Arial" pitchFamily="34" charset="-120"/>
              </a:rPr>
              <a:t>Terugbelafspraken komen echt terug in de bellijst en warme leads dragen we direct aan jullie over, met de reden en de context erbij.</a:t>
            </a:r>
            <a:endParaRPr lang="en-US" sz="950" dirty="0"/>
          </a:p>
        </p:txBody>
      </p:sp>
      <p:sp>
        <p:nvSpPr>
          <p:cNvPr id="22" name="Shape 17"/>
          <p:cNvSpPr/>
          <p:nvPr/>
        </p:nvSpPr>
        <p:spPr>
          <a:xfrm>
            <a:off x="8953478" y="2793993"/>
            <a:ext cx="2628893" cy="3238492"/>
          </a:xfrm>
          <a:prstGeom prst="roundRect">
            <a:avLst>
              <a:gd name="adj" fmla="val 3865"/>
            </a:avLst>
          </a:prstGeom>
          <a:solidFill>
            <a:srgbClr val="000000"/>
          </a:solidFill>
          <a:ln/>
        </p:spPr>
      </p:sp>
      <p:sp>
        <p:nvSpPr>
          <p:cNvPr id="23" name="Shape 18"/>
          <p:cNvSpPr/>
          <p:nvPr/>
        </p:nvSpPr>
        <p:spPr>
          <a:xfrm>
            <a:off x="9207477" y="3073392"/>
            <a:ext cx="380999" cy="380999"/>
          </a:xfrm>
          <a:prstGeom prst="roundRect">
            <a:avLst>
              <a:gd name="adj" fmla="val 23333"/>
            </a:avLst>
          </a:prstGeom>
          <a:solidFill>
            <a:srgbClr val="203C55"/>
          </a:solidFill>
          <a:ln/>
        </p:spPr>
      </p:sp>
      <p:pic>
        <p:nvPicPr>
          <p:cNvPr id="24" name="Image 3" descr="preencoded.png">    </p:cNvPr>
          <p:cNvPicPr>
            <a:picLocks noChangeAspect="1"/>
          </p:cNvPicPr>
          <p:nvPr/>
        </p:nvPicPr>
        <p:blipFill>
          <a:blip r:embed="rId4"/>
          <a:stretch>
            <a:fillRect/>
          </a:stretch>
        </p:blipFill>
        <p:spPr>
          <a:xfrm>
            <a:off x="9302727" y="3168642"/>
            <a:ext cx="190500" cy="190500"/>
          </a:xfrm>
          <a:prstGeom prst="rect">
            <a:avLst/>
          </a:prstGeom>
        </p:spPr>
      </p:pic>
      <p:sp>
        <p:nvSpPr>
          <p:cNvPr id="25" name="Text 19"/>
          <p:cNvSpPr txBox="1"/>
          <p:nvPr/>
        </p:nvSpPr>
        <p:spPr>
          <a:xfrm>
            <a:off x="9207477" y="3632191"/>
            <a:ext cx="2120895" cy="533399"/>
          </a:xfrm>
          <a:prstGeom prst="rect">
            <a:avLst/>
          </a:prstGeom>
          <a:noFill/>
          <a:ln/>
        </p:spPr>
        <p:txBody>
          <a:bodyPr wrap="square" lIns="0" tIns="0" rIns="0" bIns="0" rtlCol="0" anchor="t"/>
          <a:lstStyle/>
          <a:p>
            <a:pPr indent="0" marL="0">
              <a:lnSpc>
                <a:spcPct val="115000"/>
              </a:lnSpc>
              <a:buNone/>
            </a:pPr>
            <a:r>
              <a:rPr lang="en-US" sz="1350" b="1" dirty="0">
                <a:solidFill>
                  <a:srgbClr val="FFFFFF"/>
                </a:solidFill>
                <a:latin typeface="Arial" pitchFamily="34" charset="0"/>
                <a:ea typeface="Arial" pitchFamily="34" charset="-122"/>
                <a:cs typeface="Arial" pitchFamily="34" charset="-120"/>
              </a:rPr>
              <a:t>Gekwalificeerde afspraken</a:t>
            </a:r>
            <a:endParaRPr lang="en-US" sz="1350" dirty="0"/>
          </a:p>
        </p:txBody>
      </p:sp>
      <p:sp>
        <p:nvSpPr>
          <p:cNvPr id="26" name="Text 20"/>
          <p:cNvSpPr txBox="1"/>
          <p:nvPr/>
        </p:nvSpPr>
        <p:spPr>
          <a:xfrm>
            <a:off x="9207477" y="4203689"/>
            <a:ext cx="2120895" cy="1587496"/>
          </a:xfrm>
          <a:prstGeom prst="rect">
            <a:avLst/>
          </a:prstGeom>
          <a:noFill/>
          <a:ln/>
        </p:spPr>
        <p:txBody>
          <a:bodyPr wrap="square" lIns="0" tIns="0" rIns="0" bIns="0" rtlCol="0" anchor="t"/>
          <a:lstStyle/>
          <a:p>
            <a:pPr indent="0" marL="0">
              <a:lnSpc>
                <a:spcPct val="135000"/>
              </a:lnSpc>
              <a:buNone/>
            </a:pPr>
            <a:r>
              <a:rPr lang="en-US" sz="950" dirty="0">
                <a:solidFill>
                  <a:srgbClr val="C2C8D2"/>
                </a:solidFill>
                <a:latin typeface="Arial" pitchFamily="34" charset="0"/>
                <a:ea typeface="Arial" pitchFamily="34" charset="-122"/>
                <a:cs typeface="Arial" pitchFamily="34" charset="-120"/>
              </a:rPr>
              <a:t>Het resultaat waar we op sturen. Een afspraak staat pas als het bedrijf past, de interesse echt is en de juiste persoon aan tafel zit.</a:t>
            </a:r>
            <a:endParaRPr lang="en-US" sz="95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141821"/>
        </a:solidFill>
      </p:bgPr>
    </p:bg>
    <p:spTree>
      <p:nvGrpSpPr>
        <p:cNvPr id="1" name=""/>
        <p:cNvGrpSpPr/>
        <p:nvPr/>
      </p:nvGrpSpPr>
      <p:grpSpPr>
        <a:xfrm>
          <a:off x="0" y="0"/>
          <a:ext cx="0" cy="0"/>
          <a:chOff x="0" y="0"/>
          <a:chExt cx="0" cy="0"/>
        </a:xfrm>
      </p:grpSpPr>
      <p:sp>
        <p:nvSpPr>
          <p:cNvPr id="2" name="Text 0"/>
          <p:cNvSpPr txBox="1"/>
          <p:nvPr/>
        </p:nvSpPr>
        <p:spPr>
          <a:xfrm>
            <a:off x="596899" y="368299"/>
            <a:ext cx="1904995" cy="330199"/>
          </a:xfrm>
          <a:prstGeom prst="rect">
            <a:avLst/>
          </a:prstGeom>
          <a:noFill/>
          <a:ln/>
        </p:spPr>
        <p:txBody>
          <a:bodyPr wrap="square" lIns="0" tIns="0" rIns="0" bIns="0" rtlCol="0" anchor="ctr"/>
          <a:lstStyle/>
          <a:p>
            <a:pPr algn="l" indent="0" marL="0">
              <a:buNone/>
            </a:pPr>
            <a:r>
              <a:rPr lang="en-US" sz="1800" b="1" dirty="0">
                <a:solidFill>
                  <a:srgbClr val="F2EFE6"/>
                </a:solidFill>
                <a:latin typeface="Arial" pitchFamily="34" charset="0"/>
                <a:ea typeface="Arial" pitchFamily="34" charset="-122"/>
                <a:cs typeface="Arial" pitchFamily="34" charset="-120"/>
              </a:rPr>
              <a:t>LINK</a:t>
            </a:r>
            <a:pPr algn="l" indent="0" marL="0">
              <a:buNone/>
            </a:pPr>
            <a:r>
              <a:rPr lang="en-US" sz="1800" b="1" dirty="0">
                <a:solidFill>
                  <a:srgbClr val="38B6FF"/>
                </a:solidFill>
                <a:latin typeface="Arial" pitchFamily="34" charset="0"/>
                <a:ea typeface="Arial" pitchFamily="34" charset="-122"/>
                <a:cs typeface="Arial" pitchFamily="34" charset="-120"/>
              </a:rPr>
              <a:t>.</a:t>
            </a:r>
            <a:endParaRPr lang="en-US" sz="1800" dirty="0"/>
          </a:p>
        </p:txBody>
      </p:sp>
      <p:sp>
        <p:nvSpPr>
          <p:cNvPr id="3" name="Text 1"/>
          <p:cNvSpPr txBox="1"/>
          <p:nvPr/>
        </p:nvSpPr>
        <p:spPr>
          <a:xfrm>
            <a:off x="609598" y="6381734"/>
            <a:ext cx="5714986" cy="228599"/>
          </a:xfrm>
          <a:prstGeom prst="rect">
            <a:avLst/>
          </a:prstGeom>
          <a:noFill/>
          <a:ln/>
        </p:spPr>
        <p:txBody>
          <a:bodyPr wrap="square" lIns="0" tIns="0" rIns="0" bIns="0" rtlCol="0" anchor="ctr"/>
          <a:lstStyle/>
          <a:p>
            <a:pPr algn="l" indent="0" marL="0">
              <a:buNone/>
            </a:pPr>
            <a:r>
              <a:rPr lang="en-US" sz="750" b="1" spc="100" kern="0" dirty="0">
                <a:solidFill>
                  <a:srgbClr val="BDC3CE"/>
                </a:solidFill>
                <a:latin typeface="Arial" pitchFamily="34" charset="0"/>
                <a:ea typeface="Arial" pitchFamily="34" charset="-122"/>
                <a:cs typeface="Arial" pitchFamily="34" charset="-120"/>
              </a:rPr>
              <a:t>LINK. · Kennismaking Portrelo</a:t>
            </a:r>
            <a:endParaRPr lang="en-US" sz="750" dirty="0"/>
          </a:p>
        </p:txBody>
      </p:sp>
      <p:sp>
        <p:nvSpPr>
          <p:cNvPr id="4" name="Text 2"/>
          <p:cNvSpPr txBox="1"/>
          <p:nvPr/>
        </p:nvSpPr>
        <p:spPr>
          <a:xfrm>
            <a:off x="9677376" y="6381734"/>
            <a:ext cx="1904995" cy="228599"/>
          </a:xfrm>
          <a:prstGeom prst="rect">
            <a:avLst/>
          </a:prstGeom>
          <a:noFill/>
          <a:ln/>
        </p:spPr>
        <p:txBody>
          <a:bodyPr wrap="square" lIns="0" tIns="0" rIns="0" bIns="0" rtlCol="0" anchor="ctr"/>
          <a:lstStyle/>
          <a:p>
            <a:pPr algn="r" indent="0" marL="0">
              <a:buNone/>
            </a:pPr>
            <a:r>
              <a:rPr lang="en-US" sz="750" b="1" spc="100" kern="0" dirty="0">
                <a:solidFill>
                  <a:srgbClr val="BDC3CE"/>
                </a:solidFill>
                <a:latin typeface="Arial" pitchFamily="34" charset="0"/>
                <a:ea typeface="Arial" pitchFamily="34" charset="-122"/>
                <a:cs typeface="Arial" pitchFamily="34" charset="-120"/>
              </a:rPr>
              <a:t>4 / 10</a:t>
            </a:r>
            <a:endParaRPr lang="en-US" sz="750" dirty="0"/>
          </a:p>
        </p:txBody>
      </p:sp>
      <p:sp>
        <p:nvSpPr>
          <p:cNvPr id="5" name="Text 3"/>
          <p:cNvSpPr txBox="1"/>
          <p:nvPr/>
        </p:nvSpPr>
        <p:spPr>
          <a:xfrm>
            <a:off x="609598" y="1206497"/>
            <a:ext cx="10159975" cy="215899"/>
          </a:xfrm>
          <a:prstGeom prst="rect">
            <a:avLst/>
          </a:prstGeom>
          <a:noFill/>
          <a:ln/>
        </p:spPr>
        <p:txBody>
          <a:bodyPr wrap="square" lIns="0" tIns="0" rIns="0" bIns="0" rtlCol="0" anchor="ctr"/>
          <a:lstStyle/>
          <a:p>
            <a:pPr algn="l" indent="0" marL="0">
              <a:buNone/>
            </a:pPr>
            <a:r>
              <a:rPr lang="en-US" sz="950" b="1" spc="400" kern="0" dirty="0">
                <a:solidFill>
                  <a:srgbClr val="38B6FF"/>
                </a:solidFill>
                <a:latin typeface="Arial" pitchFamily="34" charset="0"/>
                <a:ea typeface="Arial" pitchFamily="34" charset="-122"/>
                <a:cs typeface="Arial" pitchFamily="34" charset="-120"/>
              </a:rPr>
              <a:t>HOE EEN SAMENWERKING LOOPT</a:t>
            </a:r>
            <a:endParaRPr lang="en-US" sz="950" dirty="0"/>
          </a:p>
        </p:txBody>
      </p:sp>
      <p:sp>
        <p:nvSpPr>
          <p:cNvPr id="6" name="Text 4"/>
          <p:cNvSpPr txBox="1"/>
          <p:nvPr/>
        </p:nvSpPr>
        <p:spPr>
          <a:xfrm>
            <a:off x="609598" y="1511296"/>
            <a:ext cx="10972773" cy="1142997"/>
          </a:xfrm>
          <a:prstGeom prst="rect">
            <a:avLst/>
          </a:prstGeom>
          <a:noFill/>
          <a:ln/>
        </p:spPr>
        <p:txBody>
          <a:bodyPr wrap="square" lIns="0" tIns="0" rIns="0" bIns="0" rtlCol="0" anchor="t"/>
          <a:lstStyle/>
          <a:p>
            <a:pPr algn="l" indent="0" marL="0">
              <a:lnSpc>
                <a:spcPct val="108000"/>
              </a:lnSpc>
              <a:buNone/>
            </a:pPr>
            <a:r>
              <a:rPr lang="en-US" sz="3200" b="1" dirty="0">
                <a:solidFill>
                  <a:srgbClr val="F2EFE6"/>
                </a:solidFill>
                <a:latin typeface="Arial" pitchFamily="34" charset="0"/>
                <a:ea typeface="Arial" pitchFamily="34" charset="-122"/>
                <a:cs typeface="Arial" pitchFamily="34" charset="-120"/>
              </a:rPr>
              <a:t>Van kick-off naar </a:t>
            </a:r>
            <a:pPr algn="l" indent="0" marL="0">
              <a:lnSpc>
                <a:spcPct val="108000"/>
              </a:lnSpc>
              <a:buNone/>
            </a:pPr>
            <a:r>
              <a:rPr lang="en-US" sz="3000" i="1" dirty="0">
                <a:solidFill>
                  <a:srgbClr val="F2EFE6"/>
                </a:solidFill>
                <a:latin typeface="Georgia" pitchFamily="34" charset="0"/>
                <a:ea typeface="Georgia" pitchFamily="34" charset="-122"/>
                <a:cs typeface="Georgia" pitchFamily="34" charset="-120"/>
              </a:rPr>
              <a:t>afspraken</a:t>
            </a:r>
            <a:pPr algn="l" indent="0" marL="0">
              <a:lnSpc>
                <a:spcPct val="108000"/>
              </a:lnSpc>
              <a:buNone/>
            </a:pPr>
            <a:r>
              <a:rPr lang="en-US" sz="3200" b="1" dirty="0">
                <a:solidFill>
                  <a:srgbClr val="F2EFE6"/>
                </a:solidFill>
                <a:latin typeface="Arial" pitchFamily="34" charset="0"/>
                <a:ea typeface="Arial" pitchFamily="34" charset="-122"/>
                <a:cs typeface="Arial" pitchFamily="34" charset="-120"/>
              </a:rPr>
              <a:t> in de agenda.</a:t>
            </a:r>
            <a:endParaRPr lang="en-US" sz="3200" dirty="0"/>
          </a:p>
        </p:txBody>
      </p:sp>
      <p:sp>
        <p:nvSpPr>
          <p:cNvPr id="7" name="Shape 5"/>
          <p:cNvSpPr/>
          <p:nvPr/>
        </p:nvSpPr>
        <p:spPr>
          <a:xfrm>
            <a:off x="609598" y="2743193"/>
            <a:ext cx="304799" cy="304799"/>
          </a:xfrm>
          <a:prstGeom prst="ellipse">
            <a:avLst/>
          </a:prstGeom>
          <a:ln w="15240">
            <a:solidFill>
              <a:srgbClr val="38B6FF"/>
            </a:solidFill>
            <a:prstDash val="solid"/>
          </a:ln>
        </p:spPr>
      </p:sp>
      <p:sp>
        <p:nvSpPr>
          <p:cNvPr id="8" name="Text 6"/>
          <p:cNvSpPr txBox="1"/>
          <p:nvPr/>
        </p:nvSpPr>
        <p:spPr>
          <a:xfrm>
            <a:off x="609598" y="2743193"/>
            <a:ext cx="304799" cy="304799"/>
          </a:xfrm>
          <a:prstGeom prst="rect">
            <a:avLst/>
          </a:prstGeom>
          <a:noFill/>
          <a:ln/>
        </p:spPr>
        <p:txBody>
          <a:bodyPr wrap="square" lIns="0" tIns="0" rIns="0" bIns="0" rtlCol="0" anchor="ctr"/>
          <a:lstStyle/>
          <a:p>
            <a:pPr algn="ctr" indent="0" marL="0">
              <a:buNone/>
            </a:pPr>
            <a:r>
              <a:rPr lang="en-US" sz="1050" b="1" dirty="0">
                <a:solidFill>
                  <a:srgbClr val="38B6FF"/>
                </a:solidFill>
                <a:latin typeface="Arial" pitchFamily="34" charset="0"/>
                <a:ea typeface="Arial" pitchFamily="34" charset="-122"/>
                <a:cs typeface="Arial" pitchFamily="34" charset="-120"/>
              </a:rPr>
              <a:t>1</a:t>
            </a:r>
            <a:endParaRPr lang="en-US" sz="1050" dirty="0"/>
          </a:p>
        </p:txBody>
      </p:sp>
      <p:sp>
        <p:nvSpPr>
          <p:cNvPr id="9" name="Shape 7"/>
          <p:cNvSpPr/>
          <p:nvPr/>
        </p:nvSpPr>
        <p:spPr>
          <a:xfrm>
            <a:off x="1015997" y="2895593"/>
            <a:ext cx="2349494" cy="0"/>
          </a:xfrm>
          <a:prstGeom prst="line">
            <a:avLst/>
          </a:prstGeom>
          <a:noFill/>
          <a:ln w="9525">
            <a:solidFill>
              <a:srgbClr val="38B6FF">
                <a:alpha val="40000"/>
              </a:srgbClr>
            </a:solidFill>
            <a:prstDash val="solid"/>
          </a:ln>
        </p:spPr>
      </p:sp>
      <p:sp>
        <p:nvSpPr>
          <p:cNvPr id="10" name="Text 8"/>
          <p:cNvSpPr txBox="1"/>
          <p:nvPr/>
        </p:nvSpPr>
        <p:spPr>
          <a:xfrm>
            <a:off x="609598" y="3213092"/>
            <a:ext cx="2552694" cy="253999"/>
          </a:xfrm>
          <a:prstGeom prst="rect">
            <a:avLst/>
          </a:prstGeom>
          <a:noFill/>
          <a:ln/>
        </p:spPr>
        <p:txBody>
          <a:bodyPr wrap="square" lIns="0" tIns="0" rIns="0" bIns="0" rtlCol="0" anchor="ctr"/>
          <a:lstStyle/>
          <a:p>
            <a:pPr indent="0" marL="0">
              <a:buNone/>
            </a:pPr>
            <a:r>
              <a:rPr lang="en-US" sz="1250" b="1" dirty="0">
                <a:solidFill>
                  <a:srgbClr val="F2EFE6"/>
                </a:solidFill>
                <a:latin typeface="Arial" pitchFamily="34" charset="0"/>
                <a:ea typeface="Arial" pitchFamily="34" charset="-122"/>
                <a:cs typeface="Arial" pitchFamily="34" charset="-120"/>
              </a:rPr>
              <a:t>Kick-off</a:t>
            </a:r>
            <a:endParaRPr lang="en-US" sz="1250" dirty="0"/>
          </a:p>
        </p:txBody>
      </p:sp>
      <p:sp>
        <p:nvSpPr>
          <p:cNvPr id="11" name="Text 9"/>
          <p:cNvSpPr txBox="1"/>
          <p:nvPr/>
        </p:nvSpPr>
        <p:spPr>
          <a:xfrm>
            <a:off x="609598" y="3517891"/>
            <a:ext cx="2552694" cy="1142997"/>
          </a:xfrm>
          <a:prstGeom prst="rect">
            <a:avLst/>
          </a:prstGeom>
          <a:noFill/>
          <a:ln/>
        </p:spPr>
        <p:txBody>
          <a:bodyPr wrap="square" lIns="0" tIns="0" rIns="0" bIns="0" rtlCol="0" anchor="t"/>
          <a:lstStyle/>
          <a:p>
            <a:pPr indent="0" marL="0">
              <a:lnSpc>
                <a:spcPct val="135000"/>
              </a:lnSpc>
              <a:buNone/>
            </a:pPr>
            <a:r>
              <a:rPr lang="en-US" sz="900" dirty="0">
                <a:solidFill>
                  <a:srgbClr val="C2C8D2"/>
                </a:solidFill>
                <a:latin typeface="Arial" pitchFamily="34" charset="0"/>
                <a:ea typeface="Arial" pitchFamily="34" charset="-122"/>
                <a:cs typeface="Arial" pitchFamily="34" charset="-120"/>
              </a:rPr>
              <a:t>Samen scherp: doelgroep, beslisser, propositie, bezwaren en wat een goede afspraak voor jullie is. Wij schrijven het belscript, jullie keuren goed.</a:t>
            </a:r>
            <a:endParaRPr lang="en-US" sz="900" dirty="0"/>
          </a:p>
        </p:txBody>
      </p:sp>
      <p:sp>
        <p:nvSpPr>
          <p:cNvPr id="12" name="Shape 10"/>
          <p:cNvSpPr/>
          <p:nvPr/>
        </p:nvSpPr>
        <p:spPr>
          <a:xfrm>
            <a:off x="3416291" y="2743193"/>
            <a:ext cx="304799" cy="304799"/>
          </a:xfrm>
          <a:prstGeom prst="ellipse">
            <a:avLst/>
          </a:prstGeom>
          <a:ln w="15240">
            <a:solidFill>
              <a:srgbClr val="38B6FF"/>
            </a:solidFill>
            <a:prstDash val="solid"/>
          </a:ln>
        </p:spPr>
      </p:sp>
      <p:sp>
        <p:nvSpPr>
          <p:cNvPr id="13" name="Text 11"/>
          <p:cNvSpPr txBox="1"/>
          <p:nvPr/>
        </p:nvSpPr>
        <p:spPr>
          <a:xfrm>
            <a:off x="3416291" y="2743193"/>
            <a:ext cx="304799" cy="304799"/>
          </a:xfrm>
          <a:prstGeom prst="rect">
            <a:avLst/>
          </a:prstGeom>
          <a:noFill/>
          <a:ln/>
        </p:spPr>
        <p:txBody>
          <a:bodyPr wrap="square" lIns="0" tIns="0" rIns="0" bIns="0" rtlCol="0" anchor="ctr"/>
          <a:lstStyle/>
          <a:p>
            <a:pPr algn="ctr" indent="0" marL="0">
              <a:buNone/>
            </a:pPr>
            <a:r>
              <a:rPr lang="en-US" sz="1050" b="1" dirty="0">
                <a:solidFill>
                  <a:srgbClr val="38B6FF"/>
                </a:solidFill>
                <a:latin typeface="Arial" pitchFamily="34" charset="0"/>
                <a:ea typeface="Arial" pitchFamily="34" charset="-122"/>
                <a:cs typeface="Arial" pitchFamily="34" charset="-120"/>
              </a:rPr>
              <a:t>2</a:t>
            </a:r>
            <a:endParaRPr lang="en-US" sz="1050" dirty="0"/>
          </a:p>
        </p:txBody>
      </p:sp>
      <p:sp>
        <p:nvSpPr>
          <p:cNvPr id="14" name="Shape 12"/>
          <p:cNvSpPr/>
          <p:nvPr/>
        </p:nvSpPr>
        <p:spPr>
          <a:xfrm>
            <a:off x="3822690" y="2895593"/>
            <a:ext cx="2349494" cy="0"/>
          </a:xfrm>
          <a:prstGeom prst="line">
            <a:avLst/>
          </a:prstGeom>
          <a:noFill/>
          <a:ln w="9525">
            <a:solidFill>
              <a:srgbClr val="38B6FF">
                <a:alpha val="40000"/>
              </a:srgbClr>
            </a:solidFill>
            <a:prstDash val="solid"/>
          </a:ln>
        </p:spPr>
      </p:sp>
      <p:sp>
        <p:nvSpPr>
          <p:cNvPr id="15" name="Text 13"/>
          <p:cNvSpPr txBox="1"/>
          <p:nvPr/>
        </p:nvSpPr>
        <p:spPr>
          <a:xfrm>
            <a:off x="3416291" y="3213092"/>
            <a:ext cx="2552694" cy="253999"/>
          </a:xfrm>
          <a:prstGeom prst="rect">
            <a:avLst/>
          </a:prstGeom>
          <a:noFill/>
          <a:ln/>
        </p:spPr>
        <p:txBody>
          <a:bodyPr wrap="square" lIns="0" tIns="0" rIns="0" bIns="0" rtlCol="0" anchor="ctr"/>
          <a:lstStyle/>
          <a:p>
            <a:pPr indent="0" marL="0">
              <a:buNone/>
            </a:pPr>
            <a:r>
              <a:rPr lang="en-US" sz="1250" b="1" dirty="0">
                <a:solidFill>
                  <a:srgbClr val="F2EFE6"/>
                </a:solidFill>
                <a:latin typeface="Arial" pitchFamily="34" charset="0"/>
                <a:ea typeface="Arial" pitchFamily="34" charset="-122"/>
                <a:cs typeface="Arial" pitchFamily="34" charset="-120"/>
              </a:rPr>
              <a:t>Belstart</a:t>
            </a:r>
            <a:endParaRPr lang="en-US" sz="1250" dirty="0"/>
          </a:p>
        </p:txBody>
      </p:sp>
      <p:sp>
        <p:nvSpPr>
          <p:cNvPr id="16" name="Text 14"/>
          <p:cNvSpPr txBox="1"/>
          <p:nvPr/>
        </p:nvSpPr>
        <p:spPr>
          <a:xfrm>
            <a:off x="3416291" y="3517891"/>
            <a:ext cx="2552694" cy="1142997"/>
          </a:xfrm>
          <a:prstGeom prst="rect">
            <a:avLst/>
          </a:prstGeom>
          <a:noFill/>
          <a:ln/>
        </p:spPr>
        <p:txBody>
          <a:bodyPr wrap="square" lIns="0" tIns="0" rIns="0" bIns="0" rtlCol="0" anchor="t"/>
          <a:lstStyle/>
          <a:p>
            <a:pPr indent="0" marL="0">
              <a:lnSpc>
                <a:spcPct val="135000"/>
              </a:lnSpc>
              <a:buNone/>
            </a:pPr>
            <a:r>
              <a:rPr lang="en-US" sz="900" dirty="0">
                <a:solidFill>
                  <a:srgbClr val="C2C8D2"/>
                </a:solidFill>
                <a:latin typeface="Arial" pitchFamily="34" charset="0"/>
                <a:ea typeface="Arial" pitchFamily="34" charset="-122"/>
                <a:cs typeface="Arial" pitchFamily="34" charset="-120"/>
              </a:rPr>
              <a:t>Vanaf de eerste maandag na de kick-off gaan we bellen, op de dagen en dagdelen die in onze data het beste werken voor jullie branche. Elke afspraak krijgt een bevestigingsmail naar de prospect en een overdracht met context naar jullie.</a:t>
            </a:r>
            <a:endParaRPr lang="en-US" sz="900" dirty="0"/>
          </a:p>
        </p:txBody>
      </p:sp>
      <p:sp>
        <p:nvSpPr>
          <p:cNvPr id="17" name="Shape 15"/>
          <p:cNvSpPr/>
          <p:nvPr/>
        </p:nvSpPr>
        <p:spPr>
          <a:xfrm>
            <a:off x="6222984" y="2743193"/>
            <a:ext cx="304799" cy="304799"/>
          </a:xfrm>
          <a:prstGeom prst="ellipse">
            <a:avLst/>
          </a:prstGeom>
          <a:ln w="15240">
            <a:solidFill>
              <a:srgbClr val="38B6FF"/>
            </a:solidFill>
            <a:prstDash val="solid"/>
          </a:ln>
        </p:spPr>
      </p:sp>
      <p:sp>
        <p:nvSpPr>
          <p:cNvPr id="18" name="Text 16"/>
          <p:cNvSpPr txBox="1"/>
          <p:nvPr/>
        </p:nvSpPr>
        <p:spPr>
          <a:xfrm>
            <a:off x="6222984" y="2743193"/>
            <a:ext cx="304799" cy="304799"/>
          </a:xfrm>
          <a:prstGeom prst="rect">
            <a:avLst/>
          </a:prstGeom>
          <a:noFill/>
          <a:ln/>
        </p:spPr>
        <p:txBody>
          <a:bodyPr wrap="square" lIns="0" tIns="0" rIns="0" bIns="0" rtlCol="0" anchor="ctr"/>
          <a:lstStyle/>
          <a:p>
            <a:pPr algn="ctr" indent="0" marL="0">
              <a:buNone/>
            </a:pPr>
            <a:r>
              <a:rPr lang="en-US" sz="1050" b="1" dirty="0">
                <a:solidFill>
                  <a:srgbClr val="38B6FF"/>
                </a:solidFill>
                <a:latin typeface="Arial" pitchFamily="34" charset="0"/>
                <a:ea typeface="Arial" pitchFamily="34" charset="-122"/>
                <a:cs typeface="Arial" pitchFamily="34" charset="-120"/>
              </a:rPr>
              <a:t>3</a:t>
            </a:r>
            <a:endParaRPr lang="en-US" sz="1050" dirty="0"/>
          </a:p>
        </p:txBody>
      </p:sp>
      <p:sp>
        <p:nvSpPr>
          <p:cNvPr id="19" name="Shape 17"/>
          <p:cNvSpPr/>
          <p:nvPr/>
        </p:nvSpPr>
        <p:spPr>
          <a:xfrm>
            <a:off x="6629383" y="2895593"/>
            <a:ext cx="2349494" cy="0"/>
          </a:xfrm>
          <a:prstGeom prst="line">
            <a:avLst/>
          </a:prstGeom>
          <a:noFill/>
          <a:ln w="9525">
            <a:solidFill>
              <a:srgbClr val="38B6FF">
                <a:alpha val="40000"/>
              </a:srgbClr>
            </a:solidFill>
            <a:prstDash val="solid"/>
          </a:ln>
        </p:spPr>
      </p:sp>
      <p:sp>
        <p:nvSpPr>
          <p:cNvPr id="20" name="Text 18"/>
          <p:cNvSpPr txBox="1"/>
          <p:nvPr/>
        </p:nvSpPr>
        <p:spPr>
          <a:xfrm>
            <a:off x="6222984" y="3213092"/>
            <a:ext cx="2552694" cy="253999"/>
          </a:xfrm>
          <a:prstGeom prst="rect">
            <a:avLst/>
          </a:prstGeom>
          <a:noFill/>
          <a:ln/>
        </p:spPr>
        <p:txBody>
          <a:bodyPr wrap="square" lIns="0" tIns="0" rIns="0" bIns="0" rtlCol="0" anchor="ctr"/>
          <a:lstStyle/>
          <a:p>
            <a:pPr indent="0" marL="0">
              <a:buNone/>
            </a:pPr>
            <a:r>
              <a:rPr lang="en-US" sz="1250" b="1" dirty="0">
                <a:solidFill>
                  <a:srgbClr val="F2EFE6"/>
                </a:solidFill>
                <a:latin typeface="Arial" pitchFamily="34" charset="0"/>
                <a:ea typeface="Arial" pitchFamily="34" charset="-122"/>
                <a:cs typeface="Arial" pitchFamily="34" charset="-120"/>
              </a:rPr>
              <a:t>Wekelijkse rapportage</a:t>
            </a:r>
            <a:endParaRPr lang="en-US" sz="1250" dirty="0"/>
          </a:p>
        </p:txBody>
      </p:sp>
      <p:sp>
        <p:nvSpPr>
          <p:cNvPr id="21" name="Text 19"/>
          <p:cNvSpPr txBox="1"/>
          <p:nvPr/>
        </p:nvSpPr>
        <p:spPr>
          <a:xfrm>
            <a:off x="6222984" y="3517891"/>
            <a:ext cx="2552694" cy="1142997"/>
          </a:xfrm>
          <a:prstGeom prst="rect">
            <a:avLst/>
          </a:prstGeom>
          <a:noFill/>
          <a:ln/>
        </p:spPr>
        <p:txBody>
          <a:bodyPr wrap="square" lIns="0" tIns="0" rIns="0" bIns="0" rtlCol="0" anchor="t"/>
          <a:lstStyle/>
          <a:p>
            <a:pPr indent="0" marL="0">
              <a:lnSpc>
                <a:spcPct val="135000"/>
              </a:lnSpc>
              <a:buNone/>
            </a:pPr>
            <a:r>
              <a:rPr lang="en-US" sz="900" dirty="0">
                <a:solidFill>
                  <a:srgbClr val="C2C8D2"/>
                </a:solidFill>
                <a:latin typeface="Arial" pitchFamily="34" charset="0"/>
                <a:ea typeface="Arial" pitchFamily="34" charset="-122"/>
                <a:cs typeface="Arial" pitchFamily="34" charset="-120"/>
              </a:rPr>
              <a:t>Elke week een rapport met contactpogingen, gesproken bedrijven, warme uitkomsten, terugbelafspraken en geplande afspraken, plus wat we terughoren uit de markt over het product.</a:t>
            </a:r>
            <a:endParaRPr lang="en-US" sz="900" dirty="0"/>
          </a:p>
        </p:txBody>
      </p:sp>
      <p:sp>
        <p:nvSpPr>
          <p:cNvPr id="22" name="Shape 20"/>
          <p:cNvSpPr/>
          <p:nvPr/>
        </p:nvSpPr>
        <p:spPr>
          <a:xfrm>
            <a:off x="9029677" y="2743193"/>
            <a:ext cx="304799" cy="304799"/>
          </a:xfrm>
          <a:prstGeom prst="ellipse">
            <a:avLst/>
          </a:prstGeom>
          <a:ln w="15240">
            <a:solidFill>
              <a:srgbClr val="38B6FF"/>
            </a:solidFill>
            <a:prstDash val="solid"/>
          </a:ln>
        </p:spPr>
      </p:sp>
      <p:sp>
        <p:nvSpPr>
          <p:cNvPr id="23" name="Text 21"/>
          <p:cNvSpPr txBox="1"/>
          <p:nvPr/>
        </p:nvSpPr>
        <p:spPr>
          <a:xfrm>
            <a:off x="9029677" y="2743193"/>
            <a:ext cx="304799" cy="304799"/>
          </a:xfrm>
          <a:prstGeom prst="rect">
            <a:avLst/>
          </a:prstGeom>
          <a:noFill/>
          <a:ln/>
        </p:spPr>
        <p:txBody>
          <a:bodyPr wrap="square" lIns="0" tIns="0" rIns="0" bIns="0" rtlCol="0" anchor="ctr"/>
          <a:lstStyle/>
          <a:p>
            <a:pPr algn="ctr" indent="0" marL="0">
              <a:buNone/>
            </a:pPr>
            <a:r>
              <a:rPr lang="en-US" sz="1050" b="1" dirty="0">
                <a:solidFill>
                  <a:srgbClr val="38B6FF"/>
                </a:solidFill>
                <a:latin typeface="Arial" pitchFamily="34" charset="0"/>
                <a:ea typeface="Arial" pitchFamily="34" charset="-122"/>
                <a:cs typeface="Arial" pitchFamily="34" charset="-120"/>
              </a:rPr>
              <a:t>4</a:t>
            </a:r>
            <a:endParaRPr lang="en-US" sz="1050" dirty="0"/>
          </a:p>
        </p:txBody>
      </p:sp>
      <p:sp>
        <p:nvSpPr>
          <p:cNvPr id="24" name="Text 22"/>
          <p:cNvSpPr txBox="1"/>
          <p:nvPr/>
        </p:nvSpPr>
        <p:spPr>
          <a:xfrm>
            <a:off x="9029677" y="3213092"/>
            <a:ext cx="2552694" cy="253999"/>
          </a:xfrm>
          <a:prstGeom prst="rect">
            <a:avLst/>
          </a:prstGeom>
          <a:noFill/>
          <a:ln/>
        </p:spPr>
        <p:txBody>
          <a:bodyPr wrap="square" lIns="0" tIns="0" rIns="0" bIns="0" rtlCol="0" anchor="ctr"/>
          <a:lstStyle/>
          <a:p>
            <a:pPr indent="0" marL="0">
              <a:buNone/>
            </a:pPr>
            <a:r>
              <a:rPr lang="en-US" sz="1250" b="1" dirty="0">
                <a:solidFill>
                  <a:srgbClr val="F2EFE6"/>
                </a:solidFill>
                <a:latin typeface="Arial" pitchFamily="34" charset="0"/>
                <a:ea typeface="Arial" pitchFamily="34" charset="-122"/>
                <a:cs typeface="Arial" pitchFamily="34" charset="-120"/>
              </a:rPr>
              <a:t>Bijsturen</a:t>
            </a:r>
            <a:endParaRPr lang="en-US" sz="1250" dirty="0"/>
          </a:p>
        </p:txBody>
      </p:sp>
      <p:sp>
        <p:nvSpPr>
          <p:cNvPr id="25" name="Text 23"/>
          <p:cNvSpPr txBox="1"/>
          <p:nvPr/>
        </p:nvSpPr>
        <p:spPr>
          <a:xfrm>
            <a:off x="9029677" y="3517891"/>
            <a:ext cx="2552694" cy="1142997"/>
          </a:xfrm>
          <a:prstGeom prst="rect">
            <a:avLst/>
          </a:prstGeom>
          <a:noFill/>
          <a:ln/>
        </p:spPr>
        <p:txBody>
          <a:bodyPr wrap="square" lIns="0" tIns="0" rIns="0" bIns="0" rtlCol="0" anchor="t"/>
          <a:lstStyle/>
          <a:p>
            <a:pPr indent="0" marL="0">
              <a:lnSpc>
                <a:spcPct val="135000"/>
              </a:lnSpc>
              <a:buNone/>
            </a:pPr>
            <a:r>
              <a:rPr lang="en-US" sz="900" dirty="0">
                <a:solidFill>
                  <a:srgbClr val="C2C8D2"/>
                </a:solidFill>
                <a:latin typeface="Arial" pitchFamily="34" charset="0"/>
                <a:ea typeface="Arial" pitchFamily="34" charset="-122"/>
                <a:cs typeface="Arial" pitchFamily="34" charset="-120"/>
              </a:rPr>
              <a:t>Om de week evalueren we samen: klopt de doelgroep, klopt de kwaliteit van de afspraken en wat scherpen we aan.</a:t>
            </a:r>
            <a:endParaRPr lang="en-US" sz="900" dirty="0"/>
          </a:p>
        </p:txBody>
      </p:sp>
      <p:sp>
        <p:nvSpPr>
          <p:cNvPr id="26" name="Shape 24"/>
          <p:cNvSpPr/>
          <p:nvPr/>
        </p:nvSpPr>
        <p:spPr>
          <a:xfrm>
            <a:off x="609598" y="4711688"/>
            <a:ext cx="10972773" cy="1320797"/>
          </a:xfrm>
          <a:prstGeom prst="roundRect">
            <a:avLst>
              <a:gd name="adj" fmla="val 7692"/>
            </a:avLst>
          </a:prstGeom>
          <a:solidFill>
            <a:srgbClr val="1B2130"/>
          </a:solidFill>
          <a:ln w="9525">
            <a:solidFill>
              <a:srgbClr val="3A4152"/>
            </a:solidFill>
            <a:prstDash val="solid"/>
          </a:ln>
        </p:spPr>
      </p:sp>
      <p:sp>
        <p:nvSpPr>
          <p:cNvPr id="27" name="Text 25"/>
          <p:cNvSpPr txBox="1"/>
          <p:nvPr/>
        </p:nvSpPr>
        <p:spPr>
          <a:xfrm>
            <a:off x="914398" y="4927588"/>
            <a:ext cx="5079987" cy="228599"/>
          </a:xfrm>
          <a:prstGeom prst="rect">
            <a:avLst/>
          </a:prstGeom>
          <a:noFill/>
          <a:ln/>
        </p:spPr>
        <p:txBody>
          <a:bodyPr wrap="square" lIns="0" tIns="0" rIns="0" bIns="0" rtlCol="0" anchor="ctr"/>
          <a:lstStyle/>
          <a:p>
            <a:pPr indent="0" marL="0">
              <a:buNone/>
            </a:pPr>
            <a:r>
              <a:rPr lang="en-US" sz="1150" b="1" dirty="0">
                <a:solidFill>
                  <a:srgbClr val="F2EFE6"/>
                </a:solidFill>
                <a:latin typeface="Arial" pitchFamily="34" charset="0"/>
                <a:ea typeface="Arial" pitchFamily="34" charset="-122"/>
                <a:cs typeface="Arial" pitchFamily="34" charset="-120"/>
              </a:rPr>
              <a:t>Wat jullie ontvangen</a:t>
            </a:r>
            <a:endParaRPr lang="en-US" sz="1150" dirty="0"/>
          </a:p>
        </p:txBody>
      </p:sp>
      <p:pic>
        <p:nvPicPr>
          <p:cNvPr id="28" name="Image 0" descr="preencoded.png">    </p:cNvPr>
          <p:cNvPicPr>
            <a:picLocks noChangeAspect="1"/>
          </p:cNvPicPr>
          <p:nvPr/>
        </p:nvPicPr>
        <p:blipFill>
          <a:blip r:embed="rId1"/>
          <a:stretch>
            <a:fillRect/>
          </a:stretch>
        </p:blipFill>
        <p:spPr>
          <a:xfrm>
            <a:off x="914398" y="5314937"/>
            <a:ext cx="139700" cy="139700"/>
          </a:xfrm>
          <a:prstGeom prst="rect">
            <a:avLst/>
          </a:prstGeom>
        </p:spPr>
      </p:pic>
      <p:sp>
        <p:nvSpPr>
          <p:cNvPr id="29" name="Text 26"/>
          <p:cNvSpPr txBox="1"/>
          <p:nvPr/>
        </p:nvSpPr>
        <p:spPr>
          <a:xfrm>
            <a:off x="1142997" y="5295887"/>
            <a:ext cx="5016487" cy="253999"/>
          </a:xfrm>
          <a:prstGeom prst="rect">
            <a:avLst/>
          </a:prstGeom>
          <a:noFill/>
          <a:ln/>
        </p:spPr>
        <p:txBody>
          <a:bodyPr wrap="square" lIns="0" tIns="0" rIns="0" bIns="0" rtlCol="0" anchor="ctr"/>
          <a:lstStyle/>
          <a:p>
            <a:pPr indent="0" marL="0">
              <a:buNone/>
            </a:pPr>
            <a:r>
              <a:rPr lang="en-US" sz="950" dirty="0">
                <a:solidFill>
                  <a:srgbClr val="C2C8D2"/>
                </a:solidFill>
                <a:latin typeface="Arial" pitchFamily="34" charset="0"/>
                <a:ea typeface="Arial" pitchFamily="34" charset="-122"/>
                <a:cs typeface="Arial" pitchFamily="34" charset="-120"/>
              </a:rPr>
              <a:t>Afspraak in de agenda met bedrijfsinfo, contactpersoon en aanleiding</a:t>
            </a:r>
            <a:endParaRPr lang="en-US" sz="950" dirty="0"/>
          </a:p>
        </p:txBody>
      </p:sp>
      <p:pic>
        <p:nvPicPr>
          <p:cNvPr id="30" name="Image 1" descr="preencoded.png">    </p:cNvPr>
          <p:cNvPicPr>
            <a:picLocks noChangeAspect="1"/>
          </p:cNvPicPr>
          <p:nvPr/>
        </p:nvPicPr>
        <p:blipFill>
          <a:blip r:embed="rId2"/>
          <a:stretch>
            <a:fillRect/>
          </a:stretch>
        </p:blipFill>
        <p:spPr>
          <a:xfrm>
            <a:off x="6400784" y="5314937"/>
            <a:ext cx="139700" cy="139700"/>
          </a:xfrm>
          <a:prstGeom prst="rect">
            <a:avLst/>
          </a:prstGeom>
        </p:spPr>
      </p:pic>
      <p:sp>
        <p:nvSpPr>
          <p:cNvPr id="31" name="Text 27"/>
          <p:cNvSpPr txBox="1"/>
          <p:nvPr/>
        </p:nvSpPr>
        <p:spPr>
          <a:xfrm>
            <a:off x="6629383" y="5295887"/>
            <a:ext cx="5016487" cy="253999"/>
          </a:xfrm>
          <a:prstGeom prst="rect">
            <a:avLst/>
          </a:prstGeom>
          <a:noFill/>
          <a:ln/>
        </p:spPr>
        <p:txBody>
          <a:bodyPr wrap="square" lIns="0" tIns="0" rIns="0" bIns="0" rtlCol="0" anchor="ctr"/>
          <a:lstStyle/>
          <a:p>
            <a:pPr indent="0" marL="0">
              <a:buNone/>
            </a:pPr>
            <a:r>
              <a:rPr lang="en-US" sz="950" dirty="0">
                <a:solidFill>
                  <a:srgbClr val="C2C8D2"/>
                </a:solidFill>
                <a:latin typeface="Arial" pitchFamily="34" charset="0"/>
                <a:ea typeface="Arial" pitchFamily="34" charset="-122"/>
                <a:cs typeface="Arial" pitchFamily="34" charset="-120"/>
              </a:rPr>
              <a:t>Bevestiging naar de prospect uit jullie naam</a:t>
            </a:r>
            <a:endParaRPr lang="en-US" sz="950" dirty="0"/>
          </a:p>
        </p:txBody>
      </p:sp>
      <p:pic>
        <p:nvPicPr>
          <p:cNvPr id="32" name="Image 2" descr="preencoded.png">    </p:cNvPr>
          <p:cNvPicPr>
            <a:picLocks noChangeAspect="1"/>
          </p:cNvPicPr>
          <p:nvPr/>
        </p:nvPicPr>
        <p:blipFill>
          <a:blip r:embed="rId3"/>
          <a:stretch>
            <a:fillRect/>
          </a:stretch>
        </p:blipFill>
        <p:spPr>
          <a:xfrm>
            <a:off x="914398" y="5619736"/>
            <a:ext cx="139700" cy="139700"/>
          </a:xfrm>
          <a:prstGeom prst="rect">
            <a:avLst/>
          </a:prstGeom>
        </p:spPr>
      </p:pic>
      <p:sp>
        <p:nvSpPr>
          <p:cNvPr id="33" name="Text 28"/>
          <p:cNvSpPr txBox="1"/>
          <p:nvPr/>
        </p:nvSpPr>
        <p:spPr>
          <a:xfrm>
            <a:off x="1142997" y="5600686"/>
            <a:ext cx="5016487" cy="253999"/>
          </a:xfrm>
          <a:prstGeom prst="rect">
            <a:avLst/>
          </a:prstGeom>
          <a:noFill/>
          <a:ln/>
        </p:spPr>
        <p:txBody>
          <a:bodyPr wrap="square" lIns="0" tIns="0" rIns="0" bIns="0" rtlCol="0" anchor="ctr"/>
          <a:lstStyle/>
          <a:p>
            <a:pPr indent="0" marL="0">
              <a:buNone/>
            </a:pPr>
            <a:r>
              <a:rPr lang="en-US" sz="950" dirty="0">
                <a:solidFill>
                  <a:srgbClr val="C2C8D2"/>
                </a:solidFill>
                <a:latin typeface="Arial" pitchFamily="34" charset="0"/>
                <a:ea typeface="Arial" pitchFamily="34" charset="-122"/>
                <a:cs typeface="Arial" pitchFamily="34" charset="-120"/>
              </a:rPr>
              <a:t>Wekelijks rapport in PDF plus alle gespreksnotities</a:t>
            </a:r>
            <a:endParaRPr lang="en-US" sz="950" dirty="0"/>
          </a:p>
        </p:txBody>
      </p:sp>
      <p:pic>
        <p:nvPicPr>
          <p:cNvPr id="34" name="Image 3" descr="preencoded.png">    </p:cNvPr>
          <p:cNvPicPr>
            <a:picLocks noChangeAspect="1"/>
          </p:cNvPicPr>
          <p:nvPr/>
        </p:nvPicPr>
        <p:blipFill>
          <a:blip r:embed="rId4"/>
          <a:stretch>
            <a:fillRect/>
          </a:stretch>
        </p:blipFill>
        <p:spPr>
          <a:xfrm>
            <a:off x="6400784" y="5619736"/>
            <a:ext cx="139700" cy="139700"/>
          </a:xfrm>
          <a:prstGeom prst="rect">
            <a:avLst/>
          </a:prstGeom>
        </p:spPr>
      </p:pic>
      <p:sp>
        <p:nvSpPr>
          <p:cNvPr id="35" name="Text 29"/>
          <p:cNvSpPr txBox="1"/>
          <p:nvPr/>
        </p:nvSpPr>
        <p:spPr>
          <a:xfrm>
            <a:off x="6629383" y="5600686"/>
            <a:ext cx="5016487" cy="253999"/>
          </a:xfrm>
          <a:prstGeom prst="rect">
            <a:avLst/>
          </a:prstGeom>
          <a:noFill/>
          <a:ln/>
        </p:spPr>
        <p:txBody>
          <a:bodyPr wrap="square" lIns="0" tIns="0" rIns="0" bIns="0" rtlCol="0" anchor="ctr"/>
          <a:lstStyle/>
          <a:p>
            <a:pPr indent="0" marL="0">
              <a:buNone/>
            </a:pPr>
            <a:r>
              <a:rPr lang="en-US" sz="950" dirty="0">
                <a:solidFill>
                  <a:srgbClr val="C2C8D2"/>
                </a:solidFill>
                <a:latin typeface="Arial" pitchFamily="34" charset="0"/>
                <a:ea typeface="Arial" pitchFamily="34" charset="-122"/>
                <a:cs typeface="Arial" pitchFamily="34" charset="-120"/>
              </a:rPr>
              <a:t>Een vast aanspreekpunt</a:t>
            </a:r>
            <a:endParaRPr lang="en-US" sz="95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E9E0CD"/>
        </a:solidFill>
      </p:bgPr>
    </p:bg>
    <p:spTree>
      <p:nvGrpSpPr>
        <p:cNvPr id="1" name=""/>
        <p:cNvGrpSpPr/>
        <p:nvPr/>
      </p:nvGrpSpPr>
      <p:grpSpPr>
        <a:xfrm>
          <a:off x="0" y="0"/>
          <a:ext cx="0" cy="0"/>
          <a:chOff x="0" y="0"/>
          <a:chExt cx="0" cy="0"/>
        </a:xfrm>
      </p:grpSpPr>
      <p:sp>
        <p:nvSpPr>
          <p:cNvPr id="2" name="Text 0"/>
          <p:cNvSpPr txBox="1"/>
          <p:nvPr/>
        </p:nvSpPr>
        <p:spPr>
          <a:xfrm>
            <a:off x="596899" y="368299"/>
            <a:ext cx="1904995" cy="330199"/>
          </a:xfrm>
          <a:prstGeom prst="rect">
            <a:avLst/>
          </a:prstGeom>
          <a:noFill/>
          <a:ln/>
        </p:spPr>
        <p:txBody>
          <a:bodyPr wrap="square" lIns="0" tIns="0" rIns="0" bIns="0" rtlCol="0" anchor="ctr"/>
          <a:lstStyle/>
          <a:p>
            <a:pPr algn="l" indent="0" marL="0">
              <a:buNone/>
            </a:pPr>
            <a:r>
              <a:rPr lang="en-US" sz="1800" b="1" dirty="0">
                <a:solidFill>
                  <a:srgbClr val="1C2230"/>
                </a:solidFill>
                <a:latin typeface="Arial" pitchFamily="34" charset="0"/>
                <a:ea typeface="Arial" pitchFamily="34" charset="-122"/>
                <a:cs typeface="Arial" pitchFamily="34" charset="-120"/>
              </a:rPr>
              <a:t>LINK</a:t>
            </a:r>
            <a:pPr algn="l" indent="0" marL="0">
              <a:buNone/>
            </a:pPr>
            <a:r>
              <a:rPr lang="en-US" sz="1800" b="1" dirty="0">
                <a:solidFill>
                  <a:srgbClr val="38B6FF"/>
                </a:solidFill>
                <a:latin typeface="Arial" pitchFamily="34" charset="0"/>
                <a:ea typeface="Arial" pitchFamily="34" charset="-122"/>
                <a:cs typeface="Arial" pitchFamily="34" charset="-120"/>
              </a:rPr>
              <a:t>.</a:t>
            </a:r>
            <a:endParaRPr lang="en-US" sz="1800" dirty="0"/>
          </a:p>
        </p:txBody>
      </p:sp>
      <p:sp>
        <p:nvSpPr>
          <p:cNvPr id="3" name="Text 1"/>
          <p:cNvSpPr txBox="1"/>
          <p:nvPr/>
        </p:nvSpPr>
        <p:spPr>
          <a:xfrm>
            <a:off x="609598" y="6381734"/>
            <a:ext cx="5714986" cy="228599"/>
          </a:xfrm>
          <a:prstGeom prst="rect">
            <a:avLst/>
          </a:prstGeom>
          <a:noFill/>
          <a:ln/>
        </p:spPr>
        <p:txBody>
          <a:bodyPr wrap="square" lIns="0" tIns="0" rIns="0" bIns="0" rtlCol="0" anchor="ctr"/>
          <a:lstStyle/>
          <a:p>
            <a:pPr algn="l" indent="0" marL="0">
              <a:buNone/>
            </a:pPr>
            <a:r>
              <a:rPr lang="en-US" sz="750" b="1" spc="100" kern="0" dirty="0">
                <a:solidFill>
                  <a:srgbClr val="6F6A5C"/>
                </a:solidFill>
                <a:latin typeface="Arial" pitchFamily="34" charset="0"/>
                <a:ea typeface="Arial" pitchFamily="34" charset="-122"/>
                <a:cs typeface="Arial" pitchFamily="34" charset="-120"/>
              </a:rPr>
              <a:t>LINK. · Kennismaking Portrelo</a:t>
            </a:r>
            <a:endParaRPr lang="en-US" sz="750" dirty="0"/>
          </a:p>
        </p:txBody>
      </p:sp>
      <p:sp>
        <p:nvSpPr>
          <p:cNvPr id="4" name="Text 2"/>
          <p:cNvSpPr txBox="1"/>
          <p:nvPr/>
        </p:nvSpPr>
        <p:spPr>
          <a:xfrm>
            <a:off x="9677376" y="6381734"/>
            <a:ext cx="1904995" cy="228599"/>
          </a:xfrm>
          <a:prstGeom prst="rect">
            <a:avLst/>
          </a:prstGeom>
          <a:noFill/>
          <a:ln/>
        </p:spPr>
        <p:txBody>
          <a:bodyPr wrap="square" lIns="0" tIns="0" rIns="0" bIns="0" rtlCol="0" anchor="ctr"/>
          <a:lstStyle/>
          <a:p>
            <a:pPr algn="r" indent="0" marL="0">
              <a:buNone/>
            </a:pPr>
            <a:r>
              <a:rPr lang="en-US" sz="750" b="1" spc="100" kern="0" dirty="0">
                <a:solidFill>
                  <a:srgbClr val="6F6A5C"/>
                </a:solidFill>
                <a:latin typeface="Arial" pitchFamily="34" charset="0"/>
                <a:ea typeface="Arial" pitchFamily="34" charset="-122"/>
                <a:cs typeface="Arial" pitchFamily="34" charset="-120"/>
              </a:rPr>
              <a:t>5 / 10</a:t>
            </a:r>
            <a:endParaRPr lang="en-US" sz="750" dirty="0"/>
          </a:p>
        </p:txBody>
      </p:sp>
      <p:sp>
        <p:nvSpPr>
          <p:cNvPr id="5" name="Text 3"/>
          <p:cNvSpPr txBox="1"/>
          <p:nvPr/>
        </p:nvSpPr>
        <p:spPr>
          <a:xfrm>
            <a:off x="609598" y="1206497"/>
            <a:ext cx="10159975" cy="215899"/>
          </a:xfrm>
          <a:prstGeom prst="rect">
            <a:avLst/>
          </a:prstGeom>
          <a:noFill/>
          <a:ln/>
        </p:spPr>
        <p:txBody>
          <a:bodyPr wrap="square" lIns="0" tIns="0" rIns="0" bIns="0" rtlCol="0" anchor="ctr"/>
          <a:lstStyle/>
          <a:p>
            <a:pPr algn="l" indent="0" marL="0">
              <a:buNone/>
            </a:pPr>
            <a:r>
              <a:rPr lang="en-US" sz="950" b="1" spc="400" kern="0" dirty="0">
                <a:solidFill>
                  <a:srgbClr val="38B6FF"/>
                </a:solidFill>
                <a:latin typeface="Arial" pitchFamily="34" charset="0"/>
                <a:ea typeface="Arial" pitchFamily="34" charset="-122"/>
                <a:cs typeface="Arial" pitchFamily="34" charset="-120"/>
              </a:rPr>
              <a:t>WAT WIJ EEN GEKWALIFICEERDE AFSPRAAK NOEMEN</a:t>
            </a:r>
            <a:endParaRPr lang="en-US" sz="950" dirty="0"/>
          </a:p>
        </p:txBody>
      </p:sp>
      <p:sp>
        <p:nvSpPr>
          <p:cNvPr id="6" name="Text 4"/>
          <p:cNvSpPr txBox="1"/>
          <p:nvPr/>
        </p:nvSpPr>
        <p:spPr>
          <a:xfrm>
            <a:off x="609598" y="1511296"/>
            <a:ext cx="10972773" cy="1142997"/>
          </a:xfrm>
          <a:prstGeom prst="rect">
            <a:avLst/>
          </a:prstGeom>
          <a:noFill/>
          <a:ln/>
        </p:spPr>
        <p:txBody>
          <a:bodyPr wrap="square" lIns="0" tIns="0" rIns="0" bIns="0" rtlCol="0" anchor="t"/>
          <a:lstStyle/>
          <a:p>
            <a:pPr algn="l" indent="0" marL="0">
              <a:lnSpc>
                <a:spcPct val="108000"/>
              </a:lnSpc>
              <a:buNone/>
            </a:pPr>
            <a:r>
              <a:rPr lang="en-US" sz="3200" b="1" dirty="0">
                <a:solidFill>
                  <a:srgbClr val="1C2230"/>
                </a:solidFill>
                <a:latin typeface="Arial" pitchFamily="34" charset="0"/>
                <a:ea typeface="Arial" pitchFamily="34" charset="-122"/>
                <a:cs typeface="Arial" pitchFamily="34" charset="-120"/>
              </a:rPr>
              <a:t>Geen afspraak om de afspraak. </a:t>
            </a:r>
            <a:pPr algn="l" indent="0" marL="0">
              <a:lnSpc>
                <a:spcPct val="108000"/>
              </a:lnSpc>
              <a:buNone/>
            </a:pPr>
            <a:r>
              <a:rPr lang="en-US" sz="3000" i="1" dirty="0">
                <a:solidFill>
                  <a:srgbClr val="1C2230"/>
                </a:solidFill>
                <a:latin typeface="Georgia" pitchFamily="34" charset="0"/>
                <a:ea typeface="Georgia" pitchFamily="34" charset="-122"/>
                <a:cs typeface="Georgia" pitchFamily="34" charset="-120"/>
              </a:rPr>
              <a:t>Drie eisen</a:t>
            </a:r>
            <a:pPr algn="l" indent="0" marL="0">
              <a:lnSpc>
                <a:spcPct val="108000"/>
              </a:lnSpc>
              <a:buNone/>
            </a:pPr>
            <a:r>
              <a:rPr lang="en-US" sz="3200" b="1" dirty="0">
                <a:solidFill>
                  <a:srgbClr val="1C2230"/>
                </a:solidFill>
                <a:latin typeface="Arial" pitchFamily="34" charset="0"/>
                <a:ea typeface="Arial" pitchFamily="34" charset="-122"/>
                <a:cs typeface="Arial" pitchFamily="34" charset="-120"/>
              </a:rPr>
              <a:t>.</a:t>
            </a:r>
            <a:endParaRPr lang="en-US" sz="3200" dirty="0"/>
          </a:p>
        </p:txBody>
      </p:sp>
      <p:sp>
        <p:nvSpPr>
          <p:cNvPr id="7" name="Shape 5"/>
          <p:cNvSpPr/>
          <p:nvPr/>
        </p:nvSpPr>
        <p:spPr>
          <a:xfrm>
            <a:off x="609598" y="2793993"/>
            <a:ext cx="3536941" cy="2476494"/>
          </a:xfrm>
          <a:prstGeom prst="roundRect">
            <a:avLst>
              <a:gd name="adj" fmla="val 4103"/>
            </a:avLst>
          </a:prstGeom>
          <a:solidFill>
            <a:srgbClr val="F8F4EB"/>
          </a:solidFill>
          <a:ln/>
        </p:spPr>
      </p:sp>
      <p:sp>
        <p:nvSpPr>
          <p:cNvPr id="8" name="Shape 6"/>
          <p:cNvSpPr/>
          <p:nvPr/>
        </p:nvSpPr>
        <p:spPr>
          <a:xfrm>
            <a:off x="914398" y="3124192"/>
            <a:ext cx="380999" cy="380999"/>
          </a:xfrm>
          <a:prstGeom prst="roundRect">
            <a:avLst>
              <a:gd name="adj" fmla="val 23333"/>
            </a:avLst>
          </a:prstGeom>
          <a:solidFill>
            <a:srgbClr val="DDEBF3"/>
          </a:solidFill>
          <a:ln/>
        </p:spPr>
      </p:sp>
      <p:pic>
        <p:nvPicPr>
          <p:cNvPr id="9" name="Image 0" descr="preencoded.png">    </p:cNvPr>
          <p:cNvPicPr>
            <a:picLocks noChangeAspect="1"/>
          </p:cNvPicPr>
          <p:nvPr/>
        </p:nvPicPr>
        <p:blipFill>
          <a:blip r:embed="rId1"/>
          <a:stretch>
            <a:fillRect/>
          </a:stretch>
        </p:blipFill>
        <p:spPr>
          <a:xfrm>
            <a:off x="1009647" y="3219442"/>
            <a:ext cx="190500" cy="190500"/>
          </a:xfrm>
          <a:prstGeom prst="rect">
            <a:avLst/>
          </a:prstGeom>
        </p:spPr>
      </p:pic>
      <p:sp>
        <p:nvSpPr>
          <p:cNvPr id="10" name="Text 7"/>
          <p:cNvSpPr txBox="1"/>
          <p:nvPr/>
        </p:nvSpPr>
        <p:spPr>
          <a:xfrm>
            <a:off x="914398" y="3708391"/>
            <a:ext cx="2927343" cy="304799"/>
          </a:xfrm>
          <a:prstGeom prst="rect">
            <a:avLst/>
          </a:prstGeom>
          <a:noFill/>
          <a:ln/>
        </p:spPr>
        <p:txBody>
          <a:bodyPr wrap="square" lIns="0" tIns="0" rIns="0" bIns="0" rtlCol="0" anchor="ctr"/>
          <a:lstStyle/>
          <a:p>
            <a:pPr indent="0" marL="0">
              <a:buNone/>
            </a:pPr>
            <a:r>
              <a:rPr lang="en-US" sz="1600" b="1" dirty="0">
                <a:solidFill>
                  <a:srgbClr val="1C2230"/>
                </a:solidFill>
                <a:latin typeface="Arial" pitchFamily="34" charset="0"/>
                <a:ea typeface="Arial" pitchFamily="34" charset="-122"/>
                <a:cs typeface="Arial" pitchFamily="34" charset="-120"/>
              </a:rPr>
              <a:t>Fit</a:t>
            </a:r>
            <a:endParaRPr lang="en-US" sz="1600" dirty="0"/>
          </a:p>
        </p:txBody>
      </p:sp>
      <p:sp>
        <p:nvSpPr>
          <p:cNvPr id="11" name="Text 8"/>
          <p:cNvSpPr txBox="1"/>
          <p:nvPr/>
        </p:nvSpPr>
        <p:spPr>
          <a:xfrm>
            <a:off x="914398" y="4089390"/>
            <a:ext cx="2927343" cy="952498"/>
          </a:xfrm>
          <a:prstGeom prst="rect">
            <a:avLst/>
          </a:prstGeom>
          <a:noFill/>
          <a:ln/>
        </p:spPr>
        <p:txBody>
          <a:bodyPr wrap="square" lIns="0" tIns="0" rIns="0" bIns="0" rtlCol="0" anchor="t"/>
          <a:lstStyle/>
          <a:p>
            <a:pPr indent="0" marL="0">
              <a:lnSpc>
                <a:spcPct val="135000"/>
              </a:lnSpc>
              <a:buNone/>
            </a:pPr>
            <a:r>
              <a:rPr lang="en-US" sz="1050" dirty="0">
                <a:solidFill>
                  <a:srgbClr val="6F6A5C"/>
                </a:solidFill>
                <a:latin typeface="Arial" pitchFamily="34" charset="0"/>
                <a:ea typeface="Arial" pitchFamily="34" charset="-122"/>
                <a:cs typeface="Arial" pitchFamily="34" charset="-120"/>
              </a:rPr>
              <a:t>Het bedrijf past: branche, omvang en situatie voldoen aan de criteria uit de kick-off.</a:t>
            </a:r>
            <a:endParaRPr lang="en-US" sz="1050" dirty="0"/>
          </a:p>
        </p:txBody>
      </p:sp>
      <p:sp>
        <p:nvSpPr>
          <p:cNvPr id="12" name="Shape 9"/>
          <p:cNvSpPr/>
          <p:nvPr/>
        </p:nvSpPr>
        <p:spPr>
          <a:xfrm>
            <a:off x="4324339" y="2793993"/>
            <a:ext cx="3536941" cy="2476494"/>
          </a:xfrm>
          <a:prstGeom prst="roundRect">
            <a:avLst>
              <a:gd name="adj" fmla="val 4103"/>
            </a:avLst>
          </a:prstGeom>
          <a:solidFill>
            <a:srgbClr val="F8F4EB"/>
          </a:solidFill>
          <a:ln/>
        </p:spPr>
      </p:sp>
      <p:sp>
        <p:nvSpPr>
          <p:cNvPr id="13" name="Shape 10"/>
          <p:cNvSpPr/>
          <p:nvPr/>
        </p:nvSpPr>
        <p:spPr>
          <a:xfrm>
            <a:off x="4629138" y="3124192"/>
            <a:ext cx="380999" cy="380999"/>
          </a:xfrm>
          <a:prstGeom prst="roundRect">
            <a:avLst>
              <a:gd name="adj" fmla="val 23333"/>
            </a:avLst>
          </a:prstGeom>
          <a:solidFill>
            <a:srgbClr val="DDEBF3"/>
          </a:solidFill>
          <a:ln/>
        </p:spPr>
      </p:sp>
      <p:pic>
        <p:nvPicPr>
          <p:cNvPr id="14" name="Image 1" descr="preencoded.png">    </p:cNvPr>
          <p:cNvPicPr>
            <a:picLocks noChangeAspect="1"/>
          </p:cNvPicPr>
          <p:nvPr/>
        </p:nvPicPr>
        <p:blipFill>
          <a:blip r:embed="rId2"/>
          <a:stretch>
            <a:fillRect/>
          </a:stretch>
        </p:blipFill>
        <p:spPr>
          <a:xfrm>
            <a:off x="4724388" y="3219442"/>
            <a:ext cx="190500" cy="190500"/>
          </a:xfrm>
          <a:prstGeom prst="rect">
            <a:avLst/>
          </a:prstGeom>
        </p:spPr>
      </p:pic>
      <p:sp>
        <p:nvSpPr>
          <p:cNvPr id="15" name="Text 11"/>
          <p:cNvSpPr txBox="1"/>
          <p:nvPr/>
        </p:nvSpPr>
        <p:spPr>
          <a:xfrm>
            <a:off x="4629138" y="3708391"/>
            <a:ext cx="2927343" cy="304799"/>
          </a:xfrm>
          <a:prstGeom prst="rect">
            <a:avLst/>
          </a:prstGeom>
          <a:noFill/>
          <a:ln/>
        </p:spPr>
        <p:txBody>
          <a:bodyPr wrap="square" lIns="0" tIns="0" rIns="0" bIns="0" rtlCol="0" anchor="ctr"/>
          <a:lstStyle/>
          <a:p>
            <a:pPr indent="0" marL="0">
              <a:buNone/>
            </a:pPr>
            <a:r>
              <a:rPr lang="en-US" sz="1600" b="1" dirty="0">
                <a:solidFill>
                  <a:srgbClr val="1C2230"/>
                </a:solidFill>
                <a:latin typeface="Arial" pitchFamily="34" charset="0"/>
                <a:ea typeface="Arial" pitchFamily="34" charset="-122"/>
                <a:cs typeface="Arial" pitchFamily="34" charset="-120"/>
              </a:rPr>
              <a:t>Interesse</a:t>
            </a:r>
            <a:endParaRPr lang="en-US" sz="1600" dirty="0"/>
          </a:p>
        </p:txBody>
      </p:sp>
      <p:sp>
        <p:nvSpPr>
          <p:cNvPr id="16" name="Text 12"/>
          <p:cNvSpPr txBox="1"/>
          <p:nvPr/>
        </p:nvSpPr>
        <p:spPr>
          <a:xfrm>
            <a:off x="4629138" y="4089390"/>
            <a:ext cx="2927343" cy="952498"/>
          </a:xfrm>
          <a:prstGeom prst="rect">
            <a:avLst/>
          </a:prstGeom>
          <a:noFill/>
          <a:ln/>
        </p:spPr>
        <p:txBody>
          <a:bodyPr wrap="square" lIns="0" tIns="0" rIns="0" bIns="0" rtlCol="0" anchor="t"/>
          <a:lstStyle/>
          <a:p>
            <a:pPr indent="0" marL="0">
              <a:lnSpc>
                <a:spcPct val="135000"/>
              </a:lnSpc>
              <a:buNone/>
            </a:pPr>
            <a:r>
              <a:rPr lang="en-US" sz="1050" dirty="0">
                <a:solidFill>
                  <a:srgbClr val="6F6A5C"/>
                </a:solidFill>
                <a:latin typeface="Arial" pitchFamily="34" charset="0"/>
                <a:ea typeface="Arial" pitchFamily="34" charset="-122"/>
                <a:cs typeface="Arial" pitchFamily="34" charset="-120"/>
              </a:rPr>
              <a:t>De prospect heeft een concrete aanleiding of vraag en neemt bewust de tijd. Wij leggen de aanleiding vast in de overdracht.</a:t>
            </a:r>
            <a:endParaRPr lang="en-US" sz="1050" dirty="0"/>
          </a:p>
        </p:txBody>
      </p:sp>
      <p:sp>
        <p:nvSpPr>
          <p:cNvPr id="17" name="Shape 13"/>
          <p:cNvSpPr/>
          <p:nvPr/>
        </p:nvSpPr>
        <p:spPr>
          <a:xfrm>
            <a:off x="8039080" y="2793993"/>
            <a:ext cx="3536941" cy="2476494"/>
          </a:xfrm>
          <a:prstGeom prst="roundRect">
            <a:avLst>
              <a:gd name="adj" fmla="val 4103"/>
            </a:avLst>
          </a:prstGeom>
          <a:solidFill>
            <a:srgbClr val="F8F4EB"/>
          </a:solidFill>
          <a:ln/>
        </p:spPr>
      </p:sp>
      <p:sp>
        <p:nvSpPr>
          <p:cNvPr id="18" name="Shape 14"/>
          <p:cNvSpPr/>
          <p:nvPr/>
        </p:nvSpPr>
        <p:spPr>
          <a:xfrm>
            <a:off x="8343879" y="3124192"/>
            <a:ext cx="380999" cy="380999"/>
          </a:xfrm>
          <a:prstGeom prst="roundRect">
            <a:avLst>
              <a:gd name="adj" fmla="val 23333"/>
            </a:avLst>
          </a:prstGeom>
          <a:solidFill>
            <a:srgbClr val="DDEBF3"/>
          </a:solidFill>
          <a:ln/>
        </p:spPr>
      </p:sp>
      <p:pic>
        <p:nvPicPr>
          <p:cNvPr id="19" name="Image 2" descr="preencoded.png">    </p:cNvPr>
          <p:cNvPicPr>
            <a:picLocks noChangeAspect="1"/>
          </p:cNvPicPr>
          <p:nvPr/>
        </p:nvPicPr>
        <p:blipFill>
          <a:blip r:embed="rId3"/>
          <a:stretch>
            <a:fillRect/>
          </a:stretch>
        </p:blipFill>
        <p:spPr>
          <a:xfrm>
            <a:off x="8439129" y="3219442"/>
            <a:ext cx="190500" cy="190500"/>
          </a:xfrm>
          <a:prstGeom prst="rect">
            <a:avLst/>
          </a:prstGeom>
        </p:spPr>
      </p:pic>
      <p:sp>
        <p:nvSpPr>
          <p:cNvPr id="20" name="Text 15"/>
          <p:cNvSpPr txBox="1"/>
          <p:nvPr/>
        </p:nvSpPr>
        <p:spPr>
          <a:xfrm>
            <a:off x="8343879" y="3708391"/>
            <a:ext cx="2927343" cy="304799"/>
          </a:xfrm>
          <a:prstGeom prst="rect">
            <a:avLst/>
          </a:prstGeom>
          <a:noFill/>
          <a:ln/>
        </p:spPr>
        <p:txBody>
          <a:bodyPr wrap="square" lIns="0" tIns="0" rIns="0" bIns="0" rtlCol="0" anchor="ctr"/>
          <a:lstStyle/>
          <a:p>
            <a:pPr indent="0" marL="0">
              <a:buNone/>
            </a:pPr>
            <a:r>
              <a:rPr lang="en-US" sz="1600" b="1" dirty="0">
                <a:solidFill>
                  <a:srgbClr val="1C2230"/>
                </a:solidFill>
                <a:latin typeface="Arial" pitchFamily="34" charset="0"/>
                <a:ea typeface="Arial" pitchFamily="34" charset="-122"/>
                <a:cs typeface="Arial" pitchFamily="34" charset="-120"/>
              </a:rPr>
              <a:t>Beslisser</a:t>
            </a:r>
            <a:endParaRPr lang="en-US" sz="1600" dirty="0"/>
          </a:p>
        </p:txBody>
      </p:sp>
      <p:sp>
        <p:nvSpPr>
          <p:cNvPr id="21" name="Text 16"/>
          <p:cNvSpPr txBox="1"/>
          <p:nvPr/>
        </p:nvSpPr>
        <p:spPr>
          <a:xfrm>
            <a:off x="8343879" y="4089390"/>
            <a:ext cx="2927343" cy="952498"/>
          </a:xfrm>
          <a:prstGeom prst="rect">
            <a:avLst/>
          </a:prstGeom>
          <a:noFill/>
          <a:ln/>
        </p:spPr>
        <p:txBody>
          <a:bodyPr wrap="square" lIns="0" tIns="0" rIns="0" bIns="0" rtlCol="0" anchor="t"/>
          <a:lstStyle/>
          <a:p>
            <a:pPr indent="0" marL="0">
              <a:lnSpc>
                <a:spcPct val="135000"/>
              </a:lnSpc>
              <a:buNone/>
            </a:pPr>
            <a:r>
              <a:rPr lang="en-US" sz="1050" dirty="0">
                <a:solidFill>
                  <a:srgbClr val="6F6A5C"/>
                </a:solidFill>
                <a:latin typeface="Arial" pitchFamily="34" charset="0"/>
                <a:ea typeface="Arial" pitchFamily="34" charset="-122"/>
                <a:cs typeface="Arial" pitchFamily="34" charset="-120"/>
              </a:rPr>
              <a:t>De afspraak staat met iemand die over de aankoop gaat of daar direct invloed op heeft.</a:t>
            </a:r>
            <a:endParaRPr lang="en-US" sz="1050" dirty="0"/>
          </a:p>
        </p:txBody>
      </p:sp>
      <p:sp>
        <p:nvSpPr>
          <p:cNvPr id="22" name="Shape 17"/>
          <p:cNvSpPr/>
          <p:nvPr/>
        </p:nvSpPr>
        <p:spPr>
          <a:xfrm>
            <a:off x="609598" y="5854685"/>
            <a:ext cx="76200" cy="76200"/>
          </a:xfrm>
          <a:prstGeom prst="ellipse">
            <a:avLst/>
          </a:prstGeom>
          <a:solidFill>
            <a:srgbClr val="38B6FF"/>
          </a:solidFill>
          <a:ln/>
        </p:spPr>
      </p:sp>
      <p:sp>
        <p:nvSpPr>
          <p:cNvPr id="23" name="Text 18"/>
          <p:cNvSpPr txBox="1"/>
          <p:nvPr/>
        </p:nvSpPr>
        <p:spPr>
          <a:xfrm>
            <a:off x="800098" y="5714986"/>
            <a:ext cx="9905975" cy="355599"/>
          </a:xfrm>
          <a:prstGeom prst="rect">
            <a:avLst/>
          </a:prstGeom>
          <a:noFill/>
          <a:ln/>
        </p:spPr>
        <p:txBody>
          <a:bodyPr wrap="square" lIns="0" tIns="0" rIns="0" bIns="0" rtlCol="0" anchor="ctr"/>
          <a:lstStyle/>
          <a:p>
            <a:pPr indent="0" marL="0">
              <a:buNone/>
            </a:pPr>
            <a:r>
              <a:rPr lang="en-US" sz="1200" b="1" dirty="0">
                <a:solidFill>
                  <a:srgbClr val="1C2230"/>
                </a:solidFill>
                <a:latin typeface="Arial" pitchFamily="34" charset="0"/>
                <a:ea typeface="Arial" pitchFamily="34" charset="-122"/>
                <a:cs typeface="Arial" pitchFamily="34" charset="-120"/>
              </a:rPr>
              <a:t>Valt een afspraak buiten deze eisen, dan telt hij niet mee. Zo blijft het aantal eerlijk en de kwaliteit hoog.</a:t>
            </a:r>
            <a:endParaRPr lang="en-US" sz="120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141821"/>
        </a:solidFill>
      </p:bgPr>
    </p:bg>
    <p:spTree>
      <p:nvGrpSpPr>
        <p:cNvPr id="1" name=""/>
        <p:cNvGrpSpPr/>
        <p:nvPr/>
      </p:nvGrpSpPr>
      <p:grpSpPr>
        <a:xfrm>
          <a:off x="0" y="0"/>
          <a:ext cx="0" cy="0"/>
          <a:chOff x="0" y="0"/>
          <a:chExt cx="0" cy="0"/>
        </a:xfrm>
      </p:grpSpPr>
      <p:sp>
        <p:nvSpPr>
          <p:cNvPr id="2" name="Text 0"/>
          <p:cNvSpPr txBox="1"/>
          <p:nvPr/>
        </p:nvSpPr>
        <p:spPr>
          <a:xfrm>
            <a:off x="596899" y="368299"/>
            <a:ext cx="1904995" cy="330199"/>
          </a:xfrm>
          <a:prstGeom prst="rect">
            <a:avLst/>
          </a:prstGeom>
          <a:noFill/>
          <a:ln/>
        </p:spPr>
        <p:txBody>
          <a:bodyPr wrap="square" lIns="0" tIns="0" rIns="0" bIns="0" rtlCol="0" anchor="ctr"/>
          <a:lstStyle/>
          <a:p>
            <a:pPr algn="l" indent="0" marL="0">
              <a:buNone/>
            </a:pPr>
            <a:r>
              <a:rPr lang="en-US" sz="1800" b="1" dirty="0">
                <a:solidFill>
                  <a:srgbClr val="F2EFE6"/>
                </a:solidFill>
                <a:latin typeface="Arial" pitchFamily="34" charset="0"/>
                <a:ea typeface="Arial" pitchFamily="34" charset="-122"/>
                <a:cs typeface="Arial" pitchFamily="34" charset="-120"/>
              </a:rPr>
              <a:t>LINK</a:t>
            </a:r>
            <a:pPr algn="l" indent="0" marL="0">
              <a:buNone/>
            </a:pPr>
            <a:r>
              <a:rPr lang="en-US" sz="1800" b="1" dirty="0">
                <a:solidFill>
                  <a:srgbClr val="38B6FF"/>
                </a:solidFill>
                <a:latin typeface="Arial" pitchFamily="34" charset="0"/>
                <a:ea typeface="Arial" pitchFamily="34" charset="-122"/>
                <a:cs typeface="Arial" pitchFamily="34" charset="-120"/>
              </a:rPr>
              <a:t>.</a:t>
            </a:r>
            <a:endParaRPr lang="en-US" sz="1800" dirty="0"/>
          </a:p>
        </p:txBody>
      </p:sp>
      <p:sp>
        <p:nvSpPr>
          <p:cNvPr id="3" name="Text 1"/>
          <p:cNvSpPr txBox="1"/>
          <p:nvPr/>
        </p:nvSpPr>
        <p:spPr>
          <a:xfrm>
            <a:off x="609598" y="6381734"/>
            <a:ext cx="5714986" cy="228599"/>
          </a:xfrm>
          <a:prstGeom prst="rect">
            <a:avLst/>
          </a:prstGeom>
          <a:noFill/>
          <a:ln/>
        </p:spPr>
        <p:txBody>
          <a:bodyPr wrap="square" lIns="0" tIns="0" rIns="0" bIns="0" rtlCol="0" anchor="ctr"/>
          <a:lstStyle/>
          <a:p>
            <a:pPr algn="l" indent="0" marL="0">
              <a:buNone/>
            </a:pPr>
            <a:r>
              <a:rPr lang="en-US" sz="750" b="1" spc="100" kern="0" dirty="0">
                <a:solidFill>
                  <a:srgbClr val="BDC3CE"/>
                </a:solidFill>
                <a:latin typeface="Arial" pitchFamily="34" charset="0"/>
                <a:ea typeface="Arial" pitchFamily="34" charset="-122"/>
                <a:cs typeface="Arial" pitchFamily="34" charset="-120"/>
              </a:rPr>
              <a:t>LINK. · Kennismaking Portrelo</a:t>
            </a:r>
            <a:endParaRPr lang="en-US" sz="750" dirty="0"/>
          </a:p>
        </p:txBody>
      </p:sp>
      <p:sp>
        <p:nvSpPr>
          <p:cNvPr id="4" name="Text 2"/>
          <p:cNvSpPr txBox="1"/>
          <p:nvPr/>
        </p:nvSpPr>
        <p:spPr>
          <a:xfrm>
            <a:off x="9677376" y="6381734"/>
            <a:ext cx="1904995" cy="228599"/>
          </a:xfrm>
          <a:prstGeom prst="rect">
            <a:avLst/>
          </a:prstGeom>
          <a:noFill/>
          <a:ln/>
        </p:spPr>
        <p:txBody>
          <a:bodyPr wrap="square" lIns="0" tIns="0" rIns="0" bIns="0" rtlCol="0" anchor="ctr"/>
          <a:lstStyle/>
          <a:p>
            <a:pPr algn="r" indent="0" marL="0">
              <a:buNone/>
            </a:pPr>
            <a:r>
              <a:rPr lang="en-US" sz="750" b="1" spc="100" kern="0" dirty="0">
                <a:solidFill>
                  <a:srgbClr val="BDC3CE"/>
                </a:solidFill>
                <a:latin typeface="Arial" pitchFamily="34" charset="0"/>
                <a:ea typeface="Arial" pitchFamily="34" charset="-122"/>
                <a:cs typeface="Arial" pitchFamily="34" charset="-120"/>
              </a:rPr>
              <a:t>6 / 10</a:t>
            </a:r>
            <a:endParaRPr lang="en-US" sz="750" dirty="0"/>
          </a:p>
        </p:txBody>
      </p:sp>
      <p:sp>
        <p:nvSpPr>
          <p:cNvPr id="5" name="Text 3"/>
          <p:cNvSpPr txBox="1"/>
          <p:nvPr/>
        </p:nvSpPr>
        <p:spPr>
          <a:xfrm>
            <a:off x="609598" y="1206497"/>
            <a:ext cx="10159975" cy="215899"/>
          </a:xfrm>
          <a:prstGeom prst="rect">
            <a:avLst/>
          </a:prstGeom>
          <a:noFill/>
          <a:ln/>
        </p:spPr>
        <p:txBody>
          <a:bodyPr wrap="square" lIns="0" tIns="0" rIns="0" bIns="0" rtlCol="0" anchor="ctr"/>
          <a:lstStyle/>
          <a:p>
            <a:pPr algn="l" indent="0" marL="0">
              <a:buNone/>
            </a:pPr>
            <a:r>
              <a:rPr lang="en-US" sz="950" b="1" spc="400" kern="0" dirty="0">
                <a:solidFill>
                  <a:srgbClr val="38B6FF"/>
                </a:solidFill>
                <a:latin typeface="Arial" pitchFamily="34" charset="0"/>
                <a:ea typeface="Arial" pitchFamily="34" charset="-122"/>
                <a:cs typeface="Arial" pitchFamily="34" charset="-120"/>
              </a:rPr>
              <a:t>DE STANDAARDPILOT</a:t>
            </a:r>
            <a:endParaRPr lang="en-US" sz="950" dirty="0"/>
          </a:p>
        </p:txBody>
      </p:sp>
      <p:sp>
        <p:nvSpPr>
          <p:cNvPr id="6" name="Text 4"/>
          <p:cNvSpPr txBox="1"/>
          <p:nvPr/>
        </p:nvSpPr>
        <p:spPr>
          <a:xfrm>
            <a:off x="609598" y="1511296"/>
            <a:ext cx="10972773" cy="1142997"/>
          </a:xfrm>
          <a:prstGeom prst="rect">
            <a:avLst/>
          </a:prstGeom>
          <a:noFill/>
          <a:ln/>
        </p:spPr>
        <p:txBody>
          <a:bodyPr wrap="square" lIns="0" tIns="0" rIns="0" bIns="0" rtlCol="0" anchor="t"/>
          <a:lstStyle/>
          <a:p>
            <a:pPr algn="l" indent="0" marL="0">
              <a:lnSpc>
                <a:spcPct val="108000"/>
              </a:lnSpc>
              <a:buNone/>
            </a:pPr>
            <a:r>
              <a:rPr lang="en-US" sz="3200" b="1" dirty="0">
                <a:solidFill>
                  <a:srgbClr val="F2EFE6"/>
                </a:solidFill>
                <a:latin typeface="Arial" pitchFamily="34" charset="0"/>
                <a:ea typeface="Arial" pitchFamily="34" charset="-122"/>
                <a:cs typeface="Arial" pitchFamily="34" charset="-120"/>
              </a:rPr>
              <a:t>Twaalf weken om het te </a:t>
            </a:r>
            <a:pPr algn="l" indent="0" marL="0">
              <a:lnSpc>
                <a:spcPct val="108000"/>
              </a:lnSpc>
              <a:buNone/>
            </a:pPr>
            <a:r>
              <a:rPr lang="en-US" sz="3000" i="1" dirty="0">
                <a:solidFill>
                  <a:srgbClr val="F2EFE6"/>
                </a:solidFill>
                <a:latin typeface="Georgia" pitchFamily="34" charset="0"/>
                <a:ea typeface="Georgia" pitchFamily="34" charset="-122"/>
                <a:cs typeface="Georgia" pitchFamily="34" charset="-120"/>
              </a:rPr>
              <a:t>bewijzen</a:t>
            </a:r>
            <a:pPr algn="l" indent="0" marL="0">
              <a:lnSpc>
                <a:spcPct val="108000"/>
              </a:lnSpc>
              <a:buNone/>
            </a:pPr>
            <a:r>
              <a:rPr lang="en-US" sz="3200" b="1" dirty="0">
                <a:solidFill>
                  <a:srgbClr val="F2EFE6"/>
                </a:solidFill>
                <a:latin typeface="Arial" pitchFamily="34" charset="0"/>
                <a:ea typeface="Arial" pitchFamily="34" charset="-122"/>
                <a:cs typeface="Arial" pitchFamily="34" charset="-120"/>
              </a:rPr>
              <a:t>.</a:t>
            </a:r>
            <a:endParaRPr lang="en-US" sz="3200" dirty="0"/>
          </a:p>
        </p:txBody>
      </p:sp>
      <p:sp>
        <p:nvSpPr>
          <p:cNvPr id="7" name="Shape 5"/>
          <p:cNvSpPr/>
          <p:nvPr/>
        </p:nvSpPr>
        <p:spPr>
          <a:xfrm>
            <a:off x="609598" y="2463794"/>
            <a:ext cx="2628893" cy="2362194"/>
          </a:xfrm>
          <a:prstGeom prst="roundRect">
            <a:avLst>
              <a:gd name="adj" fmla="val 4301"/>
            </a:avLst>
          </a:prstGeom>
          <a:solidFill>
            <a:srgbClr val="1B2130"/>
          </a:solidFill>
          <a:ln w="9525">
            <a:solidFill>
              <a:srgbClr val="3A4152"/>
            </a:solidFill>
            <a:prstDash val="solid"/>
          </a:ln>
        </p:spPr>
      </p:sp>
      <p:sp>
        <p:nvSpPr>
          <p:cNvPr id="8" name="Shape 6"/>
          <p:cNvSpPr/>
          <p:nvPr/>
        </p:nvSpPr>
        <p:spPr>
          <a:xfrm>
            <a:off x="825498" y="2692393"/>
            <a:ext cx="292099" cy="292099"/>
          </a:xfrm>
          <a:prstGeom prst="ellipse">
            <a:avLst/>
          </a:prstGeom>
          <a:ln w="15240">
            <a:solidFill>
              <a:srgbClr val="38B6FF"/>
            </a:solidFill>
            <a:prstDash val="solid"/>
          </a:ln>
        </p:spPr>
      </p:sp>
      <p:sp>
        <p:nvSpPr>
          <p:cNvPr id="9" name="Text 7"/>
          <p:cNvSpPr txBox="1"/>
          <p:nvPr/>
        </p:nvSpPr>
        <p:spPr>
          <a:xfrm>
            <a:off x="825498" y="2692393"/>
            <a:ext cx="292099" cy="292099"/>
          </a:xfrm>
          <a:prstGeom prst="rect">
            <a:avLst/>
          </a:prstGeom>
          <a:noFill/>
          <a:ln/>
        </p:spPr>
        <p:txBody>
          <a:bodyPr wrap="square" lIns="0" tIns="0" rIns="0" bIns="0" rtlCol="0" anchor="ctr"/>
          <a:lstStyle/>
          <a:p>
            <a:pPr algn="ctr" indent="0" marL="0">
              <a:buNone/>
            </a:pPr>
            <a:r>
              <a:rPr lang="en-US" sz="1000" b="1" dirty="0">
                <a:solidFill>
                  <a:srgbClr val="38B6FF"/>
                </a:solidFill>
                <a:latin typeface="Arial" pitchFamily="34" charset="0"/>
                <a:ea typeface="Arial" pitchFamily="34" charset="-122"/>
                <a:cs typeface="Arial" pitchFamily="34" charset="-120"/>
              </a:rPr>
              <a:t>1</a:t>
            </a:r>
            <a:endParaRPr lang="en-US" sz="1000" dirty="0"/>
          </a:p>
        </p:txBody>
      </p:sp>
      <p:sp>
        <p:nvSpPr>
          <p:cNvPr id="10" name="Text 8"/>
          <p:cNvSpPr txBox="1"/>
          <p:nvPr/>
        </p:nvSpPr>
        <p:spPr>
          <a:xfrm>
            <a:off x="825498" y="3136892"/>
            <a:ext cx="2197095" cy="406399"/>
          </a:xfrm>
          <a:prstGeom prst="rect">
            <a:avLst/>
          </a:prstGeom>
          <a:noFill/>
          <a:ln/>
        </p:spPr>
        <p:txBody>
          <a:bodyPr wrap="square" lIns="0" tIns="0" rIns="0" bIns="0" rtlCol="0" anchor="t"/>
          <a:lstStyle/>
          <a:p>
            <a:pPr indent="0" marL="0">
              <a:lnSpc>
                <a:spcPct val="115000"/>
              </a:lnSpc>
              <a:buNone/>
            </a:pPr>
            <a:r>
              <a:rPr lang="en-US" sz="1150" b="1" dirty="0">
                <a:solidFill>
                  <a:srgbClr val="F2EFE6"/>
                </a:solidFill>
                <a:latin typeface="Arial" pitchFamily="34" charset="0"/>
                <a:ea typeface="Arial" pitchFamily="34" charset="-122"/>
                <a:cs typeface="Arial" pitchFamily="34" charset="-120"/>
              </a:rPr>
              <a:t>Kick-off en belscript</a:t>
            </a:r>
            <a:endParaRPr lang="en-US" sz="1150" dirty="0"/>
          </a:p>
        </p:txBody>
      </p:sp>
      <p:sp>
        <p:nvSpPr>
          <p:cNvPr id="11" name="Text 9"/>
          <p:cNvSpPr txBox="1"/>
          <p:nvPr/>
        </p:nvSpPr>
        <p:spPr>
          <a:xfrm>
            <a:off x="825498" y="3594091"/>
            <a:ext cx="2197095" cy="1079497"/>
          </a:xfrm>
          <a:prstGeom prst="rect">
            <a:avLst/>
          </a:prstGeom>
          <a:noFill/>
          <a:ln/>
        </p:spPr>
        <p:txBody>
          <a:bodyPr wrap="square" lIns="0" tIns="0" rIns="0" bIns="0" rtlCol="0" anchor="t"/>
          <a:lstStyle/>
          <a:p>
            <a:pPr indent="0" marL="0">
              <a:lnSpc>
                <a:spcPct val="130000"/>
              </a:lnSpc>
              <a:buNone/>
            </a:pPr>
            <a:r>
              <a:rPr lang="en-US" sz="875" dirty="0">
                <a:solidFill>
                  <a:srgbClr val="C2C8D2"/>
                </a:solidFill>
                <a:latin typeface="Arial" pitchFamily="34" charset="0"/>
                <a:ea typeface="Arial" pitchFamily="34" charset="-122"/>
                <a:cs typeface="Arial" pitchFamily="34" charset="-120"/>
              </a:rPr>
              <a:t>Samen scherp wat we gaan vertellen en bij wie. Wij schrijven het belscript, jullie keuren het goed.</a:t>
            </a:r>
            <a:endParaRPr lang="en-US" sz="875" dirty="0"/>
          </a:p>
        </p:txBody>
      </p:sp>
      <p:sp>
        <p:nvSpPr>
          <p:cNvPr id="12" name="Shape 10"/>
          <p:cNvSpPr/>
          <p:nvPr/>
        </p:nvSpPr>
        <p:spPr>
          <a:xfrm>
            <a:off x="3390892" y="2463794"/>
            <a:ext cx="2628893" cy="2362194"/>
          </a:xfrm>
          <a:prstGeom prst="roundRect">
            <a:avLst>
              <a:gd name="adj" fmla="val 4301"/>
            </a:avLst>
          </a:prstGeom>
          <a:solidFill>
            <a:srgbClr val="1B2130"/>
          </a:solidFill>
          <a:ln w="9525">
            <a:solidFill>
              <a:srgbClr val="3A4152"/>
            </a:solidFill>
            <a:prstDash val="solid"/>
          </a:ln>
        </p:spPr>
      </p:sp>
      <p:sp>
        <p:nvSpPr>
          <p:cNvPr id="13" name="Shape 11"/>
          <p:cNvSpPr/>
          <p:nvPr/>
        </p:nvSpPr>
        <p:spPr>
          <a:xfrm>
            <a:off x="3606791" y="2692393"/>
            <a:ext cx="292099" cy="292099"/>
          </a:xfrm>
          <a:prstGeom prst="ellipse">
            <a:avLst/>
          </a:prstGeom>
          <a:ln w="15240">
            <a:solidFill>
              <a:srgbClr val="38B6FF"/>
            </a:solidFill>
            <a:prstDash val="solid"/>
          </a:ln>
        </p:spPr>
      </p:sp>
      <p:sp>
        <p:nvSpPr>
          <p:cNvPr id="14" name="Text 12"/>
          <p:cNvSpPr txBox="1"/>
          <p:nvPr/>
        </p:nvSpPr>
        <p:spPr>
          <a:xfrm>
            <a:off x="3606791" y="2692393"/>
            <a:ext cx="292099" cy="292099"/>
          </a:xfrm>
          <a:prstGeom prst="rect">
            <a:avLst/>
          </a:prstGeom>
          <a:noFill/>
          <a:ln/>
        </p:spPr>
        <p:txBody>
          <a:bodyPr wrap="square" lIns="0" tIns="0" rIns="0" bIns="0" rtlCol="0" anchor="ctr"/>
          <a:lstStyle/>
          <a:p>
            <a:pPr algn="ctr" indent="0" marL="0">
              <a:buNone/>
            </a:pPr>
            <a:r>
              <a:rPr lang="en-US" sz="1000" b="1" dirty="0">
                <a:solidFill>
                  <a:srgbClr val="38B6FF"/>
                </a:solidFill>
                <a:latin typeface="Arial" pitchFamily="34" charset="0"/>
                <a:ea typeface="Arial" pitchFamily="34" charset="-122"/>
                <a:cs typeface="Arial" pitchFamily="34" charset="-120"/>
              </a:rPr>
              <a:t>2</a:t>
            </a:r>
            <a:endParaRPr lang="en-US" sz="1000" dirty="0"/>
          </a:p>
        </p:txBody>
      </p:sp>
      <p:sp>
        <p:nvSpPr>
          <p:cNvPr id="15" name="Text 13"/>
          <p:cNvSpPr txBox="1"/>
          <p:nvPr/>
        </p:nvSpPr>
        <p:spPr>
          <a:xfrm>
            <a:off x="3606791" y="3136892"/>
            <a:ext cx="2197095" cy="406399"/>
          </a:xfrm>
          <a:prstGeom prst="rect">
            <a:avLst/>
          </a:prstGeom>
          <a:noFill/>
          <a:ln/>
        </p:spPr>
        <p:txBody>
          <a:bodyPr wrap="square" lIns="0" tIns="0" rIns="0" bIns="0" rtlCol="0" anchor="t"/>
          <a:lstStyle/>
          <a:p>
            <a:pPr indent="0" marL="0">
              <a:lnSpc>
                <a:spcPct val="115000"/>
              </a:lnSpc>
              <a:buNone/>
            </a:pPr>
            <a:r>
              <a:rPr lang="en-US" sz="1150" b="1" dirty="0">
                <a:solidFill>
                  <a:srgbClr val="F2EFE6"/>
                </a:solidFill>
                <a:latin typeface="Arial" pitchFamily="34" charset="0"/>
                <a:ea typeface="Arial" pitchFamily="34" charset="-122"/>
                <a:cs typeface="Arial" pitchFamily="34" charset="-120"/>
              </a:rPr>
              <a:t>Bellijst op maat</a:t>
            </a:r>
            <a:endParaRPr lang="en-US" sz="1150" dirty="0"/>
          </a:p>
        </p:txBody>
      </p:sp>
      <p:sp>
        <p:nvSpPr>
          <p:cNvPr id="16" name="Text 14"/>
          <p:cNvSpPr txBox="1"/>
          <p:nvPr/>
        </p:nvSpPr>
        <p:spPr>
          <a:xfrm>
            <a:off x="3606791" y="3594091"/>
            <a:ext cx="2197095" cy="1079497"/>
          </a:xfrm>
          <a:prstGeom prst="rect">
            <a:avLst/>
          </a:prstGeom>
          <a:noFill/>
          <a:ln/>
        </p:spPr>
        <p:txBody>
          <a:bodyPr wrap="square" lIns="0" tIns="0" rIns="0" bIns="0" rtlCol="0" anchor="t"/>
          <a:lstStyle/>
          <a:p>
            <a:pPr indent="0" marL="0">
              <a:lnSpc>
                <a:spcPct val="130000"/>
              </a:lnSpc>
              <a:buNone/>
            </a:pPr>
            <a:r>
              <a:rPr lang="en-US" sz="875" dirty="0">
                <a:solidFill>
                  <a:srgbClr val="C2C8D2"/>
                </a:solidFill>
                <a:latin typeface="Arial" pitchFamily="34" charset="0"/>
                <a:ea typeface="Arial" pitchFamily="34" charset="-122"/>
                <a:cs typeface="Arial" pitchFamily="34" charset="-120"/>
              </a:rPr>
              <a:t>Wij bouwen de bellijst op jullie ideale klant: communicatieteams, zorginstellingen en gemeenten die beeld publiceren en toestemming aantoonbaar moeten vastleggen.</a:t>
            </a:r>
            <a:endParaRPr lang="en-US" sz="875" dirty="0"/>
          </a:p>
        </p:txBody>
      </p:sp>
      <p:sp>
        <p:nvSpPr>
          <p:cNvPr id="17" name="Shape 15"/>
          <p:cNvSpPr/>
          <p:nvPr/>
        </p:nvSpPr>
        <p:spPr>
          <a:xfrm>
            <a:off x="6172185" y="2463794"/>
            <a:ext cx="2628893" cy="2362194"/>
          </a:xfrm>
          <a:prstGeom prst="roundRect">
            <a:avLst>
              <a:gd name="adj" fmla="val 4301"/>
            </a:avLst>
          </a:prstGeom>
          <a:solidFill>
            <a:srgbClr val="1B2130"/>
          </a:solidFill>
          <a:ln w="9525">
            <a:solidFill>
              <a:srgbClr val="3A4152"/>
            </a:solidFill>
            <a:prstDash val="solid"/>
          </a:ln>
        </p:spPr>
      </p:sp>
      <p:sp>
        <p:nvSpPr>
          <p:cNvPr id="18" name="Shape 16"/>
          <p:cNvSpPr/>
          <p:nvPr/>
        </p:nvSpPr>
        <p:spPr>
          <a:xfrm>
            <a:off x="6388084" y="2692393"/>
            <a:ext cx="292099" cy="292099"/>
          </a:xfrm>
          <a:prstGeom prst="ellipse">
            <a:avLst/>
          </a:prstGeom>
          <a:ln w="15240">
            <a:solidFill>
              <a:srgbClr val="38B6FF"/>
            </a:solidFill>
            <a:prstDash val="solid"/>
          </a:ln>
        </p:spPr>
      </p:sp>
      <p:sp>
        <p:nvSpPr>
          <p:cNvPr id="19" name="Text 17"/>
          <p:cNvSpPr txBox="1"/>
          <p:nvPr/>
        </p:nvSpPr>
        <p:spPr>
          <a:xfrm>
            <a:off x="6388084" y="2692393"/>
            <a:ext cx="292099" cy="292099"/>
          </a:xfrm>
          <a:prstGeom prst="rect">
            <a:avLst/>
          </a:prstGeom>
          <a:noFill/>
          <a:ln/>
        </p:spPr>
        <p:txBody>
          <a:bodyPr wrap="square" lIns="0" tIns="0" rIns="0" bIns="0" rtlCol="0" anchor="ctr"/>
          <a:lstStyle/>
          <a:p>
            <a:pPr algn="ctr" indent="0" marL="0">
              <a:buNone/>
            </a:pPr>
            <a:r>
              <a:rPr lang="en-US" sz="1000" b="1" dirty="0">
                <a:solidFill>
                  <a:srgbClr val="38B6FF"/>
                </a:solidFill>
                <a:latin typeface="Arial" pitchFamily="34" charset="0"/>
                <a:ea typeface="Arial" pitchFamily="34" charset="-122"/>
                <a:cs typeface="Arial" pitchFamily="34" charset="-120"/>
              </a:rPr>
              <a:t>3</a:t>
            </a:r>
            <a:endParaRPr lang="en-US" sz="1000" dirty="0"/>
          </a:p>
        </p:txBody>
      </p:sp>
      <p:sp>
        <p:nvSpPr>
          <p:cNvPr id="20" name="Text 18"/>
          <p:cNvSpPr txBox="1"/>
          <p:nvPr/>
        </p:nvSpPr>
        <p:spPr>
          <a:xfrm>
            <a:off x="6388084" y="3136892"/>
            <a:ext cx="2197095" cy="406399"/>
          </a:xfrm>
          <a:prstGeom prst="rect">
            <a:avLst/>
          </a:prstGeom>
          <a:noFill/>
          <a:ln/>
        </p:spPr>
        <p:txBody>
          <a:bodyPr wrap="square" lIns="0" tIns="0" rIns="0" bIns="0" rtlCol="0" anchor="t"/>
          <a:lstStyle/>
          <a:p>
            <a:pPr indent="0" marL="0">
              <a:lnSpc>
                <a:spcPct val="115000"/>
              </a:lnSpc>
              <a:buNone/>
            </a:pPr>
            <a:r>
              <a:rPr lang="en-US" sz="1150" b="1" dirty="0">
                <a:solidFill>
                  <a:srgbClr val="F2EFE6"/>
                </a:solidFill>
                <a:latin typeface="Arial" pitchFamily="34" charset="0"/>
                <a:ea typeface="Arial" pitchFamily="34" charset="-122"/>
                <a:cs typeface="Arial" pitchFamily="34" charset="-120"/>
              </a:rPr>
              <a:t>Twaalf weken bellen</a:t>
            </a:r>
            <a:endParaRPr lang="en-US" sz="1150" dirty="0"/>
          </a:p>
        </p:txBody>
      </p:sp>
      <p:sp>
        <p:nvSpPr>
          <p:cNvPr id="21" name="Text 19"/>
          <p:cNvSpPr txBox="1"/>
          <p:nvPr/>
        </p:nvSpPr>
        <p:spPr>
          <a:xfrm>
            <a:off x="6388084" y="3594091"/>
            <a:ext cx="2197095" cy="1079497"/>
          </a:xfrm>
          <a:prstGeom prst="rect">
            <a:avLst/>
          </a:prstGeom>
          <a:noFill/>
          <a:ln/>
        </p:spPr>
        <p:txBody>
          <a:bodyPr wrap="square" lIns="0" tIns="0" rIns="0" bIns="0" rtlCol="0" anchor="t"/>
          <a:lstStyle/>
          <a:p>
            <a:pPr indent="0" marL="0">
              <a:lnSpc>
                <a:spcPct val="130000"/>
              </a:lnSpc>
              <a:buNone/>
            </a:pPr>
            <a:r>
              <a:rPr lang="en-US" sz="875" dirty="0">
                <a:solidFill>
                  <a:srgbClr val="C2C8D2"/>
                </a:solidFill>
                <a:latin typeface="Arial" pitchFamily="34" charset="0"/>
                <a:ea typeface="Arial" pitchFamily="34" charset="-122"/>
                <a:cs typeface="Arial" pitchFamily="34" charset="-120"/>
              </a:rPr>
              <a:t>We bellen op de dagen en dagdelen die in onze data het beste werken voor jullie branche, met een regionaal nummer op jullie naam. Elke week een rapportage, om de week evaluatie. Gaat het makkelijker of juist moeizamer, dan zitten we eerder om tafel en schakelen we direct.</a:t>
            </a:r>
            <a:endParaRPr lang="en-US" sz="875" dirty="0"/>
          </a:p>
        </p:txBody>
      </p:sp>
      <p:sp>
        <p:nvSpPr>
          <p:cNvPr id="22" name="Shape 20"/>
          <p:cNvSpPr/>
          <p:nvPr/>
        </p:nvSpPr>
        <p:spPr>
          <a:xfrm>
            <a:off x="8953478" y="2463794"/>
            <a:ext cx="2628893" cy="2362194"/>
          </a:xfrm>
          <a:prstGeom prst="roundRect">
            <a:avLst>
              <a:gd name="adj" fmla="val 4301"/>
            </a:avLst>
          </a:prstGeom>
          <a:solidFill>
            <a:srgbClr val="1B2130"/>
          </a:solidFill>
          <a:ln w="15240">
            <a:solidFill>
              <a:srgbClr val="38B6FF"/>
            </a:solidFill>
            <a:prstDash val="solid"/>
          </a:ln>
        </p:spPr>
      </p:sp>
      <p:sp>
        <p:nvSpPr>
          <p:cNvPr id="23" name="Shape 21"/>
          <p:cNvSpPr/>
          <p:nvPr/>
        </p:nvSpPr>
        <p:spPr>
          <a:xfrm>
            <a:off x="9169377" y="2692393"/>
            <a:ext cx="292099" cy="292099"/>
          </a:xfrm>
          <a:prstGeom prst="ellipse">
            <a:avLst/>
          </a:prstGeom>
          <a:ln w="15240">
            <a:solidFill>
              <a:srgbClr val="38B6FF"/>
            </a:solidFill>
            <a:prstDash val="solid"/>
          </a:ln>
        </p:spPr>
      </p:sp>
      <p:sp>
        <p:nvSpPr>
          <p:cNvPr id="24" name="Text 22"/>
          <p:cNvSpPr txBox="1"/>
          <p:nvPr/>
        </p:nvSpPr>
        <p:spPr>
          <a:xfrm>
            <a:off x="9169377" y="2692393"/>
            <a:ext cx="292099" cy="292099"/>
          </a:xfrm>
          <a:prstGeom prst="rect">
            <a:avLst/>
          </a:prstGeom>
          <a:noFill/>
          <a:ln/>
        </p:spPr>
        <p:txBody>
          <a:bodyPr wrap="square" lIns="0" tIns="0" rIns="0" bIns="0" rtlCol="0" anchor="ctr"/>
          <a:lstStyle/>
          <a:p>
            <a:pPr algn="ctr" indent="0" marL="0">
              <a:buNone/>
            </a:pPr>
            <a:r>
              <a:rPr lang="en-US" sz="1000" b="1" dirty="0">
                <a:solidFill>
                  <a:srgbClr val="38B6FF"/>
                </a:solidFill>
                <a:latin typeface="Arial" pitchFamily="34" charset="0"/>
                <a:ea typeface="Arial" pitchFamily="34" charset="-122"/>
                <a:cs typeface="Arial" pitchFamily="34" charset="-120"/>
              </a:rPr>
              <a:t>4</a:t>
            </a:r>
            <a:endParaRPr lang="en-US" sz="1000" dirty="0"/>
          </a:p>
        </p:txBody>
      </p:sp>
      <p:sp>
        <p:nvSpPr>
          <p:cNvPr id="25" name="Text 23"/>
          <p:cNvSpPr txBox="1"/>
          <p:nvPr/>
        </p:nvSpPr>
        <p:spPr>
          <a:xfrm>
            <a:off x="9169377" y="3136892"/>
            <a:ext cx="2197095" cy="406399"/>
          </a:xfrm>
          <a:prstGeom prst="rect">
            <a:avLst/>
          </a:prstGeom>
          <a:noFill/>
          <a:ln/>
        </p:spPr>
        <p:txBody>
          <a:bodyPr wrap="square" lIns="0" tIns="0" rIns="0" bIns="0" rtlCol="0" anchor="t"/>
          <a:lstStyle/>
          <a:p>
            <a:pPr indent="0" marL="0">
              <a:lnSpc>
                <a:spcPct val="115000"/>
              </a:lnSpc>
              <a:buNone/>
            </a:pPr>
            <a:r>
              <a:rPr lang="en-US" sz="1150" b="1" dirty="0">
                <a:solidFill>
                  <a:srgbClr val="38B6FF"/>
                </a:solidFill>
                <a:latin typeface="Arial" pitchFamily="34" charset="0"/>
                <a:ea typeface="Arial" pitchFamily="34" charset="-122"/>
                <a:cs typeface="Arial" pitchFamily="34" charset="-120"/>
              </a:rPr>
              <a:t>Tien gekwalificeerde afspraken</a:t>
            </a:r>
            <a:endParaRPr lang="en-US" sz="1150" dirty="0"/>
          </a:p>
        </p:txBody>
      </p:sp>
      <p:sp>
        <p:nvSpPr>
          <p:cNvPr id="26" name="Text 24"/>
          <p:cNvSpPr txBox="1"/>
          <p:nvPr/>
        </p:nvSpPr>
        <p:spPr>
          <a:xfrm>
            <a:off x="9169377" y="3594091"/>
            <a:ext cx="2197095" cy="1079497"/>
          </a:xfrm>
          <a:prstGeom prst="rect">
            <a:avLst/>
          </a:prstGeom>
          <a:noFill/>
          <a:ln/>
        </p:spPr>
        <p:txBody>
          <a:bodyPr wrap="square" lIns="0" tIns="0" rIns="0" bIns="0" rtlCol="0" anchor="t"/>
          <a:lstStyle/>
          <a:p>
            <a:pPr indent="0" marL="0">
              <a:lnSpc>
                <a:spcPct val="130000"/>
              </a:lnSpc>
              <a:buNone/>
            </a:pPr>
            <a:r>
              <a:rPr lang="en-US" sz="875" dirty="0">
                <a:solidFill>
                  <a:srgbClr val="C2C8D2"/>
                </a:solidFill>
                <a:latin typeface="Arial" pitchFamily="34" charset="0"/>
                <a:ea typeface="Arial" pitchFamily="34" charset="-122"/>
                <a:cs typeface="Arial" pitchFamily="34" charset="-120"/>
              </a:rPr>
              <a:t>Elke afspraak voldoet aan drie eisen: het bedrijf past, de interesse is echt en de juiste persoon zit aan tafel.</a:t>
            </a:r>
            <a:endParaRPr lang="en-US" sz="875" dirty="0"/>
          </a:p>
        </p:txBody>
      </p:sp>
      <p:sp>
        <p:nvSpPr>
          <p:cNvPr id="27" name="Shape 25"/>
          <p:cNvSpPr/>
          <p:nvPr/>
        </p:nvSpPr>
        <p:spPr>
          <a:xfrm>
            <a:off x="609598" y="5079987"/>
            <a:ext cx="10972773" cy="1028697"/>
          </a:xfrm>
          <a:prstGeom prst="roundRect">
            <a:avLst>
              <a:gd name="adj" fmla="val 9877"/>
            </a:avLst>
          </a:prstGeom>
          <a:solidFill>
            <a:srgbClr val="38B6FF"/>
          </a:solidFill>
          <a:ln/>
        </p:spPr>
      </p:sp>
      <p:sp>
        <p:nvSpPr>
          <p:cNvPr id="28" name="Text 26"/>
          <p:cNvSpPr txBox="1"/>
          <p:nvPr/>
        </p:nvSpPr>
        <p:spPr>
          <a:xfrm>
            <a:off x="914398" y="5245087"/>
            <a:ext cx="1904995" cy="165100"/>
          </a:xfrm>
          <a:prstGeom prst="rect">
            <a:avLst/>
          </a:prstGeom>
          <a:noFill/>
          <a:ln/>
        </p:spPr>
        <p:txBody>
          <a:bodyPr wrap="square" lIns="0" tIns="0" rIns="0" bIns="0" rtlCol="0" anchor="ctr"/>
          <a:lstStyle/>
          <a:p>
            <a:pPr indent="0" marL="0">
              <a:buNone/>
            </a:pPr>
            <a:r>
              <a:rPr lang="en-US" sz="800" b="1" spc="200" kern="0" dirty="0">
                <a:solidFill>
                  <a:srgbClr val="0D1420"/>
                </a:solidFill>
                <a:latin typeface="Arial" pitchFamily="34" charset="0"/>
                <a:ea typeface="Arial" pitchFamily="34" charset="-122"/>
                <a:cs typeface="Arial" pitchFamily="34" charset="-120"/>
              </a:rPr>
              <a:t>PILOT</a:t>
            </a:r>
            <a:endParaRPr lang="en-US" sz="800" dirty="0"/>
          </a:p>
        </p:txBody>
      </p:sp>
      <p:sp>
        <p:nvSpPr>
          <p:cNvPr id="29" name="Text 27"/>
          <p:cNvSpPr txBox="1"/>
          <p:nvPr/>
        </p:nvSpPr>
        <p:spPr>
          <a:xfrm>
            <a:off x="914398" y="5410186"/>
            <a:ext cx="1904995" cy="406399"/>
          </a:xfrm>
          <a:prstGeom prst="rect">
            <a:avLst/>
          </a:prstGeom>
          <a:noFill/>
          <a:ln/>
        </p:spPr>
        <p:txBody>
          <a:bodyPr wrap="square" lIns="0" tIns="0" rIns="0" bIns="0" rtlCol="0" anchor="ctr"/>
          <a:lstStyle/>
          <a:p>
            <a:pPr indent="0" marL="0">
              <a:buNone/>
            </a:pPr>
            <a:r>
              <a:rPr lang="en-US" sz="2900" b="1" dirty="0">
                <a:solidFill>
                  <a:srgbClr val="0D1420"/>
                </a:solidFill>
                <a:latin typeface="Arial" pitchFamily="34" charset="0"/>
                <a:ea typeface="Arial" pitchFamily="34" charset="-122"/>
                <a:cs typeface="Arial" pitchFamily="34" charset="-120"/>
              </a:rPr>
              <a:t>€ 4.950</a:t>
            </a:r>
            <a:endParaRPr lang="en-US" sz="2900" dirty="0"/>
          </a:p>
        </p:txBody>
      </p:sp>
      <p:sp>
        <p:nvSpPr>
          <p:cNvPr id="30" name="Text 28"/>
          <p:cNvSpPr txBox="1"/>
          <p:nvPr/>
        </p:nvSpPr>
        <p:spPr>
          <a:xfrm>
            <a:off x="914398" y="5829285"/>
            <a:ext cx="2031995" cy="165100"/>
          </a:xfrm>
          <a:prstGeom prst="rect">
            <a:avLst/>
          </a:prstGeom>
          <a:noFill/>
          <a:ln/>
        </p:spPr>
        <p:txBody>
          <a:bodyPr wrap="square" lIns="0" tIns="0" rIns="0" bIns="0" rtlCol="0" anchor="ctr"/>
          <a:lstStyle/>
          <a:p>
            <a:pPr indent="0" marL="0">
              <a:buNone/>
            </a:pPr>
            <a:r>
              <a:rPr lang="en-US" sz="800" b="1" dirty="0">
                <a:solidFill>
                  <a:srgbClr val="0D1420"/>
                </a:solidFill>
                <a:latin typeface="Arial" pitchFamily="34" charset="0"/>
                <a:ea typeface="Arial" pitchFamily="34" charset="-122"/>
                <a:cs typeface="Arial" pitchFamily="34" charset="-120"/>
              </a:rPr>
              <a:t>excl. btw, alles inbegrepen</a:t>
            </a:r>
            <a:endParaRPr lang="en-US" sz="800" dirty="0"/>
          </a:p>
        </p:txBody>
      </p:sp>
      <p:sp>
        <p:nvSpPr>
          <p:cNvPr id="31" name="Shape 29"/>
          <p:cNvSpPr/>
          <p:nvPr/>
        </p:nvSpPr>
        <p:spPr>
          <a:xfrm>
            <a:off x="3174992" y="5257787"/>
            <a:ext cx="0" cy="673098"/>
          </a:xfrm>
          <a:prstGeom prst="line">
            <a:avLst/>
          </a:prstGeom>
          <a:noFill/>
          <a:ln w="9525">
            <a:solidFill>
              <a:srgbClr val="0D1420">
                <a:alpha val="40000"/>
              </a:srgbClr>
            </a:solidFill>
            <a:prstDash val="solid"/>
          </a:ln>
        </p:spPr>
      </p:sp>
      <p:pic>
        <p:nvPicPr>
          <p:cNvPr id="32" name="Image 0" descr="preencoded.png">    </p:cNvPr>
          <p:cNvPicPr>
            <a:picLocks noChangeAspect="1"/>
          </p:cNvPicPr>
          <p:nvPr/>
        </p:nvPicPr>
        <p:blipFill>
          <a:blip r:embed="rId1"/>
          <a:stretch>
            <a:fillRect/>
          </a:stretch>
        </p:blipFill>
        <p:spPr>
          <a:xfrm>
            <a:off x="3530591" y="5276837"/>
            <a:ext cx="127000" cy="127000"/>
          </a:xfrm>
          <a:prstGeom prst="rect">
            <a:avLst/>
          </a:prstGeom>
        </p:spPr>
      </p:pic>
      <p:sp>
        <p:nvSpPr>
          <p:cNvPr id="33" name="Text 30"/>
          <p:cNvSpPr txBox="1"/>
          <p:nvPr/>
        </p:nvSpPr>
        <p:spPr>
          <a:xfrm>
            <a:off x="3733791" y="5245087"/>
            <a:ext cx="3555991" cy="215899"/>
          </a:xfrm>
          <a:prstGeom prst="rect">
            <a:avLst/>
          </a:prstGeom>
          <a:noFill/>
          <a:ln/>
        </p:spPr>
        <p:txBody>
          <a:bodyPr wrap="square" lIns="0" tIns="0" rIns="0" bIns="0" rtlCol="0" anchor="ctr"/>
          <a:lstStyle/>
          <a:p>
            <a:pPr indent="0" marL="0">
              <a:buNone/>
            </a:pPr>
            <a:r>
              <a:rPr lang="en-US" sz="900" b="1" dirty="0">
                <a:solidFill>
                  <a:srgbClr val="0D1420"/>
                </a:solidFill>
                <a:latin typeface="Arial" pitchFamily="34" charset="0"/>
                <a:ea typeface="Arial" pitchFamily="34" charset="-122"/>
                <a:cs typeface="Arial" pitchFamily="34" charset="-120"/>
              </a:rPr>
              <a:t>Kick-off en belscript</a:t>
            </a:r>
            <a:endParaRPr lang="en-US" sz="900" dirty="0"/>
          </a:p>
        </p:txBody>
      </p:sp>
      <p:pic>
        <p:nvPicPr>
          <p:cNvPr id="34" name="Image 1" descr="preencoded.png">    </p:cNvPr>
          <p:cNvPicPr>
            <a:picLocks noChangeAspect="1"/>
          </p:cNvPicPr>
          <p:nvPr/>
        </p:nvPicPr>
        <p:blipFill>
          <a:blip r:embed="rId2"/>
          <a:stretch>
            <a:fillRect/>
          </a:stretch>
        </p:blipFill>
        <p:spPr>
          <a:xfrm>
            <a:off x="7340582" y="5276837"/>
            <a:ext cx="127000" cy="127000"/>
          </a:xfrm>
          <a:prstGeom prst="rect">
            <a:avLst/>
          </a:prstGeom>
        </p:spPr>
      </p:pic>
      <p:sp>
        <p:nvSpPr>
          <p:cNvPr id="35" name="Text 31"/>
          <p:cNvSpPr txBox="1"/>
          <p:nvPr/>
        </p:nvSpPr>
        <p:spPr>
          <a:xfrm>
            <a:off x="7543781" y="5245087"/>
            <a:ext cx="3555991" cy="215899"/>
          </a:xfrm>
          <a:prstGeom prst="rect">
            <a:avLst/>
          </a:prstGeom>
          <a:noFill/>
          <a:ln/>
        </p:spPr>
        <p:txBody>
          <a:bodyPr wrap="square" lIns="0" tIns="0" rIns="0" bIns="0" rtlCol="0" anchor="ctr"/>
          <a:lstStyle/>
          <a:p>
            <a:pPr indent="0" marL="0">
              <a:buNone/>
            </a:pPr>
            <a:r>
              <a:rPr lang="en-US" sz="900" b="1" dirty="0">
                <a:solidFill>
                  <a:srgbClr val="0D1420"/>
                </a:solidFill>
                <a:latin typeface="Arial" pitchFamily="34" charset="0"/>
                <a:ea typeface="Arial" pitchFamily="34" charset="-122"/>
                <a:cs typeface="Arial" pitchFamily="34" charset="-120"/>
              </a:rPr>
              <a:t>Bellijst met communicatie, zorg en overheid</a:t>
            </a:r>
            <a:endParaRPr lang="en-US" sz="900" dirty="0"/>
          </a:p>
        </p:txBody>
      </p:sp>
      <p:pic>
        <p:nvPicPr>
          <p:cNvPr id="36" name="Image 2" descr="preencoded.png">    </p:cNvPr>
          <p:cNvPicPr>
            <a:picLocks noChangeAspect="1"/>
          </p:cNvPicPr>
          <p:nvPr/>
        </p:nvPicPr>
        <p:blipFill>
          <a:blip r:embed="rId3"/>
          <a:stretch>
            <a:fillRect/>
          </a:stretch>
        </p:blipFill>
        <p:spPr>
          <a:xfrm>
            <a:off x="3530591" y="5530836"/>
            <a:ext cx="127000" cy="127000"/>
          </a:xfrm>
          <a:prstGeom prst="rect">
            <a:avLst/>
          </a:prstGeom>
        </p:spPr>
      </p:pic>
      <p:sp>
        <p:nvSpPr>
          <p:cNvPr id="37" name="Text 32"/>
          <p:cNvSpPr txBox="1"/>
          <p:nvPr/>
        </p:nvSpPr>
        <p:spPr>
          <a:xfrm>
            <a:off x="3733791" y="5499086"/>
            <a:ext cx="3555991" cy="215899"/>
          </a:xfrm>
          <a:prstGeom prst="rect">
            <a:avLst/>
          </a:prstGeom>
          <a:noFill/>
          <a:ln/>
        </p:spPr>
        <p:txBody>
          <a:bodyPr wrap="square" lIns="0" tIns="0" rIns="0" bIns="0" rtlCol="0" anchor="ctr"/>
          <a:lstStyle/>
          <a:p>
            <a:pPr indent="0" marL="0">
              <a:buNone/>
            </a:pPr>
            <a:r>
              <a:rPr lang="en-US" sz="900" b="1" dirty="0">
                <a:solidFill>
                  <a:srgbClr val="0D1420"/>
                </a:solidFill>
                <a:latin typeface="Arial" pitchFamily="34" charset="0"/>
                <a:ea typeface="Arial" pitchFamily="34" charset="-122"/>
                <a:cs typeface="Arial" pitchFamily="34" charset="-120"/>
              </a:rPr>
              <a:t>Volledige inrichting van belsysteem en nummer</a:t>
            </a:r>
            <a:endParaRPr lang="en-US" sz="900" dirty="0"/>
          </a:p>
        </p:txBody>
      </p:sp>
      <p:pic>
        <p:nvPicPr>
          <p:cNvPr id="38" name="Image 3" descr="preencoded.png">    </p:cNvPr>
          <p:cNvPicPr>
            <a:picLocks noChangeAspect="1"/>
          </p:cNvPicPr>
          <p:nvPr/>
        </p:nvPicPr>
        <p:blipFill>
          <a:blip r:embed="rId4"/>
          <a:stretch>
            <a:fillRect/>
          </a:stretch>
        </p:blipFill>
        <p:spPr>
          <a:xfrm>
            <a:off x="7340582" y="5530836"/>
            <a:ext cx="127000" cy="127000"/>
          </a:xfrm>
          <a:prstGeom prst="rect">
            <a:avLst/>
          </a:prstGeom>
        </p:spPr>
      </p:pic>
      <p:sp>
        <p:nvSpPr>
          <p:cNvPr id="39" name="Text 33"/>
          <p:cNvSpPr txBox="1"/>
          <p:nvPr/>
        </p:nvSpPr>
        <p:spPr>
          <a:xfrm>
            <a:off x="7543781" y="5499086"/>
            <a:ext cx="3555991" cy="215899"/>
          </a:xfrm>
          <a:prstGeom prst="rect">
            <a:avLst/>
          </a:prstGeom>
          <a:noFill/>
          <a:ln/>
        </p:spPr>
        <p:txBody>
          <a:bodyPr wrap="square" lIns="0" tIns="0" rIns="0" bIns="0" rtlCol="0" anchor="ctr"/>
          <a:lstStyle/>
          <a:p>
            <a:pPr indent="0" marL="0">
              <a:buNone/>
            </a:pPr>
            <a:r>
              <a:rPr lang="en-US" sz="900" b="1" dirty="0">
                <a:solidFill>
                  <a:srgbClr val="0D1420"/>
                </a:solidFill>
                <a:latin typeface="Arial" pitchFamily="34" charset="0"/>
                <a:ea typeface="Arial" pitchFamily="34" charset="-122"/>
                <a:cs typeface="Arial" pitchFamily="34" charset="-120"/>
              </a:rPr>
              <a:t>Twaalf weken bellen op de beste momenten</a:t>
            </a:r>
            <a:endParaRPr lang="en-US" sz="900" dirty="0"/>
          </a:p>
        </p:txBody>
      </p:sp>
      <p:pic>
        <p:nvPicPr>
          <p:cNvPr id="40" name="Image 4" descr="preencoded.png">    </p:cNvPr>
          <p:cNvPicPr>
            <a:picLocks noChangeAspect="1"/>
          </p:cNvPicPr>
          <p:nvPr/>
        </p:nvPicPr>
        <p:blipFill>
          <a:blip r:embed="rId5"/>
          <a:stretch>
            <a:fillRect/>
          </a:stretch>
        </p:blipFill>
        <p:spPr>
          <a:xfrm>
            <a:off x="3530591" y="5784836"/>
            <a:ext cx="127000" cy="127000"/>
          </a:xfrm>
          <a:prstGeom prst="rect">
            <a:avLst/>
          </a:prstGeom>
        </p:spPr>
      </p:pic>
      <p:sp>
        <p:nvSpPr>
          <p:cNvPr id="41" name="Text 34"/>
          <p:cNvSpPr txBox="1"/>
          <p:nvPr/>
        </p:nvSpPr>
        <p:spPr>
          <a:xfrm>
            <a:off x="3733791" y="5753086"/>
            <a:ext cx="3555991" cy="215899"/>
          </a:xfrm>
          <a:prstGeom prst="rect">
            <a:avLst/>
          </a:prstGeom>
          <a:noFill/>
          <a:ln/>
        </p:spPr>
        <p:txBody>
          <a:bodyPr wrap="square" lIns="0" tIns="0" rIns="0" bIns="0" rtlCol="0" anchor="ctr"/>
          <a:lstStyle/>
          <a:p>
            <a:pPr indent="0" marL="0">
              <a:buNone/>
            </a:pPr>
            <a:r>
              <a:rPr lang="en-US" sz="900" b="1" dirty="0">
                <a:solidFill>
                  <a:srgbClr val="0D1420"/>
                </a:solidFill>
                <a:latin typeface="Arial" pitchFamily="34" charset="0"/>
                <a:ea typeface="Arial" pitchFamily="34" charset="-122"/>
                <a:cs typeface="Arial" pitchFamily="34" charset="-120"/>
              </a:rPr>
              <a:t>Rapportage elke week, evaluatie om de week</a:t>
            </a:r>
            <a:endParaRPr lang="en-US" sz="900" dirty="0"/>
          </a:p>
        </p:txBody>
      </p:sp>
      <p:pic>
        <p:nvPicPr>
          <p:cNvPr id="42" name="Image 5" descr="preencoded.png">    </p:cNvPr>
          <p:cNvPicPr>
            <a:picLocks noChangeAspect="1"/>
          </p:cNvPicPr>
          <p:nvPr/>
        </p:nvPicPr>
        <p:blipFill>
          <a:blip r:embed="rId6"/>
          <a:stretch>
            <a:fillRect/>
          </a:stretch>
        </p:blipFill>
        <p:spPr>
          <a:xfrm>
            <a:off x="7340582" y="5784836"/>
            <a:ext cx="127000" cy="127000"/>
          </a:xfrm>
          <a:prstGeom prst="rect">
            <a:avLst/>
          </a:prstGeom>
        </p:spPr>
      </p:pic>
      <p:sp>
        <p:nvSpPr>
          <p:cNvPr id="43" name="Text 35"/>
          <p:cNvSpPr txBox="1"/>
          <p:nvPr/>
        </p:nvSpPr>
        <p:spPr>
          <a:xfrm>
            <a:off x="7543781" y="5753086"/>
            <a:ext cx="3555991" cy="215899"/>
          </a:xfrm>
          <a:prstGeom prst="rect">
            <a:avLst/>
          </a:prstGeom>
          <a:noFill/>
          <a:ln/>
        </p:spPr>
        <p:txBody>
          <a:bodyPr wrap="square" lIns="0" tIns="0" rIns="0" bIns="0" rtlCol="0" anchor="ctr"/>
          <a:lstStyle/>
          <a:p>
            <a:pPr indent="0" marL="0">
              <a:buNone/>
            </a:pPr>
            <a:r>
              <a:rPr lang="en-US" sz="900" b="1" dirty="0">
                <a:solidFill>
                  <a:srgbClr val="0D1420"/>
                </a:solidFill>
                <a:latin typeface="Arial" pitchFamily="34" charset="0"/>
                <a:ea typeface="Arial" pitchFamily="34" charset="-122"/>
                <a:cs typeface="Arial" pitchFamily="34" charset="-120"/>
              </a:rPr>
              <a:t>Tien gekwalificeerde afspraken</a:t>
            </a:r>
            <a:endParaRPr lang="en-US" sz="90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141821"/>
        </a:solidFill>
      </p:bgPr>
    </p:bg>
    <p:spTree>
      <p:nvGrpSpPr>
        <p:cNvPr id="1" name=""/>
        <p:cNvGrpSpPr/>
        <p:nvPr/>
      </p:nvGrpSpPr>
      <p:grpSpPr>
        <a:xfrm>
          <a:off x="0" y="0"/>
          <a:ext cx="0" cy="0"/>
          <a:chOff x="0" y="0"/>
          <a:chExt cx="0" cy="0"/>
        </a:xfrm>
      </p:grpSpPr>
      <p:sp>
        <p:nvSpPr>
          <p:cNvPr id="2" name="Text 0"/>
          <p:cNvSpPr txBox="1"/>
          <p:nvPr/>
        </p:nvSpPr>
        <p:spPr>
          <a:xfrm>
            <a:off x="596899" y="368299"/>
            <a:ext cx="1904995" cy="330199"/>
          </a:xfrm>
          <a:prstGeom prst="rect">
            <a:avLst/>
          </a:prstGeom>
          <a:noFill/>
          <a:ln/>
        </p:spPr>
        <p:txBody>
          <a:bodyPr wrap="square" lIns="0" tIns="0" rIns="0" bIns="0" rtlCol="0" anchor="ctr"/>
          <a:lstStyle/>
          <a:p>
            <a:pPr algn="l" indent="0" marL="0">
              <a:buNone/>
            </a:pPr>
            <a:r>
              <a:rPr lang="en-US" sz="1800" b="1" dirty="0">
                <a:solidFill>
                  <a:srgbClr val="F2EFE6"/>
                </a:solidFill>
                <a:latin typeface="Arial" pitchFamily="34" charset="0"/>
                <a:ea typeface="Arial" pitchFamily="34" charset="-122"/>
                <a:cs typeface="Arial" pitchFamily="34" charset="-120"/>
              </a:rPr>
              <a:t>LINK</a:t>
            </a:r>
            <a:pPr algn="l" indent="0" marL="0">
              <a:buNone/>
            </a:pPr>
            <a:r>
              <a:rPr lang="en-US" sz="1800" b="1" dirty="0">
                <a:solidFill>
                  <a:srgbClr val="38B6FF"/>
                </a:solidFill>
                <a:latin typeface="Arial" pitchFamily="34" charset="0"/>
                <a:ea typeface="Arial" pitchFamily="34" charset="-122"/>
                <a:cs typeface="Arial" pitchFamily="34" charset="-120"/>
              </a:rPr>
              <a:t>.</a:t>
            </a:r>
            <a:endParaRPr lang="en-US" sz="1800" dirty="0"/>
          </a:p>
        </p:txBody>
      </p:sp>
      <p:sp>
        <p:nvSpPr>
          <p:cNvPr id="3" name="Text 1"/>
          <p:cNvSpPr txBox="1"/>
          <p:nvPr/>
        </p:nvSpPr>
        <p:spPr>
          <a:xfrm>
            <a:off x="609598" y="6381734"/>
            <a:ext cx="5714986" cy="228599"/>
          </a:xfrm>
          <a:prstGeom prst="rect">
            <a:avLst/>
          </a:prstGeom>
          <a:noFill/>
          <a:ln/>
        </p:spPr>
        <p:txBody>
          <a:bodyPr wrap="square" lIns="0" tIns="0" rIns="0" bIns="0" rtlCol="0" anchor="ctr"/>
          <a:lstStyle/>
          <a:p>
            <a:pPr algn="l" indent="0" marL="0">
              <a:buNone/>
            </a:pPr>
            <a:r>
              <a:rPr lang="en-US" sz="750" b="1" spc="100" kern="0" dirty="0">
                <a:solidFill>
                  <a:srgbClr val="BDC3CE"/>
                </a:solidFill>
                <a:latin typeface="Arial" pitchFamily="34" charset="0"/>
                <a:ea typeface="Arial" pitchFamily="34" charset="-122"/>
                <a:cs typeface="Arial" pitchFamily="34" charset="-120"/>
              </a:rPr>
              <a:t>LINK. · Kennismaking Portrelo</a:t>
            </a:r>
            <a:endParaRPr lang="en-US" sz="750" dirty="0"/>
          </a:p>
        </p:txBody>
      </p:sp>
      <p:sp>
        <p:nvSpPr>
          <p:cNvPr id="4" name="Text 2"/>
          <p:cNvSpPr txBox="1"/>
          <p:nvPr/>
        </p:nvSpPr>
        <p:spPr>
          <a:xfrm>
            <a:off x="9677376" y="6381734"/>
            <a:ext cx="1904995" cy="228599"/>
          </a:xfrm>
          <a:prstGeom prst="rect">
            <a:avLst/>
          </a:prstGeom>
          <a:noFill/>
          <a:ln/>
        </p:spPr>
        <p:txBody>
          <a:bodyPr wrap="square" lIns="0" tIns="0" rIns="0" bIns="0" rtlCol="0" anchor="ctr"/>
          <a:lstStyle/>
          <a:p>
            <a:pPr algn="r" indent="0" marL="0">
              <a:buNone/>
            </a:pPr>
            <a:r>
              <a:rPr lang="en-US" sz="750" b="1" spc="100" kern="0" dirty="0">
                <a:solidFill>
                  <a:srgbClr val="BDC3CE"/>
                </a:solidFill>
                <a:latin typeface="Arial" pitchFamily="34" charset="0"/>
                <a:ea typeface="Arial" pitchFamily="34" charset="-122"/>
                <a:cs typeface="Arial" pitchFamily="34" charset="-120"/>
              </a:rPr>
              <a:t>7 / 10</a:t>
            </a:r>
            <a:endParaRPr lang="en-US" sz="750" dirty="0"/>
          </a:p>
        </p:txBody>
      </p:sp>
      <p:sp>
        <p:nvSpPr>
          <p:cNvPr id="5" name="Text 3"/>
          <p:cNvSpPr txBox="1"/>
          <p:nvPr/>
        </p:nvSpPr>
        <p:spPr>
          <a:xfrm>
            <a:off x="609598" y="1206497"/>
            <a:ext cx="10159975" cy="215899"/>
          </a:xfrm>
          <a:prstGeom prst="rect">
            <a:avLst/>
          </a:prstGeom>
          <a:noFill/>
          <a:ln/>
        </p:spPr>
        <p:txBody>
          <a:bodyPr wrap="square" lIns="0" tIns="0" rIns="0" bIns="0" rtlCol="0" anchor="ctr"/>
          <a:lstStyle/>
          <a:p>
            <a:pPr algn="l" indent="0" marL="0">
              <a:buNone/>
            </a:pPr>
            <a:r>
              <a:rPr lang="en-US" sz="950" b="1" spc="400" kern="0" dirty="0">
                <a:solidFill>
                  <a:srgbClr val="38B6FF"/>
                </a:solidFill>
                <a:latin typeface="Arial" pitchFamily="34" charset="0"/>
                <a:ea typeface="Arial" pitchFamily="34" charset="-122"/>
                <a:cs typeface="Arial" pitchFamily="34" charset="-120"/>
              </a:rPr>
              <a:t>HOE WE VERDER GAAN</a:t>
            </a:r>
            <a:endParaRPr lang="en-US" sz="950" dirty="0"/>
          </a:p>
        </p:txBody>
      </p:sp>
      <p:sp>
        <p:nvSpPr>
          <p:cNvPr id="6" name="Text 4"/>
          <p:cNvSpPr txBox="1"/>
          <p:nvPr/>
        </p:nvSpPr>
        <p:spPr>
          <a:xfrm>
            <a:off x="609598" y="1511296"/>
            <a:ext cx="10972773" cy="1142997"/>
          </a:xfrm>
          <a:prstGeom prst="rect">
            <a:avLst/>
          </a:prstGeom>
          <a:noFill/>
          <a:ln/>
        </p:spPr>
        <p:txBody>
          <a:bodyPr wrap="square" lIns="0" tIns="0" rIns="0" bIns="0" rtlCol="0" anchor="t"/>
          <a:lstStyle/>
          <a:p>
            <a:pPr algn="l" indent="0" marL="0">
              <a:lnSpc>
                <a:spcPct val="108000"/>
              </a:lnSpc>
              <a:buNone/>
            </a:pPr>
            <a:r>
              <a:rPr lang="en-US" sz="3200" b="1" dirty="0">
                <a:solidFill>
                  <a:srgbClr val="F2EFE6"/>
                </a:solidFill>
                <a:latin typeface="Arial" pitchFamily="34" charset="0"/>
                <a:ea typeface="Arial" pitchFamily="34" charset="-122"/>
                <a:cs typeface="Arial" pitchFamily="34" charset="-120"/>
              </a:rPr>
              <a:t>Je koopt geen uren. Je </a:t>
            </a:r>
            <a:pPr algn="l" indent="0" marL="0">
              <a:lnSpc>
                <a:spcPct val="108000"/>
              </a:lnSpc>
              <a:buNone/>
            </a:pPr>
            <a:r>
              <a:rPr lang="en-US" sz="3000" i="1" dirty="0">
                <a:solidFill>
                  <a:srgbClr val="F2EFE6"/>
                </a:solidFill>
                <a:latin typeface="Georgia" pitchFamily="34" charset="0"/>
                <a:ea typeface="Georgia" pitchFamily="34" charset="-122"/>
                <a:cs typeface="Georgia" pitchFamily="34" charset="-120"/>
              </a:rPr>
              <a:t>investeert</a:t>
            </a:r>
            <a:pPr algn="l" indent="0" marL="0">
              <a:lnSpc>
                <a:spcPct val="108000"/>
              </a:lnSpc>
              <a:buNone/>
            </a:pPr>
            <a:r>
              <a:rPr lang="en-US" sz="3200" b="1" dirty="0">
                <a:solidFill>
                  <a:srgbClr val="F2EFE6"/>
                </a:solidFill>
                <a:latin typeface="Arial" pitchFamily="34" charset="0"/>
                <a:ea typeface="Arial" pitchFamily="34" charset="-122"/>
                <a:cs typeface="Arial" pitchFamily="34" charset="-120"/>
              </a:rPr>
              <a:t> in afspraken in de agenda.</a:t>
            </a:r>
            <a:endParaRPr lang="en-US" sz="3200" dirty="0"/>
          </a:p>
        </p:txBody>
      </p:sp>
      <p:sp>
        <p:nvSpPr>
          <p:cNvPr id="7" name="Shape 5"/>
          <p:cNvSpPr/>
          <p:nvPr/>
        </p:nvSpPr>
        <p:spPr>
          <a:xfrm>
            <a:off x="609598" y="2793993"/>
            <a:ext cx="2628893" cy="2285994"/>
          </a:xfrm>
          <a:prstGeom prst="roundRect">
            <a:avLst>
              <a:gd name="adj" fmla="val 4444"/>
            </a:avLst>
          </a:prstGeom>
          <a:solidFill>
            <a:srgbClr val="1B2130"/>
          </a:solidFill>
          <a:ln w="9525">
            <a:solidFill>
              <a:srgbClr val="3A4152"/>
            </a:solidFill>
            <a:prstDash val="solid"/>
          </a:ln>
        </p:spPr>
      </p:sp>
      <p:sp>
        <p:nvSpPr>
          <p:cNvPr id="8" name="Shape 6"/>
          <p:cNvSpPr/>
          <p:nvPr/>
        </p:nvSpPr>
        <p:spPr>
          <a:xfrm>
            <a:off x="825498" y="3022592"/>
            <a:ext cx="292099" cy="292099"/>
          </a:xfrm>
          <a:prstGeom prst="ellipse">
            <a:avLst/>
          </a:prstGeom>
          <a:ln w="15240">
            <a:solidFill>
              <a:srgbClr val="38B6FF"/>
            </a:solidFill>
            <a:prstDash val="solid"/>
          </a:ln>
        </p:spPr>
      </p:sp>
      <p:sp>
        <p:nvSpPr>
          <p:cNvPr id="9" name="Text 7"/>
          <p:cNvSpPr txBox="1"/>
          <p:nvPr/>
        </p:nvSpPr>
        <p:spPr>
          <a:xfrm>
            <a:off x="825498" y="3022592"/>
            <a:ext cx="292099" cy="292099"/>
          </a:xfrm>
          <a:prstGeom prst="rect">
            <a:avLst/>
          </a:prstGeom>
          <a:noFill/>
          <a:ln/>
        </p:spPr>
        <p:txBody>
          <a:bodyPr wrap="square" lIns="0" tIns="0" rIns="0" bIns="0" rtlCol="0" anchor="ctr"/>
          <a:lstStyle/>
          <a:p>
            <a:pPr algn="ctr" indent="0" marL="0">
              <a:buNone/>
            </a:pPr>
            <a:r>
              <a:rPr lang="en-US" sz="1000" b="1" dirty="0">
                <a:solidFill>
                  <a:srgbClr val="38B6FF"/>
                </a:solidFill>
                <a:latin typeface="Arial" pitchFamily="34" charset="0"/>
                <a:ea typeface="Arial" pitchFamily="34" charset="-122"/>
                <a:cs typeface="Arial" pitchFamily="34" charset="-120"/>
              </a:rPr>
              <a:t>1</a:t>
            </a:r>
            <a:endParaRPr lang="en-US" sz="1000" dirty="0"/>
          </a:p>
        </p:txBody>
      </p:sp>
      <p:sp>
        <p:nvSpPr>
          <p:cNvPr id="10" name="Text 8"/>
          <p:cNvSpPr txBox="1"/>
          <p:nvPr/>
        </p:nvSpPr>
        <p:spPr>
          <a:xfrm>
            <a:off x="825498" y="3467091"/>
            <a:ext cx="2197095" cy="406399"/>
          </a:xfrm>
          <a:prstGeom prst="rect">
            <a:avLst/>
          </a:prstGeom>
          <a:noFill/>
          <a:ln/>
        </p:spPr>
        <p:txBody>
          <a:bodyPr wrap="square" lIns="0" tIns="0" rIns="0" bIns="0" rtlCol="0" anchor="t"/>
          <a:lstStyle/>
          <a:p>
            <a:pPr indent="0" marL="0">
              <a:lnSpc>
                <a:spcPct val="115000"/>
              </a:lnSpc>
              <a:buNone/>
            </a:pPr>
            <a:r>
              <a:rPr lang="en-US" sz="1150" b="1" dirty="0">
                <a:solidFill>
                  <a:srgbClr val="F2EFE6"/>
                </a:solidFill>
                <a:latin typeface="Arial" pitchFamily="34" charset="0"/>
                <a:ea typeface="Arial" pitchFamily="34" charset="-122"/>
                <a:cs typeface="Arial" pitchFamily="34" charset="-120"/>
              </a:rPr>
              <a:t>Wat we dan weten</a:t>
            </a:r>
            <a:endParaRPr lang="en-US" sz="1150" dirty="0"/>
          </a:p>
        </p:txBody>
      </p:sp>
      <p:sp>
        <p:nvSpPr>
          <p:cNvPr id="11" name="Text 9"/>
          <p:cNvSpPr txBox="1"/>
          <p:nvPr/>
        </p:nvSpPr>
        <p:spPr>
          <a:xfrm>
            <a:off x="825498" y="3924290"/>
            <a:ext cx="2197095" cy="1079497"/>
          </a:xfrm>
          <a:prstGeom prst="rect">
            <a:avLst/>
          </a:prstGeom>
          <a:noFill/>
          <a:ln/>
        </p:spPr>
        <p:txBody>
          <a:bodyPr wrap="square" lIns="0" tIns="0" rIns="0" bIns="0" rtlCol="0" anchor="t"/>
          <a:lstStyle/>
          <a:p>
            <a:pPr indent="0" marL="0">
              <a:lnSpc>
                <a:spcPct val="130000"/>
              </a:lnSpc>
              <a:buNone/>
            </a:pPr>
            <a:r>
              <a:rPr lang="en-US" sz="875" dirty="0">
                <a:solidFill>
                  <a:srgbClr val="C2C8D2"/>
                </a:solidFill>
                <a:latin typeface="Arial" pitchFamily="34" charset="0"/>
                <a:ea typeface="Arial" pitchFamily="34" charset="-122"/>
                <a:cs typeface="Arial" pitchFamily="34" charset="-120"/>
              </a:rPr>
              <a:t>Uit de pilot blijkt hoeveel tijd er in één gekwalificeerde afspraak zit en hoeveel afspraken er nodig zijn voor één nieuwe klant. Niet geschat, gewoon geteld.</a:t>
            </a:r>
            <a:endParaRPr lang="en-US" sz="875" dirty="0"/>
          </a:p>
        </p:txBody>
      </p:sp>
      <p:sp>
        <p:nvSpPr>
          <p:cNvPr id="12" name="Shape 10"/>
          <p:cNvSpPr/>
          <p:nvPr/>
        </p:nvSpPr>
        <p:spPr>
          <a:xfrm>
            <a:off x="3390892" y="2793993"/>
            <a:ext cx="2628893" cy="2285994"/>
          </a:xfrm>
          <a:prstGeom prst="roundRect">
            <a:avLst>
              <a:gd name="adj" fmla="val 4444"/>
            </a:avLst>
          </a:prstGeom>
          <a:solidFill>
            <a:srgbClr val="1B2130"/>
          </a:solidFill>
          <a:ln w="9525">
            <a:solidFill>
              <a:srgbClr val="3A4152"/>
            </a:solidFill>
            <a:prstDash val="solid"/>
          </a:ln>
        </p:spPr>
      </p:sp>
      <p:sp>
        <p:nvSpPr>
          <p:cNvPr id="13" name="Shape 11"/>
          <p:cNvSpPr/>
          <p:nvPr/>
        </p:nvSpPr>
        <p:spPr>
          <a:xfrm>
            <a:off x="3606791" y="3022592"/>
            <a:ext cx="292099" cy="292099"/>
          </a:xfrm>
          <a:prstGeom prst="ellipse">
            <a:avLst/>
          </a:prstGeom>
          <a:ln w="15240">
            <a:solidFill>
              <a:srgbClr val="38B6FF"/>
            </a:solidFill>
            <a:prstDash val="solid"/>
          </a:ln>
        </p:spPr>
      </p:sp>
      <p:sp>
        <p:nvSpPr>
          <p:cNvPr id="14" name="Text 12"/>
          <p:cNvSpPr txBox="1"/>
          <p:nvPr/>
        </p:nvSpPr>
        <p:spPr>
          <a:xfrm>
            <a:off x="3606791" y="3022592"/>
            <a:ext cx="292099" cy="292099"/>
          </a:xfrm>
          <a:prstGeom prst="rect">
            <a:avLst/>
          </a:prstGeom>
          <a:noFill/>
          <a:ln/>
        </p:spPr>
        <p:txBody>
          <a:bodyPr wrap="square" lIns="0" tIns="0" rIns="0" bIns="0" rtlCol="0" anchor="ctr"/>
          <a:lstStyle/>
          <a:p>
            <a:pPr algn="ctr" indent="0" marL="0">
              <a:buNone/>
            </a:pPr>
            <a:r>
              <a:rPr lang="en-US" sz="1000" b="1" dirty="0">
                <a:solidFill>
                  <a:srgbClr val="38B6FF"/>
                </a:solidFill>
                <a:latin typeface="Arial" pitchFamily="34" charset="0"/>
                <a:ea typeface="Arial" pitchFamily="34" charset="-122"/>
                <a:cs typeface="Arial" pitchFamily="34" charset="-120"/>
              </a:rPr>
              <a:t>2</a:t>
            </a:r>
            <a:endParaRPr lang="en-US" sz="1000" dirty="0"/>
          </a:p>
        </p:txBody>
      </p:sp>
      <p:sp>
        <p:nvSpPr>
          <p:cNvPr id="15" name="Text 13"/>
          <p:cNvSpPr txBox="1"/>
          <p:nvPr/>
        </p:nvSpPr>
        <p:spPr>
          <a:xfrm>
            <a:off x="3606791" y="3467091"/>
            <a:ext cx="2197095" cy="406399"/>
          </a:xfrm>
          <a:prstGeom prst="rect">
            <a:avLst/>
          </a:prstGeom>
          <a:noFill/>
          <a:ln/>
        </p:spPr>
        <p:txBody>
          <a:bodyPr wrap="square" lIns="0" tIns="0" rIns="0" bIns="0" rtlCol="0" anchor="t"/>
          <a:lstStyle/>
          <a:p>
            <a:pPr indent="0" marL="0">
              <a:lnSpc>
                <a:spcPct val="115000"/>
              </a:lnSpc>
              <a:buNone/>
            </a:pPr>
            <a:r>
              <a:rPr lang="en-US" sz="1150" b="1" dirty="0">
                <a:solidFill>
                  <a:srgbClr val="F2EFE6"/>
                </a:solidFill>
                <a:latin typeface="Arial" pitchFamily="34" charset="0"/>
                <a:ea typeface="Arial" pitchFamily="34" charset="-122"/>
                <a:cs typeface="Arial" pitchFamily="34" charset="-120"/>
              </a:rPr>
              <a:t>Van doel naar bezetting</a:t>
            </a:r>
            <a:endParaRPr lang="en-US" sz="1150" dirty="0"/>
          </a:p>
        </p:txBody>
      </p:sp>
      <p:sp>
        <p:nvSpPr>
          <p:cNvPr id="16" name="Text 14"/>
          <p:cNvSpPr txBox="1"/>
          <p:nvPr/>
        </p:nvSpPr>
        <p:spPr>
          <a:xfrm>
            <a:off x="3606791" y="3924290"/>
            <a:ext cx="2197095" cy="1079497"/>
          </a:xfrm>
          <a:prstGeom prst="rect">
            <a:avLst/>
          </a:prstGeom>
          <a:noFill/>
          <a:ln/>
        </p:spPr>
        <p:txBody>
          <a:bodyPr wrap="square" lIns="0" tIns="0" rIns="0" bIns="0" rtlCol="0" anchor="t"/>
          <a:lstStyle/>
          <a:p>
            <a:pPr indent="0" marL="0">
              <a:lnSpc>
                <a:spcPct val="130000"/>
              </a:lnSpc>
              <a:buNone/>
            </a:pPr>
            <a:r>
              <a:rPr lang="en-US" sz="875" dirty="0">
                <a:solidFill>
                  <a:srgbClr val="C2C8D2"/>
                </a:solidFill>
                <a:latin typeface="Arial" pitchFamily="34" charset="0"/>
                <a:ea typeface="Arial" pitchFamily="34" charset="-122"/>
                <a:cs typeface="Arial" pitchFamily="34" charset="-120"/>
              </a:rPr>
              <a:t>Jullie zeggen hoeveel nieuwe klanten je per periode wilt. Wij rekenen terug hoeveel afspraken daarvoor nodig zijn en trekken daar de tijd voor uit.</a:t>
            </a:r>
            <a:endParaRPr lang="en-US" sz="875" dirty="0"/>
          </a:p>
        </p:txBody>
      </p:sp>
      <p:sp>
        <p:nvSpPr>
          <p:cNvPr id="17" name="Shape 15"/>
          <p:cNvSpPr/>
          <p:nvPr/>
        </p:nvSpPr>
        <p:spPr>
          <a:xfrm>
            <a:off x="6172185" y="2793993"/>
            <a:ext cx="2628893" cy="2285994"/>
          </a:xfrm>
          <a:prstGeom prst="roundRect">
            <a:avLst>
              <a:gd name="adj" fmla="val 4444"/>
            </a:avLst>
          </a:prstGeom>
          <a:solidFill>
            <a:srgbClr val="1B2130"/>
          </a:solidFill>
          <a:ln w="9525">
            <a:solidFill>
              <a:srgbClr val="3A4152"/>
            </a:solidFill>
            <a:prstDash val="solid"/>
          </a:ln>
        </p:spPr>
      </p:sp>
      <p:sp>
        <p:nvSpPr>
          <p:cNvPr id="18" name="Shape 16"/>
          <p:cNvSpPr/>
          <p:nvPr/>
        </p:nvSpPr>
        <p:spPr>
          <a:xfrm>
            <a:off x="6388084" y="3022592"/>
            <a:ext cx="292099" cy="292099"/>
          </a:xfrm>
          <a:prstGeom prst="ellipse">
            <a:avLst/>
          </a:prstGeom>
          <a:ln w="15240">
            <a:solidFill>
              <a:srgbClr val="38B6FF"/>
            </a:solidFill>
            <a:prstDash val="solid"/>
          </a:ln>
        </p:spPr>
      </p:sp>
      <p:sp>
        <p:nvSpPr>
          <p:cNvPr id="19" name="Text 17"/>
          <p:cNvSpPr txBox="1"/>
          <p:nvPr/>
        </p:nvSpPr>
        <p:spPr>
          <a:xfrm>
            <a:off x="6388084" y="3022592"/>
            <a:ext cx="292099" cy="292099"/>
          </a:xfrm>
          <a:prstGeom prst="rect">
            <a:avLst/>
          </a:prstGeom>
          <a:noFill/>
          <a:ln/>
        </p:spPr>
        <p:txBody>
          <a:bodyPr wrap="square" lIns="0" tIns="0" rIns="0" bIns="0" rtlCol="0" anchor="ctr"/>
          <a:lstStyle/>
          <a:p>
            <a:pPr algn="ctr" indent="0" marL="0">
              <a:buNone/>
            </a:pPr>
            <a:r>
              <a:rPr lang="en-US" sz="1000" b="1" dirty="0">
                <a:solidFill>
                  <a:srgbClr val="38B6FF"/>
                </a:solidFill>
                <a:latin typeface="Arial" pitchFamily="34" charset="0"/>
                <a:ea typeface="Arial" pitchFamily="34" charset="-122"/>
                <a:cs typeface="Arial" pitchFamily="34" charset="-120"/>
              </a:rPr>
              <a:t>3</a:t>
            </a:r>
            <a:endParaRPr lang="en-US" sz="1000" dirty="0"/>
          </a:p>
        </p:txBody>
      </p:sp>
      <p:sp>
        <p:nvSpPr>
          <p:cNvPr id="20" name="Text 18"/>
          <p:cNvSpPr txBox="1"/>
          <p:nvPr/>
        </p:nvSpPr>
        <p:spPr>
          <a:xfrm>
            <a:off x="6388084" y="3467091"/>
            <a:ext cx="2197095" cy="406399"/>
          </a:xfrm>
          <a:prstGeom prst="rect">
            <a:avLst/>
          </a:prstGeom>
          <a:noFill/>
          <a:ln/>
        </p:spPr>
        <p:txBody>
          <a:bodyPr wrap="square" lIns="0" tIns="0" rIns="0" bIns="0" rtlCol="0" anchor="t"/>
          <a:lstStyle/>
          <a:p>
            <a:pPr indent="0" marL="0">
              <a:lnSpc>
                <a:spcPct val="115000"/>
              </a:lnSpc>
              <a:buNone/>
            </a:pPr>
            <a:r>
              <a:rPr lang="en-US" sz="1150" b="1" dirty="0">
                <a:solidFill>
                  <a:srgbClr val="F2EFE6"/>
                </a:solidFill>
                <a:latin typeface="Arial" pitchFamily="34" charset="0"/>
                <a:ea typeface="Arial" pitchFamily="34" charset="-122"/>
                <a:cs typeface="Arial" pitchFamily="34" charset="-120"/>
              </a:rPr>
              <a:t>Boven target is voor jullie</a:t>
            </a:r>
            <a:endParaRPr lang="en-US" sz="1150" dirty="0"/>
          </a:p>
        </p:txBody>
      </p:sp>
      <p:sp>
        <p:nvSpPr>
          <p:cNvPr id="21" name="Text 19"/>
          <p:cNvSpPr txBox="1"/>
          <p:nvPr/>
        </p:nvSpPr>
        <p:spPr>
          <a:xfrm>
            <a:off x="6388084" y="3924290"/>
            <a:ext cx="2197095" cy="1079497"/>
          </a:xfrm>
          <a:prstGeom prst="rect">
            <a:avLst/>
          </a:prstGeom>
          <a:noFill/>
          <a:ln/>
        </p:spPr>
        <p:txBody>
          <a:bodyPr wrap="square" lIns="0" tIns="0" rIns="0" bIns="0" rtlCol="0" anchor="t"/>
          <a:lstStyle/>
          <a:p>
            <a:pPr indent="0" marL="0">
              <a:lnSpc>
                <a:spcPct val="130000"/>
              </a:lnSpc>
              <a:buNone/>
            </a:pPr>
            <a:r>
              <a:rPr lang="en-US" sz="875" dirty="0">
                <a:solidFill>
                  <a:srgbClr val="C2C8D2"/>
                </a:solidFill>
                <a:latin typeface="Arial" pitchFamily="34" charset="0"/>
                <a:ea typeface="Arial" pitchFamily="34" charset="-122"/>
                <a:cs typeface="Arial" pitchFamily="34" charset="-120"/>
              </a:rPr>
              <a:t>Zijn we eerder klaar dan gepland, dan bellen we de tijd gewoon vol. Wat er dan nog bij komt is voor jullie, zonder extra factuur.</a:t>
            </a:r>
            <a:endParaRPr lang="en-US" sz="875" dirty="0"/>
          </a:p>
        </p:txBody>
      </p:sp>
      <p:sp>
        <p:nvSpPr>
          <p:cNvPr id="22" name="Shape 20"/>
          <p:cNvSpPr/>
          <p:nvPr/>
        </p:nvSpPr>
        <p:spPr>
          <a:xfrm>
            <a:off x="8953478" y="2793993"/>
            <a:ext cx="2628893" cy="2285994"/>
          </a:xfrm>
          <a:prstGeom prst="roundRect">
            <a:avLst>
              <a:gd name="adj" fmla="val 4444"/>
            </a:avLst>
          </a:prstGeom>
          <a:solidFill>
            <a:srgbClr val="1B2130"/>
          </a:solidFill>
          <a:ln w="15240">
            <a:solidFill>
              <a:srgbClr val="38B6FF"/>
            </a:solidFill>
            <a:prstDash val="solid"/>
          </a:ln>
        </p:spPr>
      </p:sp>
      <p:sp>
        <p:nvSpPr>
          <p:cNvPr id="23" name="Shape 21"/>
          <p:cNvSpPr/>
          <p:nvPr/>
        </p:nvSpPr>
        <p:spPr>
          <a:xfrm>
            <a:off x="9169377" y="3022592"/>
            <a:ext cx="292099" cy="292099"/>
          </a:xfrm>
          <a:prstGeom prst="ellipse">
            <a:avLst/>
          </a:prstGeom>
          <a:ln w="15240">
            <a:solidFill>
              <a:srgbClr val="38B6FF"/>
            </a:solidFill>
            <a:prstDash val="solid"/>
          </a:ln>
        </p:spPr>
      </p:sp>
      <p:sp>
        <p:nvSpPr>
          <p:cNvPr id="24" name="Text 22"/>
          <p:cNvSpPr txBox="1"/>
          <p:nvPr/>
        </p:nvSpPr>
        <p:spPr>
          <a:xfrm>
            <a:off x="9169377" y="3022592"/>
            <a:ext cx="292099" cy="292099"/>
          </a:xfrm>
          <a:prstGeom prst="rect">
            <a:avLst/>
          </a:prstGeom>
          <a:noFill/>
          <a:ln/>
        </p:spPr>
        <p:txBody>
          <a:bodyPr wrap="square" lIns="0" tIns="0" rIns="0" bIns="0" rtlCol="0" anchor="ctr"/>
          <a:lstStyle/>
          <a:p>
            <a:pPr algn="ctr" indent="0" marL="0">
              <a:buNone/>
            </a:pPr>
            <a:r>
              <a:rPr lang="en-US" sz="1000" b="1" dirty="0">
                <a:solidFill>
                  <a:srgbClr val="38B6FF"/>
                </a:solidFill>
                <a:latin typeface="Arial" pitchFamily="34" charset="0"/>
                <a:ea typeface="Arial" pitchFamily="34" charset="-122"/>
                <a:cs typeface="Arial" pitchFamily="34" charset="-120"/>
              </a:rPr>
              <a:t>4</a:t>
            </a:r>
            <a:endParaRPr lang="en-US" sz="1000" dirty="0"/>
          </a:p>
        </p:txBody>
      </p:sp>
      <p:sp>
        <p:nvSpPr>
          <p:cNvPr id="25" name="Text 23"/>
          <p:cNvSpPr txBox="1"/>
          <p:nvPr/>
        </p:nvSpPr>
        <p:spPr>
          <a:xfrm>
            <a:off x="9169377" y="3467091"/>
            <a:ext cx="2197095" cy="406399"/>
          </a:xfrm>
          <a:prstGeom prst="rect">
            <a:avLst/>
          </a:prstGeom>
          <a:noFill/>
          <a:ln/>
        </p:spPr>
        <p:txBody>
          <a:bodyPr wrap="square" lIns="0" tIns="0" rIns="0" bIns="0" rtlCol="0" anchor="t"/>
          <a:lstStyle/>
          <a:p>
            <a:pPr indent="0" marL="0">
              <a:lnSpc>
                <a:spcPct val="115000"/>
              </a:lnSpc>
              <a:buNone/>
            </a:pPr>
            <a:r>
              <a:rPr lang="en-US" sz="1150" b="1" dirty="0">
                <a:solidFill>
                  <a:srgbClr val="38B6FF"/>
                </a:solidFill>
                <a:latin typeface="Arial" pitchFamily="34" charset="0"/>
                <a:ea typeface="Arial" pitchFamily="34" charset="-122"/>
                <a:cs typeface="Arial" pitchFamily="34" charset="-120"/>
              </a:rPr>
              <a:t>Succesfee bij omzet</a:t>
            </a:r>
            <a:endParaRPr lang="en-US" sz="1150" dirty="0"/>
          </a:p>
        </p:txBody>
      </p:sp>
      <p:sp>
        <p:nvSpPr>
          <p:cNvPr id="26" name="Text 24"/>
          <p:cNvSpPr txBox="1"/>
          <p:nvPr/>
        </p:nvSpPr>
        <p:spPr>
          <a:xfrm>
            <a:off x="9169377" y="3924290"/>
            <a:ext cx="2197095" cy="1079497"/>
          </a:xfrm>
          <a:prstGeom prst="rect">
            <a:avLst/>
          </a:prstGeom>
          <a:noFill/>
          <a:ln/>
        </p:spPr>
        <p:txBody>
          <a:bodyPr wrap="square" lIns="0" tIns="0" rIns="0" bIns="0" rtlCol="0" anchor="t"/>
          <a:lstStyle/>
          <a:p>
            <a:pPr indent="0" marL="0">
              <a:lnSpc>
                <a:spcPct val="130000"/>
              </a:lnSpc>
              <a:buNone/>
            </a:pPr>
            <a:r>
              <a:rPr lang="en-US" sz="875" dirty="0">
                <a:solidFill>
                  <a:srgbClr val="C2C8D2"/>
                </a:solidFill>
                <a:latin typeface="Arial" pitchFamily="34" charset="0"/>
                <a:ea typeface="Arial" pitchFamily="34" charset="-122"/>
                <a:cs typeface="Arial" pitchFamily="34" charset="-120"/>
              </a:rPr>
              <a:t>Wordt een afspraak een opdracht, dan spreken we daar vooraf een succesfee over af. Wij verdienen pas extra als het jullie ook echt omzet oplevert.</a:t>
            </a:r>
            <a:endParaRPr lang="en-US" sz="875" dirty="0"/>
          </a:p>
        </p:txBody>
      </p:sp>
      <p:sp>
        <p:nvSpPr>
          <p:cNvPr id="27" name="Shape 25"/>
          <p:cNvSpPr/>
          <p:nvPr/>
        </p:nvSpPr>
        <p:spPr>
          <a:xfrm>
            <a:off x="609598" y="5854685"/>
            <a:ext cx="76200" cy="76200"/>
          </a:xfrm>
          <a:prstGeom prst="ellipse">
            <a:avLst/>
          </a:prstGeom>
          <a:solidFill>
            <a:srgbClr val="38B6FF"/>
          </a:solidFill>
          <a:ln/>
        </p:spPr>
      </p:sp>
      <p:sp>
        <p:nvSpPr>
          <p:cNvPr id="28" name="Text 26"/>
          <p:cNvSpPr txBox="1"/>
          <p:nvPr/>
        </p:nvSpPr>
        <p:spPr>
          <a:xfrm>
            <a:off x="800098" y="5714986"/>
            <a:ext cx="9905975" cy="355599"/>
          </a:xfrm>
          <a:prstGeom prst="rect">
            <a:avLst/>
          </a:prstGeom>
          <a:noFill/>
          <a:ln/>
        </p:spPr>
        <p:txBody>
          <a:bodyPr wrap="square" lIns="0" tIns="0" rIns="0" bIns="0" rtlCol="0" anchor="ctr"/>
          <a:lstStyle/>
          <a:p>
            <a:pPr indent="0" marL="0">
              <a:buNone/>
            </a:pPr>
            <a:r>
              <a:rPr lang="en-US" sz="1200" b="1" dirty="0">
                <a:solidFill>
                  <a:srgbClr val="F2EFE6"/>
                </a:solidFill>
                <a:latin typeface="Arial" pitchFamily="34" charset="0"/>
                <a:ea typeface="Arial" pitchFamily="34" charset="-122"/>
                <a:cs typeface="Arial" pitchFamily="34" charset="-120"/>
              </a:rPr>
              <a:t>Het target komt uit jullie eigen cijfers, dus dat halen we. Zo niet, dan halen we het de volgende werkperiode in.</a:t>
            </a:r>
            <a:endParaRPr lang="en-US" sz="120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E9E0CD"/>
        </a:solidFill>
      </p:bgPr>
    </p:bg>
    <p:spTree>
      <p:nvGrpSpPr>
        <p:cNvPr id="1" name=""/>
        <p:cNvGrpSpPr/>
        <p:nvPr/>
      </p:nvGrpSpPr>
      <p:grpSpPr>
        <a:xfrm>
          <a:off x="0" y="0"/>
          <a:ext cx="0" cy="0"/>
          <a:chOff x="0" y="0"/>
          <a:chExt cx="0" cy="0"/>
        </a:xfrm>
      </p:grpSpPr>
      <p:sp>
        <p:nvSpPr>
          <p:cNvPr id="2" name="Text 0"/>
          <p:cNvSpPr txBox="1"/>
          <p:nvPr/>
        </p:nvSpPr>
        <p:spPr>
          <a:xfrm>
            <a:off x="596899" y="368299"/>
            <a:ext cx="1904995" cy="330199"/>
          </a:xfrm>
          <a:prstGeom prst="rect">
            <a:avLst/>
          </a:prstGeom>
          <a:noFill/>
          <a:ln/>
        </p:spPr>
        <p:txBody>
          <a:bodyPr wrap="square" lIns="0" tIns="0" rIns="0" bIns="0" rtlCol="0" anchor="ctr"/>
          <a:lstStyle/>
          <a:p>
            <a:pPr algn="l" indent="0" marL="0">
              <a:buNone/>
            </a:pPr>
            <a:r>
              <a:rPr lang="en-US" sz="1800" b="1" dirty="0">
                <a:solidFill>
                  <a:srgbClr val="1C2230"/>
                </a:solidFill>
                <a:latin typeface="Arial" pitchFamily="34" charset="0"/>
                <a:ea typeface="Arial" pitchFamily="34" charset="-122"/>
                <a:cs typeface="Arial" pitchFamily="34" charset="-120"/>
              </a:rPr>
              <a:t>LINK</a:t>
            </a:r>
            <a:pPr algn="l" indent="0" marL="0">
              <a:buNone/>
            </a:pPr>
            <a:r>
              <a:rPr lang="en-US" sz="1800" b="1" dirty="0">
                <a:solidFill>
                  <a:srgbClr val="38B6FF"/>
                </a:solidFill>
                <a:latin typeface="Arial" pitchFamily="34" charset="0"/>
                <a:ea typeface="Arial" pitchFamily="34" charset="-122"/>
                <a:cs typeface="Arial" pitchFamily="34" charset="-120"/>
              </a:rPr>
              <a:t>.</a:t>
            </a:r>
            <a:endParaRPr lang="en-US" sz="1800" dirty="0"/>
          </a:p>
        </p:txBody>
      </p:sp>
      <p:sp>
        <p:nvSpPr>
          <p:cNvPr id="3" name="Text 1"/>
          <p:cNvSpPr txBox="1"/>
          <p:nvPr/>
        </p:nvSpPr>
        <p:spPr>
          <a:xfrm>
            <a:off x="609598" y="6381734"/>
            <a:ext cx="5714986" cy="228599"/>
          </a:xfrm>
          <a:prstGeom prst="rect">
            <a:avLst/>
          </a:prstGeom>
          <a:noFill/>
          <a:ln/>
        </p:spPr>
        <p:txBody>
          <a:bodyPr wrap="square" lIns="0" tIns="0" rIns="0" bIns="0" rtlCol="0" anchor="ctr"/>
          <a:lstStyle/>
          <a:p>
            <a:pPr algn="l" indent="0" marL="0">
              <a:buNone/>
            </a:pPr>
            <a:r>
              <a:rPr lang="en-US" sz="750" b="1" spc="100" kern="0" dirty="0">
                <a:solidFill>
                  <a:srgbClr val="6F6A5C"/>
                </a:solidFill>
                <a:latin typeface="Arial" pitchFamily="34" charset="0"/>
                <a:ea typeface="Arial" pitchFamily="34" charset="-122"/>
                <a:cs typeface="Arial" pitchFamily="34" charset="-120"/>
              </a:rPr>
              <a:t>LINK. · Kennismaking Portrelo</a:t>
            </a:r>
            <a:endParaRPr lang="en-US" sz="750" dirty="0"/>
          </a:p>
        </p:txBody>
      </p:sp>
      <p:sp>
        <p:nvSpPr>
          <p:cNvPr id="4" name="Text 2"/>
          <p:cNvSpPr txBox="1"/>
          <p:nvPr/>
        </p:nvSpPr>
        <p:spPr>
          <a:xfrm>
            <a:off x="9677376" y="6381734"/>
            <a:ext cx="1904995" cy="228599"/>
          </a:xfrm>
          <a:prstGeom prst="rect">
            <a:avLst/>
          </a:prstGeom>
          <a:noFill/>
          <a:ln/>
        </p:spPr>
        <p:txBody>
          <a:bodyPr wrap="square" lIns="0" tIns="0" rIns="0" bIns="0" rtlCol="0" anchor="ctr"/>
          <a:lstStyle/>
          <a:p>
            <a:pPr algn="r" indent="0" marL="0">
              <a:buNone/>
            </a:pPr>
            <a:r>
              <a:rPr lang="en-US" sz="750" b="1" spc="100" kern="0" dirty="0">
                <a:solidFill>
                  <a:srgbClr val="6F6A5C"/>
                </a:solidFill>
                <a:latin typeface="Arial" pitchFamily="34" charset="0"/>
                <a:ea typeface="Arial" pitchFamily="34" charset="-122"/>
                <a:cs typeface="Arial" pitchFamily="34" charset="-120"/>
              </a:rPr>
              <a:t>8 / 10</a:t>
            </a:r>
            <a:endParaRPr lang="en-US" sz="750" dirty="0"/>
          </a:p>
        </p:txBody>
      </p:sp>
      <p:sp>
        <p:nvSpPr>
          <p:cNvPr id="5" name="Text 3"/>
          <p:cNvSpPr txBox="1"/>
          <p:nvPr/>
        </p:nvSpPr>
        <p:spPr>
          <a:xfrm>
            <a:off x="609598" y="1206497"/>
            <a:ext cx="10159975" cy="215899"/>
          </a:xfrm>
          <a:prstGeom prst="rect">
            <a:avLst/>
          </a:prstGeom>
          <a:noFill/>
          <a:ln/>
        </p:spPr>
        <p:txBody>
          <a:bodyPr wrap="square" lIns="0" tIns="0" rIns="0" bIns="0" rtlCol="0" anchor="ctr"/>
          <a:lstStyle/>
          <a:p>
            <a:pPr algn="l" indent="0" marL="0">
              <a:buNone/>
            </a:pPr>
            <a:r>
              <a:rPr lang="en-US" sz="950" b="1" spc="400" kern="0" dirty="0">
                <a:solidFill>
                  <a:srgbClr val="38B6FF"/>
                </a:solidFill>
                <a:latin typeface="Arial" pitchFamily="34" charset="0"/>
                <a:ea typeface="Arial" pitchFamily="34" charset="-122"/>
                <a:cs typeface="Arial" pitchFamily="34" charset="-120"/>
              </a:rPr>
              <a:t>WAT WE VAN JULLIE NODIG HEBBEN</a:t>
            </a:r>
            <a:endParaRPr lang="en-US" sz="950" dirty="0"/>
          </a:p>
        </p:txBody>
      </p:sp>
      <p:sp>
        <p:nvSpPr>
          <p:cNvPr id="6" name="Text 4"/>
          <p:cNvSpPr txBox="1"/>
          <p:nvPr/>
        </p:nvSpPr>
        <p:spPr>
          <a:xfrm>
            <a:off x="609598" y="1511296"/>
            <a:ext cx="10972773" cy="1142997"/>
          </a:xfrm>
          <a:prstGeom prst="rect">
            <a:avLst/>
          </a:prstGeom>
          <a:noFill/>
          <a:ln/>
        </p:spPr>
        <p:txBody>
          <a:bodyPr wrap="square" lIns="0" tIns="0" rIns="0" bIns="0" rtlCol="0" anchor="t"/>
          <a:lstStyle/>
          <a:p>
            <a:pPr algn="l" indent="0" marL="0">
              <a:lnSpc>
                <a:spcPct val="108000"/>
              </a:lnSpc>
              <a:buNone/>
            </a:pPr>
            <a:r>
              <a:rPr lang="en-US" sz="3200" b="1" dirty="0">
                <a:solidFill>
                  <a:srgbClr val="1C2230"/>
                </a:solidFill>
                <a:latin typeface="Arial" pitchFamily="34" charset="0"/>
                <a:ea typeface="Arial" pitchFamily="34" charset="-122"/>
                <a:cs typeface="Arial" pitchFamily="34" charset="-120"/>
              </a:rPr>
              <a:t>Een halve dag van jullie, dan </a:t>
            </a:r>
            <a:pPr algn="l" indent="0" marL="0">
              <a:lnSpc>
                <a:spcPct val="108000"/>
              </a:lnSpc>
              <a:buNone/>
            </a:pPr>
            <a:r>
              <a:rPr lang="en-US" sz="3000" i="1" dirty="0">
                <a:solidFill>
                  <a:srgbClr val="1C2230"/>
                </a:solidFill>
                <a:latin typeface="Georgia" pitchFamily="34" charset="0"/>
                <a:ea typeface="Georgia" pitchFamily="34" charset="-122"/>
                <a:cs typeface="Georgia" pitchFamily="34" charset="-120"/>
              </a:rPr>
              <a:t>draaien wij</a:t>
            </a:r>
            <a:pPr algn="l" indent="0" marL="0">
              <a:lnSpc>
                <a:spcPct val="108000"/>
              </a:lnSpc>
              <a:buNone/>
            </a:pPr>
            <a:r>
              <a:rPr lang="en-US" sz="3200" b="1" dirty="0">
                <a:solidFill>
                  <a:srgbClr val="1C2230"/>
                </a:solidFill>
                <a:latin typeface="Arial" pitchFamily="34" charset="0"/>
                <a:ea typeface="Arial" pitchFamily="34" charset="-122"/>
                <a:cs typeface="Arial" pitchFamily="34" charset="-120"/>
              </a:rPr>
              <a:t>.</a:t>
            </a:r>
            <a:endParaRPr lang="en-US" sz="3200" dirty="0"/>
          </a:p>
        </p:txBody>
      </p:sp>
      <p:sp>
        <p:nvSpPr>
          <p:cNvPr id="7" name="Shape 5"/>
          <p:cNvSpPr/>
          <p:nvPr/>
        </p:nvSpPr>
        <p:spPr>
          <a:xfrm>
            <a:off x="609598" y="2793993"/>
            <a:ext cx="5397487" cy="1530346"/>
          </a:xfrm>
          <a:prstGeom prst="roundRect">
            <a:avLst>
              <a:gd name="adj" fmla="val 6639"/>
            </a:avLst>
          </a:prstGeom>
          <a:solidFill>
            <a:srgbClr val="F8F4EB"/>
          </a:solidFill>
          <a:ln/>
        </p:spPr>
      </p:sp>
      <p:sp>
        <p:nvSpPr>
          <p:cNvPr id="8" name="Shape 6"/>
          <p:cNvSpPr/>
          <p:nvPr/>
        </p:nvSpPr>
        <p:spPr>
          <a:xfrm>
            <a:off x="939798" y="3098792"/>
            <a:ext cx="380999" cy="380999"/>
          </a:xfrm>
          <a:prstGeom prst="roundRect">
            <a:avLst>
              <a:gd name="adj" fmla="val 23333"/>
            </a:avLst>
          </a:prstGeom>
          <a:solidFill>
            <a:srgbClr val="DDEBF3"/>
          </a:solidFill>
          <a:ln/>
        </p:spPr>
      </p:sp>
      <p:pic>
        <p:nvPicPr>
          <p:cNvPr id="9" name="Image 0" descr="preencoded.png">    </p:cNvPr>
          <p:cNvPicPr>
            <a:picLocks noChangeAspect="1"/>
          </p:cNvPicPr>
          <p:nvPr/>
        </p:nvPicPr>
        <p:blipFill>
          <a:blip r:embed="rId1"/>
          <a:stretch>
            <a:fillRect/>
          </a:stretch>
        </p:blipFill>
        <p:spPr>
          <a:xfrm>
            <a:off x="1035047" y="3194042"/>
            <a:ext cx="190500" cy="190500"/>
          </a:xfrm>
          <a:prstGeom prst="rect">
            <a:avLst/>
          </a:prstGeom>
        </p:spPr>
      </p:pic>
      <p:sp>
        <p:nvSpPr>
          <p:cNvPr id="10" name="Text 7"/>
          <p:cNvSpPr txBox="1"/>
          <p:nvPr/>
        </p:nvSpPr>
        <p:spPr>
          <a:xfrm>
            <a:off x="1549396" y="3073392"/>
            <a:ext cx="4127490" cy="279399"/>
          </a:xfrm>
          <a:prstGeom prst="rect">
            <a:avLst/>
          </a:prstGeom>
          <a:noFill/>
          <a:ln/>
        </p:spPr>
        <p:txBody>
          <a:bodyPr wrap="square" lIns="0" tIns="0" rIns="0" bIns="0" rtlCol="0" anchor="ctr"/>
          <a:lstStyle/>
          <a:p>
            <a:pPr indent="0" marL="0">
              <a:buNone/>
            </a:pPr>
            <a:r>
              <a:rPr lang="en-US" sz="1450" b="1" dirty="0">
                <a:solidFill>
                  <a:srgbClr val="1C2230"/>
                </a:solidFill>
                <a:latin typeface="Arial" pitchFamily="34" charset="0"/>
                <a:ea typeface="Arial" pitchFamily="34" charset="-122"/>
                <a:cs typeface="Arial" pitchFamily="34" charset="-120"/>
              </a:rPr>
              <a:t>Kick-off sessie</a:t>
            </a:r>
            <a:endParaRPr lang="en-US" sz="1450" dirty="0"/>
          </a:p>
        </p:txBody>
      </p:sp>
      <p:sp>
        <p:nvSpPr>
          <p:cNvPr id="11" name="Text 8"/>
          <p:cNvSpPr txBox="1"/>
          <p:nvPr/>
        </p:nvSpPr>
        <p:spPr>
          <a:xfrm>
            <a:off x="1549396" y="3403591"/>
            <a:ext cx="4063990" cy="698498"/>
          </a:xfrm>
          <a:prstGeom prst="rect">
            <a:avLst/>
          </a:prstGeom>
          <a:noFill/>
          <a:ln/>
        </p:spPr>
        <p:txBody>
          <a:bodyPr wrap="square" lIns="0" tIns="0" rIns="0" bIns="0" rtlCol="0" anchor="t"/>
          <a:lstStyle/>
          <a:p>
            <a:pPr indent="0" marL="0">
              <a:lnSpc>
                <a:spcPct val="135000"/>
              </a:lnSpc>
              <a:buNone/>
            </a:pPr>
            <a:r>
              <a:rPr lang="en-US" sz="1050" dirty="0">
                <a:solidFill>
                  <a:srgbClr val="6F6A5C"/>
                </a:solidFill>
                <a:latin typeface="Arial" pitchFamily="34" charset="0"/>
                <a:ea typeface="Arial" pitchFamily="34" charset="-122"/>
                <a:cs typeface="Arial" pitchFamily="34" charset="-120"/>
              </a:rPr>
              <a:t>Anderhalf tot twee uur met Berry en degene die de afspraken gaat voeren.</a:t>
            </a:r>
            <a:endParaRPr lang="en-US" sz="1050" dirty="0"/>
          </a:p>
        </p:txBody>
      </p:sp>
      <p:sp>
        <p:nvSpPr>
          <p:cNvPr id="12" name="Shape 9"/>
          <p:cNvSpPr/>
          <p:nvPr/>
        </p:nvSpPr>
        <p:spPr>
          <a:xfrm>
            <a:off x="6184885" y="2793993"/>
            <a:ext cx="5397487" cy="1530346"/>
          </a:xfrm>
          <a:prstGeom prst="roundRect">
            <a:avLst>
              <a:gd name="adj" fmla="val 6639"/>
            </a:avLst>
          </a:prstGeom>
          <a:solidFill>
            <a:srgbClr val="F8F4EB"/>
          </a:solidFill>
          <a:ln/>
        </p:spPr>
      </p:sp>
      <p:sp>
        <p:nvSpPr>
          <p:cNvPr id="13" name="Shape 10"/>
          <p:cNvSpPr/>
          <p:nvPr/>
        </p:nvSpPr>
        <p:spPr>
          <a:xfrm>
            <a:off x="6515084" y="3098792"/>
            <a:ext cx="380999" cy="380999"/>
          </a:xfrm>
          <a:prstGeom prst="roundRect">
            <a:avLst>
              <a:gd name="adj" fmla="val 23333"/>
            </a:avLst>
          </a:prstGeom>
          <a:solidFill>
            <a:srgbClr val="DDEBF3"/>
          </a:solidFill>
          <a:ln/>
        </p:spPr>
      </p:sp>
      <p:pic>
        <p:nvPicPr>
          <p:cNvPr id="14" name="Image 1" descr="preencoded.png">    </p:cNvPr>
          <p:cNvPicPr>
            <a:picLocks noChangeAspect="1"/>
          </p:cNvPicPr>
          <p:nvPr/>
        </p:nvPicPr>
        <p:blipFill>
          <a:blip r:embed="rId2"/>
          <a:stretch>
            <a:fillRect/>
          </a:stretch>
        </p:blipFill>
        <p:spPr>
          <a:xfrm>
            <a:off x="6610333" y="3194042"/>
            <a:ext cx="190500" cy="190500"/>
          </a:xfrm>
          <a:prstGeom prst="rect">
            <a:avLst/>
          </a:prstGeom>
        </p:spPr>
      </p:pic>
      <p:sp>
        <p:nvSpPr>
          <p:cNvPr id="15" name="Text 11"/>
          <p:cNvSpPr txBox="1"/>
          <p:nvPr/>
        </p:nvSpPr>
        <p:spPr>
          <a:xfrm>
            <a:off x="7124682" y="3073392"/>
            <a:ext cx="4127490" cy="279399"/>
          </a:xfrm>
          <a:prstGeom prst="rect">
            <a:avLst/>
          </a:prstGeom>
          <a:noFill/>
          <a:ln/>
        </p:spPr>
        <p:txBody>
          <a:bodyPr wrap="square" lIns="0" tIns="0" rIns="0" bIns="0" rtlCol="0" anchor="ctr"/>
          <a:lstStyle/>
          <a:p>
            <a:pPr indent="0" marL="0">
              <a:buNone/>
            </a:pPr>
            <a:r>
              <a:rPr lang="en-US" sz="1450" b="1" dirty="0">
                <a:solidFill>
                  <a:srgbClr val="1C2230"/>
                </a:solidFill>
                <a:latin typeface="Arial" pitchFamily="34" charset="0"/>
                <a:ea typeface="Arial" pitchFamily="34" charset="-122"/>
                <a:cs typeface="Arial" pitchFamily="34" charset="-120"/>
              </a:rPr>
              <a:t>Uitsluitlijst</a:t>
            </a:r>
            <a:endParaRPr lang="en-US" sz="1450" dirty="0"/>
          </a:p>
        </p:txBody>
      </p:sp>
      <p:sp>
        <p:nvSpPr>
          <p:cNvPr id="16" name="Text 12"/>
          <p:cNvSpPr txBox="1"/>
          <p:nvPr/>
        </p:nvSpPr>
        <p:spPr>
          <a:xfrm>
            <a:off x="7124682" y="3403591"/>
            <a:ext cx="4063990" cy="698498"/>
          </a:xfrm>
          <a:prstGeom prst="rect">
            <a:avLst/>
          </a:prstGeom>
          <a:noFill/>
          <a:ln/>
        </p:spPr>
        <p:txBody>
          <a:bodyPr wrap="square" lIns="0" tIns="0" rIns="0" bIns="0" rtlCol="0" anchor="t"/>
          <a:lstStyle/>
          <a:p>
            <a:pPr indent="0" marL="0">
              <a:lnSpc>
                <a:spcPct val="135000"/>
              </a:lnSpc>
              <a:buNone/>
            </a:pPr>
            <a:r>
              <a:rPr lang="en-US" sz="1050" dirty="0">
                <a:solidFill>
                  <a:srgbClr val="6F6A5C"/>
                </a:solidFill>
                <a:latin typeface="Arial" pitchFamily="34" charset="0"/>
                <a:ea typeface="Arial" pitchFamily="34" charset="-122"/>
                <a:cs typeface="Arial" pitchFamily="34" charset="-120"/>
              </a:rPr>
              <a:t>Bestaande klanten, lopende gesprekken en bedrijven die we niet mogen benaderen.</a:t>
            </a:r>
            <a:endParaRPr lang="en-US" sz="1050" dirty="0"/>
          </a:p>
        </p:txBody>
      </p:sp>
      <p:sp>
        <p:nvSpPr>
          <p:cNvPr id="17" name="Shape 13"/>
          <p:cNvSpPr/>
          <p:nvPr/>
        </p:nvSpPr>
        <p:spPr>
          <a:xfrm>
            <a:off x="609598" y="4502139"/>
            <a:ext cx="5397487" cy="1530346"/>
          </a:xfrm>
          <a:prstGeom prst="roundRect">
            <a:avLst>
              <a:gd name="adj" fmla="val 6639"/>
            </a:avLst>
          </a:prstGeom>
          <a:solidFill>
            <a:srgbClr val="F8F4EB"/>
          </a:solidFill>
          <a:ln/>
        </p:spPr>
      </p:sp>
      <p:sp>
        <p:nvSpPr>
          <p:cNvPr id="18" name="Shape 14"/>
          <p:cNvSpPr/>
          <p:nvPr/>
        </p:nvSpPr>
        <p:spPr>
          <a:xfrm>
            <a:off x="939798" y="4806938"/>
            <a:ext cx="380999" cy="380999"/>
          </a:xfrm>
          <a:prstGeom prst="roundRect">
            <a:avLst>
              <a:gd name="adj" fmla="val 23333"/>
            </a:avLst>
          </a:prstGeom>
          <a:solidFill>
            <a:srgbClr val="DDEBF3"/>
          </a:solidFill>
          <a:ln/>
        </p:spPr>
      </p:sp>
      <p:pic>
        <p:nvPicPr>
          <p:cNvPr id="19" name="Image 2" descr="preencoded.png">    </p:cNvPr>
          <p:cNvPicPr>
            <a:picLocks noChangeAspect="1"/>
          </p:cNvPicPr>
          <p:nvPr/>
        </p:nvPicPr>
        <p:blipFill>
          <a:blip r:embed="rId3"/>
          <a:stretch>
            <a:fillRect/>
          </a:stretch>
        </p:blipFill>
        <p:spPr>
          <a:xfrm>
            <a:off x="1035047" y="4902188"/>
            <a:ext cx="190500" cy="190500"/>
          </a:xfrm>
          <a:prstGeom prst="rect">
            <a:avLst/>
          </a:prstGeom>
        </p:spPr>
      </p:pic>
      <p:sp>
        <p:nvSpPr>
          <p:cNvPr id="20" name="Text 15"/>
          <p:cNvSpPr txBox="1"/>
          <p:nvPr/>
        </p:nvSpPr>
        <p:spPr>
          <a:xfrm>
            <a:off x="1549396" y="4781538"/>
            <a:ext cx="4127490" cy="279399"/>
          </a:xfrm>
          <a:prstGeom prst="rect">
            <a:avLst/>
          </a:prstGeom>
          <a:noFill/>
          <a:ln/>
        </p:spPr>
        <p:txBody>
          <a:bodyPr wrap="square" lIns="0" tIns="0" rIns="0" bIns="0" rtlCol="0" anchor="ctr"/>
          <a:lstStyle/>
          <a:p>
            <a:pPr indent="0" marL="0">
              <a:buNone/>
            </a:pPr>
            <a:r>
              <a:rPr lang="en-US" sz="1450" b="1" dirty="0">
                <a:solidFill>
                  <a:srgbClr val="1C2230"/>
                </a:solidFill>
                <a:latin typeface="Arial" pitchFamily="34" charset="0"/>
                <a:ea typeface="Arial" pitchFamily="34" charset="-122"/>
                <a:cs typeface="Arial" pitchFamily="34" charset="-120"/>
              </a:rPr>
              <a:t>Goedkeuring belscript</a:t>
            </a:r>
            <a:endParaRPr lang="en-US" sz="1450" dirty="0"/>
          </a:p>
        </p:txBody>
      </p:sp>
      <p:sp>
        <p:nvSpPr>
          <p:cNvPr id="21" name="Text 16"/>
          <p:cNvSpPr txBox="1"/>
          <p:nvPr/>
        </p:nvSpPr>
        <p:spPr>
          <a:xfrm>
            <a:off x="1549396" y="5111737"/>
            <a:ext cx="4063990" cy="698498"/>
          </a:xfrm>
          <a:prstGeom prst="rect">
            <a:avLst/>
          </a:prstGeom>
          <a:noFill/>
          <a:ln/>
        </p:spPr>
        <p:txBody>
          <a:bodyPr wrap="square" lIns="0" tIns="0" rIns="0" bIns="0" rtlCol="0" anchor="t"/>
          <a:lstStyle/>
          <a:p>
            <a:pPr indent="0" marL="0">
              <a:lnSpc>
                <a:spcPct val="135000"/>
              </a:lnSpc>
              <a:buNone/>
            </a:pPr>
            <a:r>
              <a:rPr lang="en-US" sz="1050" dirty="0">
                <a:solidFill>
                  <a:srgbClr val="6F6A5C"/>
                </a:solidFill>
                <a:latin typeface="Arial" pitchFamily="34" charset="0"/>
                <a:ea typeface="Arial" pitchFamily="34" charset="-122"/>
                <a:cs typeface="Arial" pitchFamily="34" charset="-120"/>
              </a:rPr>
              <a:t>Wij schrijven, jullie lezen mee en keuren goed.</a:t>
            </a:r>
            <a:endParaRPr lang="en-US" sz="1050" dirty="0"/>
          </a:p>
        </p:txBody>
      </p:sp>
      <p:sp>
        <p:nvSpPr>
          <p:cNvPr id="22" name="Shape 17"/>
          <p:cNvSpPr/>
          <p:nvPr/>
        </p:nvSpPr>
        <p:spPr>
          <a:xfrm>
            <a:off x="6184885" y="4502139"/>
            <a:ext cx="5397487" cy="1530346"/>
          </a:xfrm>
          <a:prstGeom prst="roundRect">
            <a:avLst>
              <a:gd name="adj" fmla="val 6639"/>
            </a:avLst>
          </a:prstGeom>
          <a:solidFill>
            <a:srgbClr val="F8F4EB"/>
          </a:solidFill>
          <a:ln/>
        </p:spPr>
      </p:sp>
      <p:sp>
        <p:nvSpPr>
          <p:cNvPr id="23" name="Shape 18"/>
          <p:cNvSpPr/>
          <p:nvPr/>
        </p:nvSpPr>
        <p:spPr>
          <a:xfrm>
            <a:off x="6515084" y="4806938"/>
            <a:ext cx="380999" cy="380999"/>
          </a:xfrm>
          <a:prstGeom prst="roundRect">
            <a:avLst>
              <a:gd name="adj" fmla="val 23333"/>
            </a:avLst>
          </a:prstGeom>
          <a:solidFill>
            <a:srgbClr val="DDEBF3"/>
          </a:solidFill>
          <a:ln/>
        </p:spPr>
      </p:sp>
      <p:pic>
        <p:nvPicPr>
          <p:cNvPr id="24" name="Image 3" descr="preencoded.png">    </p:cNvPr>
          <p:cNvPicPr>
            <a:picLocks noChangeAspect="1"/>
          </p:cNvPicPr>
          <p:nvPr/>
        </p:nvPicPr>
        <p:blipFill>
          <a:blip r:embed="rId4"/>
          <a:stretch>
            <a:fillRect/>
          </a:stretch>
        </p:blipFill>
        <p:spPr>
          <a:xfrm>
            <a:off x="6610333" y="4902188"/>
            <a:ext cx="190500" cy="190500"/>
          </a:xfrm>
          <a:prstGeom prst="rect">
            <a:avLst/>
          </a:prstGeom>
        </p:spPr>
      </p:pic>
      <p:sp>
        <p:nvSpPr>
          <p:cNvPr id="25" name="Text 19"/>
          <p:cNvSpPr txBox="1"/>
          <p:nvPr/>
        </p:nvSpPr>
        <p:spPr>
          <a:xfrm>
            <a:off x="7124682" y="4781538"/>
            <a:ext cx="4127490" cy="279399"/>
          </a:xfrm>
          <a:prstGeom prst="rect">
            <a:avLst/>
          </a:prstGeom>
          <a:noFill/>
          <a:ln/>
        </p:spPr>
        <p:txBody>
          <a:bodyPr wrap="square" lIns="0" tIns="0" rIns="0" bIns="0" rtlCol="0" anchor="ctr"/>
          <a:lstStyle/>
          <a:p>
            <a:pPr indent="0" marL="0">
              <a:buNone/>
            </a:pPr>
            <a:r>
              <a:rPr lang="en-US" sz="1450" b="1" dirty="0">
                <a:solidFill>
                  <a:srgbClr val="1C2230"/>
                </a:solidFill>
                <a:latin typeface="Arial" pitchFamily="34" charset="0"/>
                <a:ea typeface="Arial" pitchFamily="34" charset="-122"/>
                <a:cs typeface="Arial" pitchFamily="34" charset="-120"/>
              </a:rPr>
              <a:t>Opvolging van afspraken</a:t>
            </a:r>
            <a:endParaRPr lang="en-US" sz="1450" dirty="0"/>
          </a:p>
        </p:txBody>
      </p:sp>
      <p:sp>
        <p:nvSpPr>
          <p:cNvPr id="26" name="Text 20"/>
          <p:cNvSpPr txBox="1"/>
          <p:nvPr/>
        </p:nvSpPr>
        <p:spPr>
          <a:xfrm>
            <a:off x="7124682" y="5111737"/>
            <a:ext cx="4063990" cy="698498"/>
          </a:xfrm>
          <a:prstGeom prst="rect">
            <a:avLst/>
          </a:prstGeom>
          <a:noFill/>
          <a:ln/>
        </p:spPr>
        <p:txBody>
          <a:bodyPr wrap="square" lIns="0" tIns="0" rIns="0" bIns="0" rtlCol="0" anchor="t"/>
          <a:lstStyle/>
          <a:p>
            <a:pPr indent="0" marL="0">
              <a:lnSpc>
                <a:spcPct val="135000"/>
              </a:lnSpc>
              <a:buNone/>
            </a:pPr>
            <a:r>
              <a:rPr lang="en-US" sz="1050" dirty="0">
                <a:solidFill>
                  <a:srgbClr val="6F6A5C"/>
                </a:solidFill>
                <a:latin typeface="Arial" pitchFamily="34" charset="0"/>
                <a:ea typeface="Arial" pitchFamily="34" charset="-122"/>
                <a:cs typeface="Arial" pitchFamily="34" charset="-120"/>
              </a:rPr>
              <a:t>Eén vaste persoon bij Portrelo die de afspraken voert en ons kort laat weten hoe ze verliepen.</a:t>
            </a:r>
            <a:endParaRPr lang="en-US" sz="105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E9E0CD"/>
        </a:solidFill>
      </p:bgPr>
    </p:bg>
    <p:spTree>
      <p:nvGrpSpPr>
        <p:cNvPr id="1" name=""/>
        <p:cNvGrpSpPr/>
        <p:nvPr/>
      </p:nvGrpSpPr>
      <p:grpSpPr>
        <a:xfrm>
          <a:off x="0" y="0"/>
          <a:ext cx="0" cy="0"/>
          <a:chOff x="0" y="0"/>
          <a:chExt cx="0" cy="0"/>
        </a:xfrm>
      </p:grpSpPr>
      <p:sp>
        <p:nvSpPr>
          <p:cNvPr id="2" name="Text 0"/>
          <p:cNvSpPr txBox="1"/>
          <p:nvPr/>
        </p:nvSpPr>
        <p:spPr>
          <a:xfrm>
            <a:off x="596899" y="368299"/>
            <a:ext cx="1904995" cy="330199"/>
          </a:xfrm>
          <a:prstGeom prst="rect">
            <a:avLst/>
          </a:prstGeom>
          <a:noFill/>
          <a:ln/>
        </p:spPr>
        <p:txBody>
          <a:bodyPr wrap="square" lIns="0" tIns="0" rIns="0" bIns="0" rtlCol="0" anchor="ctr"/>
          <a:lstStyle/>
          <a:p>
            <a:pPr algn="l" indent="0" marL="0">
              <a:buNone/>
            </a:pPr>
            <a:r>
              <a:rPr lang="en-US" sz="1800" b="1" dirty="0">
                <a:solidFill>
                  <a:srgbClr val="1C2230"/>
                </a:solidFill>
                <a:latin typeface="Arial" pitchFamily="34" charset="0"/>
                <a:ea typeface="Arial" pitchFamily="34" charset="-122"/>
                <a:cs typeface="Arial" pitchFamily="34" charset="-120"/>
              </a:rPr>
              <a:t>LINK</a:t>
            </a:r>
            <a:pPr algn="l" indent="0" marL="0">
              <a:buNone/>
            </a:pPr>
            <a:r>
              <a:rPr lang="en-US" sz="1800" b="1" dirty="0">
                <a:solidFill>
                  <a:srgbClr val="38B6FF"/>
                </a:solidFill>
                <a:latin typeface="Arial" pitchFamily="34" charset="0"/>
                <a:ea typeface="Arial" pitchFamily="34" charset="-122"/>
                <a:cs typeface="Arial" pitchFamily="34" charset="-120"/>
              </a:rPr>
              <a:t>.</a:t>
            </a:r>
            <a:endParaRPr lang="en-US" sz="1800" dirty="0"/>
          </a:p>
        </p:txBody>
      </p:sp>
      <p:sp>
        <p:nvSpPr>
          <p:cNvPr id="3" name="Text 1"/>
          <p:cNvSpPr txBox="1"/>
          <p:nvPr/>
        </p:nvSpPr>
        <p:spPr>
          <a:xfrm>
            <a:off x="609598" y="6381734"/>
            <a:ext cx="5714986" cy="228599"/>
          </a:xfrm>
          <a:prstGeom prst="rect">
            <a:avLst/>
          </a:prstGeom>
          <a:noFill/>
          <a:ln/>
        </p:spPr>
        <p:txBody>
          <a:bodyPr wrap="square" lIns="0" tIns="0" rIns="0" bIns="0" rtlCol="0" anchor="ctr"/>
          <a:lstStyle/>
          <a:p>
            <a:pPr algn="l" indent="0" marL="0">
              <a:buNone/>
            </a:pPr>
            <a:r>
              <a:rPr lang="en-US" sz="750" b="1" spc="100" kern="0" dirty="0">
                <a:solidFill>
                  <a:srgbClr val="6F6A5C"/>
                </a:solidFill>
                <a:latin typeface="Arial" pitchFamily="34" charset="0"/>
                <a:ea typeface="Arial" pitchFamily="34" charset="-122"/>
                <a:cs typeface="Arial" pitchFamily="34" charset="-120"/>
              </a:rPr>
              <a:t>LINK. · Kennismaking Portrelo</a:t>
            </a:r>
            <a:endParaRPr lang="en-US" sz="750" dirty="0"/>
          </a:p>
        </p:txBody>
      </p:sp>
      <p:sp>
        <p:nvSpPr>
          <p:cNvPr id="4" name="Text 2"/>
          <p:cNvSpPr txBox="1"/>
          <p:nvPr/>
        </p:nvSpPr>
        <p:spPr>
          <a:xfrm>
            <a:off x="9677376" y="6381734"/>
            <a:ext cx="1904995" cy="228599"/>
          </a:xfrm>
          <a:prstGeom prst="rect">
            <a:avLst/>
          </a:prstGeom>
          <a:noFill/>
          <a:ln/>
        </p:spPr>
        <p:txBody>
          <a:bodyPr wrap="square" lIns="0" tIns="0" rIns="0" bIns="0" rtlCol="0" anchor="ctr"/>
          <a:lstStyle/>
          <a:p>
            <a:pPr algn="r" indent="0" marL="0">
              <a:buNone/>
            </a:pPr>
            <a:r>
              <a:rPr lang="en-US" sz="750" b="1" spc="100" kern="0" dirty="0">
                <a:solidFill>
                  <a:srgbClr val="6F6A5C"/>
                </a:solidFill>
                <a:latin typeface="Arial" pitchFamily="34" charset="0"/>
                <a:ea typeface="Arial" pitchFamily="34" charset="-122"/>
                <a:cs typeface="Arial" pitchFamily="34" charset="-120"/>
              </a:rPr>
              <a:t>9 / 10</a:t>
            </a:r>
            <a:endParaRPr lang="en-US" sz="750" dirty="0"/>
          </a:p>
        </p:txBody>
      </p:sp>
      <p:sp>
        <p:nvSpPr>
          <p:cNvPr id="5" name="Text 3"/>
          <p:cNvSpPr txBox="1"/>
          <p:nvPr/>
        </p:nvSpPr>
        <p:spPr>
          <a:xfrm>
            <a:off x="609598" y="1206497"/>
            <a:ext cx="10159975" cy="215899"/>
          </a:xfrm>
          <a:prstGeom prst="rect">
            <a:avLst/>
          </a:prstGeom>
          <a:noFill/>
          <a:ln/>
        </p:spPr>
        <p:txBody>
          <a:bodyPr wrap="square" lIns="0" tIns="0" rIns="0" bIns="0" rtlCol="0" anchor="ctr"/>
          <a:lstStyle/>
          <a:p>
            <a:pPr algn="l" indent="0" marL="0">
              <a:buNone/>
            </a:pPr>
            <a:r>
              <a:rPr lang="en-US" sz="950" b="1" spc="400" kern="0" dirty="0">
                <a:solidFill>
                  <a:srgbClr val="38B6FF"/>
                </a:solidFill>
                <a:latin typeface="Arial" pitchFamily="34" charset="0"/>
                <a:ea typeface="Arial" pitchFamily="34" charset="-122"/>
                <a:cs typeface="Arial" pitchFamily="34" charset="-120"/>
              </a:rPr>
              <a:t>SPELREGELS</a:t>
            </a:r>
            <a:endParaRPr lang="en-US" sz="950" dirty="0"/>
          </a:p>
        </p:txBody>
      </p:sp>
      <p:sp>
        <p:nvSpPr>
          <p:cNvPr id="6" name="Text 4"/>
          <p:cNvSpPr txBox="1"/>
          <p:nvPr/>
        </p:nvSpPr>
        <p:spPr>
          <a:xfrm>
            <a:off x="609598" y="1511296"/>
            <a:ext cx="10972773" cy="1142997"/>
          </a:xfrm>
          <a:prstGeom prst="rect">
            <a:avLst/>
          </a:prstGeom>
          <a:noFill/>
          <a:ln/>
        </p:spPr>
        <p:txBody>
          <a:bodyPr wrap="square" lIns="0" tIns="0" rIns="0" bIns="0" rtlCol="0" anchor="t"/>
          <a:lstStyle/>
          <a:p>
            <a:pPr algn="l" indent="0" marL="0">
              <a:lnSpc>
                <a:spcPct val="108000"/>
              </a:lnSpc>
              <a:buNone/>
            </a:pPr>
            <a:r>
              <a:rPr lang="en-US" sz="3200" b="1" dirty="0">
                <a:solidFill>
                  <a:srgbClr val="1C2230"/>
                </a:solidFill>
                <a:latin typeface="Arial" pitchFamily="34" charset="0"/>
                <a:ea typeface="Arial" pitchFamily="34" charset="-122"/>
                <a:cs typeface="Arial" pitchFamily="34" charset="-120"/>
              </a:rPr>
              <a:t>Transparant en zonder </a:t>
            </a:r>
            <a:pPr algn="l" indent="0" marL="0">
              <a:lnSpc>
                <a:spcPct val="108000"/>
              </a:lnSpc>
              <a:buNone/>
            </a:pPr>
            <a:r>
              <a:rPr lang="en-US" sz="3000" i="1" dirty="0">
                <a:solidFill>
                  <a:srgbClr val="1C2230"/>
                </a:solidFill>
                <a:latin typeface="Georgia" pitchFamily="34" charset="0"/>
                <a:ea typeface="Georgia" pitchFamily="34" charset="-122"/>
                <a:cs typeface="Georgia" pitchFamily="34" charset="-120"/>
              </a:rPr>
              <a:t>kleine lettertjes</a:t>
            </a:r>
            <a:pPr algn="l" indent="0" marL="0">
              <a:lnSpc>
                <a:spcPct val="108000"/>
              </a:lnSpc>
              <a:buNone/>
            </a:pPr>
            <a:r>
              <a:rPr lang="en-US" sz="3200" b="1" dirty="0">
                <a:solidFill>
                  <a:srgbClr val="1C2230"/>
                </a:solidFill>
                <a:latin typeface="Arial" pitchFamily="34" charset="0"/>
                <a:ea typeface="Arial" pitchFamily="34" charset="-122"/>
                <a:cs typeface="Arial" pitchFamily="34" charset="-120"/>
              </a:rPr>
              <a:t>.</a:t>
            </a:r>
            <a:endParaRPr lang="en-US" sz="3200" dirty="0"/>
          </a:p>
        </p:txBody>
      </p:sp>
      <p:sp>
        <p:nvSpPr>
          <p:cNvPr id="7" name="Shape 5"/>
          <p:cNvSpPr/>
          <p:nvPr/>
        </p:nvSpPr>
        <p:spPr>
          <a:xfrm>
            <a:off x="609598" y="2819393"/>
            <a:ext cx="253999" cy="253999"/>
          </a:xfrm>
          <a:prstGeom prst="roundRect">
            <a:avLst>
              <a:gd name="adj" fmla="val 25000"/>
            </a:avLst>
          </a:prstGeom>
          <a:solidFill>
            <a:srgbClr val="DDEBF3"/>
          </a:solidFill>
          <a:ln/>
        </p:spPr>
      </p:sp>
      <p:pic>
        <p:nvPicPr>
          <p:cNvPr id="8" name="Image 0" descr="preencoded.png">    </p:cNvPr>
          <p:cNvPicPr>
            <a:picLocks noChangeAspect="1"/>
          </p:cNvPicPr>
          <p:nvPr/>
        </p:nvPicPr>
        <p:blipFill>
          <a:blip r:embed="rId1"/>
          <a:stretch>
            <a:fillRect/>
          </a:stretch>
        </p:blipFill>
        <p:spPr>
          <a:xfrm>
            <a:off x="666748" y="2876543"/>
            <a:ext cx="139700" cy="139700"/>
          </a:xfrm>
          <a:prstGeom prst="rect">
            <a:avLst/>
          </a:prstGeom>
        </p:spPr>
      </p:pic>
      <p:sp>
        <p:nvSpPr>
          <p:cNvPr id="9" name="Text 6"/>
          <p:cNvSpPr txBox="1"/>
          <p:nvPr/>
        </p:nvSpPr>
        <p:spPr>
          <a:xfrm>
            <a:off x="1015997" y="2793993"/>
            <a:ext cx="4825988" cy="228599"/>
          </a:xfrm>
          <a:prstGeom prst="rect">
            <a:avLst/>
          </a:prstGeom>
          <a:noFill/>
          <a:ln/>
        </p:spPr>
        <p:txBody>
          <a:bodyPr wrap="square" lIns="0" tIns="0" rIns="0" bIns="0" rtlCol="0" anchor="ctr"/>
          <a:lstStyle/>
          <a:p>
            <a:pPr indent="0" marL="0">
              <a:buNone/>
            </a:pPr>
            <a:r>
              <a:rPr lang="en-US" sz="1200" b="1" dirty="0">
                <a:solidFill>
                  <a:srgbClr val="1C2230"/>
                </a:solidFill>
                <a:latin typeface="Arial" pitchFamily="34" charset="0"/>
                <a:ea typeface="Arial" pitchFamily="34" charset="-122"/>
                <a:cs typeface="Arial" pitchFamily="34" charset="-120"/>
              </a:rPr>
              <a:t>Niet-exclusief</a:t>
            </a:r>
            <a:endParaRPr lang="en-US" sz="1200" dirty="0"/>
          </a:p>
        </p:txBody>
      </p:sp>
      <p:sp>
        <p:nvSpPr>
          <p:cNvPr id="10" name="Text 7"/>
          <p:cNvSpPr txBox="1"/>
          <p:nvPr/>
        </p:nvSpPr>
        <p:spPr>
          <a:xfrm>
            <a:off x="1015997" y="3035292"/>
            <a:ext cx="4825988" cy="355599"/>
          </a:xfrm>
          <a:prstGeom prst="rect">
            <a:avLst/>
          </a:prstGeom>
          <a:noFill/>
          <a:ln/>
        </p:spPr>
        <p:txBody>
          <a:bodyPr wrap="square" lIns="0" tIns="0" rIns="0" bIns="0" rtlCol="0" anchor="t"/>
          <a:lstStyle/>
          <a:p>
            <a:pPr indent="0" marL="0">
              <a:lnSpc>
                <a:spcPct val="130000"/>
              </a:lnSpc>
              <a:buNone/>
            </a:pPr>
            <a:r>
              <a:rPr lang="en-US" sz="950" dirty="0">
                <a:solidFill>
                  <a:srgbClr val="6F6A5C"/>
                </a:solidFill>
                <a:latin typeface="Arial" pitchFamily="34" charset="0"/>
                <a:ea typeface="Arial" pitchFamily="34" charset="-122"/>
                <a:cs typeface="Arial" pitchFamily="34" charset="-120"/>
              </a:rPr>
              <a:t>Jullie zitten nergens aan vast en houden alle vrijheid.</a:t>
            </a:r>
            <a:endParaRPr lang="en-US" sz="950" dirty="0"/>
          </a:p>
        </p:txBody>
      </p:sp>
      <p:sp>
        <p:nvSpPr>
          <p:cNvPr id="11" name="Shape 8"/>
          <p:cNvSpPr/>
          <p:nvPr/>
        </p:nvSpPr>
        <p:spPr>
          <a:xfrm>
            <a:off x="6349984" y="2819393"/>
            <a:ext cx="253999" cy="253999"/>
          </a:xfrm>
          <a:prstGeom prst="roundRect">
            <a:avLst>
              <a:gd name="adj" fmla="val 25000"/>
            </a:avLst>
          </a:prstGeom>
          <a:solidFill>
            <a:srgbClr val="DDEBF3"/>
          </a:solidFill>
          <a:ln/>
        </p:spPr>
      </p:sp>
      <p:pic>
        <p:nvPicPr>
          <p:cNvPr id="12" name="Image 1" descr="preencoded.png">    </p:cNvPr>
          <p:cNvPicPr>
            <a:picLocks noChangeAspect="1"/>
          </p:cNvPicPr>
          <p:nvPr/>
        </p:nvPicPr>
        <p:blipFill>
          <a:blip r:embed="rId2"/>
          <a:stretch>
            <a:fillRect/>
          </a:stretch>
        </p:blipFill>
        <p:spPr>
          <a:xfrm>
            <a:off x="6407134" y="2876543"/>
            <a:ext cx="139700" cy="139700"/>
          </a:xfrm>
          <a:prstGeom prst="rect">
            <a:avLst/>
          </a:prstGeom>
        </p:spPr>
      </p:pic>
      <p:sp>
        <p:nvSpPr>
          <p:cNvPr id="13" name="Text 9"/>
          <p:cNvSpPr txBox="1"/>
          <p:nvPr/>
        </p:nvSpPr>
        <p:spPr>
          <a:xfrm>
            <a:off x="6756383" y="2793993"/>
            <a:ext cx="4825988" cy="228599"/>
          </a:xfrm>
          <a:prstGeom prst="rect">
            <a:avLst/>
          </a:prstGeom>
          <a:noFill/>
          <a:ln/>
        </p:spPr>
        <p:txBody>
          <a:bodyPr wrap="square" lIns="0" tIns="0" rIns="0" bIns="0" rtlCol="0" anchor="ctr"/>
          <a:lstStyle/>
          <a:p>
            <a:pPr indent="0" marL="0">
              <a:buNone/>
            </a:pPr>
            <a:r>
              <a:rPr lang="en-US" sz="1200" b="1" dirty="0">
                <a:solidFill>
                  <a:srgbClr val="1C2230"/>
                </a:solidFill>
                <a:latin typeface="Arial" pitchFamily="34" charset="0"/>
                <a:ea typeface="Arial" pitchFamily="34" charset="-122"/>
                <a:cs typeface="Arial" pitchFamily="34" charset="-120"/>
              </a:rPr>
              <a:t>Bestaande relaties blijven van jullie</a:t>
            </a:r>
            <a:endParaRPr lang="en-US" sz="1200" dirty="0"/>
          </a:p>
        </p:txBody>
      </p:sp>
      <p:sp>
        <p:nvSpPr>
          <p:cNvPr id="14" name="Text 10"/>
          <p:cNvSpPr txBox="1"/>
          <p:nvPr/>
        </p:nvSpPr>
        <p:spPr>
          <a:xfrm>
            <a:off x="6756383" y="3035292"/>
            <a:ext cx="4825988" cy="355599"/>
          </a:xfrm>
          <a:prstGeom prst="rect">
            <a:avLst/>
          </a:prstGeom>
          <a:noFill/>
          <a:ln/>
        </p:spPr>
        <p:txBody>
          <a:bodyPr wrap="square" lIns="0" tIns="0" rIns="0" bIns="0" rtlCol="0" anchor="t"/>
          <a:lstStyle/>
          <a:p>
            <a:pPr indent="0" marL="0">
              <a:lnSpc>
                <a:spcPct val="130000"/>
              </a:lnSpc>
              <a:buNone/>
            </a:pPr>
            <a:r>
              <a:rPr lang="en-US" sz="950" dirty="0">
                <a:solidFill>
                  <a:srgbClr val="6F6A5C"/>
                </a:solidFill>
                <a:latin typeface="Arial" pitchFamily="34" charset="0"/>
                <a:ea typeface="Arial" pitchFamily="34" charset="-122"/>
                <a:cs typeface="Arial" pitchFamily="34" charset="-120"/>
              </a:rPr>
              <a:t>Uitsluitlijst vooraf, die bedrijven benaderen wij niet.</a:t>
            </a:r>
            <a:endParaRPr lang="en-US" sz="950" dirty="0"/>
          </a:p>
        </p:txBody>
      </p:sp>
      <p:sp>
        <p:nvSpPr>
          <p:cNvPr id="15" name="Shape 11"/>
          <p:cNvSpPr/>
          <p:nvPr/>
        </p:nvSpPr>
        <p:spPr>
          <a:xfrm>
            <a:off x="609598" y="3428991"/>
            <a:ext cx="5232387" cy="0"/>
          </a:xfrm>
          <a:prstGeom prst="line">
            <a:avLst/>
          </a:prstGeom>
          <a:noFill/>
          <a:ln w="6350">
            <a:solidFill>
              <a:srgbClr val="C9C2B2"/>
            </a:solidFill>
            <a:prstDash val="solid"/>
          </a:ln>
        </p:spPr>
      </p:sp>
      <p:sp>
        <p:nvSpPr>
          <p:cNvPr id="16" name="Shape 12"/>
          <p:cNvSpPr/>
          <p:nvPr/>
        </p:nvSpPr>
        <p:spPr>
          <a:xfrm>
            <a:off x="609598" y="3530591"/>
            <a:ext cx="253999" cy="253999"/>
          </a:xfrm>
          <a:prstGeom prst="roundRect">
            <a:avLst>
              <a:gd name="adj" fmla="val 25000"/>
            </a:avLst>
          </a:prstGeom>
          <a:solidFill>
            <a:srgbClr val="DDEBF3"/>
          </a:solidFill>
          <a:ln/>
        </p:spPr>
      </p:sp>
      <p:pic>
        <p:nvPicPr>
          <p:cNvPr id="17" name="Image 2" descr="preencoded.png">    </p:cNvPr>
          <p:cNvPicPr>
            <a:picLocks noChangeAspect="1"/>
          </p:cNvPicPr>
          <p:nvPr/>
        </p:nvPicPr>
        <p:blipFill>
          <a:blip r:embed="rId3"/>
          <a:stretch>
            <a:fillRect/>
          </a:stretch>
        </p:blipFill>
        <p:spPr>
          <a:xfrm>
            <a:off x="666748" y="3587741"/>
            <a:ext cx="139700" cy="139700"/>
          </a:xfrm>
          <a:prstGeom prst="rect">
            <a:avLst/>
          </a:prstGeom>
        </p:spPr>
      </p:pic>
      <p:sp>
        <p:nvSpPr>
          <p:cNvPr id="18" name="Text 13"/>
          <p:cNvSpPr txBox="1"/>
          <p:nvPr/>
        </p:nvSpPr>
        <p:spPr>
          <a:xfrm>
            <a:off x="1015997" y="3505191"/>
            <a:ext cx="4825988" cy="228599"/>
          </a:xfrm>
          <a:prstGeom prst="rect">
            <a:avLst/>
          </a:prstGeom>
          <a:noFill/>
          <a:ln/>
        </p:spPr>
        <p:txBody>
          <a:bodyPr wrap="square" lIns="0" tIns="0" rIns="0" bIns="0" rtlCol="0" anchor="ctr"/>
          <a:lstStyle/>
          <a:p>
            <a:pPr indent="0" marL="0">
              <a:buNone/>
            </a:pPr>
            <a:r>
              <a:rPr lang="en-US" sz="1200" b="1" dirty="0">
                <a:solidFill>
                  <a:srgbClr val="1C2230"/>
                </a:solidFill>
                <a:latin typeface="Arial" pitchFamily="34" charset="0"/>
                <a:ea typeface="Arial" pitchFamily="34" charset="-122"/>
                <a:cs typeface="Arial" pitchFamily="34" charset="-120"/>
              </a:rPr>
              <a:t>Werkperiodes van 4 weken</a:t>
            </a:r>
            <a:endParaRPr lang="en-US" sz="1200" dirty="0"/>
          </a:p>
        </p:txBody>
      </p:sp>
      <p:sp>
        <p:nvSpPr>
          <p:cNvPr id="19" name="Text 14"/>
          <p:cNvSpPr txBox="1"/>
          <p:nvPr/>
        </p:nvSpPr>
        <p:spPr>
          <a:xfrm>
            <a:off x="1015997" y="3746491"/>
            <a:ext cx="4825988" cy="355599"/>
          </a:xfrm>
          <a:prstGeom prst="rect">
            <a:avLst/>
          </a:prstGeom>
          <a:noFill/>
          <a:ln/>
        </p:spPr>
        <p:txBody>
          <a:bodyPr wrap="square" lIns="0" tIns="0" rIns="0" bIns="0" rtlCol="0" anchor="t"/>
          <a:lstStyle/>
          <a:p>
            <a:pPr indent="0" marL="0">
              <a:lnSpc>
                <a:spcPct val="130000"/>
              </a:lnSpc>
              <a:buNone/>
            </a:pPr>
            <a:r>
              <a:rPr lang="en-US" sz="950" dirty="0">
                <a:solidFill>
                  <a:srgbClr val="6F6A5C"/>
                </a:solidFill>
                <a:latin typeface="Arial" pitchFamily="34" charset="0"/>
                <a:ea typeface="Arial" pitchFamily="34" charset="-122"/>
                <a:cs typeface="Arial" pitchFamily="34" charset="-120"/>
              </a:rPr>
              <a:t>Vooraf gefactureerd, per werkperiode.</a:t>
            </a:r>
            <a:endParaRPr lang="en-US" sz="950" dirty="0"/>
          </a:p>
        </p:txBody>
      </p:sp>
      <p:sp>
        <p:nvSpPr>
          <p:cNvPr id="20" name="Shape 15"/>
          <p:cNvSpPr/>
          <p:nvPr/>
        </p:nvSpPr>
        <p:spPr>
          <a:xfrm>
            <a:off x="6349984" y="3428991"/>
            <a:ext cx="5232387" cy="0"/>
          </a:xfrm>
          <a:prstGeom prst="line">
            <a:avLst/>
          </a:prstGeom>
          <a:noFill/>
          <a:ln w="6350">
            <a:solidFill>
              <a:srgbClr val="C9C2B2"/>
            </a:solidFill>
            <a:prstDash val="solid"/>
          </a:ln>
        </p:spPr>
      </p:sp>
      <p:sp>
        <p:nvSpPr>
          <p:cNvPr id="21" name="Shape 16"/>
          <p:cNvSpPr/>
          <p:nvPr/>
        </p:nvSpPr>
        <p:spPr>
          <a:xfrm>
            <a:off x="6349984" y="3530591"/>
            <a:ext cx="253999" cy="253999"/>
          </a:xfrm>
          <a:prstGeom prst="roundRect">
            <a:avLst>
              <a:gd name="adj" fmla="val 25000"/>
            </a:avLst>
          </a:prstGeom>
          <a:solidFill>
            <a:srgbClr val="DDEBF3"/>
          </a:solidFill>
          <a:ln/>
        </p:spPr>
      </p:sp>
      <p:pic>
        <p:nvPicPr>
          <p:cNvPr id="22" name="Image 3" descr="preencoded.png">    </p:cNvPr>
          <p:cNvPicPr>
            <a:picLocks noChangeAspect="1"/>
          </p:cNvPicPr>
          <p:nvPr/>
        </p:nvPicPr>
        <p:blipFill>
          <a:blip r:embed="rId4"/>
          <a:stretch>
            <a:fillRect/>
          </a:stretch>
        </p:blipFill>
        <p:spPr>
          <a:xfrm>
            <a:off x="6407134" y="3587741"/>
            <a:ext cx="139700" cy="139700"/>
          </a:xfrm>
          <a:prstGeom prst="rect">
            <a:avLst/>
          </a:prstGeom>
        </p:spPr>
      </p:pic>
      <p:sp>
        <p:nvSpPr>
          <p:cNvPr id="23" name="Text 17"/>
          <p:cNvSpPr txBox="1"/>
          <p:nvPr/>
        </p:nvSpPr>
        <p:spPr>
          <a:xfrm>
            <a:off x="6756383" y="3505191"/>
            <a:ext cx="4825988" cy="228599"/>
          </a:xfrm>
          <a:prstGeom prst="rect">
            <a:avLst/>
          </a:prstGeom>
          <a:noFill/>
          <a:ln/>
        </p:spPr>
        <p:txBody>
          <a:bodyPr wrap="square" lIns="0" tIns="0" rIns="0" bIns="0" rtlCol="0" anchor="ctr"/>
          <a:lstStyle/>
          <a:p>
            <a:pPr indent="0" marL="0">
              <a:buNone/>
            </a:pPr>
            <a:r>
              <a:rPr lang="en-US" sz="1200" b="1" dirty="0">
                <a:solidFill>
                  <a:srgbClr val="1C2230"/>
                </a:solidFill>
                <a:latin typeface="Arial" pitchFamily="34" charset="0"/>
                <a:ea typeface="Arial" pitchFamily="34" charset="-122"/>
                <a:cs typeface="Arial" pitchFamily="34" charset="-120"/>
              </a:rPr>
              <a:t>Wekelijkse rapportage</a:t>
            </a:r>
            <a:endParaRPr lang="en-US" sz="1200" dirty="0"/>
          </a:p>
        </p:txBody>
      </p:sp>
      <p:sp>
        <p:nvSpPr>
          <p:cNvPr id="24" name="Text 18"/>
          <p:cNvSpPr txBox="1"/>
          <p:nvPr/>
        </p:nvSpPr>
        <p:spPr>
          <a:xfrm>
            <a:off x="6756383" y="3746491"/>
            <a:ext cx="4825988" cy="355599"/>
          </a:xfrm>
          <a:prstGeom prst="rect">
            <a:avLst/>
          </a:prstGeom>
          <a:noFill/>
          <a:ln/>
        </p:spPr>
        <p:txBody>
          <a:bodyPr wrap="square" lIns="0" tIns="0" rIns="0" bIns="0" rtlCol="0" anchor="t"/>
          <a:lstStyle/>
          <a:p>
            <a:pPr indent="0" marL="0">
              <a:lnSpc>
                <a:spcPct val="130000"/>
              </a:lnSpc>
              <a:buNone/>
            </a:pPr>
            <a:r>
              <a:rPr lang="en-US" sz="950" dirty="0">
                <a:solidFill>
                  <a:srgbClr val="6F6A5C"/>
                </a:solidFill>
                <a:latin typeface="Arial" pitchFamily="34" charset="0"/>
                <a:ea typeface="Arial" pitchFamily="34" charset="-122"/>
                <a:cs typeface="Arial" pitchFamily="34" charset="-120"/>
              </a:rPr>
              <a:t>Elke week zicht op wat er gebeurd is en wat het opleverde.</a:t>
            </a:r>
            <a:endParaRPr lang="en-US" sz="950" dirty="0"/>
          </a:p>
        </p:txBody>
      </p:sp>
      <p:sp>
        <p:nvSpPr>
          <p:cNvPr id="25" name="Shape 19"/>
          <p:cNvSpPr/>
          <p:nvPr/>
        </p:nvSpPr>
        <p:spPr>
          <a:xfrm>
            <a:off x="609598" y="4140190"/>
            <a:ext cx="5232387" cy="0"/>
          </a:xfrm>
          <a:prstGeom prst="line">
            <a:avLst/>
          </a:prstGeom>
          <a:noFill/>
          <a:ln w="6350">
            <a:solidFill>
              <a:srgbClr val="C9C2B2"/>
            </a:solidFill>
            <a:prstDash val="solid"/>
          </a:ln>
        </p:spPr>
      </p:sp>
      <p:sp>
        <p:nvSpPr>
          <p:cNvPr id="26" name="Shape 20"/>
          <p:cNvSpPr/>
          <p:nvPr/>
        </p:nvSpPr>
        <p:spPr>
          <a:xfrm>
            <a:off x="609598" y="4241789"/>
            <a:ext cx="253999" cy="253999"/>
          </a:xfrm>
          <a:prstGeom prst="roundRect">
            <a:avLst>
              <a:gd name="adj" fmla="val 25000"/>
            </a:avLst>
          </a:prstGeom>
          <a:solidFill>
            <a:srgbClr val="DDEBF3"/>
          </a:solidFill>
          <a:ln/>
        </p:spPr>
      </p:sp>
      <p:pic>
        <p:nvPicPr>
          <p:cNvPr id="27" name="Image 4" descr="preencoded.png">    </p:cNvPr>
          <p:cNvPicPr>
            <a:picLocks noChangeAspect="1"/>
          </p:cNvPicPr>
          <p:nvPr/>
        </p:nvPicPr>
        <p:blipFill>
          <a:blip r:embed="rId5"/>
          <a:stretch>
            <a:fillRect/>
          </a:stretch>
        </p:blipFill>
        <p:spPr>
          <a:xfrm>
            <a:off x="666748" y="4298939"/>
            <a:ext cx="139700" cy="139700"/>
          </a:xfrm>
          <a:prstGeom prst="rect">
            <a:avLst/>
          </a:prstGeom>
        </p:spPr>
      </p:pic>
      <p:sp>
        <p:nvSpPr>
          <p:cNvPr id="28" name="Text 21"/>
          <p:cNvSpPr txBox="1"/>
          <p:nvPr/>
        </p:nvSpPr>
        <p:spPr>
          <a:xfrm>
            <a:off x="1015997" y="4216389"/>
            <a:ext cx="4825988" cy="228599"/>
          </a:xfrm>
          <a:prstGeom prst="rect">
            <a:avLst/>
          </a:prstGeom>
          <a:noFill/>
          <a:ln/>
        </p:spPr>
        <p:txBody>
          <a:bodyPr wrap="square" lIns="0" tIns="0" rIns="0" bIns="0" rtlCol="0" anchor="ctr"/>
          <a:lstStyle/>
          <a:p>
            <a:pPr indent="0" marL="0">
              <a:buNone/>
            </a:pPr>
            <a:r>
              <a:rPr lang="en-US" sz="1200" b="1" dirty="0">
                <a:solidFill>
                  <a:srgbClr val="1C2230"/>
                </a:solidFill>
                <a:latin typeface="Arial" pitchFamily="34" charset="0"/>
                <a:ea typeface="Arial" pitchFamily="34" charset="-122"/>
                <a:cs typeface="Arial" pitchFamily="34" charset="-120"/>
              </a:rPr>
              <a:t>Jullie naam, onze uitvoering</a:t>
            </a:r>
            <a:endParaRPr lang="en-US" sz="1200" dirty="0"/>
          </a:p>
        </p:txBody>
      </p:sp>
      <p:sp>
        <p:nvSpPr>
          <p:cNvPr id="29" name="Text 22"/>
          <p:cNvSpPr txBox="1"/>
          <p:nvPr/>
        </p:nvSpPr>
        <p:spPr>
          <a:xfrm>
            <a:off x="1015997" y="4457689"/>
            <a:ext cx="4825988" cy="355599"/>
          </a:xfrm>
          <a:prstGeom prst="rect">
            <a:avLst/>
          </a:prstGeom>
          <a:noFill/>
          <a:ln/>
        </p:spPr>
        <p:txBody>
          <a:bodyPr wrap="square" lIns="0" tIns="0" rIns="0" bIns="0" rtlCol="0" anchor="t"/>
          <a:lstStyle/>
          <a:p>
            <a:pPr indent="0" marL="0">
              <a:lnSpc>
                <a:spcPct val="130000"/>
              </a:lnSpc>
              <a:buNone/>
            </a:pPr>
            <a:r>
              <a:rPr lang="en-US" sz="950" dirty="0">
                <a:solidFill>
                  <a:srgbClr val="6F6A5C"/>
                </a:solidFill>
                <a:latin typeface="Arial" pitchFamily="34" charset="0"/>
                <a:ea typeface="Arial" pitchFamily="34" charset="-122"/>
                <a:cs typeface="Arial" pitchFamily="34" charset="-120"/>
              </a:rPr>
              <a:t>Regionaal nummer en jullie stijl, wij voeren uit.</a:t>
            </a:r>
            <a:endParaRPr lang="en-US" sz="950" dirty="0"/>
          </a:p>
        </p:txBody>
      </p:sp>
      <p:sp>
        <p:nvSpPr>
          <p:cNvPr id="30" name="Shape 23"/>
          <p:cNvSpPr/>
          <p:nvPr/>
        </p:nvSpPr>
        <p:spPr>
          <a:xfrm>
            <a:off x="6349984" y="4140190"/>
            <a:ext cx="5232387" cy="0"/>
          </a:xfrm>
          <a:prstGeom prst="line">
            <a:avLst/>
          </a:prstGeom>
          <a:noFill/>
          <a:ln w="6350">
            <a:solidFill>
              <a:srgbClr val="C9C2B2"/>
            </a:solidFill>
            <a:prstDash val="solid"/>
          </a:ln>
        </p:spPr>
      </p:sp>
      <p:sp>
        <p:nvSpPr>
          <p:cNvPr id="31" name="Shape 24"/>
          <p:cNvSpPr/>
          <p:nvPr/>
        </p:nvSpPr>
        <p:spPr>
          <a:xfrm>
            <a:off x="6349984" y="4241789"/>
            <a:ext cx="253999" cy="253999"/>
          </a:xfrm>
          <a:prstGeom prst="roundRect">
            <a:avLst>
              <a:gd name="adj" fmla="val 25000"/>
            </a:avLst>
          </a:prstGeom>
          <a:solidFill>
            <a:srgbClr val="DDEBF3"/>
          </a:solidFill>
          <a:ln/>
        </p:spPr>
      </p:sp>
      <p:pic>
        <p:nvPicPr>
          <p:cNvPr id="32" name="Image 5" descr="preencoded.png">    </p:cNvPr>
          <p:cNvPicPr>
            <a:picLocks noChangeAspect="1"/>
          </p:cNvPicPr>
          <p:nvPr/>
        </p:nvPicPr>
        <p:blipFill>
          <a:blip r:embed="rId6"/>
          <a:stretch>
            <a:fillRect/>
          </a:stretch>
        </p:blipFill>
        <p:spPr>
          <a:xfrm>
            <a:off x="6407134" y="4298939"/>
            <a:ext cx="139700" cy="139700"/>
          </a:xfrm>
          <a:prstGeom prst="rect">
            <a:avLst/>
          </a:prstGeom>
        </p:spPr>
      </p:pic>
      <p:sp>
        <p:nvSpPr>
          <p:cNvPr id="33" name="Text 25"/>
          <p:cNvSpPr txBox="1"/>
          <p:nvPr/>
        </p:nvSpPr>
        <p:spPr>
          <a:xfrm>
            <a:off x="6756383" y="4216389"/>
            <a:ext cx="4825988" cy="228599"/>
          </a:xfrm>
          <a:prstGeom prst="rect">
            <a:avLst/>
          </a:prstGeom>
          <a:noFill/>
          <a:ln/>
        </p:spPr>
        <p:txBody>
          <a:bodyPr wrap="square" lIns="0" tIns="0" rIns="0" bIns="0" rtlCol="0" anchor="ctr"/>
          <a:lstStyle/>
          <a:p>
            <a:pPr indent="0" marL="0">
              <a:buNone/>
            </a:pPr>
            <a:r>
              <a:rPr lang="en-US" sz="1200" b="1" dirty="0">
                <a:solidFill>
                  <a:srgbClr val="1C2230"/>
                </a:solidFill>
                <a:latin typeface="Arial" pitchFamily="34" charset="0"/>
                <a:ea typeface="Arial" pitchFamily="34" charset="-122"/>
                <a:cs typeface="Arial" pitchFamily="34" charset="-120"/>
              </a:rPr>
              <a:t>Gegevens veilig</a:t>
            </a:r>
            <a:endParaRPr lang="en-US" sz="1200" dirty="0"/>
          </a:p>
        </p:txBody>
      </p:sp>
      <p:sp>
        <p:nvSpPr>
          <p:cNvPr id="34" name="Text 26"/>
          <p:cNvSpPr txBox="1"/>
          <p:nvPr/>
        </p:nvSpPr>
        <p:spPr>
          <a:xfrm>
            <a:off x="6756383" y="4457689"/>
            <a:ext cx="4825988" cy="355599"/>
          </a:xfrm>
          <a:prstGeom prst="rect">
            <a:avLst/>
          </a:prstGeom>
          <a:noFill/>
          <a:ln/>
        </p:spPr>
        <p:txBody>
          <a:bodyPr wrap="square" lIns="0" tIns="0" rIns="0" bIns="0" rtlCol="0" anchor="t"/>
          <a:lstStyle/>
          <a:p>
            <a:pPr indent="0" marL="0">
              <a:lnSpc>
                <a:spcPct val="130000"/>
              </a:lnSpc>
              <a:buNone/>
            </a:pPr>
            <a:r>
              <a:rPr lang="en-US" sz="950" dirty="0">
                <a:solidFill>
                  <a:srgbClr val="6F6A5C"/>
                </a:solidFill>
                <a:latin typeface="Arial" pitchFamily="34" charset="0"/>
                <a:ea typeface="Arial" pitchFamily="34" charset="-122"/>
                <a:cs typeface="Arial" pitchFamily="34" charset="-120"/>
              </a:rPr>
              <a:t>Vastgelegd in een verwerkersovereenkomst.</a:t>
            </a:r>
            <a:endParaRPr lang="en-US" sz="950" dirty="0"/>
          </a:p>
        </p:txBody>
      </p:sp>
      <p:sp>
        <p:nvSpPr>
          <p:cNvPr id="35" name="Shape 27"/>
          <p:cNvSpPr/>
          <p:nvPr/>
        </p:nvSpPr>
        <p:spPr>
          <a:xfrm>
            <a:off x="609598" y="4851388"/>
            <a:ext cx="5232387" cy="0"/>
          </a:xfrm>
          <a:prstGeom prst="line">
            <a:avLst/>
          </a:prstGeom>
          <a:noFill/>
          <a:ln w="6350">
            <a:solidFill>
              <a:srgbClr val="C9C2B2"/>
            </a:solidFill>
            <a:prstDash val="solid"/>
          </a:ln>
        </p:spPr>
      </p:sp>
      <p:sp>
        <p:nvSpPr>
          <p:cNvPr id="36" name="Shape 28"/>
          <p:cNvSpPr/>
          <p:nvPr/>
        </p:nvSpPr>
        <p:spPr>
          <a:xfrm>
            <a:off x="609598" y="4952988"/>
            <a:ext cx="253999" cy="253999"/>
          </a:xfrm>
          <a:prstGeom prst="roundRect">
            <a:avLst>
              <a:gd name="adj" fmla="val 25000"/>
            </a:avLst>
          </a:prstGeom>
          <a:solidFill>
            <a:srgbClr val="DDEBF3"/>
          </a:solidFill>
          <a:ln/>
        </p:spPr>
      </p:sp>
      <p:pic>
        <p:nvPicPr>
          <p:cNvPr id="37" name="Image 6" descr="preencoded.png">    </p:cNvPr>
          <p:cNvPicPr>
            <a:picLocks noChangeAspect="1"/>
          </p:cNvPicPr>
          <p:nvPr/>
        </p:nvPicPr>
        <p:blipFill>
          <a:blip r:embed="rId7"/>
          <a:stretch>
            <a:fillRect/>
          </a:stretch>
        </p:blipFill>
        <p:spPr>
          <a:xfrm>
            <a:off x="666748" y="5010137"/>
            <a:ext cx="139700" cy="139700"/>
          </a:xfrm>
          <a:prstGeom prst="rect">
            <a:avLst/>
          </a:prstGeom>
        </p:spPr>
      </p:pic>
      <p:sp>
        <p:nvSpPr>
          <p:cNvPr id="38" name="Text 29"/>
          <p:cNvSpPr txBox="1"/>
          <p:nvPr/>
        </p:nvSpPr>
        <p:spPr>
          <a:xfrm>
            <a:off x="1015997" y="4927588"/>
            <a:ext cx="4825988" cy="228599"/>
          </a:xfrm>
          <a:prstGeom prst="rect">
            <a:avLst/>
          </a:prstGeom>
          <a:noFill/>
          <a:ln/>
        </p:spPr>
        <p:txBody>
          <a:bodyPr wrap="square" lIns="0" tIns="0" rIns="0" bIns="0" rtlCol="0" anchor="ctr"/>
          <a:lstStyle/>
          <a:p>
            <a:pPr indent="0" marL="0">
              <a:buNone/>
            </a:pPr>
            <a:r>
              <a:rPr lang="en-US" sz="1200" b="1" dirty="0">
                <a:solidFill>
                  <a:srgbClr val="1C2230"/>
                </a:solidFill>
                <a:latin typeface="Arial" pitchFamily="34" charset="0"/>
                <a:ea typeface="Arial" pitchFamily="34" charset="-122"/>
                <a:cs typeface="Arial" pitchFamily="34" charset="-120"/>
              </a:rPr>
              <a:t>Evaluatie om de week</a:t>
            </a:r>
            <a:endParaRPr lang="en-US" sz="1200" dirty="0"/>
          </a:p>
        </p:txBody>
      </p:sp>
      <p:sp>
        <p:nvSpPr>
          <p:cNvPr id="39" name="Text 30"/>
          <p:cNvSpPr txBox="1"/>
          <p:nvPr/>
        </p:nvSpPr>
        <p:spPr>
          <a:xfrm>
            <a:off x="1015997" y="5168887"/>
            <a:ext cx="4825988" cy="355599"/>
          </a:xfrm>
          <a:prstGeom prst="rect">
            <a:avLst/>
          </a:prstGeom>
          <a:noFill/>
          <a:ln/>
        </p:spPr>
        <p:txBody>
          <a:bodyPr wrap="square" lIns="0" tIns="0" rIns="0" bIns="0" rtlCol="0" anchor="t"/>
          <a:lstStyle/>
          <a:p>
            <a:pPr indent="0" marL="0">
              <a:lnSpc>
                <a:spcPct val="130000"/>
              </a:lnSpc>
              <a:buNone/>
            </a:pPr>
            <a:r>
              <a:rPr lang="en-US" sz="950" dirty="0">
                <a:solidFill>
                  <a:srgbClr val="6F6A5C"/>
                </a:solidFill>
                <a:latin typeface="Arial" pitchFamily="34" charset="0"/>
                <a:ea typeface="Arial" pitchFamily="34" charset="-122"/>
                <a:cs typeface="Arial" pitchFamily="34" charset="-120"/>
              </a:rPr>
              <a:t>Bij twijfel om tafel en bijsturen.</a:t>
            </a:r>
            <a:endParaRPr lang="en-US" sz="950" dirty="0"/>
          </a:p>
        </p:txBody>
      </p:sp>
      <p:sp>
        <p:nvSpPr>
          <p:cNvPr id="40" name="Shape 31"/>
          <p:cNvSpPr/>
          <p:nvPr/>
        </p:nvSpPr>
        <p:spPr>
          <a:xfrm>
            <a:off x="6349984" y="4851388"/>
            <a:ext cx="5232387" cy="0"/>
          </a:xfrm>
          <a:prstGeom prst="line">
            <a:avLst/>
          </a:prstGeom>
          <a:noFill/>
          <a:ln w="6350">
            <a:solidFill>
              <a:srgbClr val="C9C2B2"/>
            </a:solidFill>
            <a:prstDash val="solid"/>
          </a:ln>
        </p:spPr>
      </p:sp>
      <p:sp>
        <p:nvSpPr>
          <p:cNvPr id="41" name="Shape 32"/>
          <p:cNvSpPr/>
          <p:nvPr/>
        </p:nvSpPr>
        <p:spPr>
          <a:xfrm>
            <a:off x="6349984" y="4952988"/>
            <a:ext cx="253999" cy="253999"/>
          </a:xfrm>
          <a:prstGeom prst="roundRect">
            <a:avLst>
              <a:gd name="adj" fmla="val 25000"/>
            </a:avLst>
          </a:prstGeom>
          <a:solidFill>
            <a:srgbClr val="DDEBF3"/>
          </a:solidFill>
          <a:ln/>
        </p:spPr>
      </p:sp>
      <p:pic>
        <p:nvPicPr>
          <p:cNvPr id="42" name="Image 7" descr="preencoded.png">    </p:cNvPr>
          <p:cNvPicPr>
            <a:picLocks noChangeAspect="1"/>
          </p:cNvPicPr>
          <p:nvPr/>
        </p:nvPicPr>
        <p:blipFill>
          <a:blip r:embed="rId8"/>
          <a:stretch>
            <a:fillRect/>
          </a:stretch>
        </p:blipFill>
        <p:spPr>
          <a:xfrm>
            <a:off x="6407134" y="5010137"/>
            <a:ext cx="139700" cy="139700"/>
          </a:xfrm>
          <a:prstGeom prst="rect">
            <a:avLst/>
          </a:prstGeom>
        </p:spPr>
      </p:pic>
      <p:sp>
        <p:nvSpPr>
          <p:cNvPr id="43" name="Text 33"/>
          <p:cNvSpPr txBox="1"/>
          <p:nvPr/>
        </p:nvSpPr>
        <p:spPr>
          <a:xfrm>
            <a:off x="6756383" y="4927588"/>
            <a:ext cx="4825988" cy="228599"/>
          </a:xfrm>
          <a:prstGeom prst="rect">
            <a:avLst/>
          </a:prstGeom>
          <a:noFill/>
          <a:ln/>
        </p:spPr>
        <p:txBody>
          <a:bodyPr wrap="square" lIns="0" tIns="0" rIns="0" bIns="0" rtlCol="0" anchor="ctr"/>
          <a:lstStyle/>
          <a:p>
            <a:pPr indent="0" marL="0">
              <a:buNone/>
            </a:pPr>
            <a:r>
              <a:rPr lang="en-US" sz="1200" b="1" dirty="0">
                <a:solidFill>
                  <a:srgbClr val="1C2230"/>
                </a:solidFill>
                <a:latin typeface="Arial" pitchFamily="34" charset="0"/>
                <a:ea typeface="Arial" pitchFamily="34" charset="-122"/>
                <a:cs typeface="Arial" pitchFamily="34" charset="-120"/>
              </a:rPr>
              <a:t>Alles op papier</a:t>
            </a:r>
            <a:endParaRPr lang="en-US" sz="1200" dirty="0"/>
          </a:p>
        </p:txBody>
      </p:sp>
      <p:sp>
        <p:nvSpPr>
          <p:cNvPr id="44" name="Text 34"/>
          <p:cNvSpPr txBox="1"/>
          <p:nvPr/>
        </p:nvSpPr>
        <p:spPr>
          <a:xfrm>
            <a:off x="6756383" y="5168887"/>
            <a:ext cx="4825988" cy="355599"/>
          </a:xfrm>
          <a:prstGeom prst="rect">
            <a:avLst/>
          </a:prstGeom>
          <a:noFill/>
          <a:ln/>
        </p:spPr>
        <p:txBody>
          <a:bodyPr wrap="square" lIns="0" tIns="0" rIns="0" bIns="0" rtlCol="0" anchor="t"/>
          <a:lstStyle/>
          <a:p>
            <a:pPr indent="0" marL="0">
              <a:lnSpc>
                <a:spcPct val="130000"/>
              </a:lnSpc>
              <a:buNone/>
            </a:pPr>
            <a:r>
              <a:rPr lang="en-US" sz="950" dirty="0">
                <a:solidFill>
                  <a:srgbClr val="6F6A5C"/>
                </a:solidFill>
                <a:latin typeface="Arial" pitchFamily="34" charset="0"/>
                <a:ea typeface="Arial" pitchFamily="34" charset="-122"/>
                <a:cs typeface="Arial" pitchFamily="34" charset="-120"/>
              </a:rPr>
              <a:t>Vastgelegd in een korte samenwerkingsovereenkomst.</a:t>
            </a:r>
            <a:endParaRPr lang="en-US" sz="95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141821"/>
        </a:solidFill>
      </p:bgPr>
    </p:bg>
    <p:spTree>
      <p:nvGrpSpPr>
        <p:cNvPr id="1" name=""/>
        <p:cNvGrpSpPr/>
        <p:nvPr/>
      </p:nvGrpSpPr>
      <p:grpSpPr>
        <a:xfrm>
          <a:off x="0" y="0"/>
          <a:ext cx="0" cy="0"/>
          <a:chOff x="0" y="0"/>
          <a:chExt cx="0" cy="0"/>
        </a:xfrm>
      </p:grpSpPr>
      <p:sp>
        <p:nvSpPr>
          <p:cNvPr id="2" name="Text 0"/>
          <p:cNvSpPr txBox="1"/>
          <p:nvPr/>
        </p:nvSpPr>
        <p:spPr>
          <a:xfrm>
            <a:off x="596899" y="368299"/>
            <a:ext cx="1904995" cy="330199"/>
          </a:xfrm>
          <a:prstGeom prst="rect">
            <a:avLst/>
          </a:prstGeom>
          <a:noFill/>
          <a:ln/>
        </p:spPr>
        <p:txBody>
          <a:bodyPr wrap="square" lIns="0" tIns="0" rIns="0" bIns="0" rtlCol="0" anchor="ctr"/>
          <a:lstStyle/>
          <a:p>
            <a:pPr algn="l" indent="0" marL="0">
              <a:buNone/>
            </a:pPr>
            <a:r>
              <a:rPr lang="en-US" sz="1800" b="1" dirty="0">
                <a:solidFill>
                  <a:srgbClr val="F2EFE6"/>
                </a:solidFill>
                <a:latin typeface="Arial" pitchFamily="34" charset="0"/>
                <a:ea typeface="Arial" pitchFamily="34" charset="-122"/>
                <a:cs typeface="Arial" pitchFamily="34" charset="-120"/>
              </a:rPr>
              <a:t>LINK</a:t>
            </a:r>
            <a:pPr algn="l" indent="0" marL="0">
              <a:buNone/>
            </a:pPr>
            <a:r>
              <a:rPr lang="en-US" sz="1800" b="1" dirty="0">
                <a:solidFill>
                  <a:srgbClr val="38B6FF"/>
                </a:solidFill>
                <a:latin typeface="Arial" pitchFamily="34" charset="0"/>
                <a:ea typeface="Arial" pitchFamily="34" charset="-122"/>
                <a:cs typeface="Arial" pitchFamily="34" charset="-120"/>
              </a:rPr>
              <a:t>.</a:t>
            </a:r>
            <a:endParaRPr lang="en-US" sz="1800" dirty="0"/>
          </a:p>
        </p:txBody>
      </p:sp>
      <p:sp>
        <p:nvSpPr>
          <p:cNvPr id="3" name="Text 1"/>
          <p:cNvSpPr txBox="1"/>
          <p:nvPr/>
        </p:nvSpPr>
        <p:spPr>
          <a:xfrm>
            <a:off x="609598" y="6381734"/>
            <a:ext cx="5714986" cy="228599"/>
          </a:xfrm>
          <a:prstGeom prst="rect">
            <a:avLst/>
          </a:prstGeom>
          <a:noFill/>
          <a:ln/>
        </p:spPr>
        <p:txBody>
          <a:bodyPr wrap="square" lIns="0" tIns="0" rIns="0" bIns="0" rtlCol="0" anchor="ctr"/>
          <a:lstStyle/>
          <a:p>
            <a:pPr algn="l" indent="0" marL="0">
              <a:buNone/>
            </a:pPr>
            <a:r>
              <a:rPr lang="en-US" sz="750" b="1" spc="100" kern="0" dirty="0">
                <a:solidFill>
                  <a:srgbClr val="BDC3CE"/>
                </a:solidFill>
                <a:latin typeface="Arial" pitchFamily="34" charset="0"/>
                <a:ea typeface="Arial" pitchFamily="34" charset="-122"/>
                <a:cs typeface="Arial" pitchFamily="34" charset="-120"/>
              </a:rPr>
              <a:t>LINK. · Kennismaking Portrelo</a:t>
            </a:r>
            <a:endParaRPr lang="en-US" sz="750" dirty="0"/>
          </a:p>
        </p:txBody>
      </p:sp>
      <p:sp>
        <p:nvSpPr>
          <p:cNvPr id="4" name="Text 2"/>
          <p:cNvSpPr txBox="1"/>
          <p:nvPr/>
        </p:nvSpPr>
        <p:spPr>
          <a:xfrm>
            <a:off x="9677376" y="6381734"/>
            <a:ext cx="1904995" cy="228599"/>
          </a:xfrm>
          <a:prstGeom prst="rect">
            <a:avLst/>
          </a:prstGeom>
          <a:noFill/>
          <a:ln/>
        </p:spPr>
        <p:txBody>
          <a:bodyPr wrap="square" lIns="0" tIns="0" rIns="0" bIns="0" rtlCol="0" anchor="ctr"/>
          <a:lstStyle/>
          <a:p>
            <a:pPr algn="r" indent="0" marL="0">
              <a:buNone/>
            </a:pPr>
            <a:r>
              <a:rPr lang="en-US" sz="750" b="1" spc="100" kern="0" dirty="0">
                <a:solidFill>
                  <a:srgbClr val="BDC3CE"/>
                </a:solidFill>
                <a:latin typeface="Arial" pitchFamily="34" charset="0"/>
                <a:ea typeface="Arial" pitchFamily="34" charset="-122"/>
                <a:cs typeface="Arial" pitchFamily="34" charset="-120"/>
              </a:rPr>
              <a:t>10 / 10</a:t>
            </a:r>
            <a:endParaRPr lang="en-US" sz="750" dirty="0"/>
          </a:p>
        </p:txBody>
      </p:sp>
      <p:sp>
        <p:nvSpPr>
          <p:cNvPr id="5" name="Text 3"/>
          <p:cNvSpPr txBox="1"/>
          <p:nvPr/>
        </p:nvSpPr>
        <p:spPr>
          <a:xfrm>
            <a:off x="609598" y="1206497"/>
            <a:ext cx="10159975" cy="215899"/>
          </a:xfrm>
          <a:prstGeom prst="rect">
            <a:avLst/>
          </a:prstGeom>
          <a:noFill/>
          <a:ln/>
        </p:spPr>
        <p:txBody>
          <a:bodyPr wrap="square" lIns="0" tIns="0" rIns="0" bIns="0" rtlCol="0" anchor="ctr"/>
          <a:lstStyle/>
          <a:p>
            <a:pPr algn="l" indent="0" marL="0">
              <a:buNone/>
            </a:pPr>
            <a:r>
              <a:rPr lang="en-US" sz="950" b="1" spc="400" kern="0" dirty="0">
                <a:solidFill>
                  <a:srgbClr val="38B6FF"/>
                </a:solidFill>
                <a:latin typeface="Arial" pitchFamily="34" charset="0"/>
                <a:ea typeface="Arial" pitchFamily="34" charset="-122"/>
                <a:cs typeface="Arial" pitchFamily="34" charset="-120"/>
              </a:rPr>
              <a:t>VOLGENDE STAP</a:t>
            </a:r>
            <a:endParaRPr lang="en-US" sz="950" dirty="0"/>
          </a:p>
        </p:txBody>
      </p:sp>
      <p:sp>
        <p:nvSpPr>
          <p:cNvPr id="6" name="Text 4"/>
          <p:cNvSpPr txBox="1"/>
          <p:nvPr/>
        </p:nvSpPr>
        <p:spPr>
          <a:xfrm>
            <a:off x="609598" y="1511296"/>
            <a:ext cx="10972773" cy="1142997"/>
          </a:xfrm>
          <a:prstGeom prst="rect">
            <a:avLst/>
          </a:prstGeom>
          <a:noFill/>
          <a:ln/>
        </p:spPr>
        <p:txBody>
          <a:bodyPr wrap="square" lIns="0" tIns="0" rIns="0" bIns="0" rtlCol="0" anchor="t"/>
          <a:lstStyle/>
          <a:p>
            <a:pPr algn="l" indent="0" marL="0">
              <a:lnSpc>
                <a:spcPct val="108000"/>
              </a:lnSpc>
              <a:buNone/>
            </a:pPr>
            <a:r>
              <a:rPr lang="en-US" sz="3200" b="1" dirty="0">
                <a:solidFill>
                  <a:srgbClr val="F2EFE6"/>
                </a:solidFill>
                <a:latin typeface="Arial" pitchFamily="34" charset="0"/>
                <a:ea typeface="Arial" pitchFamily="34" charset="-122"/>
                <a:cs typeface="Arial" pitchFamily="34" charset="-120"/>
              </a:rPr>
              <a:t>Akkoord op de pilot? Dan plannen we de </a:t>
            </a:r>
            <a:pPr algn="l" indent="0" marL="0">
              <a:lnSpc>
                <a:spcPct val="108000"/>
              </a:lnSpc>
              <a:buNone/>
            </a:pPr>
            <a:r>
              <a:rPr lang="en-US" sz="3000" i="1" dirty="0">
                <a:solidFill>
                  <a:srgbClr val="F2EFE6"/>
                </a:solidFill>
                <a:latin typeface="Georgia" pitchFamily="34" charset="0"/>
                <a:ea typeface="Georgia" pitchFamily="34" charset="-122"/>
                <a:cs typeface="Georgia" pitchFamily="34" charset="-120"/>
              </a:rPr>
              <a:t>kick-off</a:t>
            </a:r>
            <a:pPr algn="l" indent="0" marL="0">
              <a:lnSpc>
                <a:spcPct val="108000"/>
              </a:lnSpc>
              <a:buNone/>
            </a:pPr>
            <a:r>
              <a:rPr lang="en-US" sz="3200" b="1" dirty="0">
                <a:solidFill>
                  <a:srgbClr val="F2EFE6"/>
                </a:solidFill>
                <a:latin typeface="Arial" pitchFamily="34" charset="0"/>
                <a:ea typeface="Arial" pitchFamily="34" charset="-122"/>
                <a:cs typeface="Arial" pitchFamily="34" charset="-120"/>
              </a:rPr>
              <a:t>.</a:t>
            </a:r>
            <a:endParaRPr lang="en-US" sz="3200" dirty="0"/>
          </a:p>
        </p:txBody>
      </p:sp>
      <p:sp>
        <p:nvSpPr>
          <p:cNvPr id="7" name="Shape 5"/>
          <p:cNvSpPr/>
          <p:nvPr/>
        </p:nvSpPr>
        <p:spPr>
          <a:xfrm>
            <a:off x="609598" y="2920993"/>
            <a:ext cx="304799" cy="304799"/>
          </a:xfrm>
          <a:prstGeom prst="ellipse">
            <a:avLst/>
          </a:prstGeom>
          <a:ln w="15240">
            <a:solidFill>
              <a:srgbClr val="38B6FF"/>
            </a:solidFill>
            <a:prstDash val="solid"/>
          </a:ln>
        </p:spPr>
      </p:sp>
      <p:sp>
        <p:nvSpPr>
          <p:cNvPr id="8" name="Text 6"/>
          <p:cNvSpPr txBox="1"/>
          <p:nvPr/>
        </p:nvSpPr>
        <p:spPr>
          <a:xfrm>
            <a:off x="609598" y="2920993"/>
            <a:ext cx="304799" cy="304799"/>
          </a:xfrm>
          <a:prstGeom prst="rect">
            <a:avLst/>
          </a:prstGeom>
          <a:noFill/>
          <a:ln/>
        </p:spPr>
        <p:txBody>
          <a:bodyPr wrap="square" lIns="0" tIns="0" rIns="0" bIns="0" rtlCol="0" anchor="ctr"/>
          <a:lstStyle/>
          <a:p>
            <a:pPr algn="ctr" indent="0" marL="0">
              <a:buNone/>
            </a:pPr>
            <a:r>
              <a:rPr lang="en-US" sz="1050" b="1" dirty="0">
                <a:solidFill>
                  <a:srgbClr val="38B6FF"/>
                </a:solidFill>
                <a:latin typeface="Arial" pitchFamily="34" charset="0"/>
                <a:ea typeface="Arial" pitchFamily="34" charset="-122"/>
                <a:cs typeface="Arial" pitchFamily="34" charset="-120"/>
              </a:rPr>
              <a:t>1</a:t>
            </a:r>
            <a:endParaRPr lang="en-US" sz="1050" dirty="0"/>
          </a:p>
        </p:txBody>
      </p:sp>
      <p:sp>
        <p:nvSpPr>
          <p:cNvPr id="9" name="Text 7"/>
          <p:cNvSpPr txBox="1"/>
          <p:nvPr/>
        </p:nvSpPr>
        <p:spPr>
          <a:xfrm>
            <a:off x="1117597" y="2908293"/>
            <a:ext cx="5460986" cy="253999"/>
          </a:xfrm>
          <a:prstGeom prst="rect">
            <a:avLst/>
          </a:prstGeom>
          <a:noFill/>
          <a:ln/>
        </p:spPr>
        <p:txBody>
          <a:bodyPr wrap="square" lIns="0" tIns="0" rIns="0" bIns="0" rtlCol="0" anchor="ctr"/>
          <a:lstStyle/>
          <a:p>
            <a:pPr indent="0" marL="0">
              <a:buNone/>
            </a:pPr>
            <a:r>
              <a:rPr lang="en-US" sz="1450" b="1" dirty="0">
                <a:solidFill>
                  <a:srgbClr val="F2EFE6"/>
                </a:solidFill>
                <a:latin typeface="Arial" pitchFamily="34" charset="0"/>
                <a:ea typeface="Arial" pitchFamily="34" charset="-122"/>
                <a:cs typeface="Arial" pitchFamily="34" charset="-120"/>
              </a:rPr>
              <a:t>Akkoord</a:t>
            </a:r>
            <a:endParaRPr lang="en-US" sz="1450" dirty="0"/>
          </a:p>
        </p:txBody>
      </p:sp>
      <p:sp>
        <p:nvSpPr>
          <p:cNvPr id="10" name="Text 8"/>
          <p:cNvSpPr txBox="1"/>
          <p:nvPr/>
        </p:nvSpPr>
        <p:spPr>
          <a:xfrm>
            <a:off x="1117597" y="3200392"/>
            <a:ext cx="5460986" cy="444499"/>
          </a:xfrm>
          <a:prstGeom prst="rect">
            <a:avLst/>
          </a:prstGeom>
          <a:noFill/>
          <a:ln/>
        </p:spPr>
        <p:txBody>
          <a:bodyPr wrap="square" lIns="0" tIns="0" rIns="0" bIns="0" rtlCol="0" anchor="t"/>
          <a:lstStyle/>
          <a:p>
            <a:pPr indent="0" marL="0">
              <a:lnSpc>
                <a:spcPct val="130000"/>
              </a:lnSpc>
              <a:buNone/>
            </a:pPr>
            <a:r>
              <a:rPr lang="en-US" sz="1100" dirty="0">
                <a:solidFill>
                  <a:srgbClr val="C2C8D2"/>
                </a:solidFill>
                <a:latin typeface="Arial" pitchFamily="34" charset="0"/>
                <a:ea typeface="Arial" pitchFamily="34" charset="-122"/>
                <a:cs typeface="Arial" pitchFamily="34" charset="-120"/>
              </a:rPr>
              <a:t>Berry geeft akkoord op het pilotvoorstel.</a:t>
            </a:r>
            <a:endParaRPr lang="en-US" sz="1100" dirty="0"/>
          </a:p>
        </p:txBody>
      </p:sp>
      <p:sp>
        <p:nvSpPr>
          <p:cNvPr id="11" name="Shape 9"/>
          <p:cNvSpPr/>
          <p:nvPr/>
        </p:nvSpPr>
        <p:spPr>
          <a:xfrm>
            <a:off x="609598" y="3809990"/>
            <a:ext cx="304799" cy="304799"/>
          </a:xfrm>
          <a:prstGeom prst="ellipse">
            <a:avLst/>
          </a:prstGeom>
          <a:ln w="15240">
            <a:solidFill>
              <a:srgbClr val="38B6FF"/>
            </a:solidFill>
            <a:prstDash val="solid"/>
          </a:ln>
        </p:spPr>
      </p:sp>
      <p:sp>
        <p:nvSpPr>
          <p:cNvPr id="12" name="Text 10"/>
          <p:cNvSpPr txBox="1"/>
          <p:nvPr/>
        </p:nvSpPr>
        <p:spPr>
          <a:xfrm>
            <a:off x="609598" y="3809990"/>
            <a:ext cx="304799" cy="304799"/>
          </a:xfrm>
          <a:prstGeom prst="rect">
            <a:avLst/>
          </a:prstGeom>
          <a:noFill/>
          <a:ln/>
        </p:spPr>
        <p:txBody>
          <a:bodyPr wrap="square" lIns="0" tIns="0" rIns="0" bIns="0" rtlCol="0" anchor="ctr"/>
          <a:lstStyle/>
          <a:p>
            <a:pPr algn="ctr" indent="0" marL="0">
              <a:buNone/>
            </a:pPr>
            <a:r>
              <a:rPr lang="en-US" sz="1050" b="1" dirty="0">
                <a:solidFill>
                  <a:srgbClr val="38B6FF"/>
                </a:solidFill>
                <a:latin typeface="Arial" pitchFamily="34" charset="0"/>
                <a:ea typeface="Arial" pitchFamily="34" charset="-122"/>
                <a:cs typeface="Arial" pitchFamily="34" charset="-120"/>
              </a:rPr>
              <a:t>2</a:t>
            </a:r>
            <a:endParaRPr lang="en-US" sz="1050" dirty="0"/>
          </a:p>
        </p:txBody>
      </p:sp>
      <p:sp>
        <p:nvSpPr>
          <p:cNvPr id="13" name="Text 11"/>
          <p:cNvSpPr txBox="1"/>
          <p:nvPr/>
        </p:nvSpPr>
        <p:spPr>
          <a:xfrm>
            <a:off x="1117597" y="3797291"/>
            <a:ext cx="5460986" cy="253999"/>
          </a:xfrm>
          <a:prstGeom prst="rect">
            <a:avLst/>
          </a:prstGeom>
          <a:noFill/>
          <a:ln/>
        </p:spPr>
        <p:txBody>
          <a:bodyPr wrap="square" lIns="0" tIns="0" rIns="0" bIns="0" rtlCol="0" anchor="ctr"/>
          <a:lstStyle/>
          <a:p>
            <a:pPr indent="0" marL="0">
              <a:buNone/>
            </a:pPr>
            <a:r>
              <a:rPr lang="en-US" sz="1450" b="1" dirty="0">
                <a:solidFill>
                  <a:srgbClr val="F2EFE6"/>
                </a:solidFill>
                <a:latin typeface="Arial" pitchFamily="34" charset="0"/>
                <a:ea typeface="Arial" pitchFamily="34" charset="-122"/>
                <a:cs typeface="Arial" pitchFamily="34" charset="-120"/>
              </a:rPr>
              <a:t>Overeenkomsten</a:t>
            </a:r>
            <a:endParaRPr lang="en-US" sz="1450" dirty="0"/>
          </a:p>
        </p:txBody>
      </p:sp>
      <p:sp>
        <p:nvSpPr>
          <p:cNvPr id="14" name="Text 12"/>
          <p:cNvSpPr txBox="1"/>
          <p:nvPr/>
        </p:nvSpPr>
        <p:spPr>
          <a:xfrm>
            <a:off x="1117597" y="4089390"/>
            <a:ext cx="5460986" cy="444499"/>
          </a:xfrm>
          <a:prstGeom prst="rect">
            <a:avLst/>
          </a:prstGeom>
          <a:noFill/>
          <a:ln/>
        </p:spPr>
        <p:txBody>
          <a:bodyPr wrap="square" lIns="0" tIns="0" rIns="0" bIns="0" rtlCol="0" anchor="t"/>
          <a:lstStyle/>
          <a:p>
            <a:pPr indent="0" marL="0">
              <a:lnSpc>
                <a:spcPct val="130000"/>
              </a:lnSpc>
              <a:buNone/>
            </a:pPr>
            <a:r>
              <a:rPr lang="en-US" sz="1100" dirty="0">
                <a:solidFill>
                  <a:srgbClr val="C2C8D2"/>
                </a:solidFill>
                <a:latin typeface="Arial" pitchFamily="34" charset="0"/>
                <a:ea typeface="Arial" pitchFamily="34" charset="-122"/>
                <a:cs typeface="Arial" pitchFamily="34" charset="-120"/>
              </a:rPr>
              <a:t>LINK. stuurt de samenwerkingsovereenkomst en de verwerkersovereenkomst.</a:t>
            </a:r>
            <a:endParaRPr lang="en-US" sz="1100" dirty="0"/>
          </a:p>
        </p:txBody>
      </p:sp>
      <p:sp>
        <p:nvSpPr>
          <p:cNvPr id="15" name="Shape 13"/>
          <p:cNvSpPr/>
          <p:nvPr/>
        </p:nvSpPr>
        <p:spPr>
          <a:xfrm>
            <a:off x="609598" y="4698988"/>
            <a:ext cx="304799" cy="304799"/>
          </a:xfrm>
          <a:prstGeom prst="ellipse">
            <a:avLst/>
          </a:prstGeom>
          <a:ln w="15240">
            <a:solidFill>
              <a:srgbClr val="38B6FF"/>
            </a:solidFill>
            <a:prstDash val="solid"/>
          </a:ln>
        </p:spPr>
      </p:sp>
      <p:sp>
        <p:nvSpPr>
          <p:cNvPr id="16" name="Text 14"/>
          <p:cNvSpPr txBox="1"/>
          <p:nvPr/>
        </p:nvSpPr>
        <p:spPr>
          <a:xfrm>
            <a:off x="609598" y="4698988"/>
            <a:ext cx="304799" cy="304799"/>
          </a:xfrm>
          <a:prstGeom prst="rect">
            <a:avLst/>
          </a:prstGeom>
          <a:noFill/>
          <a:ln/>
        </p:spPr>
        <p:txBody>
          <a:bodyPr wrap="square" lIns="0" tIns="0" rIns="0" bIns="0" rtlCol="0" anchor="ctr"/>
          <a:lstStyle/>
          <a:p>
            <a:pPr algn="ctr" indent="0" marL="0">
              <a:buNone/>
            </a:pPr>
            <a:r>
              <a:rPr lang="en-US" sz="1050" b="1" dirty="0">
                <a:solidFill>
                  <a:srgbClr val="38B6FF"/>
                </a:solidFill>
                <a:latin typeface="Arial" pitchFamily="34" charset="0"/>
                <a:ea typeface="Arial" pitchFamily="34" charset="-122"/>
                <a:cs typeface="Arial" pitchFamily="34" charset="-120"/>
              </a:rPr>
              <a:t>3</a:t>
            </a:r>
            <a:endParaRPr lang="en-US" sz="1050" dirty="0"/>
          </a:p>
        </p:txBody>
      </p:sp>
      <p:sp>
        <p:nvSpPr>
          <p:cNvPr id="17" name="Text 15"/>
          <p:cNvSpPr txBox="1"/>
          <p:nvPr/>
        </p:nvSpPr>
        <p:spPr>
          <a:xfrm>
            <a:off x="1117597" y="4686288"/>
            <a:ext cx="5460986" cy="253999"/>
          </a:xfrm>
          <a:prstGeom prst="rect">
            <a:avLst/>
          </a:prstGeom>
          <a:noFill/>
          <a:ln/>
        </p:spPr>
        <p:txBody>
          <a:bodyPr wrap="square" lIns="0" tIns="0" rIns="0" bIns="0" rtlCol="0" anchor="ctr"/>
          <a:lstStyle/>
          <a:p>
            <a:pPr indent="0" marL="0">
              <a:buNone/>
            </a:pPr>
            <a:r>
              <a:rPr lang="en-US" sz="1450" b="1" dirty="0">
                <a:solidFill>
                  <a:srgbClr val="F2EFE6"/>
                </a:solidFill>
                <a:latin typeface="Arial" pitchFamily="34" charset="0"/>
                <a:ea typeface="Arial" pitchFamily="34" charset="-122"/>
                <a:cs typeface="Arial" pitchFamily="34" charset="-120"/>
              </a:rPr>
              <a:t>Kick-off</a:t>
            </a:r>
            <a:endParaRPr lang="en-US" sz="1450" dirty="0"/>
          </a:p>
        </p:txBody>
      </p:sp>
      <p:sp>
        <p:nvSpPr>
          <p:cNvPr id="18" name="Text 16"/>
          <p:cNvSpPr txBox="1"/>
          <p:nvPr/>
        </p:nvSpPr>
        <p:spPr>
          <a:xfrm>
            <a:off x="1117597" y="4978388"/>
            <a:ext cx="5460986" cy="444499"/>
          </a:xfrm>
          <a:prstGeom prst="rect">
            <a:avLst/>
          </a:prstGeom>
          <a:noFill/>
          <a:ln/>
        </p:spPr>
        <p:txBody>
          <a:bodyPr wrap="square" lIns="0" tIns="0" rIns="0" bIns="0" rtlCol="0" anchor="t"/>
          <a:lstStyle/>
          <a:p>
            <a:pPr indent="0" marL="0">
              <a:lnSpc>
                <a:spcPct val="130000"/>
              </a:lnSpc>
              <a:buNone/>
            </a:pPr>
            <a:r>
              <a:rPr lang="en-US" sz="1100" dirty="0">
                <a:solidFill>
                  <a:srgbClr val="C2C8D2"/>
                </a:solidFill>
                <a:latin typeface="Arial" pitchFamily="34" charset="0"/>
                <a:ea typeface="Arial" pitchFamily="34" charset="-122"/>
                <a:cs typeface="Arial" pitchFamily="34" charset="-120"/>
              </a:rPr>
              <a:t>We plannen de kick-off en de belstart.</a:t>
            </a:r>
            <a:endParaRPr lang="en-US" sz="1100" dirty="0"/>
          </a:p>
        </p:txBody>
      </p:sp>
      <p:sp>
        <p:nvSpPr>
          <p:cNvPr id="19" name="Shape 17"/>
          <p:cNvSpPr/>
          <p:nvPr/>
        </p:nvSpPr>
        <p:spPr>
          <a:xfrm>
            <a:off x="7645381" y="2920993"/>
            <a:ext cx="3936990" cy="2666993"/>
          </a:xfrm>
          <a:prstGeom prst="roundRect">
            <a:avLst>
              <a:gd name="adj" fmla="val 3810"/>
            </a:avLst>
          </a:prstGeom>
          <a:solidFill>
            <a:srgbClr val="1B2130"/>
          </a:solidFill>
          <a:ln w="9525">
            <a:solidFill>
              <a:srgbClr val="3A4152"/>
            </a:solidFill>
            <a:prstDash val="solid"/>
          </a:ln>
        </p:spPr>
      </p:sp>
      <p:sp>
        <p:nvSpPr>
          <p:cNvPr id="20" name="Text 18"/>
          <p:cNvSpPr txBox="1"/>
          <p:nvPr/>
        </p:nvSpPr>
        <p:spPr>
          <a:xfrm>
            <a:off x="8000980" y="3251192"/>
            <a:ext cx="3225792" cy="355599"/>
          </a:xfrm>
          <a:prstGeom prst="rect">
            <a:avLst/>
          </a:prstGeom>
          <a:noFill/>
          <a:ln/>
        </p:spPr>
        <p:txBody>
          <a:bodyPr wrap="square" lIns="0" tIns="0" rIns="0" bIns="0" rtlCol="0" anchor="ctr"/>
          <a:lstStyle/>
          <a:p>
            <a:pPr indent="0" marL="0">
              <a:buNone/>
            </a:pPr>
            <a:r>
              <a:rPr lang="en-US" sz="2000" b="1" dirty="0">
                <a:solidFill>
                  <a:srgbClr val="F2EFE6"/>
                </a:solidFill>
                <a:latin typeface="Arial" pitchFamily="34" charset="0"/>
                <a:ea typeface="Arial" pitchFamily="34" charset="-122"/>
                <a:cs typeface="Arial" pitchFamily="34" charset="-120"/>
              </a:rPr>
              <a:t>Hens Boer</a:t>
            </a:r>
            <a:endParaRPr lang="en-US" sz="2000" dirty="0"/>
          </a:p>
        </p:txBody>
      </p:sp>
      <p:sp>
        <p:nvSpPr>
          <p:cNvPr id="21" name="Text 19"/>
          <p:cNvSpPr txBox="1"/>
          <p:nvPr/>
        </p:nvSpPr>
        <p:spPr>
          <a:xfrm>
            <a:off x="8000980" y="3644891"/>
            <a:ext cx="3225792" cy="215899"/>
          </a:xfrm>
          <a:prstGeom prst="rect">
            <a:avLst/>
          </a:prstGeom>
          <a:noFill/>
          <a:ln/>
        </p:spPr>
        <p:txBody>
          <a:bodyPr wrap="square" lIns="0" tIns="0" rIns="0" bIns="0" rtlCol="0" anchor="ctr"/>
          <a:lstStyle/>
          <a:p>
            <a:pPr indent="0" marL="0">
              <a:buNone/>
            </a:pPr>
            <a:r>
              <a:rPr lang="en-US" sz="1050" b="1" dirty="0">
                <a:solidFill>
                  <a:srgbClr val="38B6FF"/>
                </a:solidFill>
                <a:latin typeface="Arial" pitchFamily="34" charset="0"/>
                <a:ea typeface="Arial" pitchFamily="34" charset="-122"/>
                <a:cs typeface="Arial" pitchFamily="34" charset="-120"/>
              </a:rPr>
              <a:t>Eigenaar LINK.</a:t>
            </a:r>
            <a:endParaRPr lang="en-US" sz="1050" dirty="0"/>
          </a:p>
        </p:txBody>
      </p:sp>
      <p:sp>
        <p:nvSpPr>
          <p:cNvPr id="22" name="Text 20"/>
          <p:cNvSpPr txBox="1"/>
          <p:nvPr/>
        </p:nvSpPr>
        <p:spPr>
          <a:xfrm>
            <a:off x="8000980" y="4165590"/>
            <a:ext cx="3225792" cy="253999"/>
          </a:xfrm>
          <a:prstGeom prst="rect">
            <a:avLst/>
          </a:prstGeom>
          <a:noFill/>
          <a:ln/>
        </p:spPr>
        <p:txBody>
          <a:bodyPr wrap="square" lIns="0" tIns="0" rIns="0" bIns="0" rtlCol="0" anchor="ctr"/>
          <a:lstStyle/>
          <a:p>
            <a:pPr indent="0" marL="0">
              <a:buNone/>
            </a:pPr>
            <a:r>
              <a:rPr lang="en-US" sz="1100" dirty="0">
                <a:solidFill>
                  <a:srgbClr val="C2C8D2"/>
                </a:solidFill>
                <a:latin typeface="Arial" pitchFamily="34" charset="0"/>
                <a:ea typeface="Arial" pitchFamily="34" charset="-122"/>
                <a:cs typeface="Arial" pitchFamily="34" charset="-120"/>
              </a:rPr>
              <a:t>hens@linkgrp.nl</a:t>
            </a:r>
            <a:endParaRPr lang="en-US" sz="1100" dirty="0"/>
          </a:p>
        </p:txBody>
      </p:sp>
      <p:sp>
        <p:nvSpPr>
          <p:cNvPr id="23" name="Text 21"/>
          <p:cNvSpPr txBox="1"/>
          <p:nvPr/>
        </p:nvSpPr>
        <p:spPr>
          <a:xfrm>
            <a:off x="8000980" y="4521189"/>
            <a:ext cx="3225792" cy="253999"/>
          </a:xfrm>
          <a:prstGeom prst="rect">
            <a:avLst/>
          </a:prstGeom>
          <a:noFill/>
          <a:ln/>
        </p:spPr>
        <p:txBody>
          <a:bodyPr wrap="square" lIns="0" tIns="0" rIns="0" bIns="0" rtlCol="0" anchor="ctr"/>
          <a:lstStyle/>
          <a:p>
            <a:pPr indent="0" marL="0">
              <a:buNone/>
            </a:pPr>
            <a:r>
              <a:rPr lang="en-US" sz="1100" dirty="0">
                <a:solidFill>
                  <a:srgbClr val="C2C8D2"/>
                </a:solidFill>
                <a:latin typeface="Arial" pitchFamily="34" charset="0"/>
                <a:ea typeface="Arial" pitchFamily="34" charset="-122"/>
                <a:cs typeface="Arial" pitchFamily="34" charset="-120"/>
              </a:rPr>
              <a:t>linkgrp.nl</a:t>
            </a:r>
            <a:endParaRPr lang="en-US" sz="1100" dirty="0"/>
          </a:p>
        </p:txBody>
      </p:sp>
      <p:sp>
        <p:nvSpPr>
          <p:cNvPr id="24" name="Text 22"/>
          <p:cNvSpPr txBox="1"/>
          <p:nvPr/>
        </p:nvSpPr>
        <p:spPr>
          <a:xfrm>
            <a:off x="8000980" y="4876788"/>
            <a:ext cx="3225792" cy="253999"/>
          </a:xfrm>
          <a:prstGeom prst="rect">
            <a:avLst/>
          </a:prstGeom>
          <a:noFill/>
          <a:ln/>
        </p:spPr>
        <p:txBody>
          <a:bodyPr wrap="square" lIns="0" tIns="0" rIns="0" bIns="0" rtlCol="0" anchor="ctr"/>
          <a:lstStyle/>
          <a:p>
            <a:pPr indent="0" marL="0">
              <a:buNone/>
            </a:pPr>
            <a:r>
              <a:rPr lang="en-US" sz="1100" dirty="0">
                <a:solidFill>
                  <a:srgbClr val="C2C8D2"/>
                </a:solidFill>
                <a:latin typeface="Arial" pitchFamily="34" charset="0"/>
                <a:ea typeface="Arial" pitchFamily="34" charset="-122"/>
                <a:cs typeface="Arial" pitchFamily="34" charset="-120"/>
              </a:rPr>
              <a:t>Flemingweg 8, Alphen aan den Rijn</a:t>
            </a:r>
            <a:endParaRPr lang="en-US" sz="110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10</Slides>
  <Notes>10</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10</vt:i4>
      </vt:variant>
    </vt:vector>
  </HeadingPairs>
  <TitlesOfParts>
    <vt:vector size="13"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LINK. kennismaking Portrelo</dc:title>
  <dc:subject>PptxGenJS Presentation</dc:subject>
  <dc:creator>LINK.</dc:creator>
  <cp:lastModifiedBy>LINK.</cp:lastModifiedBy>
  <cp:revision>1</cp:revision>
  <dcterms:created xsi:type="dcterms:W3CDTF">2026-09-28T05:55:44Z</dcterms:created>
  <dcterms:modified xsi:type="dcterms:W3CDTF">2026-09-28T05:55:44Z</dcterms:modified>
</cp:coreProperties>
</file>