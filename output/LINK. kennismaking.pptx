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>
            <a:off x="8159730" y="3460741"/>
            <a:ext cx="1111247" cy="984248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70977" y="3460741"/>
            <a:ext cx="1301747" cy="476249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>
            <a:off x="10159975" y="3936990"/>
            <a:ext cx="412749" cy="1206497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>
            <a:off x="8889978" y="5143487"/>
            <a:ext cx="1269997" cy="444499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59730" y="4444989"/>
            <a:ext cx="730248" cy="1142997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H="1">
            <a:off x="9270977" y="2730493"/>
            <a:ext cx="1809745" cy="730248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0572724" y="2730493"/>
            <a:ext cx="507999" cy="1206497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72724" y="3936990"/>
            <a:ext cx="1047747" cy="761998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0159975" y="4698988"/>
            <a:ext cx="1460496" cy="444499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9905975" y="5143487"/>
            <a:ext cx="253999" cy="1111247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89978" y="5587986"/>
            <a:ext cx="1015997" cy="666748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20471" y="4698988"/>
            <a:ext cx="158750" cy="1206497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H="1">
            <a:off x="9905975" y="5905485"/>
            <a:ext cx="1873245" cy="349249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34330" y="4419589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245577" y="3435341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528274" y="3892540"/>
            <a:ext cx="88900" cy="88900"/>
          </a:xfrm>
          <a:prstGeom prst="ellipse">
            <a:avLst/>
          </a:prstGeom>
          <a:solidFill>
            <a:srgbClr val="38B6F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134575" y="5118087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864578" y="5562586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055322" y="2705093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595071" y="4673588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880575" y="6229334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753821" y="5880085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Kennismaking</a:t>
            </a:r>
            <a:endParaRPr lang="en-US" sz="750" dirty="0"/>
          </a:p>
        </p:txBody>
      </p:sp>
      <p:sp>
        <p:nvSpPr>
          <p:cNvPr id="26" name="Text 24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10</a:t>
            </a:r>
            <a:endParaRPr lang="en-US" sz="750" dirty="0"/>
          </a:p>
        </p:txBody>
      </p:sp>
      <p:sp>
        <p:nvSpPr>
          <p:cNvPr id="27" name="Text 25"/>
          <p:cNvSpPr txBox="1"/>
          <p:nvPr/>
        </p:nvSpPr>
        <p:spPr>
          <a:xfrm>
            <a:off x="609598" y="2133595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KENNISMAKING · LINK.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09598" y="2514594"/>
            <a:ext cx="8635978" cy="20319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Structureel </a:t>
            </a:r>
            <a:pPr algn="l" indent="0" marL="0">
              <a:lnSpc>
                <a:spcPct val="105000"/>
              </a:lnSpc>
              <a:buNone/>
            </a:pPr>
            <a:r>
              <a:rPr lang="en-US" sz="5000" i="1" dirty="0">
                <a:solidFill>
                  <a:srgbClr val="F2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nieuwe klanten</a:t>
            </a:r>
            <a:pPr algn="l" indent="0" marL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aan tafel.</a:t>
            </a:r>
            <a:endParaRPr lang="en-US" sz="5200" dirty="0"/>
          </a:p>
        </p:txBody>
      </p:sp>
      <p:sp>
        <p:nvSpPr>
          <p:cNvPr id="29" name="Text 27"/>
          <p:cNvSpPr txBox="1"/>
          <p:nvPr/>
        </p:nvSpPr>
        <p:spPr>
          <a:xfrm>
            <a:off x="609598" y="4711688"/>
            <a:ext cx="6667483" cy="761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we zijn, hoe we werken, wat de pilot van twaalf weken inhoudt en hoe we daarna verder bouwen.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9E0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Kennismaking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10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09598" y="1206497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WIJ ZIJN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09598" y="1511296"/>
            <a:ext cx="10972773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Bellen is een </a:t>
            </a:r>
            <a:pPr algn="l" indent="0" marL="0">
              <a:lnSpc>
                <a:spcPct val="108000"/>
              </a:lnSpc>
              <a:buNone/>
            </a:pPr>
            <a:r>
              <a:rPr lang="en-US" sz="3000" i="1" dirty="0">
                <a:solidFill>
                  <a:srgbClr val="1C22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vak</a:t>
            </a:r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Wij doen niets anders.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609598" y="2692393"/>
            <a:ext cx="6095985" cy="317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spcAft>
                <a:spcPts val="1800"/>
              </a:spcAft>
              <a:buNone/>
            </a:pPr>
            <a:r>
              <a:rPr lang="en-US" sz="1350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is de vaste acquisitiepartner van B2B-bedrijven. Wij bellen dagelijks namens onze klanten en leveren gekwalificeerde afspraken op. Geen lijstjes met namen, maar gesprekken in jullie agenda met een beslisser die weet waarom hij aan tafel zit.</a:t>
            </a:r>
            <a:endParaRPr lang="en-US" sz="1350" dirty="0"/>
          </a:p>
          <a:p>
            <a:pPr indent="0" marL="0">
              <a:lnSpc>
                <a:spcPct val="142000"/>
              </a:lnSpc>
              <a:buNone/>
            </a:pPr>
            <a:r>
              <a:rPr lang="en-US" sz="1350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werken voor bedrijven met een sterke B2B-propositie, in uiteenlopende branches. Geen bureau op afstand, maar een partner die elke week met je schakelt.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899380" y="2666993"/>
            <a:ext cx="3682991" cy="1549396"/>
          </a:xfrm>
          <a:prstGeom prst="roundRect">
            <a:avLst>
              <a:gd name="adj" fmla="val 6557"/>
            </a:avLst>
          </a:prstGeom>
          <a:solidFill>
            <a:srgbClr val="F8F4E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178780" y="2857493"/>
            <a:ext cx="3124192" cy="469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8178780" y="3352792"/>
            <a:ext cx="3124192" cy="241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vast aanspreekpunt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178780" y="3619491"/>
            <a:ext cx="3124192" cy="507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Eén persoon die jullie campagne kent, van script tot rapportage.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899380" y="4368789"/>
            <a:ext cx="3682991" cy="1549396"/>
          </a:xfrm>
          <a:prstGeom prst="roundRect">
            <a:avLst>
              <a:gd name="adj" fmla="val 6557"/>
            </a:avLst>
          </a:prstGeom>
          <a:solidFill>
            <a:srgbClr val="F8F4E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178780" y="4559289"/>
            <a:ext cx="3124192" cy="469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178780" y="5054587"/>
            <a:ext cx="3124192" cy="241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weken per werkperiode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178780" y="5321287"/>
            <a:ext cx="3124192" cy="507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Vaste rapportage en vaste evaluatiemomenten, elke werkperiode opnieuw.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E0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Kennismaking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10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09598" y="1206497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WIJ DOEN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09598" y="1511296"/>
            <a:ext cx="10972773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Eén team dat belt, opvolgt en </a:t>
            </a:r>
            <a:pPr algn="l" indent="0" marL="0">
              <a:lnSpc>
                <a:spcPct val="108000"/>
              </a:lnSpc>
              <a:buNone/>
            </a:pPr>
            <a:r>
              <a:rPr lang="en-US" sz="3000" i="1" dirty="0">
                <a:solidFill>
                  <a:srgbClr val="1C22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afspraken levert</a:t>
            </a:r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09598" y="2793993"/>
            <a:ext cx="2628893" cy="3238492"/>
          </a:xfrm>
          <a:prstGeom prst="roundRect">
            <a:avLst>
              <a:gd name="adj" fmla="val 3865"/>
            </a:avLst>
          </a:prstGeom>
          <a:solidFill>
            <a:srgbClr val="F8F4EB"/>
          </a:solidFill>
          <a:ln/>
        </p:spPr>
      </p:sp>
      <p:sp>
        <p:nvSpPr>
          <p:cNvPr id="8" name="Shape 6"/>
          <p:cNvSpPr/>
          <p:nvPr/>
        </p:nvSpPr>
        <p:spPr>
          <a:xfrm>
            <a:off x="863598" y="3073392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8848" y="3168642"/>
            <a:ext cx="190500" cy="1905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63598" y="3632191"/>
            <a:ext cx="2120895" cy="533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calling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863598" y="4203689"/>
            <a:ext cx="2120895" cy="1587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Ervaren B2B-bellers die het gesprek voeren met de beslisser. Eigen belsysteem, een regionaal telefoonnummer op jullie naam en elk gesprek vastgelegd met notities.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390892" y="2793993"/>
            <a:ext cx="2628893" cy="3238492"/>
          </a:xfrm>
          <a:prstGeom prst="roundRect">
            <a:avLst>
              <a:gd name="adj" fmla="val 3865"/>
            </a:avLst>
          </a:prstGeom>
          <a:solidFill>
            <a:srgbClr val="F8F4EB"/>
          </a:solidFill>
          <a:ln/>
        </p:spPr>
      </p:sp>
      <p:sp>
        <p:nvSpPr>
          <p:cNvPr id="13" name="Shape 10"/>
          <p:cNvSpPr/>
          <p:nvPr/>
        </p:nvSpPr>
        <p:spPr>
          <a:xfrm>
            <a:off x="3644891" y="3073392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0141" y="3168642"/>
            <a:ext cx="190500" cy="1905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644891" y="3632191"/>
            <a:ext cx="2120895" cy="533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en doelgroep</a:t>
            </a:r>
            <a:endParaRPr lang="en-US" sz="1350" dirty="0"/>
          </a:p>
        </p:txBody>
      </p:sp>
      <p:sp>
        <p:nvSpPr>
          <p:cNvPr id="16" name="Text 12"/>
          <p:cNvSpPr txBox="1"/>
          <p:nvPr/>
        </p:nvSpPr>
        <p:spPr>
          <a:xfrm>
            <a:off x="3644891" y="4203689"/>
            <a:ext cx="2120895" cy="1587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Wij bouwen de bellijst op basis van jullie ideale klant: branche, grootte, regio en functie. Bestaande relaties en uitsluitingen halen we er vooraf uit.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6172185" y="2793993"/>
            <a:ext cx="2628893" cy="3238492"/>
          </a:xfrm>
          <a:prstGeom prst="roundRect">
            <a:avLst>
              <a:gd name="adj" fmla="val 3865"/>
            </a:avLst>
          </a:prstGeom>
          <a:solidFill>
            <a:srgbClr val="F8F4EB"/>
          </a:solidFill>
          <a:ln/>
        </p:spPr>
      </p:sp>
      <p:sp>
        <p:nvSpPr>
          <p:cNvPr id="18" name="Shape 14"/>
          <p:cNvSpPr/>
          <p:nvPr/>
        </p:nvSpPr>
        <p:spPr>
          <a:xfrm>
            <a:off x="6426184" y="3073392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1434" y="3168642"/>
            <a:ext cx="190500" cy="1905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426184" y="3632191"/>
            <a:ext cx="2120895" cy="533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Opvolging</a:t>
            </a:r>
            <a:endParaRPr lang="en-US" sz="1350" dirty="0"/>
          </a:p>
        </p:txBody>
      </p:sp>
      <p:sp>
        <p:nvSpPr>
          <p:cNvPr id="21" name="Text 16"/>
          <p:cNvSpPr txBox="1"/>
          <p:nvPr/>
        </p:nvSpPr>
        <p:spPr>
          <a:xfrm>
            <a:off x="6426184" y="4203689"/>
            <a:ext cx="2120895" cy="1587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Terugbelafspraken komen echt terug in de bellijst en warme leads dragen we direct aan jullie over, met de reden en de context erbij.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8953478" y="2793993"/>
            <a:ext cx="2628893" cy="3238492"/>
          </a:xfrm>
          <a:prstGeom prst="roundRect">
            <a:avLst>
              <a:gd name="adj" fmla="val 3865"/>
            </a:avLst>
          </a:prstGeom>
          <a:solidFill>
            <a:srgbClr val="000000"/>
          </a:solidFill>
          <a:ln/>
        </p:spPr>
      </p:sp>
      <p:sp>
        <p:nvSpPr>
          <p:cNvPr id="23" name="Shape 18"/>
          <p:cNvSpPr/>
          <p:nvPr/>
        </p:nvSpPr>
        <p:spPr>
          <a:xfrm>
            <a:off x="9207477" y="3073392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203C55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2727" y="3168642"/>
            <a:ext cx="190500" cy="1905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207477" y="3632191"/>
            <a:ext cx="2120895" cy="533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Gekwalificeerde afspraken</a:t>
            </a:r>
            <a:endParaRPr lang="en-US" sz="1350" dirty="0"/>
          </a:p>
        </p:txBody>
      </p:sp>
      <p:sp>
        <p:nvSpPr>
          <p:cNvPr id="26" name="Text 20"/>
          <p:cNvSpPr txBox="1"/>
          <p:nvPr/>
        </p:nvSpPr>
        <p:spPr>
          <a:xfrm>
            <a:off x="9207477" y="4203689"/>
            <a:ext cx="2120895" cy="1587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resultaat waar we op sturen. Een afspraak staat pas als het bedrijf past, de interesse echt is en de juiste persoon aan tafel zit.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8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Kennismaking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10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09598" y="1206497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HOE EEN SAMENWERKING LOOPT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09598" y="1511296"/>
            <a:ext cx="10972773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kick-off naar </a:t>
            </a:r>
            <a:pPr algn="l" indent="0" marL="0">
              <a:lnSpc>
                <a:spcPct val="108000"/>
              </a:lnSpc>
              <a:buNone/>
            </a:pPr>
            <a:r>
              <a:rPr lang="en-US" sz="3000" i="1" dirty="0">
                <a:solidFill>
                  <a:srgbClr val="F2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afspraken</a:t>
            </a:r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de agenda.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09598" y="2743193"/>
            <a:ext cx="304799" cy="3047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9598" y="2743193"/>
            <a:ext cx="304799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015997" y="2895593"/>
            <a:ext cx="2349494" cy="0"/>
          </a:xfrm>
          <a:prstGeom prst="line">
            <a:avLst/>
          </a:prstGeom>
          <a:noFill/>
          <a:ln w="9525">
            <a:solidFill>
              <a:srgbClr val="38B6FF">
                <a:alpha val="40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9598" y="3213092"/>
            <a:ext cx="2552694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Kick-off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09598" y="3517891"/>
            <a:ext cx="2552694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scherp: doelgroep, beslisser, propositie, bezwaren en wat een goede afspraak voor jullie is. Wij schrijven het belscript, jullie keuren goed.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416291" y="2743193"/>
            <a:ext cx="304799" cy="3047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16291" y="2743193"/>
            <a:ext cx="304799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822690" y="2895593"/>
            <a:ext cx="2349494" cy="0"/>
          </a:xfrm>
          <a:prstGeom prst="line">
            <a:avLst/>
          </a:prstGeom>
          <a:noFill/>
          <a:ln w="9525">
            <a:solidFill>
              <a:srgbClr val="38B6FF">
                <a:alpha val="4000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416291" y="3213092"/>
            <a:ext cx="2552694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Belstart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416291" y="3517891"/>
            <a:ext cx="2552694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Vanaf de eerste maandag na de kick-off bellen we dagelijks. Elke afspraak krijgt een bevestigingsmail naar de prospect en een overdracht met context naar jullie.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22984" y="2743193"/>
            <a:ext cx="304799" cy="3047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22984" y="2743193"/>
            <a:ext cx="304799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629383" y="2895593"/>
            <a:ext cx="2349494" cy="0"/>
          </a:xfrm>
          <a:prstGeom prst="line">
            <a:avLst/>
          </a:prstGeom>
          <a:noFill/>
          <a:ln w="9525">
            <a:solidFill>
              <a:srgbClr val="38B6FF">
                <a:alpha val="4000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22984" y="3213092"/>
            <a:ext cx="2552694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Wekelijkse rapportage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222984" y="3517891"/>
            <a:ext cx="2552694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week een rapport met contactpogingen, gesproken bedrijven, warme uitkomsten, terugbelafspraken en geplande afspraken, plus wat we terughoren uit de markt.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029677" y="2743193"/>
            <a:ext cx="304799" cy="3047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029677" y="2743193"/>
            <a:ext cx="304799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9029677" y="3213092"/>
            <a:ext cx="2552694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Bijsturen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9029677" y="3517891"/>
            <a:ext cx="2552694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Om de week evalueren we samen: klopt de doelgroep, klopt de kwaliteit van de afspraken en wat scherpen we aan.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09598" y="4711688"/>
            <a:ext cx="10972773" cy="1320797"/>
          </a:xfrm>
          <a:prstGeom prst="roundRect">
            <a:avLst>
              <a:gd name="adj" fmla="val 7692"/>
            </a:avLst>
          </a:prstGeom>
          <a:solidFill>
            <a:srgbClr val="1B2130"/>
          </a:solidFill>
          <a:ln w="9525">
            <a:solidFill>
              <a:srgbClr val="3A415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4398" y="4927588"/>
            <a:ext cx="5079987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jullie ontvangen</a:t>
            </a:r>
            <a:endParaRPr lang="en-US" sz="115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398" y="5314937"/>
            <a:ext cx="139700" cy="139700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1142997" y="5295887"/>
            <a:ext cx="5016487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Afspraak in de agenda met bedrijfsinfo, contactpersoon en aanleiding</a:t>
            </a:r>
            <a:endParaRPr lang="en-US" sz="950" dirty="0"/>
          </a:p>
        </p:txBody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784" y="5314937"/>
            <a:ext cx="139700" cy="139700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6629383" y="5295887"/>
            <a:ext cx="5016487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Bevestiging naar de prospect uit jullie naam</a:t>
            </a:r>
            <a:endParaRPr lang="en-US" sz="950" dirty="0"/>
          </a:p>
        </p:txBody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8" y="5619736"/>
            <a:ext cx="139700" cy="139700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1142997" y="5600686"/>
            <a:ext cx="5016487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Wekelijks rapport in PDF plus alle gespreksnotities</a:t>
            </a:r>
            <a:endParaRPr lang="en-US" sz="950" dirty="0"/>
          </a:p>
        </p:txBody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784" y="5619736"/>
            <a:ext cx="139700" cy="139700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6629383" y="5600686"/>
            <a:ext cx="5016487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vast aanspreekpunt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9E0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Kennismaking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10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09598" y="1206497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WIJ EEN GEKWALIFICEERDE AFSPRAAK NOEMEN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09598" y="1511296"/>
            <a:ext cx="10972773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afspraak om de afspraak. </a:t>
            </a:r>
            <a:pPr algn="l" indent="0" marL="0">
              <a:lnSpc>
                <a:spcPct val="108000"/>
              </a:lnSpc>
              <a:buNone/>
            </a:pPr>
            <a:r>
              <a:rPr lang="en-US" sz="3000" i="1" dirty="0">
                <a:solidFill>
                  <a:srgbClr val="1C22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Drie eisen</a:t>
            </a:r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09598" y="2793993"/>
            <a:ext cx="3536941" cy="2476494"/>
          </a:xfrm>
          <a:prstGeom prst="roundRect">
            <a:avLst>
              <a:gd name="adj" fmla="val 4103"/>
            </a:avLst>
          </a:prstGeom>
          <a:solidFill>
            <a:srgbClr val="F8F4EB"/>
          </a:solidFill>
          <a:ln/>
        </p:spPr>
      </p:sp>
      <p:sp>
        <p:nvSpPr>
          <p:cNvPr id="8" name="Shape 6"/>
          <p:cNvSpPr/>
          <p:nvPr/>
        </p:nvSpPr>
        <p:spPr>
          <a:xfrm>
            <a:off x="914398" y="3124192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647" y="3219442"/>
            <a:ext cx="190500" cy="1905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914398" y="3708391"/>
            <a:ext cx="2927343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914398" y="4089390"/>
            <a:ext cx="2927343" cy="952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bedrijf past: branche, omvang en situatie voldoen aan de criteria uit de kick-off.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324339" y="2793993"/>
            <a:ext cx="3536941" cy="2476494"/>
          </a:xfrm>
          <a:prstGeom prst="roundRect">
            <a:avLst>
              <a:gd name="adj" fmla="val 4103"/>
            </a:avLst>
          </a:prstGeom>
          <a:solidFill>
            <a:srgbClr val="F8F4EB"/>
          </a:solidFill>
          <a:ln/>
        </p:spPr>
      </p:sp>
      <p:sp>
        <p:nvSpPr>
          <p:cNvPr id="13" name="Shape 10"/>
          <p:cNvSpPr/>
          <p:nvPr/>
        </p:nvSpPr>
        <p:spPr>
          <a:xfrm>
            <a:off x="4629138" y="3124192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388" y="3219442"/>
            <a:ext cx="190500" cy="1905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629138" y="3708391"/>
            <a:ext cx="2927343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Interesse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4629138" y="4089390"/>
            <a:ext cx="2927343" cy="952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prospect heeft een concrete aanleiding of vraag en neemt bewust de tijd. Wij leggen de aanleiding vast in de overdracht.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8039080" y="2793993"/>
            <a:ext cx="3536941" cy="2476494"/>
          </a:xfrm>
          <a:prstGeom prst="roundRect">
            <a:avLst>
              <a:gd name="adj" fmla="val 4103"/>
            </a:avLst>
          </a:prstGeom>
          <a:solidFill>
            <a:srgbClr val="F8F4EB"/>
          </a:solidFill>
          <a:ln/>
        </p:spPr>
      </p:sp>
      <p:sp>
        <p:nvSpPr>
          <p:cNvPr id="18" name="Shape 14"/>
          <p:cNvSpPr/>
          <p:nvPr/>
        </p:nvSpPr>
        <p:spPr>
          <a:xfrm>
            <a:off x="8343879" y="3124192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9129" y="3219442"/>
            <a:ext cx="190500" cy="1905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343879" y="3708391"/>
            <a:ext cx="2927343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Beslisser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8343879" y="4089390"/>
            <a:ext cx="2927343" cy="952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afspraak staat met iemand die over de aankoop gaat of daar direct invloed op heeft.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609598" y="5854685"/>
            <a:ext cx="76200" cy="76200"/>
          </a:xfrm>
          <a:prstGeom prst="ellipse">
            <a:avLst/>
          </a:prstGeom>
          <a:solidFill>
            <a:srgbClr val="38B6FF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0098" y="5714986"/>
            <a:ext cx="9905975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Valt een afspraak buiten deze eisen, dan telt hij niet mee. Zo blijft het aantal eerlijk en de kwaliteit hoog.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8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Kennismaking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10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09598" y="1206497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STANDAARDPILOT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09598" y="1511296"/>
            <a:ext cx="10972773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Twaalf weken om het te </a:t>
            </a:r>
            <a:pPr algn="l" indent="0" marL="0">
              <a:lnSpc>
                <a:spcPct val="108000"/>
              </a:lnSpc>
              <a:buNone/>
            </a:pPr>
            <a:r>
              <a:rPr lang="en-US" sz="3000" i="1" dirty="0">
                <a:solidFill>
                  <a:srgbClr val="F2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bewijzen</a:t>
            </a:r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09598" y="2463794"/>
            <a:ext cx="2628893" cy="2362194"/>
          </a:xfrm>
          <a:prstGeom prst="roundRect">
            <a:avLst>
              <a:gd name="adj" fmla="val 4301"/>
            </a:avLst>
          </a:prstGeom>
          <a:solidFill>
            <a:srgbClr val="1B2130"/>
          </a:solidFill>
          <a:ln w="9525">
            <a:solidFill>
              <a:srgbClr val="3A41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5498" y="2692393"/>
            <a:ext cx="292099" cy="2920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5498" y="2692393"/>
            <a:ext cx="292099" cy="2920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825498" y="3136892"/>
            <a:ext cx="2197095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Kick-off en belscript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25498" y="3594091"/>
            <a:ext cx="2197095" cy="1079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75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scherp wat we gaan vertellen en bij wie. Wij schrijven het belscript, jullie keuren het goed.</a:t>
            </a:r>
            <a:endParaRPr lang="en-US" sz="875" dirty="0"/>
          </a:p>
        </p:txBody>
      </p:sp>
      <p:sp>
        <p:nvSpPr>
          <p:cNvPr id="12" name="Shape 10"/>
          <p:cNvSpPr/>
          <p:nvPr/>
        </p:nvSpPr>
        <p:spPr>
          <a:xfrm>
            <a:off x="3390892" y="2463794"/>
            <a:ext cx="2628893" cy="2362194"/>
          </a:xfrm>
          <a:prstGeom prst="roundRect">
            <a:avLst>
              <a:gd name="adj" fmla="val 4301"/>
            </a:avLst>
          </a:prstGeom>
          <a:solidFill>
            <a:srgbClr val="1B2130"/>
          </a:solidFill>
          <a:ln w="9525">
            <a:solidFill>
              <a:srgbClr val="3A415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06791" y="2692393"/>
            <a:ext cx="292099" cy="2920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06791" y="2692393"/>
            <a:ext cx="292099" cy="2920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606791" y="3136892"/>
            <a:ext cx="2197095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Bellijst op maat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606791" y="3594091"/>
            <a:ext cx="2197095" cy="1079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75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Wij bouwen de bellijst op jullie ideale klant: branche, grootte, regio en functie. Bestaande relaties en uitsluitingen gaan er vooraf uit.</a:t>
            </a:r>
            <a:endParaRPr lang="en-US" sz="875" dirty="0"/>
          </a:p>
        </p:txBody>
      </p:sp>
      <p:sp>
        <p:nvSpPr>
          <p:cNvPr id="17" name="Shape 15"/>
          <p:cNvSpPr/>
          <p:nvPr/>
        </p:nvSpPr>
        <p:spPr>
          <a:xfrm>
            <a:off x="6172185" y="2463794"/>
            <a:ext cx="2628893" cy="2362194"/>
          </a:xfrm>
          <a:prstGeom prst="roundRect">
            <a:avLst>
              <a:gd name="adj" fmla="val 4301"/>
            </a:avLst>
          </a:prstGeom>
          <a:solidFill>
            <a:srgbClr val="1B2130"/>
          </a:solidFill>
          <a:ln w="9525">
            <a:solidFill>
              <a:srgbClr val="3A415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88084" y="2692393"/>
            <a:ext cx="292099" cy="2920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88084" y="2692393"/>
            <a:ext cx="292099" cy="2920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388084" y="3136892"/>
            <a:ext cx="2197095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Twaalf weken bellen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88084" y="3594091"/>
            <a:ext cx="2197095" cy="1079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75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werkdag bellen met een regionaal nummer op jullie naam. Elke week een rapportage en om de week zitten we samen om bij te sturen.</a:t>
            </a:r>
            <a:endParaRPr lang="en-US" sz="875" dirty="0"/>
          </a:p>
        </p:txBody>
      </p:sp>
      <p:sp>
        <p:nvSpPr>
          <p:cNvPr id="22" name="Shape 20"/>
          <p:cNvSpPr/>
          <p:nvPr/>
        </p:nvSpPr>
        <p:spPr>
          <a:xfrm>
            <a:off x="8953478" y="2463794"/>
            <a:ext cx="2628893" cy="2362194"/>
          </a:xfrm>
          <a:prstGeom prst="roundRect">
            <a:avLst>
              <a:gd name="adj" fmla="val 4301"/>
            </a:avLst>
          </a:prstGeom>
          <a:solidFill>
            <a:srgbClr val="1B2130"/>
          </a:solidFill>
          <a:ln w="15240">
            <a:solidFill>
              <a:srgbClr val="38B6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69377" y="2692393"/>
            <a:ext cx="292099" cy="2920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69377" y="2692393"/>
            <a:ext cx="292099" cy="2920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9169377" y="3136892"/>
            <a:ext cx="2197095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Tien gekwalificeerde afspraken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9169377" y="3594091"/>
            <a:ext cx="2197095" cy="1079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75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afspraak voldoet aan drie eisen: het bedrijf past, de interesse is echt en de juiste persoon zit aan tafel.</a:t>
            </a:r>
            <a:endParaRPr lang="en-US" sz="875" dirty="0"/>
          </a:p>
        </p:txBody>
      </p:sp>
      <p:sp>
        <p:nvSpPr>
          <p:cNvPr id="27" name="Shape 25"/>
          <p:cNvSpPr/>
          <p:nvPr/>
        </p:nvSpPr>
        <p:spPr>
          <a:xfrm>
            <a:off x="609598" y="5079987"/>
            <a:ext cx="10972773" cy="1028697"/>
          </a:xfrm>
          <a:prstGeom prst="roundRect">
            <a:avLst>
              <a:gd name="adj" fmla="val 9877"/>
            </a:avLst>
          </a:prstGeom>
          <a:solidFill>
            <a:srgbClr val="38B6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14398" y="5245087"/>
            <a:ext cx="1904995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914398" y="5410186"/>
            <a:ext cx="1904995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€ 4.950</a:t>
            </a:r>
            <a:endParaRPr lang="en-US" sz="2900" dirty="0"/>
          </a:p>
        </p:txBody>
      </p:sp>
      <p:sp>
        <p:nvSpPr>
          <p:cNvPr id="30" name="Text 28"/>
          <p:cNvSpPr txBox="1"/>
          <p:nvPr/>
        </p:nvSpPr>
        <p:spPr>
          <a:xfrm>
            <a:off x="914398" y="5829285"/>
            <a:ext cx="2031995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excl. btw, alles inbegrepen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3174992" y="5257787"/>
            <a:ext cx="0" cy="673098"/>
          </a:xfrm>
          <a:prstGeom prst="line">
            <a:avLst/>
          </a:prstGeom>
          <a:noFill/>
          <a:ln w="9525">
            <a:solidFill>
              <a:srgbClr val="0D1420">
                <a:alpha val="40000"/>
              </a:srgbClr>
            </a:solidFill>
            <a:prstDash val="solid"/>
          </a:ln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30591" y="5276837"/>
            <a:ext cx="127000" cy="12700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3733791" y="5245087"/>
            <a:ext cx="3555991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Kick-off en belscript</a:t>
            </a:r>
            <a:endParaRPr lang="en-US" sz="900" dirty="0"/>
          </a:p>
        </p:txBody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0582" y="5276837"/>
            <a:ext cx="127000" cy="127000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7543781" y="5245087"/>
            <a:ext cx="3555991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Bellijst op jullie ideale klant</a:t>
            </a:r>
            <a:endParaRPr lang="en-US" sz="900" dirty="0"/>
          </a:p>
        </p:txBody>
      </p:sp>
      <p:pic>
        <p:nvPicPr>
          <p:cNvPr id="3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0591" y="5530836"/>
            <a:ext cx="127000" cy="127000"/>
          </a:xfrm>
          <a:prstGeom prst="rect">
            <a:avLst/>
          </a:prstGeom>
        </p:spPr>
      </p:pic>
      <p:sp>
        <p:nvSpPr>
          <p:cNvPr id="37" name="Text 32"/>
          <p:cNvSpPr txBox="1"/>
          <p:nvPr/>
        </p:nvSpPr>
        <p:spPr>
          <a:xfrm>
            <a:off x="3733791" y="5499086"/>
            <a:ext cx="3555991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Volledige inrichting van belsysteem en nummer</a:t>
            </a:r>
            <a:endParaRPr lang="en-US" sz="900" dirty="0"/>
          </a:p>
        </p:txBody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0582" y="5530836"/>
            <a:ext cx="127000" cy="12700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7543781" y="5499086"/>
            <a:ext cx="3555991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Twaalf weken elke werkdag bellen</a:t>
            </a:r>
            <a:endParaRPr lang="en-US" sz="900" dirty="0"/>
          </a:p>
        </p:txBody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0591" y="5784836"/>
            <a:ext cx="127000" cy="127000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3733791" y="5753086"/>
            <a:ext cx="3555991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Rapportage elke week, evaluatie om de week</a:t>
            </a:r>
            <a:endParaRPr lang="en-US" sz="900" dirty="0"/>
          </a:p>
        </p:txBody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40582" y="5784836"/>
            <a:ext cx="127000" cy="127000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7543781" y="5753086"/>
            <a:ext cx="3555991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Tien gekwalificeerde afspraken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9E0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Kennismaking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10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09598" y="1206497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DE PILOT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09598" y="1511296"/>
            <a:ext cx="10972773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Daarna weet je precies wat </a:t>
            </a:r>
            <a:pPr algn="l" indent="0" marL="0">
              <a:lnSpc>
                <a:spcPct val="108000"/>
              </a:lnSpc>
              <a:buNone/>
            </a:pPr>
            <a:r>
              <a:rPr lang="en-US" sz="3000" i="1" dirty="0">
                <a:solidFill>
                  <a:srgbClr val="1C22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werkt</a:t>
            </a:r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09598" y="2920993"/>
            <a:ext cx="304799" cy="3047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9598" y="2920993"/>
            <a:ext cx="304799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015997" y="3073392"/>
            <a:ext cx="3359142" cy="0"/>
          </a:xfrm>
          <a:prstGeom prst="line">
            <a:avLst/>
          </a:prstGeom>
          <a:noFill/>
          <a:ln w="9525">
            <a:solidFill>
              <a:srgbClr val="38B6FF">
                <a:alpha val="55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9598" y="3390892"/>
            <a:ext cx="3079742" cy="279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Meten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9598" y="3733791"/>
            <a:ext cx="3079742" cy="1396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de pilot weet je wat tien afspraken opleveren: hoe de gesprekken gingen, wat eruit kwam en hoeveel klanten je eruit haalt.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425939" y="2920993"/>
            <a:ext cx="304799" cy="3047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25939" y="2920993"/>
            <a:ext cx="304799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832338" y="3073392"/>
            <a:ext cx="3359142" cy="0"/>
          </a:xfrm>
          <a:prstGeom prst="line">
            <a:avLst/>
          </a:prstGeom>
          <a:noFill/>
          <a:ln w="9525">
            <a:solidFill>
              <a:srgbClr val="38B6FF">
                <a:alpha val="5500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425939" y="3390892"/>
            <a:ext cx="3079742" cy="279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Rekenen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425939" y="3733791"/>
            <a:ext cx="3079742" cy="1396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 weet je ook hoeveel afspraken je nodig hebt voor één nieuwe klant. Niet geschat, maar gewoon geteld.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242279" y="2920993"/>
            <a:ext cx="304799" cy="3047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42279" y="2920993"/>
            <a:ext cx="304799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8242279" y="3390892"/>
            <a:ext cx="3079742" cy="279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Plannen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242279" y="3733791"/>
            <a:ext cx="3079742" cy="1396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Jij zegt hoeveel nieuwe klanten je per vier weken wilt. Wij rekenen terug hoeveel afspraken daarvoor nodig zijn en richten de samenwerking daarop in.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09598" y="5854685"/>
            <a:ext cx="76200" cy="76200"/>
          </a:xfrm>
          <a:prstGeom prst="ellipse">
            <a:avLst/>
          </a:prstGeom>
          <a:solidFill>
            <a:srgbClr val="38B6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00098" y="5714986"/>
            <a:ext cx="9905975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 beslis je over het vervolg met je eigen cijfers in de hand.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9E0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Kennismaking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10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09598" y="1206497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WE VAN JULLIE NODIG HEBBEN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09598" y="1511296"/>
            <a:ext cx="10972773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halve dag van jullie, dan </a:t>
            </a:r>
            <a:pPr algn="l" indent="0" marL="0">
              <a:lnSpc>
                <a:spcPct val="108000"/>
              </a:lnSpc>
              <a:buNone/>
            </a:pPr>
            <a:r>
              <a:rPr lang="en-US" sz="3000" i="1" dirty="0">
                <a:solidFill>
                  <a:srgbClr val="1C22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draaien wij</a:t>
            </a:r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09598" y="2793993"/>
            <a:ext cx="5397487" cy="1530346"/>
          </a:xfrm>
          <a:prstGeom prst="roundRect">
            <a:avLst>
              <a:gd name="adj" fmla="val 6639"/>
            </a:avLst>
          </a:prstGeom>
          <a:solidFill>
            <a:srgbClr val="F8F4EB"/>
          </a:solidFill>
          <a:ln/>
        </p:spPr>
      </p:sp>
      <p:sp>
        <p:nvSpPr>
          <p:cNvPr id="8" name="Shape 6"/>
          <p:cNvSpPr/>
          <p:nvPr/>
        </p:nvSpPr>
        <p:spPr>
          <a:xfrm>
            <a:off x="939798" y="3098792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047" y="3194042"/>
            <a:ext cx="190500" cy="1905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549396" y="3073392"/>
            <a:ext cx="4127490" cy="279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Kick-off sessie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1549396" y="3403591"/>
            <a:ext cx="4063990" cy="698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Anderhalf tot twee uur met de beslisser en degene die de afspraken gaat voeren.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184885" y="2793993"/>
            <a:ext cx="5397487" cy="1530346"/>
          </a:xfrm>
          <a:prstGeom prst="roundRect">
            <a:avLst>
              <a:gd name="adj" fmla="val 6639"/>
            </a:avLst>
          </a:prstGeom>
          <a:solidFill>
            <a:srgbClr val="F8F4EB"/>
          </a:solidFill>
          <a:ln/>
        </p:spPr>
      </p:sp>
      <p:sp>
        <p:nvSpPr>
          <p:cNvPr id="13" name="Shape 10"/>
          <p:cNvSpPr/>
          <p:nvPr/>
        </p:nvSpPr>
        <p:spPr>
          <a:xfrm>
            <a:off x="6515084" y="3098792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0333" y="3194042"/>
            <a:ext cx="190500" cy="1905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124682" y="3073392"/>
            <a:ext cx="4127490" cy="279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Uitsluitlijst</a:t>
            </a:r>
            <a:endParaRPr lang="en-US" sz="1450" dirty="0"/>
          </a:p>
        </p:txBody>
      </p:sp>
      <p:sp>
        <p:nvSpPr>
          <p:cNvPr id="16" name="Text 12"/>
          <p:cNvSpPr txBox="1"/>
          <p:nvPr/>
        </p:nvSpPr>
        <p:spPr>
          <a:xfrm>
            <a:off x="7124682" y="3403591"/>
            <a:ext cx="4063990" cy="698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Bestaande klanten, lopende gesprekken en bedrijven die we niet mogen benaderen.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609598" y="4502139"/>
            <a:ext cx="5397487" cy="1530346"/>
          </a:xfrm>
          <a:prstGeom prst="roundRect">
            <a:avLst>
              <a:gd name="adj" fmla="val 6639"/>
            </a:avLst>
          </a:prstGeom>
          <a:solidFill>
            <a:srgbClr val="F8F4EB"/>
          </a:solidFill>
          <a:ln/>
        </p:spPr>
      </p:sp>
      <p:sp>
        <p:nvSpPr>
          <p:cNvPr id="18" name="Shape 14"/>
          <p:cNvSpPr/>
          <p:nvPr/>
        </p:nvSpPr>
        <p:spPr>
          <a:xfrm>
            <a:off x="939798" y="4806938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047" y="4902188"/>
            <a:ext cx="190500" cy="1905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549396" y="4781538"/>
            <a:ext cx="4127490" cy="279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Goedkeuring belscript</a:t>
            </a:r>
            <a:endParaRPr lang="en-US" sz="1450" dirty="0"/>
          </a:p>
        </p:txBody>
      </p:sp>
      <p:sp>
        <p:nvSpPr>
          <p:cNvPr id="21" name="Text 16"/>
          <p:cNvSpPr txBox="1"/>
          <p:nvPr/>
        </p:nvSpPr>
        <p:spPr>
          <a:xfrm>
            <a:off x="1549396" y="5111737"/>
            <a:ext cx="4063990" cy="698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Wij schrijven, jullie lezen mee en keuren goed.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6184885" y="4502139"/>
            <a:ext cx="5397487" cy="1530346"/>
          </a:xfrm>
          <a:prstGeom prst="roundRect">
            <a:avLst>
              <a:gd name="adj" fmla="val 6639"/>
            </a:avLst>
          </a:prstGeom>
          <a:solidFill>
            <a:srgbClr val="F8F4EB"/>
          </a:solidFill>
          <a:ln/>
        </p:spPr>
      </p:sp>
      <p:sp>
        <p:nvSpPr>
          <p:cNvPr id="23" name="Shape 18"/>
          <p:cNvSpPr/>
          <p:nvPr/>
        </p:nvSpPr>
        <p:spPr>
          <a:xfrm>
            <a:off x="6515084" y="4806938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0333" y="4902188"/>
            <a:ext cx="190500" cy="1905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124682" y="4781538"/>
            <a:ext cx="4127490" cy="279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Opvolging van afspraken</a:t>
            </a:r>
            <a:endParaRPr lang="en-US" sz="1450" dirty="0"/>
          </a:p>
        </p:txBody>
      </p:sp>
      <p:sp>
        <p:nvSpPr>
          <p:cNvPr id="26" name="Text 20"/>
          <p:cNvSpPr txBox="1"/>
          <p:nvPr/>
        </p:nvSpPr>
        <p:spPr>
          <a:xfrm>
            <a:off x="7124682" y="5111737"/>
            <a:ext cx="4063990" cy="698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Eén vaste persoon die de afspraken voert en ons kort laat weten hoe ze verliepen.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E0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Kennismaking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10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09598" y="1206497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SPELREGELS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09598" y="1511296"/>
            <a:ext cx="10972773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Transparant en zonder </a:t>
            </a:r>
            <a:pPr algn="l" indent="0" marL="0">
              <a:lnSpc>
                <a:spcPct val="108000"/>
              </a:lnSpc>
              <a:buNone/>
            </a:pPr>
            <a:r>
              <a:rPr lang="en-US" sz="3000" i="1" dirty="0">
                <a:solidFill>
                  <a:srgbClr val="1C22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kleine lettertjes</a:t>
            </a:r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09598" y="2819393"/>
            <a:ext cx="253999" cy="253999"/>
          </a:xfrm>
          <a:prstGeom prst="roundRect">
            <a:avLst>
              <a:gd name="adj" fmla="val 25000"/>
            </a:avLst>
          </a:prstGeom>
          <a:solidFill>
            <a:srgbClr val="DDEBF3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748" y="2876543"/>
            <a:ext cx="139700" cy="1397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15997" y="2793993"/>
            <a:ext cx="482598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Niet-exclusief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15997" y="3035292"/>
            <a:ext cx="4825988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Jullie zitten nergens aan vast en houden alle vrijheid.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349984" y="2819393"/>
            <a:ext cx="253999" cy="253999"/>
          </a:xfrm>
          <a:prstGeom prst="roundRect">
            <a:avLst>
              <a:gd name="adj" fmla="val 25000"/>
            </a:avLst>
          </a:prstGeom>
          <a:solidFill>
            <a:srgbClr val="DDEBF3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7134" y="2876543"/>
            <a:ext cx="139700" cy="1397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756383" y="2793993"/>
            <a:ext cx="482598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Bestaande relaties blijven van jullie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756383" y="3035292"/>
            <a:ext cx="4825988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Uitsluitlijst vooraf, die bedrijven benaderen wij niet.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609598" y="3428991"/>
            <a:ext cx="5232387" cy="0"/>
          </a:xfrm>
          <a:prstGeom prst="line">
            <a:avLst/>
          </a:prstGeom>
          <a:noFill/>
          <a:ln w="6350">
            <a:solidFill>
              <a:srgbClr val="C9C2B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09598" y="3530591"/>
            <a:ext cx="253999" cy="253999"/>
          </a:xfrm>
          <a:prstGeom prst="roundRect">
            <a:avLst>
              <a:gd name="adj" fmla="val 25000"/>
            </a:avLst>
          </a:prstGeom>
          <a:solidFill>
            <a:srgbClr val="DDEBF3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48" y="3587741"/>
            <a:ext cx="139700" cy="1397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015997" y="3505191"/>
            <a:ext cx="482598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Werkperiodes van 4 weken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1015997" y="3746491"/>
            <a:ext cx="4825988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Vooraf gefactureerd, per werkperiode.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6349984" y="3428991"/>
            <a:ext cx="5232387" cy="0"/>
          </a:xfrm>
          <a:prstGeom prst="line">
            <a:avLst/>
          </a:prstGeom>
          <a:noFill/>
          <a:ln w="6350">
            <a:solidFill>
              <a:srgbClr val="C9C2B2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349984" y="3530591"/>
            <a:ext cx="253999" cy="253999"/>
          </a:xfrm>
          <a:prstGeom prst="roundRect">
            <a:avLst>
              <a:gd name="adj" fmla="val 25000"/>
            </a:avLst>
          </a:prstGeom>
          <a:solidFill>
            <a:srgbClr val="DDEBF3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7134" y="3587741"/>
            <a:ext cx="139700" cy="1397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756383" y="3505191"/>
            <a:ext cx="482598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Wekelijkse rapportage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6756383" y="3746491"/>
            <a:ext cx="4825988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week zicht op wat er gebeurd is en wat het opleverde.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609598" y="4140190"/>
            <a:ext cx="5232387" cy="0"/>
          </a:xfrm>
          <a:prstGeom prst="line">
            <a:avLst/>
          </a:prstGeom>
          <a:noFill/>
          <a:ln w="6350">
            <a:solidFill>
              <a:srgbClr val="C9C2B2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609598" y="4241789"/>
            <a:ext cx="253999" cy="253999"/>
          </a:xfrm>
          <a:prstGeom prst="roundRect">
            <a:avLst>
              <a:gd name="adj" fmla="val 25000"/>
            </a:avLst>
          </a:prstGeom>
          <a:solidFill>
            <a:srgbClr val="DDEBF3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748" y="4298939"/>
            <a:ext cx="139700" cy="1397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015997" y="4216389"/>
            <a:ext cx="482598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Jullie naam, onze uitvoering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015997" y="4457689"/>
            <a:ext cx="4825988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Regionaal nummer en jullie stijl, wij voeren uit.</a:t>
            </a:r>
            <a:endParaRPr lang="en-US" sz="950" dirty="0"/>
          </a:p>
        </p:txBody>
      </p:sp>
      <p:sp>
        <p:nvSpPr>
          <p:cNvPr id="30" name="Shape 23"/>
          <p:cNvSpPr/>
          <p:nvPr/>
        </p:nvSpPr>
        <p:spPr>
          <a:xfrm>
            <a:off x="6349984" y="4140190"/>
            <a:ext cx="5232387" cy="0"/>
          </a:xfrm>
          <a:prstGeom prst="line">
            <a:avLst/>
          </a:prstGeom>
          <a:noFill/>
          <a:ln w="6350">
            <a:solidFill>
              <a:srgbClr val="C9C2B2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349984" y="4241789"/>
            <a:ext cx="253999" cy="253999"/>
          </a:xfrm>
          <a:prstGeom prst="roundRect">
            <a:avLst>
              <a:gd name="adj" fmla="val 25000"/>
            </a:avLst>
          </a:prstGeom>
          <a:solidFill>
            <a:srgbClr val="DDEBF3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7134" y="4298939"/>
            <a:ext cx="139700" cy="1397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6756383" y="4216389"/>
            <a:ext cx="482598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Gegevens veilig</a:t>
            </a:r>
            <a:endParaRPr lang="en-US" sz="1200" dirty="0"/>
          </a:p>
        </p:txBody>
      </p:sp>
      <p:sp>
        <p:nvSpPr>
          <p:cNvPr id="34" name="Text 26"/>
          <p:cNvSpPr txBox="1"/>
          <p:nvPr/>
        </p:nvSpPr>
        <p:spPr>
          <a:xfrm>
            <a:off x="6756383" y="4457689"/>
            <a:ext cx="4825988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Vastgelegd in een verwerkersovereenkomst.</a:t>
            </a:r>
            <a:endParaRPr lang="en-US" sz="950" dirty="0"/>
          </a:p>
        </p:txBody>
      </p:sp>
      <p:sp>
        <p:nvSpPr>
          <p:cNvPr id="35" name="Shape 27"/>
          <p:cNvSpPr/>
          <p:nvPr/>
        </p:nvSpPr>
        <p:spPr>
          <a:xfrm>
            <a:off x="609598" y="4851388"/>
            <a:ext cx="5232387" cy="0"/>
          </a:xfrm>
          <a:prstGeom prst="line">
            <a:avLst/>
          </a:prstGeom>
          <a:noFill/>
          <a:ln w="6350">
            <a:solidFill>
              <a:srgbClr val="C9C2B2"/>
            </a:solidFill>
            <a:prstDash val="solid"/>
          </a:ln>
        </p:spPr>
      </p:sp>
      <p:sp>
        <p:nvSpPr>
          <p:cNvPr id="36" name="Shape 28"/>
          <p:cNvSpPr/>
          <p:nvPr/>
        </p:nvSpPr>
        <p:spPr>
          <a:xfrm>
            <a:off x="609598" y="4952988"/>
            <a:ext cx="253999" cy="253999"/>
          </a:xfrm>
          <a:prstGeom prst="roundRect">
            <a:avLst>
              <a:gd name="adj" fmla="val 25000"/>
            </a:avLst>
          </a:prstGeom>
          <a:solidFill>
            <a:srgbClr val="DDEBF3"/>
          </a:solidFill>
          <a:ln/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6748" y="5010137"/>
            <a:ext cx="139700" cy="1397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015997" y="4927588"/>
            <a:ext cx="482598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Evaluatie om de week</a:t>
            </a:r>
            <a:endParaRPr lang="en-US" sz="1200" dirty="0"/>
          </a:p>
        </p:txBody>
      </p:sp>
      <p:sp>
        <p:nvSpPr>
          <p:cNvPr id="39" name="Text 30"/>
          <p:cNvSpPr txBox="1"/>
          <p:nvPr/>
        </p:nvSpPr>
        <p:spPr>
          <a:xfrm>
            <a:off x="1015997" y="5168887"/>
            <a:ext cx="4825988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Bij twijfel om tafel en bijsturen.</a:t>
            </a:r>
            <a:endParaRPr lang="en-US" sz="950" dirty="0"/>
          </a:p>
        </p:txBody>
      </p:sp>
      <p:sp>
        <p:nvSpPr>
          <p:cNvPr id="40" name="Shape 31"/>
          <p:cNvSpPr/>
          <p:nvPr/>
        </p:nvSpPr>
        <p:spPr>
          <a:xfrm>
            <a:off x="6349984" y="4851388"/>
            <a:ext cx="5232387" cy="0"/>
          </a:xfrm>
          <a:prstGeom prst="line">
            <a:avLst/>
          </a:prstGeom>
          <a:noFill/>
          <a:ln w="6350">
            <a:solidFill>
              <a:srgbClr val="C9C2B2"/>
            </a:solidFill>
            <a:prstDash val="solid"/>
          </a:ln>
        </p:spPr>
      </p:sp>
      <p:sp>
        <p:nvSpPr>
          <p:cNvPr id="41" name="Shape 32"/>
          <p:cNvSpPr/>
          <p:nvPr/>
        </p:nvSpPr>
        <p:spPr>
          <a:xfrm>
            <a:off x="6349984" y="4952988"/>
            <a:ext cx="253999" cy="253999"/>
          </a:xfrm>
          <a:prstGeom prst="roundRect">
            <a:avLst>
              <a:gd name="adj" fmla="val 25000"/>
            </a:avLst>
          </a:prstGeom>
          <a:solidFill>
            <a:srgbClr val="DDEBF3"/>
          </a:solidFill>
          <a:ln/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7134" y="5010137"/>
            <a:ext cx="139700" cy="13970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6756383" y="4927588"/>
            <a:ext cx="482598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op papier</a:t>
            </a:r>
            <a:endParaRPr lang="en-US" sz="1200" dirty="0"/>
          </a:p>
        </p:txBody>
      </p:sp>
      <p:sp>
        <p:nvSpPr>
          <p:cNvPr id="44" name="Text 34"/>
          <p:cNvSpPr txBox="1"/>
          <p:nvPr/>
        </p:nvSpPr>
        <p:spPr>
          <a:xfrm>
            <a:off x="6756383" y="5168887"/>
            <a:ext cx="4825988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Vastgelegd in een korte samenwerkingsovereenkomst.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8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Kennismaking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09598" y="1206497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09598" y="1511296"/>
            <a:ext cx="10972773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Akkoord op de pilot? Dan plannen we de </a:t>
            </a:r>
            <a:pPr algn="l" indent="0" marL="0">
              <a:lnSpc>
                <a:spcPct val="108000"/>
              </a:lnSpc>
              <a:buNone/>
            </a:pPr>
            <a:r>
              <a:rPr lang="en-US" sz="3000" i="1" dirty="0">
                <a:solidFill>
                  <a:srgbClr val="F2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kick-off</a:t>
            </a:r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09598" y="2920993"/>
            <a:ext cx="304799" cy="3047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9598" y="2920993"/>
            <a:ext cx="304799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117597" y="2908293"/>
            <a:ext cx="5460986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Akkoord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1117597" y="3200392"/>
            <a:ext cx="5460986" cy="4444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Jullie geven akkoord op het pilotvoorstel.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9598" y="3809990"/>
            <a:ext cx="304799" cy="3047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9598" y="3809990"/>
            <a:ext cx="304799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117597" y="3797291"/>
            <a:ext cx="5460986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Overeenkomsten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1117597" y="4089390"/>
            <a:ext cx="5460986" cy="4444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stuurt de samenwerkingsovereenkomst en de verwerkersovereenkomst.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9598" y="4698988"/>
            <a:ext cx="304799" cy="3047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9598" y="4698988"/>
            <a:ext cx="304799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117597" y="4686288"/>
            <a:ext cx="5460986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Kick-off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1117597" y="4978388"/>
            <a:ext cx="5460986" cy="4444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plannen de kick-off en de belstart.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645381" y="2920993"/>
            <a:ext cx="3936990" cy="2666993"/>
          </a:xfrm>
          <a:prstGeom prst="roundRect">
            <a:avLst>
              <a:gd name="adj" fmla="val 3810"/>
            </a:avLst>
          </a:prstGeom>
          <a:solidFill>
            <a:srgbClr val="1B2130"/>
          </a:solidFill>
          <a:ln w="9525">
            <a:solidFill>
              <a:srgbClr val="3A415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00980" y="3251192"/>
            <a:ext cx="3225792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Hens Boer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8000980" y="3644891"/>
            <a:ext cx="3225792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Eigenaar LINK.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000980" y="4165590"/>
            <a:ext cx="3225792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hens@linkgrp.nl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000980" y="4521189"/>
            <a:ext cx="3225792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linkgrp.nl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000980" y="4876788"/>
            <a:ext cx="3225792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Flemingweg 8, Alphen aan den Rijn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LINK. kennismaking</dc:title>
  <dc:subject>PptxGenJS Presentation</dc:subject>
  <dc:creator>LINK.</dc:creator>
  <cp:lastModifiedBy>LINK.</cp:lastModifiedBy>
  <cp:revision>1</cp:revision>
  <dcterms:created xsi:type="dcterms:W3CDTF">2026-09-20T10:23:54Z</dcterms:created>
  <dcterms:modified xsi:type="dcterms:W3CDTF">2026-09-20T10:23:54Z</dcterms:modified>
</cp:coreProperties>
</file>