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25"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26"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makelaars · OK Creative Agency</a:t>
            </a:r>
            <a:endParaRPr lang="en-US" sz="750" dirty="0"/>
          </a:p>
        </p:txBody>
      </p:sp>
      <p:sp>
        <p:nvSpPr>
          <p:cNvPr id="27"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12</a:t>
            </a:r>
            <a:endParaRPr lang="en-US" sz="750" dirty="0"/>
          </a:p>
        </p:txBody>
      </p:sp>
      <p:sp>
        <p:nvSpPr>
          <p:cNvPr id="28"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MEES · OK CREATIVE AGENCY · OKTOBER 2026</a:t>
            </a:r>
            <a:endParaRPr lang="en-US" sz="950" dirty="0"/>
          </a:p>
        </p:txBody>
      </p:sp>
      <p:sp>
        <p:nvSpPr>
          <p:cNvPr id="29"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Jullie propositie werkt. Nu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heel Nederland</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30"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Jullie hebben ruim twintig makelaarskantoren zelf benaderd en de reacties zijn goed. Er zijn er in Nederland ruim vijfduizend. Dit voorstel gaat over de rest.</a:t>
            </a:r>
            <a:endParaRPr lang="en-US" sz="1400" dirty="0"/>
          </a:p>
        </p:txBody>
      </p:sp>
      <p:sp>
        <p:nvSpPr>
          <p:cNvPr id="31"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2"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pic>
        <p:nvPicPr>
          <p:cNvPr id="33" name="Image 1" descr="preencoded.png">    </p:cNvPr>
          <p:cNvPicPr>
            <a:picLocks noChangeAspect="1"/>
          </p:cNvPicPr>
          <p:nvPr/>
        </p:nvPicPr>
        <p:blipFill>
          <a:blip r:embed="rId2"/>
          <a:stretch>
            <a:fillRect/>
          </a:stretch>
        </p:blipFill>
        <p:spPr>
          <a:xfrm>
            <a:off x="1854195" y="5587986"/>
            <a:ext cx="660398" cy="6603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WAAROM WIJ</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Jullie maken het werk. Wij zorgen dat het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aan tafel komt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8"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Sinds augustus bellen wij voor jullie in de zakelijke dienstverlening. In die tien weken hebben we 452 directeuren en marketingverantwoordelijken persoonlijk gesproken en veertien afspraken en overdrachten geleverd. We kennen jullie verhaal inmiddels van binnenuit.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De makelaarspropositie is scherper dan alles wat we tot nu toe hebben gebeld. Er is een duidelijke aanleiding, een herkenbare doelgroep en een demo die jullie al hebben gemaakt. Dat is precies het soort campagne dat op volume beter wordt.</a:t>
            </a:r>
            <a:endParaRPr lang="en-US" sz="1350" dirty="0"/>
          </a:p>
        </p:txBody>
      </p:sp>
      <p:sp>
        <p:nvSpPr>
          <p:cNvPr id="9" name="Shape 6"/>
          <p:cNvSpPr/>
          <p:nvPr/>
        </p:nvSpPr>
        <p:spPr>
          <a:xfrm>
            <a:off x="7899380" y="2666993"/>
            <a:ext cx="3682991" cy="1549396"/>
          </a:xfrm>
          <a:prstGeom prst="roundRect">
            <a:avLst>
              <a:gd name="adj" fmla="val 6557"/>
            </a:avLst>
          </a:prstGeom>
          <a:solidFill>
            <a:srgbClr val="F8F4EB"/>
          </a:solidFill>
          <a:ln/>
        </p:spPr>
      </p:sp>
      <p:sp>
        <p:nvSpPr>
          <p:cNvPr id="10"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12</a:t>
            </a:r>
            <a:endParaRPr lang="en-US" sz="3400" dirty="0"/>
          </a:p>
        </p:txBody>
      </p:sp>
      <p:sp>
        <p:nvSpPr>
          <p:cNvPr id="11"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pilot</a:t>
            </a:r>
            <a:endParaRPr lang="en-US" sz="1250" dirty="0"/>
          </a:p>
        </p:txBody>
      </p:sp>
      <p:sp>
        <p:nvSpPr>
          <p:cNvPr id="12"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Van kick-off tot evaluatie, met elke week een rapportage.</a:t>
            </a:r>
            <a:endParaRPr lang="en-US" sz="950" dirty="0"/>
          </a:p>
        </p:txBody>
      </p:sp>
      <p:sp>
        <p:nvSpPr>
          <p:cNvPr id="13" name="Shape 10"/>
          <p:cNvSpPr/>
          <p:nvPr/>
        </p:nvSpPr>
        <p:spPr>
          <a:xfrm>
            <a:off x="7899380" y="4368789"/>
            <a:ext cx="3682991" cy="1549396"/>
          </a:xfrm>
          <a:prstGeom prst="roundRect">
            <a:avLst>
              <a:gd name="adj" fmla="val 6557"/>
            </a:avLst>
          </a:prstGeom>
          <a:solidFill>
            <a:srgbClr val="F8F4EB"/>
          </a:solidFill>
          <a:ln/>
        </p:spPr>
      </p:sp>
      <p:sp>
        <p:nvSpPr>
          <p:cNvPr id="14"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10</a:t>
            </a:r>
            <a:endParaRPr lang="en-US" sz="3400" dirty="0"/>
          </a:p>
        </p:txBody>
      </p:sp>
      <p:sp>
        <p:nvSpPr>
          <p:cNvPr id="15"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gekwalificeerde afspraken</a:t>
            </a:r>
            <a:endParaRPr lang="en-US" sz="1250" dirty="0"/>
          </a:p>
        </p:txBody>
      </p:sp>
      <p:sp>
        <p:nvSpPr>
          <p:cNvPr id="16"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Het aantal waar we ons aan verbinden, voor één vaste prijs.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AANLEIDING</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Jullie hebben de haak al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gevonden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8" name="Shape 5"/>
          <p:cNvSpPr/>
          <p:nvPr/>
        </p:nvSpPr>
        <p:spPr>
          <a:xfrm>
            <a:off x="609598" y="2793993"/>
            <a:ext cx="2628893" cy="3238492"/>
          </a:xfrm>
          <a:prstGeom prst="roundRect">
            <a:avLst>
              <a:gd name="adj" fmla="val 3865"/>
            </a:avLst>
          </a:prstGeom>
          <a:solidFill>
            <a:srgbClr val="F8F4EB"/>
          </a:solidFill>
          <a:ln/>
        </p:spPr>
      </p:sp>
      <p:sp>
        <p:nvSpPr>
          <p:cNvPr id="9" name="Shape 6"/>
          <p:cNvSpPr/>
          <p:nvPr/>
        </p:nvSpPr>
        <p:spPr>
          <a:xfrm>
            <a:off x="863598" y="3073392"/>
            <a:ext cx="380999" cy="380999"/>
          </a:xfrm>
          <a:prstGeom prst="roundRect">
            <a:avLst>
              <a:gd name="adj" fmla="val 23333"/>
            </a:avLst>
          </a:prstGeom>
          <a:solidFill>
            <a:srgbClr val="DDEBF3"/>
          </a:solidFill>
          <a:ln/>
        </p:spPr>
      </p:sp>
      <p:pic>
        <p:nvPicPr>
          <p:cNvPr id="10" name="Image 1" descr="preencoded.png">    </p:cNvPr>
          <p:cNvPicPr>
            <a:picLocks noChangeAspect="1"/>
          </p:cNvPicPr>
          <p:nvPr/>
        </p:nvPicPr>
        <p:blipFill>
          <a:blip r:embed="rId2"/>
          <a:stretch>
            <a:fillRect/>
          </a:stretch>
        </p:blipFill>
        <p:spPr>
          <a:xfrm>
            <a:off x="958848" y="3168642"/>
            <a:ext cx="190500" cy="190500"/>
          </a:xfrm>
          <a:prstGeom prst="rect">
            <a:avLst/>
          </a:prstGeom>
        </p:spPr>
      </p:pic>
      <p:sp>
        <p:nvSpPr>
          <p:cNvPr id="11"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Woningaanbod zonder filters</a:t>
            </a:r>
            <a:endParaRPr lang="en-US" sz="1350" dirty="0"/>
          </a:p>
        </p:txBody>
      </p:sp>
      <p:sp>
        <p:nvSpPr>
          <p:cNvPr id="12"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Dertien pagina's doorklikken zonder één filter. Dat kost de bezoeker geduld en de makelaar een lead. Dit kwam op jullie eigen lijst keer op keer terug.</a:t>
            </a:r>
            <a:endParaRPr lang="en-US" sz="950" dirty="0"/>
          </a:p>
        </p:txBody>
      </p:sp>
      <p:sp>
        <p:nvSpPr>
          <p:cNvPr id="13" name="Shape 9"/>
          <p:cNvSpPr/>
          <p:nvPr/>
        </p:nvSpPr>
        <p:spPr>
          <a:xfrm>
            <a:off x="3390892" y="2793993"/>
            <a:ext cx="2628893" cy="3238492"/>
          </a:xfrm>
          <a:prstGeom prst="roundRect">
            <a:avLst>
              <a:gd name="adj" fmla="val 3865"/>
            </a:avLst>
          </a:prstGeom>
          <a:solidFill>
            <a:srgbClr val="F8F4EB"/>
          </a:solidFill>
          <a:ln/>
        </p:spPr>
      </p:sp>
      <p:sp>
        <p:nvSpPr>
          <p:cNvPr id="14" name="Shape 10"/>
          <p:cNvSpPr/>
          <p:nvPr/>
        </p:nvSpPr>
        <p:spPr>
          <a:xfrm>
            <a:off x="3644891" y="3073392"/>
            <a:ext cx="380999" cy="380999"/>
          </a:xfrm>
          <a:prstGeom prst="roundRect">
            <a:avLst>
              <a:gd name="adj" fmla="val 23333"/>
            </a:avLst>
          </a:prstGeom>
          <a:solidFill>
            <a:srgbClr val="DDEBF3"/>
          </a:solidFill>
          <a:ln/>
        </p:spPr>
      </p:sp>
      <p:pic>
        <p:nvPicPr>
          <p:cNvPr id="15" name="Image 2" descr="preencoded.png">    </p:cNvPr>
          <p:cNvPicPr>
            <a:picLocks noChangeAspect="1"/>
          </p:cNvPicPr>
          <p:nvPr/>
        </p:nvPicPr>
        <p:blipFill>
          <a:blip r:embed="rId3"/>
          <a:stretch>
            <a:fillRect/>
          </a:stretch>
        </p:blipFill>
        <p:spPr>
          <a:xfrm>
            <a:off x="3740141" y="3168642"/>
            <a:ext cx="190500" cy="190500"/>
          </a:xfrm>
          <a:prstGeom prst="rect">
            <a:avLst/>
          </a:prstGeom>
        </p:spPr>
      </p:pic>
      <p:sp>
        <p:nvSpPr>
          <p:cNvPr id="16"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Trage, onoverzichtelijke sites</a:t>
            </a:r>
            <a:endParaRPr lang="en-US" sz="1350" dirty="0"/>
          </a:p>
        </p:txBody>
      </p:sp>
      <p:sp>
        <p:nvSpPr>
          <p:cNvPr id="17"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Beelden die later laden, aanbod dat door elkaar staat, beschikbaar en verkocht naast elkaar. Mooi gemaakt, maar niet gebouwd voor de zoeker.</a:t>
            </a:r>
            <a:endParaRPr lang="en-US" sz="950" dirty="0"/>
          </a:p>
        </p:txBody>
      </p:sp>
      <p:sp>
        <p:nvSpPr>
          <p:cNvPr id="18" name="Shape 13"/>
          <p:cNvSpPr/>
          <p:nvPr/>
        </p:nvSpPr>
        <p:spPr>
          <a:xfrm>
            <a:off x="6172185" y="2793993"/>
            <a:ext cx="2628893" cy="3238492"/>
          </a:xfrm>
          <a:prstGeom prst="roundRect">
            <a:avLst>
              <a:gd name="adj" fmla="val 3865"/>
            </a:avLst>
          </a:prstGeom>
          <a:solidFill>
            <a:srgbClr val="F8F4EB"/>
          </a:solidFill>
          <a:ln/>
        </p:spPr>
      </p:sp>
      <p:sp>
        <p:nvSpPr>
          <p:cNvPr id="19" name="Shape 14"/>
          <p:cNvSpPr/>
          <p:nvPr/>
        </p:nvSpPr>
        <p:spPr>
          <a:xfrm>
            <a:off x="6426184" y="3073392"/>
            <a:ext cx="380999" cy="380999"/>
          </a:xfrm>
          <a:prstGeom prst="roundRect">
            <a:avLst>
              <a:gd name="adj" fmla="val 23333"/>
            </a:avLst>
          </a:prstGeom>
          <a:solidFill>
            <a:srgbClr val="DDEBF3"/>
          </a:solidFill>
          <a:ln/>
        </p:spPr>
      </p:sp>
      <p:pic>
        <p:nvPicPr>
          <p:cNvPr id="20" name="Image 3" descr="preencoded.png">    </p:cNvPr>
          <p:cNvPicPr>
            <a:picLocks noChangeAspect="1"/>
          </p:cNvPicPr>
          <p:nvPr/>
        </p:nvPicPr>
        <p:blipFill>
          <a:blip r:embed="rId4"/>
          <a:stretch>
            <a:fillRect/>
          </a:stretch>
        </p:blipFill>
        <p:spPr>
          <a:xfrm>
            <a:off x="6521434" y="3168642"/>
            <a:ext cx="190500" cy="190500"/>
          </a:xfrm>
          <a:prstGeom prst="rect">
            <a:avLst/>
          </a:prstGeom>
        </p:spPr>
      </p:pic>
      <p:sp>
        <p:nvSpPr>
          <p:cNvPr id="21"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Vindbaarheid die niet klopt</a:t>
            </a:r>
            <a:endParaRPr lang="en-US" sz="1350" dirty="0"/>
          </a:p>
        </p:txBody>
      </p:sp>
      <p:sp>
        <p:nvSpPr>
          <p:cNvPr id="22"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URL-structuren en SEO die niet meebewegen met waar iemand op zoekt. Zichtbaar in één blik, en daarmee een concreet gespreksonderwerp.</a:t>
            </a:r>
            <a:endParaRPr lang="en-US" sz="950" dirty="0"/>
          </a:p>
        </p:txBody>
      </p:sp>
      <p:sp>
        <p:nvSpPr>
          <p:cNvPr id="23" name="Shape 17"/>
          <p:cNvSpPr/>
          <p:nvPr/>
        </p:nvSpPr>
        <p:spPr>
          <a:xfrm>
            <a:off x="8953478" y="2793993"/>
            <a:ext cx="2628893" cy="3238492"/>
          </a:xfrm>
          <a:prstGeom prst="roundRect">
            <a:avLst>
              <a:gd name="adj" fmla="val 3865"/>
            </a:avLst>
          </a:prstGeom>
          <a:solidFill>
            <a:srgbClr val="000000"/>
          </a:solidFill>
          <a:ln/>
        </p:spPr>
      </p:sp>
      <p:sp>
        <p:nvSpPr>
          <p:cNvPr id="24" name="Shape 18"/>
          <p:cNvSpPr/>
          <p:nvPr/>
        </p:nvSpPr>
        <p:spPr>
          <a:xfrm>
            <a:off x="9207477" y="3073392"/>
            <a:ext cx="380999" cy="380999"/>
          </a:xfrm>
          <a:prstGeom prst="roundRect">
            <a:avLst>
              <a:gd name="adj" fmla="val 23333"/>
            </a:avLst>
          </a:prstGeom>
          <a:solidFill>
            <a:srgbClr val="203C55"/>
          </a:solidFill>
          <a:ln/>
        </p:spPr>
      </p:sp>
      <p:pic>
        <p:nvPicPr>
          <p:cNvPr id="25" name="Image 4" descr="preencoded.png">    </p:cNvPr>
          <p:cNvPicPr>
            <a:picLocks noChangeAspect="1"/>
          </p:cNvPicPr>
          <p:nvPr/>
        </p:nvPicPr>
        <p:blipFill>
          <a:blip r:embed="rId5"/>
          <a:stretch>
            <a:fillRect/>
          </a:stretch>
        </p:blipFill>
        <p:spPr>
          <a:xfrm>
            <a:off x="9302727" y="3168642"/>
            <a:ext cx="190500" cy="190500"/>
          </a:xfrm>
          <a:prstGeom prst="rect">
            <a:avLst/>
          </a:prstGeom>
        </p:spPr>
      </p:pic>
      <p:sp>
        <p:nvSpPr>
          <p:cNvPr id="26"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Een platform dat vastloopt</a:t>
            </a:r>
            <a:endParaRPr lang="en-US" sz="1350" dirty="0"/>
          </a:p>
        </p:txBody>
      </p:sp>
      <p:sp>
        <p:nvSpPr>
          <p:cNvPr id="27"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Veel kantoren zitten op een thema dat ze zelf niet meer kunnen onderhouden. Precies het moment waarop vernieuwen bespreekbaar is.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POTENTIEEL</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Twintig kantoren benaderd.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Vijfduizend</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te gaan.</a:t>
            </a:r>
            <a:endParaRPr lang="en-US" sz="3200" dirty="0"/>
          </a:p>
        </p:txBody>
      </p:sp>
      <p:pic>
        <p:nvPicPr>
          <p:cNvPr id="8" name="Image 1" descr="/home/user/Test/assets/kaart-makelaars.png">    </p:cNvPr>
          <p:cNvPicPr>
            <a:picLocks noChangeAspect="1"/>
          </p:cNvPicPr>
          <p:nvPr/>
        </p:nvPicPr>
        <p:blipFill>
          <a:blip r:embed="rId2"/>
          <a:stretch>
            <a:fillRect/>
          </a:stretch>
        </p:blipFill>
        <p:spPr>
          <a:xfrm>
            <a:off x="8851878" y="2619061"/>
            <a:ext cx="2730493" cy="3347056"/>
          </a:xfrm>
          <a:prstGeom prst="rect">
            <a:avLst/>
          </a:prstGeom>
        </p:spPr>
      </p:pic>
      <p:sp>
        <p:nvSpPr>
          <p:cNvPr id="9" name="Text 5"/>
          <p:cNvSpPr txBox="1"/>
          <p:nvPr/>
        </p:nvSpPr>
        <p:spPr>
          <a:xfrm>
            <a:off x="609598" y="2565394"/>
            <a:ext cx="4444989" cy="965198"/>
          </a:xfrm>
          <a:prstGeom prst="rect">
            <a:avLst/>
          </a:prstGeom>
          <a:noFill/>
          <a:ln/>
        </p:spPr>
        <p:txBody>
          <a:bodyPr wrap="square" lIns="0" tIns="0" rIns="0" bIns="0" rtlCol="0" anchor="t"/>
          <a:lstStyle/>
          <a:p>
            <a:pPr indent="0" marL="0">
              <a:lnSpc>
                <a:spcPct val="145000"/>
              </a:lnSpc>
              <a:buNone/>
            </a:pPr>
            <a:r>
              <a:rPr lang="en-US" sz="1150" dirty="0">
                <a:solidFill>
                  <a:srgbClr val="C2C8D2"/>
                </a:solidFill>
                <a:latin typeface="Arial" pitchFamily="34" charset="0"/>
                <a:ea typeface="Arial" pitchFamily="34" charset="-122"/>
                <a:cs typeface="Arial" pitchFamily="34" charset="-120"/>
              </a:rPr>
              <a:t>De blauwe punten zijn de plaatsen van de kantoren op jullie eigen lijst: Haarlem, Heemstede, Amsterdam, Zwanenburg, Hoofddorp, Nieuw-Vennep, Den Haag en Utrecht. Een strakke cluster rond de eigen regio, met de hand opgebouwd.</a:t>
            </a:r>
            <a:endParaRPr lang="en-US" sz="1150" dirty="0"/>
          </a:p>
        </p:txBody>
      </p:sp>
      <p:sp>
        <p:nvSpPr>
          <p:cNvPr id="10" name="Text 6"/>
          <p:cNvSpPr txBox="1"/>
          <p:nvPr/>
        </p:nvSpPr>
        <p:spPr>
          <a:xfrm>
            <a:off x="609598" y="3682991"/>
            <a:ext cx="4444989" cy="723898"/>
          </a:xfrm>
          <a:prstGeom prst="rect">
            <a:avLst/>
          </a:prstGeom>
          <a:noFill/>
          <a:ln/>
        </p:spPr>
        <p:txBody>
          <a:bodyPr wrap="square" lIns="0" tIns="0" rIns="0" bIns="0" rtlCol="0" anchor="t"/>
          <a:lstStyle/>
          <a:p>
            <a:pPr indent="0" marL="0">
              <a:lnSpc>
                <a:spcPct val="145000"/>
              </a:lnSpc>
              <a:buNone/>
            </a:pPr>
            <a:r>
              <a:rPr lang="en-US" sz="1150" dirty="0">
                <a:solidFill>
                  <a:srgbClr val="C2C8D2"/>
                </a:solidFill>
                <a:latin typeface="Arial" pitchFamily="34" charset="0"/>
                <a:ea typeface="Arial" pitchFamily="34" charset="-122"/>
                <a:cs typeface="Arial" pitchFamily="34" charset="-120"/>
              </a:rPr>
              <a:t>De rest van de kaart is nog onaangeroerd. Groningen, Twente, Brabant, Limburg en Zeeland hebben allemaal hun eigen makelaarskantoren met precies dezelfde website.</a:t>
            </a:r>
            <a:endParaRPr lang="en-US" sz="1150" dirty="0"/>
          </a:p>
        </p:txBody>
      </p:sp>
      <p:sp>
        <p:nvSpPr>
          <p:cNvPr id="11" name="Text 7"/>
          <p:cNvSpPr txBox="1"/>
          <p:nvPr/>
        </p:nvSpPr>
        <p:spPr>
          <a:xfrm>
            <a:off x="609598" y="4711688"/>
            <a:ext cx="2264828" cy="342899"/>
          </a:xfrm>
          <a:prstGeom prst="rect">
            <a:avLst/>
          </a:prstGeom>
          <a:noFill/>
          <a:ln/>
        </p:spPr>
        <p:txBody>
          <a:bodyPr wrap="square" lIns="0" tIns="0" rIns="0" bIns="0" rtlCol="0" anchor="ctr"/>
          <a:lstStyle/>
          <a:p>
            <a:pPr indent="0" marL="0">
              <a:buNone/>
            </a:pPr>
            <a:r>
              <a:rPr lang="en-US" sz="2300" b="1" dirty="0">
                <a:solidFill>
                  <a:srgbClr val="38B6FF"/>
                </a:solidFill>
                <a:latin typeface="Arial" pitchFamily="34" charset="0"/>
                <a:ea typeface="Arial" pitchFamily="34" charset="-122"/>
                <a:cs typeface="Arial" pitchFamily="34" charset="-120"/>
              </a:rPr>
              <a:t>5.400+</a:t>
            </a:r>
            <a:endParaRPr lang="en-US" sz="2300" dirty="0"/>
          </a:p>
        </p:txBody>
      </p:sp>
      <p:sp>
        <p:nvSpPr>
          <p:cNvPr id="12" name="Text 8"/>
          <p:cNvSpPr txBox="1"/>
          <p:nvPr/>
        </p:nvSpPr>
        <p:spPr>
          <a:xfrm>
            <a:off x="609598" y="5105387"/>
            <a:ext cx="2264828" cy="431799"/>
          </a:xfrm>
          <a:prstGeom prst="rect">
            <a:avLst/>
          </a:prstGeom>
          <a:noFill/>
          <a:ln/>
        </p:spPr>
        <p:txBody>
          <a:bodyPr wrap="square" lIns="0" tIns="0" rIns="0" bIns="0" rtlCol="0" anchor="t"/>
          <a:lstStyle/>
          <a:p>
            <a:pPr indent="0" marL="0">
              <a:lnSpc>
                <a:spcPct val="135000"/>
              </a:lnSpc>
              <a:buNone/>
            </a:pPr>
            <a:r>
              <a:rPr lang="en-US" sz="850" dirty="0">
                <a:solidFill>
                  <a:srgbClr val="C2C8D2"/>
                </a:solidFill>
                <a:latin typeface="Arial" pitchFamily="34" charset="0"/>
                <a:ea typeface="Arial" pitchFamily="34" charset="-122"/>
                <a:cs typeface="Arial" pitchFamily="34" charset="-120"/>
              </a:rPr>
              <a:t>makelaarskantoren in Nederland</a:t>
            </a:r>
            <a:endParaRPr lang="en-US" sz="850" dirty="0"/>
          </a:p>
        </p:txBody>
      </p:sp>
      <p:sp>
        <p:nvSpPr>
          <p:cNvPr id="13" name="Text 9"/>
          <p:cNvSpPr txBox="1"/>
          <p:nvPr/>
        </p:nvSpPr>
        <p:spPr>
          <a:xfrm>
            <a:off x="3052226" y="4711688"/>
            <a:ext cx="2264828" cy="342899"/>
          </a:xfrm>
          <a:prstGeom prst="rect">
            <a:avLst/>
          </a:prstGeom>
          <a:noFill/>
          <a:ln/>
        </p:spPr>
        <p:txBody>
          <a:bodyPr wrap="square" lIns="0" tIns="0" rIns="0" bIns="0" rtlCol="0" anchor="ctr"/>
          <a:lstStyle/>
          <a:p>
            <a:pPr indent="0" marL="0">
              <a:buNone/>
            </a:pPr>
            <a:r>
              <a:rPr lang="en-US" sz="2300" b="1" dirty="0">
                <a:solidFill>
                  <a:srgbClr val="38B6FF"/>
                </a:solidFill>
                <a:latin typeface="Arial" pitchFamily="34" charset="0"/>
                <a:ea typeface="Arial" pitchFamily="34" charset="-122"/>
                <a:cs typeface="Arial" pitchFamily="34" charset="-120"/>
              </a:rPr>
              <a:t>3.000+</a:t>
            </a:r>
            <a:endParaRPr lang="en-US" sz="2300" dirty="0"/>
          </a:p>
        </p:txBody>
      </p:sp>
      <p:sp>
        <p:nvSpPr>
          <p:cNvPr id="14" name="Text 10"/>
          <p:cNvSpPr txBox="1"/>
          <p:nvPr/>
        </p:nvSpPr>
        <p:spPr>
          <a:xfrm>
            <a:off x="3052226" y="5105387"/>
            <a:ext cx="2264828" cy="431799"/>
          </a:xfrm>
          <a:prstGeom prst="rect">
            <a:avLst/>
          </a:prstGeom>
          <a:noFill/>
          <a:ln/>
        </p:spPr>
        <p:txBody>
          <a:bodyPr wrap="square" lIns="0" tIns="0" rIns="0" bIns="0" rtlCol="0" anchor="t"/>
          <a:lstStyle/>
          <a:p>
            <a:pPr indent="0" marL="0">
              <a:lnSpc>
                <a:spcPct val="135000"/>
              </a:lnSpc>
              <a:buNone/>
            </a:pPr>
            <a:r>
              <a:rPr lang="en-US" sz="850" dirty="0">
                <a:solidFill>
                  <a:srgbClr val="C2C8D2"/>
                </a:solidFill>
                <a:latin typeface="Arial" pitchFamily="34" charset="0"/>
                <a:ea typeface="Arial" pitchFamily="34" charset="-122"/>
                <a:cs typeface="Arial" pitchFamily="34" charset="-120"/>
              </a:rPr>
              <a:t>daarvan met telefoonnummer en website in onze datatool</a:t>
            </a:r>
            <a:endParaRPr lang="en-US" sz="850" dirty="0"/>
          </a:p>
        </p:txBody>
      </p:sp>
      <p:sp>
        <p:nvSpPr>
          <p:cNvPr id="15" name="Text 11"/>
          <p:cNvSpPr txBox="1"/>
          <p:nvPr/>
        </p:nvSpPr>
        <p:spPr>
          <a:xfrm>
            <a:off x="5494853" y="4711688"/>
            <a:ext cx="2264828" cy="342899"/>
          </a:xfrm>
          <a:prstGeom prst="rect">
            <a:avLst/>
          </a:prstGeom>
          <a:noFill/>
          <a:ln/>
        </p:spPr>
        <p:txBody>
          <a:bodyPr wrap="square" lIns="0" tIns="0" rIns="0" bIns="0" rtlCol="0" anchor="ctr"/>
          <a:lstStyle/>
          <a:p>
            <a:pPr indent="0" marL="0">
              <a:buNone/>
            </a:pPr>
            <a:r>
              <a:rPr lang="en-US" sz="2300" b="1" dirty="0">
                <a:solidFill>
                  <a:srgbClr val="38B6FF"/>
                </a:solidFill>
                <a:latin typeface="Arial" pitchFamily="34" charset="0"/>
                <a:ea typeface="Arial" pitchFamily="34" charset="-122"/>
                <a:cs typeface="Arial" pitchFamily="34" charset="-120"/>
              </a:rPr>
              <a:t>20</a:t>
            </a:r>
            <a:endParaRPr lang="en-US" sz="2300" dirty="0"/>
          </a:p>
        </p:txBody>
      </p:sp>
      <p:sp>
        <p:nvSpPr>
          <p:cNvPr id="16" name="Text 12"/>
          <p:cNvSpPr txBox="1"/>
          <p:nvPr/>
        </p:nvSpPr>
        <p:spPr>
          <a:xfrm>
            <a:off x="5494853" y="5105387"/>
            <a:ext cx="2264828" cy="431799"/>
          </a:xfrm>
          <a:prstGeom prst="rect">
            <a:avLst/>
          </a:prstGeom>
          <a:noFill/>
          <a:ln/>
        </p:spPr>
        <p:txBody>
          <a:bodyPr wrap="square" lIns="0" tIns="0" rIns="0" bIns="0" rtlCol="0" anchor="t"/>
          <a:lstStyle/>
          <a:p>
            <a:pPr indent="0" marL="0">
              <a:lnSpc>
                <a:spcPct val="135000"/>
              </a:lnSpc>
              <a:buNone/>
            </a:pPr>
            <a:r>
              <a:rPr lang="en-US" sz="850" dirty="0">
                <a:solidFill>
                  <a:srgbClr val="C2C8D2"/>
                </a:solidFill>
                <a:latin typeface="Arial" pitchFamily="34" charset="0"/>
                <a:ea typeface="Arial" pitchFamily="34" charset="-122"/>
                <a:cs typeface="Arial" pitchFamily="34" charset="-120"/>
              </a:rPr>
              <a:t>die jullie zelf hebben benaderd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JULLIE ZELF AL HEBBEN BEWEZEN</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De propositie landt. Alleen de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uren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ontbreken.</a:t>
            </a:r>
            <a:endParaRPr lang="en-US" sz="3200" dirty="0"/>
          </a:p>
        </p:txBody>
      </p:sp>
      <p:sp>
        <p:nvSpPr>
          <p:cNvPr id="8" name="Shape 5"/>
          <p:cNvSpPr/>
          <p:nvPr/>
        </p:nvSpPr>
        <p:spPr>
          <a:xfrm>
            <a:off x="609598" y="2730493"/>
            <a:ext cx="2628893" cy="2222494"/>
          </a:xfrm>
          <a:prstGeom prst="roundRect">
            <a:avLst>
              <a:gd name="adj" fmla="val 4571"/>
            </a:avLst>
          </a:prstGeom>
          <a:solidFill>
            <a:srgbClr val="F8F4EB"/>
          </a:solidFill>
          <a:ln/>
        </p:spPr>
      </p:sp>
      <p:sp>
        <p:nvSpPr>
          <p:cNvPr id="9"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20</a:t>
            </a:r>
            <a:endParaRPr lang="en-US" sz="3600" dirty="0"/>
          </a:p>
        </p:txBody>
      </p:sp>
      <p:sp>
        <p:nvSpPr>
          <p:cNvPr id="10"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KANTOREN BENADERD</a:t>
            </a:r>
            <a:endParaRPr lang="en-US" sz="900" dirty="0"/>
          </a:p>
        </p:txBody>
      </p:sp>
      <p:sp>
        <p:nvSpPr>
          <p:cNvPr id="11"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Met de hand opgebouwd, naast al het andere werk.</a:t>
            </a:r>
            <a:endParaRPr lang="en-US" sz="950" dirty="0"/>
          </a:p>
        </p:txBody>
      </p:sp>
      <p:sp>
        <p:nvSpPr>
          <p:cNvPr id="12" name="Shape 9"/>
          <p:cNvSpPr/>
          <p:nvPr/>
        </p:nvSpPr>
        <p:spPr>
          <a:xfrm>
            <a:off x="3390892" y="2730493"/>
            <a:ext cx="2628893" cy="2222494"/>
          </a:xfrm>
          <a:prstGeom prst="roundRect">
            <a:avLst>
              <a:gd name="adj" fmla="val 4571"/>
            </a:avLst>
          </a:prstGeom>
          <a:solidFill>
            <a:srgbClr val="F8F4EB"/>
          </a:solidFill>
          <a:ln/>
        </p:spPr>
      </p:sp>
      <p:sp>
        <p:nvSpPr>
          <p:cNvPr id="13"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8</a:t>
            </a:r>
            <a:endParaRPr lang="en-US" sz="3600" dirty="0"/>
          </a:p>
        </p:txBody>
      </p:sp>
      <p:sp>
        <p:nvSpPr>
          <p:cNvPr id="14"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KREGEN HET DECK TE ZIEN</a:t>
            </a:r>
            <a:endParaRPr lang="en-US" sz="900" dirty="0"/>
          </a:p>
        </p:txBody>
      </p:sp>
      <p:sp>
        <p:nvSpPr>
          <p:cNvPr id="15"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Vier op de tien die jullie spraken wilden het verhaal zien.</a:t>
            </a:r>
            <a:endParaRPr lang="en-US" sz="950" dirty="0"/>
          </a:p>
        </p:txBody>
      </p:sp>
      <p:sp>
        <p:nvSpPr>
          <p:cNvPr id="16" name="Shape 13"/>
          <p:cNvSpPr/>
          <p:nvPr/>
        </p:nvSpPr>
        <p:spPr>
          <a:xfrm>
            <a:off x="6172185" y="2730493"/>
            <a:ext cx="2628893" cy="2222494"/>
          </a:xfrm>
          <a:prstGeom prst="roundRect">
            <a:avLst>
              <a:gd name="adj" fmla="val 4571"/>
            </a:avLst>
          </a:prstGeom>
          <a:solidFill>
            <a:srgbClr val="F8F4EB"/>
          </a:solidFill>
          <a:ln/>
        </p:spPr>
      </p:sp>
      <p:sp>
        <p:nvSpPr>
          <p:cNvPr id="17"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5</a:t>
            </a:r>
            <a:endParaRPr lang="en-US" sz="3600" dirty="0"/>
          </a:p>
        </p:txBody>
      </p:sp>
      <p:sp>
        <p:nvSpPr>
          <p:cNvPr id="18"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STAAN OP LATER TERUGKOMEN</a:t>
            </a:r>
            <a:endParaRPr lang="en-US" sz="900" dirty="0"/>
          </a:p>
        </p:txBody>
      </p:sp>
      <p:sp>
        <p:nvSpPr>
          <p:cNvPr id="19"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Geen nee, maar een moment dat nog niet goed uitkwam.</a:t>
            </a:r>
            <a:endParaRPr lang="en-US" sz="950" dirty="0"/>
          </a:p>
        </p:txBody>
      </p:sp>
      <p:sp>
        <p:nvSpPr>
          <p:cNvPr id="20" name="Shape 17"/>
          <p:cNvSpPr/>
          <p:nvPr/>
        </p:nvSpPr>
        <p:spPr>
          <a:xfrm>
            <a:off x="8953478" y="2730493"/>
            <a:ext cx="2628893" cy="2222494"/>
          </a:xfrm>
          <a:prstGeom prst="roundRect">
            <a:avLst>
              <a:gd name="adj" fmla="val 4571"/>
            </a:avLst>
          </a:prstGeom>
          <a:solidFill>
            <a:srgbClr val="000000"/>
          </a:solidFill>
          <a:ln/>
        </p:spPr>
      </p:sp>
      <p:sp>
        <p:nvSpPr>
          <p:cNvPr id="21"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0</a:t>
            </a:r>
            <a:endParaRPr lang="en-US" sz="3600" dirty="0"/>
          </a:p>
        </p:txBody>
      </p:sp>
      <p:sp>
        <p:nvSpPr>
          <p:cNvPr id="22"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UUR OVER OM DOOR TE BELLEN</a:t>
            </a:r>
            <a:endParaRPr lang="en-US" sz="900" dirty="0"/>
          </a:p>
        </p:txBody>
      </p:sp>
      <p:sp>
        <p:nvSpPr>
          <p:cNvPr id="23"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Dat is geen kritiek maar een rekensom. Bellen kost tijd die bij een creatief bureau nergens vandaan komt.</a:t>
            </a:r>
            <a:endParaRPr lang="en-US" sz="950" dirty="0"/>
          </a:p>
        </p:txBody>
      </p:sp>
      <p:sp>
        <p:nvSpPr>
          <p:cNvPr id="24" name="Shape 21"/>
          <p:cNvSpPr/>
          <p:nvPr/>
        </p:nvSpPr>
        <p:spPr>
          <a:xfrm>
            <a:off x="609598" y="5854685"/>
            <a:ext cx="76200" cy="76200"/>
          </a:xfrm>
          <a:prstGeom prst="ellipse">
            <a:avLst/>
          </a:prstGeom>
          <a:solidFill>
            <a:srgbClr val="38B6FF"/>
          </a:solidFill>
          <a:ln/>
        </p:spPr>
      </p:sp>
      <p:sp>
        <p:nvSpPr>
          <p:cNvPr id="25"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Deze cijfers komen uit jullie eigen overzicht. Een op de vier gesprekken leidde tot het tonen van het deck. Dat is een goede verhouding voor koud bellen.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6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8" name="Shape 5"/>
          <p:cNvSpPr/>
          <p:nvPr/>
        </p:nvSpPr>
        <p:spPr>
          <a:xfrm>
            <a:off x="609598" y="2793993"/>
            <a:ext cx="2628893" cy="3238492"/>
          </a:xfrm>
          <a:prstGeom prst="roundRect">
            <a:avLst>
              <a:gd name="adj" fmla="val 3865"/>
            </a:avLst>
          </a:prstGeom>
          <a:solidFill>
            <a:srgbClr val="F8F4EB"/>
          </a:solidFill>
          <a:ln/>
        </p:spPr>
      </p:sp>
      <p:sp>
        <p:nvSpPr>
          <p:cNvPr id="9" name="Shape 6"/>
          <p:cNvSpPr/>
          <p:nvPr/>
        </p:nvSpPr>
        <p:spPr>
          <a:xfrm>
            <a:off x="863598" y="3073392"/>
            <a:ext cx="380999" cy="380999"/>
          </a:xfrm>
          <a:prstGeom prst="roundRect">
            <a:avLst>
              <a:gd name="adj" fmla="val 23333"/>
            </a:avLst>
          </a:prstGeom>
          <a:solidFill>
            <a:srgbClr val="DDEBF3"/>
          </a:solidFill>
          <a:ln/>
        </p:spPr>
      </p:sp>
      <p:pic>
        <p:nvPicPr>
          <p:cNvPr id="10" name="Image 1" descr="preencoded.png">    </p:cNvPr>
          <p:cNvPicPr>
            <a:picLocks noChangeAspect="1"/>
          </p:cNvPicPr>
          <p:nvPr/>
        </p:nvPicPr>
        <p:blipFill>
          <a:blip r:embed="rId2"/>
          <a:stretch>
            <a:fillRect/>
          </a:stretch>
        </p:blipFill>
        <p:spPr>
          <a:xfrm>
            <a:off x="958848" y="3168642"/>
            <a:ext cx="190500" cy="190500"/>
          </a:xfrm>
          <a:prstGeom prst="rect">
            <a:avLst/>
          </a:prstGeom>
        </p:spPr>
      </p:pic>
      <p:sp>
        <p:nvSpPr>
          <p:cNvPr id="11"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2"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eigenaar of de marketingverantwoordelijke. Geen afgelezen belscript, maar vastgelegde USP's en een echt gesprek.</a:t>
            </a:r>
            <a:endParaRPr lang="en-US" sz="950" dirty="0"/>
          </a:p>
        </p:txBody>
      </p:sp>
      <p:sp>
        <p:nvSpPr>
          <p:cNvPr id="13" name="Shape 9"/>
          <p:cNvSpPr/>
          <p:nvPr/>
        </p:nvSpPr>
        <p:spPr>
          <a:xfrm>
            <a:off x="3390892" y="2793993"/>
            <a:ext cx="2628893" cy="3238492"/>
          </a:xfrm>
          <a:prstGeom prst="roundRect">
            <a:avLst>
              <a:gd name="adj" fmla="val 3865"/>
            </a:avLst>
          </a:prstGeom>
          <a:solidFill>
            <a:srgbClr val="F8F4EB"/>
          </a:solidFill>
          <a:ln/>
        </p:spPr>
      </p:sp>
      <p:sp>
        <p:nvSpPr>
          <p:cNvPr id="14" name="Shape 10"/>
          <p:cNvSpPr/>
          <p:nvPr/>
        </p:nvSpPr>
        <p:spPr>
          <a:xfrm>
            <a:off x="3644891" y="3073392"/>
            <a:ext cx="380999" cy="380999"/>
          </a:xfrm>
          <a:prstGeom prst="roundRect">
            <a:avLst>
              <a:gd name="adj" fmla="val 23333"/>
            </a:avLst>
          </a:prstGeom>
          <a:solidFill>
            <a:srgbClr val="DDEBF3"/>
          </a:solidFill>
          <a:ln/>
        </p:spPr>
      </p:sp>
      <p:pic>
        <p:nvPicPr>
          <p:cNvPr id="15" name="Image 2" descr="preencoded.png">    </p:cNvPr>
          <p:cNvPicPr>
            <a:picLocks noChangeAspect="1"/>
          </p:cNvPicPr>
          <p:nvPr/>
        </p:nvPicPr>
        <p:blipFill>
          <a:blip r:embed="rId3"/>
          <a:stretch>
            <a:fillRect/>
          </a:stretch>
        </p:blipFill>
        <p:spPr>
          <a:xfrm>
            <a:off x="3740141" y="3168642"/>
            <a:ext cx="190500" cy="190500"/>
          </a:xfrm>
          <a:prstGeom prst="rect">
            <a:avLst/>
          </a:prstGeom>
        </p:spPr>
      </p:pic>
      <p:sp>
        <p:nvSpPr>
          <p:cNvPr id="16"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Voorwerk per kantoor</a:t>
            </a:r>
            <a:endParaRPr lang="en-US" sz="1350" dirty="0"/>
          </a:p>
        </p:txBody>
      </p:sp>
      <p:sp>
        <p:nvSpPr>
          <p:cNvPr id="17"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We kijken voor elk gesprek naar de site: filters, snelheid, aanbod en vindbaarheid. Zo openen we met iets concreets in plaats van een algemeen praatje.</a:t>
            </a:r>
            <a:endParaRPr lang="en-US" sz="950" dirty="0"/>
          </a:p>
        </p:txBody>
      </p:sp>
      <p:sp>
        <p:nvSpPr>
          <p:cNvPr id="18" name="Shape 13"/>
          <p:cNvSpPr/>
          <p:nvPr/>
        </p:nvSpPr>
        <p:spPr>
          <a:xfrm>
            <a:off x="6172185" y="2793993"/>
            <a:ext cx="2628893" cy="3238492"/>
          </a:xfrm>
          <a:prstGeom prst="roundRect">
            <a:avLst>
              <a:gd name="adj" fmla="val 3865"/>
            </a:avLst>
          </a:prstGeom>
          <a:solidFill>
            <a:srgbClr val="F8F4EB"/>
          </a:solidFill>
          <a:ln/>
        </p:spPr>
      </p:sp>
      <p:sp>
        <p:nvSpPr>
          <p:cNvPr id="19" name="Shape 14"/>
          <p:cNvSpPr/>
          <p:nvPr/>
        </p:nvSpPr>
        <p:spPr>
          <a:xfrm>
            <a:off x="6426184" y="3073392"/>
            <a:ext cx="380999" cy="380999"/>
          </a:xfrm>
          <a:prstGeom prst="roundRect">
            <a:avLst>
              <a:gd name="adj" fmla="val 23333"/>
            </a:avLst>
          </a:prstGeom>
          <a:solidFill>
            <a:srgbClr val="DDEBF3"/>
          </a:solidFill>
          <a:ln/>
        </p:spPr>
      </p:sp>
      <p:pic>
        <p:nvPicPr>
          <p:cNvPr id="20" name="Image 3" descr="preencoded.png">    </p:cNvPr>
          <p:cNvPicPr>
            <a:picLocks noChangeAspect="1"/>
          </p:cNvPicPr>
          <p:nvPr/>
        </p:nvPicPr>
        <p:blipFill>
          <a:blip r:embed="rId4"/>
          <a:stretch>
            <a:fillRect/>
          </a:stretch>
        </p:blipFill>
        <p:spPr>
          <a:xfrm>
            <a:off x="6521434" y="3168642"/>
            <a:ext cx="190500" cy="190500"/>
          </a:xfrm>
          <a:prstGeom prst="rect">
            <a:avLst/>
          </a:prstGeom>
        </p:spPr>
      </p:pic>
      <p:sp>
        <p:nvSpPr>
          <p:cNvPr id="21"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2"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lijst. Wie het deck wil zien krijgt het dezelfde dag, en wordt binnen drie werkdagen nagebeld.</a:t>
            </a:r>
            <a:endParaRPr lang="en-US" sz="950" dirty="0"/>
          </a:p>
        </p:txBody>
      </p:sp>
      <p:sp>
        <p:nvSpPr>
          <p:cNvPr id="23" name="Shape 17"/>
          <p:cNvSpPr/>
          <p:nvPr/>
        </p:nvSpPr>
        <p:spPr>
          <a:xfrm>
            <a:off x="8953478" y="2793993"/>
            <a:ext cx="2628893" cy="3238492"/>
          </a:xfrm>
          <a:prstGeom prst="roundRect">
            <a:avLst>
              <a:gd name="adj" fmla="val 3865"/>
            </a:avLst>
          </a:prstGeom>
          <a:solidFill>
            <a:srgbClr val="000000"/>
          </a:solidFill>
          <a:ln/>
        </p:spPr>
      </p:sp>
      <p:sp>
        <p:nvSpPr>
          <p:cNvPr id="24" name="Shape 18"/>
          <p:cNvSpPr/>
          <p:nvPr/>
        </p:nvSpPr>
        <p:spPr>
          <a:xfrm>
            <a:off x="9207477" y="3073392"/>
            <a:ext cx="380999" cy="380999"/>
          </a:xfrm>
          <a:prstGeom prst="roundRect">
            <a:avLst>
              <a:gd name="adj" fmla="val 23333"/>
            </a:avLst>
          </a:prstGeom>
          <a:solidFill>
            <a:srgbClr val="203C55"/>
          </a:solidFill>
          <a:ln/>
        </p:spPr>
      </p:sp>
      <p:pic>
        <p:nvPicPr>
          <p:cNvPr id="25" name="Image 4" descr="preencoded.png">    </p:cNvPr>
          <p:cNvPicPr>
            <a:picLocks noChangeAspect="1"/>
          </p:cNvPicPr>
          <p:nvPr/>
        </p:nvPicPr>
        <p:blipFill>
          <a:blip r:embed="rId5"/>
          <a:stretch>
            <a:fillRect/>
          </a:stretch>
        </p:blipFill>
        <p:spPr>
          <a:xfrm>
            <a:off x="9302727" y="3168642"/>
            <a:ext cx="190500" cy="190500"/>
          </a:xfrm>
          <a:prstGeom prst="rect">
            <a:avLst/>
          </a:prstGeom>
        </p:spPr>
      </p:pic>
      <p:sp>
        <p:nvSpPr>
          <p:cNvPr id="26"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7"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kantoor past en de juiste persoon tegenover jullie zit.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DE PILOT LOOPT</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van bellijst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8" name="Shape 5"/>
          <p:cNvSpPr/>
          <p:nvPr/>
        </p:nvSpPr>
        <p:spPr>
          <a:xfrm>
            <a:off x="609598" y="2743193"/>
            <a:ext cx="304799" cy="304799"/>
          </a:xfrm>
          <a:prstGeom prst="ellipse">
            <a:avLst/>
          </a:prstGeom>
          <a:ln w="15240">
            <a:solidFill>
              <a:srgbClr val="38B6FF"/>
            </a:solidFill>
            <a:prstDash val="solid"/>
          </a:ln>
        </p:spPr>
      </p:sp>
      <p:sp>
        <p:nvSpPr>
          <p:cNvPr id="9"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10" name="Shape 7"/>
          <p:cNvSpPr/>
          <p:nvPr/>
        </p:nvSpPr>
        <p:spPr>
          <a:xfrm>
            <a:off x="1015997" y="2895593"/>
            <a:ext cx="2349494" cy="0"/>
          </a:xfrm>
          <a:prstGeom prst="line">
            <a:avLst/>
          </a:prstGeom>
          <a:noFill/>
          <a:ln w="9525">
            <a:solidFill>
              <a:srgbClr val="38B6FF">
                <a:alpha val="40000"/>
              </a:srgbClr>
            </a:solidFill>
            <a:prstDash val="solid"/>
          </a:ln>
        </p:spPr>
      </p:sp>
      <p:sp>
        <p:nvSpPr>
          <p:cNvPr id="11"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2"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Eén uur. We nemen het verhaal door, scherpen de doelgroep aan en leggen vast wanneer een afspraak meetelt.</a:t>
            </a:r>
            <a:endParaRPr lang="en-US" sz="900" dirty="0"/>
          </a:p>
        </p:txBody>
      </p:sp>
      <p:sp>
        <p:nvSpPr>
          <p:cNvPr id="13" name="Shape 10"/>
          <p:cNvSpPr/>
          <p:nvPr/>
        </p:nvSpPr>
        <p:spPr>
          <a:xfrm>
            <a:off x="3416291" y="2743193"/>
            <a:ext cx="304799" cy="304799"/>
          </a:xfrm>
          <a:prstGeom prst="ellipse">
            <a:avLst/>
          </a:prstGeom>
          <a:ln w="15240">
            <a:solidFill>
              <a:srgbClr val="38B6FF"/>
            </a:solidFill>
            <a:prstDash val="solid"/>
          </a:ln>
        </p:spPr>
      </p:sp>
      <p:sp>
        <p:nvSpPr>
          <p:cNvPr id="14"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5" name="Shape 12"/>
          <p:cNvSpPr/>
          <p:nvPr/>
        </p:nvSpPr>
        <p:spPr>
          <a:xfrm>
            <a:off x="3822690" y="2895593"/>
            <a:ext cx="2349494" cy="0"/>
          </a:xfrm>
          <a:prstGeom prst="line">
            <a:avLst/>
          </a:prstGeom>
          <a:noFill/>
          <a:ln w="9525">
            <a:solidFill>
              <a:srgbClr val="38B6FF">
                <a:alpha val="40000"/>
              </a:srgbClr>
            </a:solidFill>
            <a:prstDash val="solid"/>
          </a:ln>
        </p:spPr>
      </p:sp>
      <p:sp>
        <p:nvSpPr>
          <p:cNvPr id="16"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Lijst en USP's</a:t>
            </a:r>
            <a:endParaRPr lang="en-US" sz="1250" dirty="0"/>
          </a:p>
        </p:txBody>
      </p:sp>
      <p:sp>
        <p:nvSpPr>
          <p:cNvPr id="17"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Wij bouwen de bellijst met makelaarskantoren en leggen de USP's vast op basis van jullie analyse van hun websites. Geen belscript, wel een scherp verhaal. Jullie geven akkoord.</a:t>
            </a:r>
            <a:endParaRPr lang="en-US" sz="900" dirty="0"/>
          </a:p>
        </p:txBody>
      </p:sp>
      <p:sp>
        <p:nvSpPr>
          <p:cNvPr id="18" name="Shape 15"/>
          <p:cNvSpPr/>
          <p:nvPr/>
        </p:nvSpPr>
        <p:spPr>
          <a:xfrm>
            <a:off x="6222984" y="2743193"/>
            <a:ext cx="304799" cy="304799"/>
          </a:xfrm>
          <a:prstGeom prst="ellipse">
            <a:avLst/>
          </a:prstGeom>
          <a:ln w="15240">
            <a:solidFill>
              <a:srgbClr val="38B6FF"/>
            </a:solidFill>
            <a:prstDash val="solid"/>
          </a:ln>
        </p:spPr>
      </p:sp>
      <p:sp>
        <p:nvSpPr>
          <p:cNvPr id="19"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20" name="Shape 17"/>
          <p:cNvSpPr/>
          <p:nvPr/>
        </p:nvSpPr>
        <p:spPr>
          <a:xfrm>
            <a:off x="6629383" y="2895593"/>
            <a:ext cx="2349494" cy="0"/>
          </a:xfrm>
          <a:prstGeom prst="line">
            <a:avLst/>
          </a:prstGeom>
          <a:noFill/>
          <a:ln w="9525">
            <a:solidFill>
              <a:srgbClr val="38B6FF">
                <a:alpha val="40000"/>
              </a:srgbClr>
            </a:solidFill>
            <a:prstDash val="solid"/>
          </a:ln>
        </p:spPr>
      </p:sp>
      <p:sp>
        <p:nvSpPr>
          <p:cNvPr id="21"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Bellen</a:t>
            </a:r>
            <a:endParaRPr lang="en-US" sz="1250" dirty="0"/>
          </a:p>
        </p:txBody>
      </p:sp>
      <p:sp>
        <p:nvSpPr>
          <p:cNvPr id="22"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We bellen op de dagen en dagdelen die in onze data het beste werken, namens OK Creative Agency en met een nummer op jullie naam.</a:t>
            </a:r>
            <a:endParaRPr lang="en-US" sz="900" dirty="0"/>
          </a:p>
        </p:txBody>
      </p:sp>
      <p:sp>
        <p:nvSpPr>
          <p:cNvPr id="23" name="Shape 20"/>
          <p:cNvSpPr/>
          <p:nvPr/>
        </p:nvSpPr>
        <p:spPr>
          <a:xfrm>
            <a:off x="9029677" y="2743193"/>
            <a:ext cx="304799" cy="304799"/>
          </a:xfrm>
          <a:prstGeom prst="ellipse">
            <a:avLst/>
          </a:prstGeom>
          <a:ln w="15240">
            <a:solidFill>
              <a:srgbClr val="38B6FF"/>
            </a:solidFill>
            <a:prstDash val="solid"/>
          </a:ln>
        </p:spPr>
      </p:sp>
      <p:sp>
        <p:nvSpPr>
          <p:cNvPr id="24"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5"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Rapportage en evaluatie</a:t>
            </a:r>
            <a:endParaRPr lang="en-US" sz="1250" dirty="0"/>
          </a:p>
        </p:txBody>
      </p:sp>
      <p:sp>
        <p:nvSpPr>
          <p:cNvPr id="26"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rapportage, om de week een evaluatie. Na twaalf weken weten we wat een afspraak in deze markt kost.</a:t>
            </a:r>
            <a:endParaRPr lang="en-US" sz="900" dirty="0"/>
          </a:p>
        </p:txBody>
      </p:sp>
      <p:sp>
        <p:nvSpPr>
          <p:cNvPr id="27"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8"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9" name="Image 1" descr="preencoded.png">    </p:cNvPr>
          <p:cNvPicPr>
            <a:picLocks noChangeAspect="1"/>
          </p:cNvPicPr>
          <p:nvPr/>
        </p:nvPicPr>
        <p:blipFill>
          <a:blip r:embed="rId2"/>
          <a:stretch>
            <a:fillRect/>
          </a:stretch>
        </p:blipFill>
        <p:spPr>
          <a:xfrm>
            <a:off x="914398" y="5314937"/>
            <a:ext cx="139700" cy="139700"/>
          </a:xfrm>
          <a:prstGeom prst="rect">
            <a:avLst/>
          </a:prstGeom>
        </p:spPr>
      </p:pic>
      <p:sp>
        <p:nvSpPr>
          <p:cNvPr id="30"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kantoorinfo, contactpersoon en aanleiding</a:t>
            </a:r>
            <a:endParaRPr lang="en-US" sz="950" dirty="0"/>
          </a:p>
        </p:txBody>
      </p:sp>
      <p:pic>
        <p:nvPicPr>
          <p:cNvPr id="31" name="Image 2" descr="preencoded.png">    </p:cNvPr>
          <p:cNvPicPr>
            <a:picLocks noChangeAspect="1"/>
          </p:cNvPicPr>
          <p:nvPr/>
        </p:nvPicPr>
        <p:blipFill>
          <a:blip r:embed="rId3"/>
          <a:stretch>
            <a:fillRect/>
          </a:stretch>
        </p:blipFill>
        <p:spPr>
          <a:xfrm>
            <a:off x="6400784" y="5314937"/>
            <a:ext cx="139700" cy="139700"/>
          </a:xfrm>
          <a:prstGeom prst="rect">
            <a:avLst/>
          </a:prstGeom>
        </p:spPr>
      </p:pic>
      <p:sp>
        <p:nvSpPr>
          <p:cNvPr id="32"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 dezelfde dag</a:t>
            </a:r>
            <a:endParaRPr lang="en-US" sz="950" dirty="0"/>
          </a:p>
        </p:txBody>
      </p:sp>
      <p:pic>
        <p:nvPicPr>
          <p:cNvPr id="33" name="Image 3" descr="preencoded.png">    </p:cNvPr>
          <p:cNvPicPr>
            <a:picLocks noChangeAspect="1"/>
          </p:cNvPicPr>
          <p:nvPr/>
        </p:nvPicPr>
        <p:blipFill>
          <a:blip r:embed="rId4"/>
          <a:stretch>
            <a:fillRect/>
          </a:stretch>
        </p:blipFill>
        <p:spPr>
          <a:xfrm>
            <a:off x="914398" y="5619736"/>
            <a:ext cx="139700" cy="139700"/>
          </a:xfrm>
          <a:prstGeom prst="rect">
            <a:avLst/>
          </a:prstGeom>
        </p:spPr>
      </p:pic>
      <p:sp>
        <p:nvSpPr>
          <p:cNvPr id="34"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5" name="Image 4" descr="preencoded.png">    </p:cNvPr>
          <p:cNvPicPr>
            <a:picLocks noChangeAspect="1"/>
          </p:cNvPicPr>
          <p:nvPr/>
        </p:nvPicPr>
        <p:blipFill>
          <a:blip r:embed="rId5"/>
          <a:stretch>
            <a:fillRect/>
          </a:stretch>
        </p:blipFill>
        <p:spPr>
          <a:xfrm>
            <a:off x="6400784" y="5619736"/>
            <a:ext cx="139700" cy="139700"/>
          </a:xfrm>
          <a:prstGeom prst="rect">
            <a:avLst/>
          </a:prstGeom>
        </p:spPr>
      </p:pic>
      <p:sp>
        <p:nvSpPr>
          <p:cNvPr id="36"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De volledige bellijst met status, ook na afloop</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8" name="Shape 5"/>
          <p:cNvSpPr/>
          <p:nvPr/>
        </p:nvSpPr>
        <p:spPr>
          <a:xfrm>
            <a:off x="609598" y="2793993"/>
            <a:ext cx="3536941" cy="2476494"/>
          </a:xfrm>
          <a:prstGeom prst="roundRect">
            <a:avLst>
              <a:gd name="adj" fmla="val 4103"/>
            </a:avLst>
          </a:prstGeom>
          <a:solidFill>
            <a:srgbClr val="F8F4EB"/>
          </a:solidFill>
          <a:ln/>
        </p:spPr>
      </p:sp>
      <p:sp>
        <p:nvSpPr>
          <p:cNvPr id="9" name="Shape 6"/>
          <p:cNvSpPr/>
          <p:nvPr/>
        </p:nvSpPr>
        <p:spPr>
          <a:xfrm>
            <a:off x="914398" y="3124192"/>
            <a:ext cx="380999" cy="380999"/>
          </a:xfrm>
          <a:prstGeom prst="roundRect">
            <a:avLst>
              <a:gd name="adj" fmla="val 23333"/>
            </a:avLst>
          </a:prstGeom>
          <a:solidFill>
            <a:srgbClr val="DDEBF3"/>
          </a:solidFill>
          <a:ln/>
        </p:spPr>
      </p:sp>
      <p:pic>
        <p:nvPicPr>
          <p:cNvPr id="10" name="Image 1" descr="preencoded.png">    </p:cNvPr>
          <p:cNvPicPr>
            <a:picLocks noChangeAspect="1"/>
          </p:cNvPicPr>
          <p:nvPr/>
        </p:nvPicPr>
        <p:blipFill>
          <a:blip r:embed="rId2"/>
          <a:stretch>
            <a:fillRect/>
          </a:stretch>
        </p:blipFill>
        <p:spPr>
          <a:xfrm>
            <a:off x="1009647" y="3219442"/>
            <a:ext cx="190500" cy="190500"/>
          </a:xfrm>
          <a:prstGeom prst="rect">
            <a:avLst/>
          </a:prstGeom>
        </p:spPr>
      </p:pic>
      <p:sp>
        <p:nvSpPr>
          <p:cNvPr id="11"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2"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Een makelaarskantoor met een eigen website en woningaanbod, groot genoeg om in een vernieuwing te investeren.</a:t>
            </a:r>
            <a:endParaRPr lang="en-US" sz="1050" dirty="0"/>
          </a:p>
        </p:txBody>
      </p:sp>
      <p:sp>
        <p:nvSpPr>
          <p:cNvPr id="13" name="Shape 9"/>
          <p:cNvSpPr/>
          <p:nvPr/>
        </p:nvSpPr>
        <p:spPr>
          <a:xfrm>
            <a:off x="4324339" y="2793993"/>
            <a:ext cx="3536941" cy="2476494"/>
          </a:xfrm>
          <a:prstGeom prst="roundRect">
            <a:avLst>
              <a:gd name="adj" fmla="val 4103"/>
            </a:avLst>
          </a:prstGeom>
          <a:solidFill>
            <a:srgbClr val="F8F4EB"/>
          </a:solidFill>
          <a:ln/>
        </p:spPr>
      </p:sp>
      <p:sp>
        <p:nvSpPr>
          <p:cNvPr id="14" name="Shape 10"/>
          <p:cNvSpPr/>
          <p:nvPr/>
        </p:nvSpPr>
        <p:spPr>
          <a:xfrm>
            <a:off x="4629138" y="3124192"/>
            <a:ext cx="380999" cy="380999"/>
          </a:xfrm>
          <a:prstGeom prst="roundRect">
            <a:avLst>
              <a:gd name="adj" fmla="val 23333"/>
            </a:avLst>
          </a:prstGeom>
          <a:solidFill>
            <a:srgbClr val="DDEBF3"/>
          </a:solidFill>
          <a:ln/>
        </p:spPr>
      </p:sp>
      <p:pic>
        <p:nvPicPr>
          <p:cNvPr id="15" name="Image 2" descr="preencoded.png">    </p:cNvPr>
          <p:cNvPicPr>
            <a:picLocks noChangeAspect="1"/>
          </p:cNvPicPr>
          <p:nvPr/>
        </p:nvPicPr>
        <p:blipFill>
          <a:blip r:embed="rId3"/>
          <a:stretch>
            <a:fillRect/>
          </a:stretch>
        </p:blipFill>
        <p:spPr>
          <a:xfrm>
            <a:off x="4724388" y="3219442"/>
            <a:ext cx="190500" cy="190500"/>
          </a:xfrm>
          <a:prstGeom prst="rect">
            <a:avLst/>
          </a:prstGeom>
        </p:spPr>
      </p:pic>
      <p:sp>
        <p:nvSpPr>
          <p:cNvPr id="16"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Aanleiding</a:t>
            </a:r>
            <a:endParaRPr lang="en-US" sz="1600" dirty="0"/>
          </a:p>
        </p:txBody>
      </p:sp>
      <p:sp>
        <p:nvSpPr>
          <p:cNvPr id="17"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Er is iets concreets: het aanbod is niet te filteren, de site is traag of verouderd, of ze lopen al tegen hun platform aan.</a:t>
            </a:r>
            <a:endParaRPr lang="en-US" sz="1050" dirty="0"/>
          </a:p>
        </p:txBody>
      </p:sp>
      <p:sp>
        <p:nvSpPr>
          <p:cNvPr id="18" name="Shape 13"/>
          <p:cNvSpPr/>
          <p:nvPr/>
        </p:nvSpPr>
        <p:spPr>
          <a:xfrm>
            <a:off x="8039080" y="2793993"/>
            <a:ext cx="3536941" cy="2476494"/>
          </a:xfrm>
          <a:prstGeom prst="roundRect">
            <a:avLst>
              <a:gd name="adj" fmla="val 4103"/>
            </a:avLst>
          </a:prstGeom>
          <a:solidFill>
            <a:srgbClr val="F8F4EB"/>
          </a:solidFill>
          <a:ln/>
        </p:spPr>
      </p:sp>
      <p:sp>
        <p:nvSpPr>
          <p:cNvPr id="19" name="Shape 14"/>
          <p:cNvSpPr/>
          <p:nvPr/>
        </p:nvSpPr>
        <p:spPr>
          <a:xfrm>
            <a:off x="8343879" y="3124192"/>
            <a:ext cx="380999" cy="380999"/>
          </a:xfrm>
          <a:prstGeom prst="roundRect">
            <a:avLst>
              <a:gd name="adj" fmla="val 23333"/>
            </a:avLst>
          </a:prstGeom>
          <a:solidFill>
            <a:srgbClr val="DDEBF3"/>
          </a:solidFill>
          <a:ln/>
        </p:spPr>
      </p:sp>
      <p:pic>
        <p:nvPicPr>
          <p:cNvPr id="20" name="Image 3" descr="preencoded.png">    </p:cNvPr>
          <p:cNvPicPr>
            <a:picLocks noChangeAspect="1"/>
          </p:cNvPicPr>
          <p:nvPr/>
        </p:nvPicPr>
        <p:blipFill>
          <a:blip r:embed="rId4"/>
          <a:stretch>
            <a:fillRect/>
          </a:stretch>
        </p:blipFill>
        <p:spPr>
          <a:xfrm>
            <a:off x="8439129" y="3219442"/>
            <a:ext cx="190500" cy="190500"/>
          </a:xfrm>
          <a:prstGeom prst="rect">
            <a:avLst/>
          </a:prstGeom>
        </p:spPr>
      </p:pic>
      <p:sp>
        <p:nvSpPr>
          <p:cNvPr id="21"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2"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eigenaar, directeur of de verantwoordelijke voor marketing. Bij een makelaarskantoor is dat vaak dezelfde persoon.</a:t>
            </a:r>
            <a:endParaRPr lang="en-US" sz="1050" dirty="0"/>
          </a:p>
        </p:txBody>
      </p:sp>
      <p:sp>
        <p:nvSpPr>
          <p:cNvPr id="23" name="Shape 17"/>
          <p:cNvSpPr/>
          <p:nvPr/>
        </p:nvSpPr>
        <p:spPr>
          <a:xfrm>
            <a:off x="609598" y="5854685"/>
            <a:ext cx="76200" cy="76200"/>
          </a:xfrm>
          <a:prstGeom prst="ellipse">
            <a:avLst/>
          </a:prstGeom>
          <a:solidFill>
            <a:srgbClr val="38B6FF"/>
          </a:solidFill>
          <a:ln/>
        </p:spPr>
      </p:sp>
      <p:sp>
        <p:nvSpPr>
          <p:cNvPr id="24"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Bij de kick-off leggen we deze drie samen vast. Een afspraak die er niet aan voldoet, telt niet mee.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9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PILOT</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Eén vaste prijs, met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tien procent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relatiekorting.</a:t>
            </a:r>
            <a:endParaRPr lang="en-US" sz="3200" dirty="0"/>
          </a:p>
        </p:txBody>
      </p:sp>
      <p:sp>
        <p:nvSpPr>
          <p:cNvPr id="8"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9" name="Shape 6"/>
          <p:cNvSpPr/>
          <p:nvPr/>
        </p:nvSpPr>
        <p:spPr>
          <a:xfrm>
            <a:off x="825498" y="2692393"/>
            <a:ext cx="292099" cy="292099"/>
          </a:xfrm>
          <a:prstGeom prst="ellipse">
            <a:avLst/>
          </a:prstGeom>
          <a:ln w="15240">
            <a:solidFill>
              <a:srgbClr val="38B6FF"/>
            </a:solidFill>
            <a:prstDash val="solid"/>
          </a:ln>
        </p:spPr>
      </p:sp>
      <p:sp>
        <p:nvSpPr>
          <p:cNvPr id="10"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1"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Twaalf weken bellen</a:t>
            </a:r>
            <a:endParaRPr lang="en-US" sz="1150" dirty="0"/>
          </a:p>
        </p:txBody>
      </p:sp>
      <p:sp>
        <p:nvSpPr>
          <p:cNvPr id="12"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Van kick-off tot evaluatie. We bellen op de dagen en dagdelen die in onze data het beste werken voor deze doelgroep.</a:t>
            </a:r>
            <a:endParaRPr lang="en-US" sz="875" dirty="0"/>
          </a:p>
        </p:txBody>
      </p:sp>
      <p:sp>
        <p:nvSpPr>
          <p:cNvPr id="13"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4" name="Shape 11"/>
          <p:cNvSpPr/>
          <p:nvPr/>
        </p:nvSpPr>
        <p:spPr>
          <a:xfrm>
            <a:off x="3606791" y="2692393"/>
            <a:ext cx="292099" cy="292099"/>
          </a:xfrm>
          <a:prstGeom prst="ellipse">
            <a:avLst/>
          </a:prstGeom>
          <a:ln w="15240">
            <a:solidFill>
              <a:srgbClr val="38B6FF"/>
            </a:solidFill>
            <a:prstDash val="solid"/>
          </a:ln>
        </p:spPr>
      </p:sp>
      <p:sp>
        <p:nvSpPr>
          <p:cNvPr id="15"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6"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Tien gekwalificeerde afspraken</a:t>
            </a:r>
            <a:endParaRPr lang="en-US" sz="1150" dirty="0"/>
          </a:p>
        </p:txBody>
      </p:sp>
      <p:sp>
        <p:nvSpPr>
          <p:cNvPr id="17"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Daar verbinden we ons aan. Halen we het niet binnen de twaalf weken, dan bellen we door tot ze er staan.</a:t>
            </a:r>
            <a:endParaRPr lang="en-US" sz="875" dirty="0"/>
          </a:p>
        </p:txBody>
      </p:sp>
      <p:sp>
        <p:nvSpPr>
          <p:cNvPr id="18"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9" name="Shape 16"/>
          <p:cNvSpPr/>
          <p:nvPr/>
        </p:nvSpPr>
        <p:spPr>
          <a:xfrm>
            <a:off x="6388084" y="2692393"/>
            <a:ext cx="292099" cy="292099"/>
          </a:xfrm>
          <a:prstGeom prst="ellipse">
            <a:avLst/>
          </a:prstGeom>
          <a:ln w="15240">
            <a:solidFill>
              <a:srgbClr val="38B6FF"/>
            </a:solidFill>
            <a:prstDash val="solid"/>
          </a:ln>
        </p:spPr>
      </p:sp>
      <p:sp>
        <p:nvSpPr>
          <p:cNvPr id="20"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1"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Alles inbegrepen</a:t>
            </a:r>
            <a:endParaRPr lang="en-US" sz="1150" dirty="0"/>
          </a:p>
        </p:txBody>
      </p:sp>
      <p:sp>
        <p:nvSpPr>
          <p:cNvPr id="22"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Kick-off, USP's, bellijst, belsysteem, telefoonnummer en de wekelijkse rapportage. Geen opstartkosten en geen kosten per afspraak.</a:t>
            </a:r>
            <a:endParaRPr lang="en-US" sz="875" dirty="0"/>
          </a:p>
        </p:txBody>
      </p:sp>
      <p:sp>
        <p:nvSpPr>
          <p:cNvPr id="23"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4" name="Shape 21"/>
          <p:cNvSpPr/>
          <p:nvPr/>
        </p:nvSpPr>
        <p:spPr>
          <a:xfrm>
            <a:off x="9169377" y="2692393"/>
            <a:ext cx="292099" cy="292099"/>
          </a:xfrm>
          <a:prstGeom prst="ellipse">
            <a:avLst/>
          </a:prstGeom>
          <a:ln w="15240">
            <a:solidFill>
              <a:srgbClr val="38B6FF"/>
            </a:solidFill>
            <a:prstDash val="solid"/>
          </a:ln>
        </p:spPr>
      </p:sp>
      <p:sp>
        <p:nvSpPr>
          <p:cNvPr id="25"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6"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procent relatiekorting</a:t>
            </a:r>
            <a:endParaRPr lang="en-US" sz="1150" dirty="0"/>
          </a:p>
        </p:txBody>
      </p:sp>
      <p:sp>
        <p:nvSpPr>
          <p:cNvPr id="27"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We werken sinds augustus met veel plezier met jullie samen en we geloven in deze campagne. Daarom gaat er vierhonderdvijfennegentig euro van de prijs af.</a:t>
            </a:r>
            <a:endParaRPr lang="en-US" sz="875" dirty="0"/>
          </a:p>
        </p:txBody>
      </p:sp>
      <p:sp>
        <p:nvSpPr>
          <p:cNvPr id="28" name="Shape 25"/>
          <p:cNvSpPr/>
          <p:nvPr/>
        </p:nvSpPr>
        <p:spPr>
          <a:xfrm>
            <a:off x="609598" y="5079987"/>
            <a:ext cx="10972773" cy="1028697"/>
          </a:xfrm>
          <a:prstGeom prst="roundRect">
            <a:avLst>
              <a:gd name="adj" fmla="val 9877"/>
            </a:avLst>
          </a:prstGeom>
          <a:solidFill>
            <a:srgbClr val="38B6FF"/>
          </a:solidFill>
          <a:ln/>
        </p:spPr>
      </p:sp>
      <p:sp>
        <p:nvSpPr>
          <p:cNvPr id="29"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DE PILOT, TWAALF WEKEN</a:t>
            </a:r>
            <a:endParaRPr lang="en-US" sz="800" dirty="0"/>
          </a:p>
        </p:txBody>
      </p:sp>
      <p:sp>
        <p:nvSpPr>
          <p:cNvPr id="30" name="Text 27"/>
          <p:cNvSpPr txBox="1"/>
          <p:nvPr/>
        </p:nvSpPr>
        <p:spPr>
          <a:xfrm>
            <a:off x="914398" y="5410186"/>
            <a:ext cx="2984493" cy="406399"/>
          </a:xfrm>
          <a:prstGeom prst="rect">
            <a:avLst/>
          </a:prstGeom>
          <a:noFill/>
          <a:ln/>
        </p:spPr>
        <p:txBody>
          <a:bodyPr wrap="square" lIns="0" tIns="0" rIns="0" bIns="0" rtlCol="0" anchor="ctr"/>
          <a:lstStyle/>
          <a:p>
            <a:pPr indent="0" marL="0">
              <a:buNone/>
            </a:pPr>
            <a:r>
              <a:rPr lang="en-US" sz="2300" b="1" strike="sngStrike" dirty="0">
                <a:solidFill>
                  <a:srgbClr val="2C6B88"/>
                </a:solidFill>
                <a:latin typeface="Arial" pitchFamily="34" charset="0"/>
                <a:ea typeface="Arial" pitchFamily="34" charset="-122"/>
                <a:cs typeface="Arial" pitchFamily="34" charset="-120"/>
              </a:rPr>
              <a:t>€ 4.950</a:t>
            </a:r>
            <a:pPr indent="0" marL="0">
              <a:buNone/>
            </a:pPr>
            <a:r>
              <a:rPr lang="en-US" sz="2300" b="1" dirty="0">
                <a:solidFill>
                  <a:srgbClr val="0D1420"/>
                </a:solidFill>
                <a:latin typeface="Arial" pitchFamily="34" charset="0"/>
                <a:ea typeface="Arial" pitchFamily="34" charset="-122"/>
                <a:cs typeface="Arial" pitchFamily="34" charset="-120"/>
              </a:rPr>
              <a:t>  </a:t>
            </a:r>
            <a:pPr indent="0" marL="0">
              <a:buNone/>
            </a:pPr>
            <a:r>
              <a:rPr lang="en-US" sz="2900" b="1" dirty="0">
                <a:solidFill>
                  <a:srgbClr val="0D1420"/>
                </a:solidFill>
                <a:latin typeface="Arial" pitchFamily="34" charset="0"/>
                <a:ea typeface="Arial" pitchFamily="34" charset="-122"/>
                <a:cs typeface="Arial" pitchFamily="34" charset="-120"/>
              </a:rPr>
              <a:t>€ 4.455</a:t>
            </a:r>
            <a:endParaRPr lang="en-US" sz="2300" dirty="0"/>
          </a:p>
        </p:txBody>
      </p:sp>
      <p:sp>
        <p:nvSpPr>
          <p:cNvPr id="31" name="Text 28"/>
          <p:cNvSpPr txBox="1"/>
          <p:nvPr/>
        </p:nvSpPr>
        <p:spPr>
          <a:xfrm>
            <a:off x="914398" y="5829285"/>
            <a:ext cx="3111492"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€ 495 relatiekorting, excl. btw</a:t>
            </a:r>
            <a:endParaRPr lang="en-US" sz="800" dirty="0"/>
          </a:p>
        </p:txBody>
      </p:sp>
      <p:sp>
        <p:nvSpPr>
          <p:cNvPr id="32" name="Shape 29"/>
          <p:cNvSpPr/>
          <p:nvPr/>
        </p:nvSpPr>
        <p:spPr>
          <a:xfrm>
            <a:off x="4267189" y="5257787"/>
            <a:ext cx="0" cy="673098"/>
          </a:xfrm>
          <a:prstGeom prst="line">
            <a:avLst/>
          </a:prstGeom>
          <a:noFill/>
          <a:ln w="9525">
            <a:solidFill>
              <a:srgbClr val="0D1420">
                <a:alpha val="40000"/>
              </a:srgbClr>
            </a:solidFill>
            <a:prstDash val="solid"/>
          </a:ln>
        </p:spPr>
      </p:sp>
      <p:pic>
        <p:nvPicPr>
          <p:cNvPr id="33" name="Image 1" descr="preencoded.png">    </p:cNvPr>
          <p:cNvPicPr>
            <a:picLocks noChangeAspect="1"/>
          </p:cNvPicPr>
          <p:nvPr/>
        </p:nvPicPr>
        <p:blipFill>
          <a:blip r:embed="rId2"/>
          <a:stretch>
            <a:fillRect/>
          </a:stretch>
        </p:blipFill>
        <p:spPr>
          <a:xfrm>
            <a:off x="4622788" y="5276837"/>
            <a:ext cx="127000" cy="127000"/>
          </a:xfrm>
          <a:prstGeom prst="rect">
            <a:avLst/>
          </a:prstGeom>
        </p:spPr>
      </p:pic>
      <p:sp>
        <p:nvSpPr>
          <p:cNvPr id="34" name="Text 30"/>
          <p:cNvSpPr txBox="1"/>
          <p:nvPr/>
        </p:nvSpPr>
        <p:spPr>
          <a:xfrm>
            <a:off x="4825988" y="5245087"/>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pic>
        <p:nvPicPr>
          <p:cNvPr id="35" name="Image 2" descr="preencoded.png">    </p:cNvPr>
          <p:cNvPicPr>
            <a:picLocks noChangeAspect="1"/>
          </p:cNvPicPr>
          <p:nvPr/>
        </p:nvPicPr>
        <p:blipFill>
          <a:blip r:embed="rId3"/>
          <a:stretch>
            <a:fillRect/>
          </a:stretch>
        </p:blipFill>
        <p:spPr>
          <a:xfrm>
            <a:off x="8102580" y="5276837"/>
            <a:ext cx="127000" cy="127000"/>
          </a:xfrm>
          <a:prstGeom prst="rect">
            <a:avLst/>
          </a:prstGeom>
        </p:spPr>
      </p:pic>
      <p:sp>
        <p:nvSpPr>
          <p:cNvPr id="36" name="Text 31"/>
          <p:cNvSpPr txBox="1"/>
          <p:nvPr/>
        </p:nvSpPr>
        <p:spPr>
          <a:xfrm>
            <a:off x="8305779" y="5245087"/>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procent relatiekorting</a:t>
            </a:r>
            <a:endParaRPr lang="en-US" sz="900" dirty="0"/>
          </a:p>
        </p:txBody>
      </p:sp>
      <p:pic>
        <p:nvPicPr>
          <p:cNvPr id="37" name="Image 3" descr="preencoded.png">    </p:cNvPr>
          <p:cNvPicPr>
            <a:picLocks noChangeAspect="1"/>
          </p:cNvPicPr>
          <p:nvPr/>
        </p:nvPicPr>
        <p:blipFill>
          <a:blip r:embed="rId4"/>
          <a:stretch>
            <a:fillRect/>
          </a:stretch>
        </p:blipFill>
        <p:spPr>
          <a:xfrm>
            <a:off x="4622788" y="5530836"/>
            <a:ext cx="127000" cy="127000"/>
          </a:xfrm>
          <a:prstGeom prst="rect">
            <a:avLst/>
          </a:prstGeom>
        </p:spPr>
      </p:pic>
      <p:sp>
        <p:nvSpPr>
          <p:cNvPr id="38" name="Text 32"/>
          <p:cNvSpPr txBox="1"/>
          <p:nvPr/>
        </p:nvSpPr>
        <p:spPr>
          <a:xfrm>
            <a:off x="4825988" y="5499086"/>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USP's en bellijst</a:t>
            </a:r>
            <a:endParaRPr lang="en-US" sz="900" dirty="0"/>
          </a:p>
        </p:txBody>
      </p:sp>
      <p:pic>
        <p:nvPicPr>
          <p:cNvPr id="39" name="Image 4" descr="preencoded.png">    </p:cNvPr>
          <p:cNvPicPr>
            <a:picLocks noChangeAspect="1"/>
          </p:cNvPicPr>
          <p:nvPr/>
        </p:nvPicPr>
        <p:blipFill>
          <a:blip r:embed="rId5"/>
          <a:stretch>
            <a:fillRect/>
          </a:stretch>
        </p:blipFill>
        <p:spPr>
          <a:xfrm>
            <a:off x="8102580" y="5530836"/>
            <a:ext cx="127000" cy="127000"/>
          </a:xfrm>
          <a:prstGeom prst="rect">
            <a:avLst/>
          </a:prstGeom>
        </p:spPr>
      </p:pic>
      <p:sp>
        <p:nvSpPr>
          <p:cNvPr id="40" name="Text 33"/>
          <p:cNvSpPr txBox="1"/>
          <p:nvPr/>
        </p:nvSpPr>
        <p:spPr>
          <a:xfrm>
            <a:off x="8305779" y="5499086"/>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Belsysteem en nummer op jullie naam</a:t>
            </a:r>
            <a:endParaRPr lang="en-US" sz="900" dirty="0"/>
          </a:p>
        </p:txBody>
      </p:sp>
      <p:pic>
        <p:nvPicPr>
          <p:cNvPr id="41" name="Image 5" descr="preencoded.png">    </p:cNvPr>
          <p:cNvPicPr>
            <a:picLocks noChangeAspect="1"/>
          </p:cNvPicPr>
          <p:nvPr/>
        </p:nvPicPr>
        <p:blipFill>
          <a:blip r:embed="rId6"/>
          <a:stretch>
            <a:fillRect/>
          </a:stretch>
        </p:blipFill>
        <p:spPr>
          <a:xfrm>
            <a:off x="4622788" y="5784836"/>
            <a:ext cx="127000" cy="127000"/>
          </a:xfrm>
          <a:prstGeom prst="rect">
            <a:avLst/>
          </a:prstGeom>
        </p:spPr>
      </p:pic>
      <p:sp>
        <p:nvSpPr>
          <p:cNvPr id="42" name="Text 34"/>
          <p:cNvSpPr txBox="1"/>
          <p:nvPr/>
        </p:nvSpPr>
        <p:spPr>
          <a:xfrm>
            <a:off x="4825988" y="5753086"/>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Wekelijkse rapportage</a:t>
            </a:r>
            <a:endParaRPr lang="en-US" sz="900" dirty="0"/>
          </a:p>
        </p:txBody>
      </p:sp>
      <p:pic>
        <p:nvPicPr>
          <p:cNvPr id="43" name="Image 6" descr="preencoded.png">    </p:cNvPr>
          <p:cNvPicPr>
            <a:picLocks noChangeAspect="1"/>
          </p:cNvPicPr>
          <p:nvPr/>
        </p:nvPicPr>
        <p:blipFill>
          <a:blip r:embed="rId7"/>
          <a:stretch>
            <a:fillRect/>
          </a:stretch>
        </p:blipFill>
        <p:spPr>
          <a:xfrm>
            <a:off x="8102580" y="5784836"/>
            <a:ext cx="127000" cy="127000"/>
          </a:xfrm>
          <a:prstGeom prst="rect">
            <a:avLst/>
          </a:prstGeom>
        </p:spPr>
      </p:pic>
      <p:sp>
        <p:nvSpPr>
          <p:cNvPr id="44" name="Text 35"/>
          <p:cNvSpPr txBox="1"/>
          <p:nvPr/>
        </p:nvSpPr>
        <p:spPr>
          <a:xfrm>
            <a:off x="8305779" y="5753086"/>
            <a:ext cx="3200392"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Geen opstartkosten en geen kosten per afspraak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OK CREATIVE AGENCY NODIG HEBBEN</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uur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daarna draaien wij.</a:t>
            </a:r>
            <a:endParaRPr lang="en-US" sz="3200" dirty="0"/>
          </a:p>
        </p:txBody>
      </p:sp>
      <p:sp>
        <p:nvSpPr>
          <p:cNvPr id="8" name="Shape 5"/>
          <p:cNvSpPr/>
          <p:nvPr/>
        </p:nvSpPr>
        <p:spPr>
          <a:xfrm>
            <a:off x="609598" y="2793993"/>
            <a:ext cx="5397487" cy="1530346"/>
          </a:xfrm>
          <a:prstGeom prst="roundRect">
            <a:avLst>
              <a:gd name="adj" fmla="val 6639"/>
            </a:avLst>
          </a:prstGeom>
          <a:solidFill>
            <a:srgbClr val="000000"/>
          </a:solidFill>
          <a:ln/>
        </p:spPr>
      </p:sp>
      <p:sp>
        <p:nvSpPr>
          <p:cNvPr id="9" name="Shape 6"/>
          <p:cNvSpPr/>
          <p:nvPr/>
        </p:nvSpPr>
        <p:spPr>
          <a:xfrm>
            <a:off x="939798" y="3098792"/>
            <a:ext cx="380999" cy="380999"/>
          </a:xfrm>
          <a:prstGeom prst="roundRect">
            <a:avLst>
              <a:gd name="adj" fmla="val 23333"/>
            </a:avLst>
          </a:prstGeom>
          <a:solidFill>
            <a:srgbClr val="DDEBF3"/>
          </a:solidFill>
          <a:ln/>
        </p:spPr>
      </p:sp>
      <p:pic>
        <p:nvPicPr>
          <p:cNvPr id="10" name="Image 1" descr="preencoded.png">    </p:cNvPr>
          <p:cNvPicPr>
            <a:picLocks noChangeAspect="1"/>
          </p:cNvPicPr>
          <p:nvPr/>
        </p:nvPicPr>
        <p:blipFill>
          <a:blip r:embed="rId2"/>
          <a:stretch>
            <a:fillRect/>
          </a:stretch>
        </p:blipFill>
        <p:spPr>
          <a:xfrm>
            <a:off x="1035047" y="3194042"/>
            <a:ext cx="190500" cy="190500"/>
          </a:xfrm>
          <a:prstGeom prst="rect">
            <a:avLst/>
          </a:prstGeom>
        </p:spPr>
      </p:pic>
      <p:sp>
        <p:nvSpPr>
          <p:cNvPr id="11"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2"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C2C8D2"/>
                </a:solidFill>
                <a:latin typeface="Arial" pitchFamily="34" charset="0"/>
                <a:ea typeface="Arial" pitchFamily="34" charset="-122"/>
                <a:cs typeface="Arial" pitchFamily="34" charset="-120"/>
              </a:rPr>
              <a:t>Eén uur van jullie om het verhaal en de doelgroep scherp te krijgen. Daarna kunnen wij aan de slag.</a:t>
            </a:r>
            <a:endParaRPr lang="en-US" sz="1050" dirty="0"/>
          </a:p>
        </p:txBody>
      </p:sp>
      <p:sp>
        <p:nvSpPr>
          <p:cNvPr id="13" name="Shape 9"/>
          <p:cNvSpPr/>
          <p:nvPr/>
        </p:nvSpPr>
        <p:spPr>
          <a:xfrm>
            <a:off x="6184885" y="2793993"/>
            <a:ext cx="5397487" cy="1530346"/>
          </a:xfrm>
          <a:prstGeom prst="roundRect">
            <a:avLst>
              <a:gd name="adj" fmla="val 6639"/>
            </a:avLst>
          </a:prstGeom>
          <a:solidFill>
            <a:srgbClr val="F8F4EB"/>
          </a:solidFill>
          <a:ln/>
        </p:spPr>
      </p:sp>
      <p:sp>
        <p:nvSpPr>
          <p:cNvPr id="14" name="Shape 10"/>
          <p:cNvSpPr/>
          <p:nvPr/>
        </p:nvSpPr>
        <p:spPr>
          <a:xfrm>
            <a:off x="6515084" y="3098792"/>
            <a:ext cx="380999" cy="380999"/>
          </a:xfrm>
          <a:prstGeom prst="roundRect">
            <a:avLst>
              <a:gd name="adj" fmla="val 23333"/>
            </a:avLst>
          </a:prstGeom>
          <a:solidFill>
            <a:srgbClr val="DDEBF3"/>
          </a:solidFill>
          <a:ln/>
        </p:spPr>
      </p:sp>
      <p:pic>
        <p:nvPicPr>
          <p:cNvPr id="15" name="Image 2" descr="preencoded.png">    </p:cNvPr>
          <p:cNvPicPr>
            <a:picLocks noChangeAspect="1"/>
          </p:cNvPicPr>
          <p:nvPr/>
        </p:nvPicPr>
        <p:blipFill>
          <a:blip r:embed="rId3"/>
          <a:stretch>
            <a:fillRect/>
          </a:stretch>
        </p:blipFill>
        <p:spPr>
          <a:xfrm>
            <a:off x="6610333" y="3194042"/>
            <a:ext cx="190500" cy="190500"/>
          </a:xfrm>
          <a:prstGeom prst="rect">
            <a:avLst/>
          </a:prstGeom>
        </p:spPr>
      </p:pic>
      <p:sp>
        <p:nvSpPr>
          <p:cNvPr id="16"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7"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kantoren die jullie zelf al benaderen, inclusief de twintig van jullie eigen lijst.</a:t>
            </a:r>
            <a:endParaRPr lang="en-US" sz="1050" dirty="0"/>
          </a:p>
        </p:txBody>
      </p:sp>
      <p:sp>
        <p:nvSpPr>
          <p:cNvPr id="18" name="Shape 13"/>
          <p:cNvSpPr/>
          <p:nvPr/>
        </p:nvSpPr>
        <p:spPr>
          <a:xfrm>
            <a:off x="609598" y="4502139"/>
            <a:ext cx="5397487" cy="1530346"/>
          </a:xfrm>
          <a:prstGeom prst="roundRect">
            <a:avLst>
              <a:gd name="adj" fmla="val 6639"/>
            </a:avLst>
          </a:prstGeom>
          <a:solidFill>
            <a:srgbClr val="F8F4EB"/>
          </a:solidFill>
          <a:ln/>
        </p:spPr>
      </p:sp>
      <p:sp>
        <p:nvSpPr>
          <p:cNvPr id="19" name="Shape 14"/>
          <p:cNvSpPr/>
          <p:nvPr/>
        </p:nvSpPr>
        <p:spPr>
          <a:xfrm>
            <a:off x="939798" y="4806938"/>
            <a:ext cx="380999" cy="380999"/>
          </a:xfrm>
          <a:prstGeom prst="roundRect">
            <a:avLst>
              <a:gd name="adj" fmla="val 23333"/>
            </a:avLst>
          </a:prstGeom>
          <a:solidFill>
            <a:srgbClr val="DDEBF3"/>
          </a:solidFill>
          <a:ln/>
        </p:spPr>
      </p:sp>
      <p:pic>
        <p:nvPicPr>
          <p:cNvPr id="20" name="Image 3" descr="preencoded.png">    </p:cNvPr>
          <p:cNvPicPr>
            <a:picLocks noChangeAspect="1"/>
          </p:cNvPicPr>
          <p:nvPr/>
        </p:nvPicPr>
        <p:blipFill>
          <a:blip r:embed="rId4"/>
          <a:stretch>
            <a:fillRect/>
          </a:stretch>
        </p:blipFill>
        <p:spPr>
          <a:xfrm>
            <a:off x="1035047" y="4902188"/>
            <a:ext cx="190500" cy="190500"/>
          </a:xfrm>
          <a:prstGeom prst="rect">
            <a:avLst/>
          </a:prstGeom>
        </p:spPr>
      </p:pic>
      <p:sp>
        <p:nvSpPr>
          <p:cNvPr id="21"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Akkoord op de USP's</a:t>
            </a:r>
            <a:endParaRPr lang="en-US" sz="1450" dirty="0"/>
          </a:p>
        </p:txBody>
      </p:sp>
      <p:sp>
        <p:nvSpPr>
          <p:cNvPr id="22"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leggen ze vast, jullie lezen ze door. Zo staat er niets in dat jullie niet zouden zeggen.</a:t>
            </a:r>
            <a:endParaRPr lang="en-US" sz="1050" dirty="0"/>
          </a:p>
        </p:txBody>
      </p:sp>
      <p:sp>
        <p:nvSpPr>
          <p:cNvPr id="23" name="Shape 17"/>
          <p:cNvSpPr/>
          <p:nvPr/>
        </p:nvSpPr>
        <p:spPr>
          <a:xfrm>
            <a:off x="6184885" y="4502139"/>
            <a:ext cx="5397487" cy="1530346"/>
          </a:xfrm>
          <a:prstGeom prst="roundRect">
            <a:avLst>
              <a:gd name="adj" fmla="val 6639"/>
            </a:avLst>
          </a:prstGeom>
          <a:solidFill>
            <a:srgbClr val="F8F4EB"/>
          </a:solidFill>
          <a:ln/>
        </p:spPr>
      </p:sp>
      <p:sp>
        <p:nvSpPr>
          <p:cNvPr id="24" name="Shape 18"/>
          <p:cNvSpPr/>
          <p:nvPr/>
        </p:nvSpPr>
        <p:spPr>
          <a:xfrm>
            <a:off x="6515084" y="4806938"/>
            <a:ext cx="380999" cy="380999"/>
          </a:xfrm>
          <a:prstGeom prst="roundRect">
            <a:avLst>
              <a:gd name="adj" fmla="val 23333"/>
            </a:avLst>
          </a:prstGeom>
          <a:solidFill>
            <a:srgbClr val="DDEBF3"/>
          </a:solidFill>
          <a:ln/>
        </p:spPr>
      </p:sp>
      <p:pic>
        <p:nvPicPr>
          <p:cNvPr id="25" name="Image 4" descr="preencoded.png">    </p:cNvPr>
          <p:cNvPicPr>
            <a:picLocks noChangeAspect="1"/>
          </p:cNvPicPr>
          <p:nvPr/>
        </p:nvPicPr>
        <p:blipFill>
          <a:blip r:embed="rId5"/>
          <a:stretch>
            <a:fillRect/>
          </a:stretch>
        </p:blipFill>
        <p:spPr>
          <a:xfrm>
            <a:off x="6610333" y="4902188"/>
            <a:ext cx="190500" cy="190500"/>
          </a:xfrm>
          <a:prstGeom prst="rect">
            <a:avLst/>
          </a:prstGeom>
        </p:spPr>
      </p:pic>
      <p:sp>
        <p:nvSpPr>
          <p:cNvPr id="26"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Agenda</a:t>
            </a:r>
            <a:endParaRPr lang="en-US" sz="1450" dirty="0"/>
          </a:p>
        </p:txBody>
      </p:sp>
      <p:sp>
        <p:nvSpPr>
          <p:cNvPr id="27"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Vaste momenten waarop wij afspraken mogen inplannen voor het gesprek en de demo.</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11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8" name="Shape 5"/>
          <p:cNvSpPr/>
          <p:nvPr/>
        </p:nvSpPr>
        <p:spPr>
          <a:xfrm>
            <a:off x="609598" y="2819393"/>
            <a:ext cx="253999" cy="253999"/>
          </a:xfrm>
          <a:prstGeom prst="roundRect">
            <a:avLst>
              <a:gd name="adj" fmla="val 25000"/>
            </a:avLst>
          </a:prstGeom>
          <a:solidFill>
            <a:srgbClr val="DDEBF3"/>
          </a:solidFill>
          <a:ln/>
        </p:spPr>
      </p:sp>
      <p:pic>
        <p:nvPicPr>
          <p:cNvPr id="9" name="Image 1" descr="preencoded.png">    </p:cNvPr>
          <p:cNvPicPr>
            <a:picLocks noChangeAspect="1"/>
          </p:cNvPicPr>
          <p:nvPr/>
        </p:nvPicPr>
        <p:blipFill>
          <a:blip r:embed="rId2"/>
          <a:stretch>
            <a:fillRect/>
          </a:stretch>
        </p:blipFill>
        <p:spPr>
          <a:xfrm>
            <a:off x="666748" y="2876543"/>
            <a:ext cx="139700" cy="139700"/>
          </a:xfrm>
          <a:prstGeom prst="rect">
            <a:avLst/>
          </a:prstGeom>
        </p:spPr>
      </p:pic>
      <p:sp>
        <p:nvSpPr>
          <p:cNvPr id="10"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Eén vaste prijs</a:t>
            </a:r>
            <a:endParaRPr lang="en-US" sz="1200" dirty="0"/>
          </a:p>
        </p:txBody>
      </p:sp>
      <p:sp>
        <p:nvSpPr>
          <p:cNvPr id="11"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€ 4.455 excl. btw voor de hele pilot van twaalf weken, normaal € 4.950.</a:t>
            </a:r>
            <a:endParaRPr lang="en-US" sz="950" dirty="0"/>
          </a:p>
        </p:txBody>
      </p:sp>
      <p:sp>
        <p:nvSpPr>
          <p:cNvPr id="12" name="Shape 8"/>
          <p:cNvSpPr/>
          <p:nvPr/>
        </p:nvSpPr>
        <p:spPr>
          <a:xfrm>
            <a:off x="6349984" y="2819393"/>
            <a:ext cx="253999" cy="253999"/>
          </a:xfrm>
          <a:prstGeom prst="roundRect">
            <a:avLst>
              <a:gd name="adj" fmla="val 25000"/>
            </a:avLst>
          </a:prstGeom>
          <a:solidFill>
            <a:srgbClr val="DDEBF3"/>
          </a:solidFill>
          <a:ln/>
        </p:spPr>
      </p:sp>
      <p:pic>
        <p:nvPicPr>
          <p:cNvPr id="13" name="Image 2" descr="preencoded.png">    </p:cNvPr>
          <p:cNvPicPr>
            <a:picLocks noChangeAspect="1"/>
          </p:cNvPicPr>
          <p:nvPr/>
        </p:nvPicPr>
        <p:blipFill>
          <a:blip r:embed="rId3"/>
          <a:stretch>
            <a:fillRect/>
          </a:stretch>
        </p:blipFill>
        <p:spPr>
          <a:xfrm>
            <a:off x="6407134" y="2876543"/>
            <a:ext cx="139700" cy="139700"/>
          </a:xfrm>
          <a:prstGeom prst="rect">
            <a:avLst/>
          </a:prstGeom>
        </p:spPr>
      </p:pic>
      <p:sp>
        <p:nvSpPr>
          <p:cNvPr id="14"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Tien afspraken</a:t>
            </a:r>
            <a:endParaRPr lang="en-US" sz="1200" dirty="0"/>
          </a:p>
        </p:txBody>
      </p:sp>
      <p:sp>
        <p:nvSpPr>
          <p:cNvPr id="15"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Halen we dat niet binnen twaalf weken, dan bellen we door tot ze er staan.</a:t>
            </a:r>
            <a:endParaRPr lang="en-US" sz="950" dirty="0"/>
          </a:p>
        </p:txBody>
      </p:sp>
      <p:sp>
        <p:nvSpPr>
          <p:cNvPr id="16" name="Shape 11"/>
          <p:cNvSpPr/>
          <p:nvPr/>
        </p:nvSpPr>
        <p:spPr>
          <a:xfrm>
            <a:off x="609598" y="3428991"/>
            <a:ext cx="5232387" cy="0"/>
          </a:xfrm>
          <a:prstGeom prst="line">
            <a:avLst/>
          </a:prstGeom>
          <a:noFill/>
          <a:ln w="6350">
            <a:solidFill>
              <a:srgbClr val="C9C2B2"/>
            </a:solidFill>
            <a:prstDash val="solid"/>
          </a:ln>
        </p:spPr>
      </p:sp>
      <p:sp>
        <p:nvSpPr>
          <p:cNvPr id="17" name="Shape 12"/>
          <p:cNvSpPr/>
          <p:nvPr/>
        </p:nvSpPr>
        <p:spPr>
          <a:xfrm>
            <a:off x="609598" y="3530591"/>
            <a:ext cx="253999" cy="253999"/>
          </a:xfrm>
          <a:prstGeom prst="roundRect">
            <a:avLst>
              <a:gd name="adj" fmla="val 25000"/>
            </a:avLst>
          </a:prstGeom>
          <a:solidFill>
            <a:srgbClr val="DDEBF3"/>
          </a:solidFill>
          <a:ln/>
        </p:spPr>
      </p:sp>
      <p:pic>
        <p:nvPicPr>
          <p:cNvPr id="18" name="Image 3" descr="preencoded.png">    </p:cNvPr>
          <p:cNvPicPr>
            <a:picLocks noChangeAspect="1"/>
          </p:cNvPicPr>
          <p:nvPr/>
        </p:nvPicPr>
        <p:blipFill>
          <a:blip r:embed="rId4"/>
          <a:stretch>
            <a:fillRect/>
          </a:stretch>
        </p:blipFill>
        <p:spPr>
          <a:xfrm>
            <a:off x="666748" y="3587741"/>
            <a:ext cx="139700" cy="139700"/>
          </a:xfrm>
          <a:prstGeom prst="rect">
            <a:avLst/>
          </a:prstGeom>
        </p:spPr>
      </p:pic>
      <p:sp>
        <p:nvSpPr>
          <p:cNvPr id="19"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Geen opstartkosten</a:t>
            </a:r>
            <a:endParaRPr lang="en-US" sz="1200" dirty="0"/>
          </a:p>
        </p:txBody>
      </p:sp>
      <p:sp>
        <p:nvSpPr>
          <p:cNvPr id="20"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Kick-off, USP's, lijst, belsysteem en nummer zitten in de prijs.</a:t>
            </a:r>
            <a:endParaRPr lang="en-US" sz="950" dirty="0"/>
          </a:p>
        </p:txBody>
      </p:sp>
      <p:sp>
        <p:nvSpPr>
          <p:cNvPr id="21" name="Shape 15"/>
          <p:cNvSpPr/>
          <p:nvPr/>
        </p:nvSpPr>
        <p:spPr>
          <a:xfrm>
            <a:off x="6349984" y="3428991"/>
            <a:ext cx="5232387" cy="0"/>
          </a:xfrm>
          <a:prstGeom prst="line">
            <a:avLst/>
          </a:prstGeom>
          <a:noFill/>
          <a:ln w="6350">
            <a:solidFill>
              <a:srgbClr val="C9C2B2"/>
            </a:solidFill>
            <a:prstDash val="solid"/>
          </a:ln>
        </p:spPr>
      </p:sp>
      <p:sp>
        <p:nvSpPr>
          <p:cNvPr id="22" name="Shape 16"/>
          <p:cNvSpPr/>
          <p:nvPr/>
        </p:nvSpPr>
        <p:spPr>
          <a:xfrm>
            <a:off x="6349984" y="3530591"/>
            <a:ext cx="253999" cy="253999"/>
          </a:xfrm>
          <a:prstGeom prst="roundRect">
            <a:avLst>
              <a:gd name="adj" fmla="val 25000"/>
            </a:avLst>
          </a:prstGeom>
          <a:solidFill>
            <a:srgbClr val="DDEBF3"/>
          </a:solidFill>
          <a:ln/>
        </p:spPr>
      </p:sp>
      <p:pic>
        <p:nvPicPr>
          <p:cNvPr id="23" name="Image 4" descr="preencoded.png">    </p:cNvPr>
          <p:cNvPicPr>
            <a:picLocks noChangeAspect="1"/>
          </p:cNvPicPr>
          <p:nvPr/>
        </p:nvPicPr>
        <p:blipFill>
          <a:blip r:embed="rId5"/>
          <a:stretch>
            <a:fillRect/>
          </a:stretch>
        </p:blipFill>
        <p:spPr>
          <a:xfrm>
            <a:off x="6407134" y="3587741"/>
            <a:ext cx="139700" cy="139700"/>
          </a:xfrm>
          <a:prstGeom prst="rect">
            <a:avLst/>
          </a:prstGeom>
        </p:spPr>
      </p:pic>
      <p:sp>
        <p:nvSpPr>
          <p:cNvPr id="24"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Geen kosten per afspraak</a:t>
            </a:r>
            <a:endParaRPr lang="en-US" sz="1200" dirty="0"/>
          </a:p>
        </p:txBody>
      </p:sp>
      <p:sp>
        <p:nvSpPr>
          <p:cNvPr id="25"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Geen nacalculatie en geen rekening achteraf.</a:t>
            </a:r>
            <a:endParaRPr lang="en-US" sz="950" dirty="0"/>
          </a:p>
        </p:txBody>
      </p:sp>
      <p:sp>
        <p:nvSpPr>
          <p:cNvPr id="26" name="Shape 19"/>
          <p:cNvSpPr/>
          <p:nvPr/>
        </p:nvSpPr>
        <p:spPr>
          <a:xfrm>
            <a:off x="609598" y="4140190"/>
            <a:ext cx="5232387" cy="0"/>
          </a:xfrm>
          <a:prstGeom prst="line">
            <a:avLst/>
          </a:prstGeom>
          <a:noFill/>
          <a:ln w="6350">
            <a:solidFill>
              <a:srgbClr val="C9C2B2"/>
            </a:solidFill>
            <a:prstDash val="solid"/>
          </a:ln>
        </p:spPr>
      </p:sp>
      <p:sp>
        <p:nvSpPr>
          <p:cNvPr id="27" name="Shape 20"/>
          <p:cNvSpPr/>
          <p:nvPr/>
        </p:nvSpPr>
        <p:spPr>
          <a:xfrm>
            <a:off x="609598" y="4241789"/>
            <a:ext cx="253999" cy="253999"/>
          </a:xfrm>
          <a:prstGeom prst="roundRect">
            <a:avLst>
              <a:gd name="adj" fmla="val 25000"/>
            </a:avLst>
          </a:prstGeom>
          <a:solidFill>
            <a:srgbClr val="DDEBF3"/>
          </a:solidFill>
          <a:ln/>
        </p:spPr>
      </p:sp>
      <p:pic>
        <p:nvPicPr>
          <p:cNvPr id="28" name="Image 5" descr="preencoded.png">    </p:cNvPr>
          <p:cNvPicPr>
            <a:picLocks noChangeAspect="1"/>
          </p:cNvPicPr>
          <p:nvPr/>
        </p:nvPicPr>
        <p:blipFill>
          <a:blip r:embed="rId6"/>
          <a:stretch>
            <a:fillRect/>
          </a:stretch>
        </p:blipFill>
        <p:spPr>
          <a:xfrm>
            <a:off x="666748" y="4298939"/>
            <a:ext cx="139700" cy="139700"/>
          </a:xfrm>
          <a:prstGeom prst="rect">
            <a:avLst/>
          </a:prstGeom>
        </p:spPr>
      </p:pic>
      <p:sp>
        <p:nvSpPr>
          <p:cNvPr id="29"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Kwalificatie vooraf vastgelegd</a:t>
            </a:r>
            <a:endParaRPr lang="en-US" sz="1200" dirty="0"/>
          </a:p>
        </p:txBody>
      </p:sp>
      <p:sp>
        <p:nvSpPr>
          <p:cNvPr id="30"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de kick-off bepalen we samen wanneer een afspraak meetelt.</a:t>
            </a:r>
            <a:endParaRPr lang="en-US" sz="950" dirty="0"/>
          </a:p>
        </p:txBody>
      </p:sp>
      <p:sp>
        <p:nvSpPr>
          <p:cNvPr id="31" name="Shape 23"/>
          <p:cNvSpPr/>
          <p:nvPr/>
        </p:nvSpPr>
        <p:spPr>
          <a:xfrm>
            <a:off x="6349984" y="4140190"/>
            <a:ext cx="5232387" cy="0"/>
          </a:xfrm>
          <a:prstGeom prst="line">
            <a:avLst/>
          </a:prstGeom>
          <a:noFill/>
          <a:ln w="6350">
            <a:solidFill>
              <a:srgbClr val="C9C2B2"/>
            </a:solidFill>
            <a:prstDash val="solid"/>
          </a:ln>
        </p:spPr>
      </p:sp>
      <p:sp>
        <p:nvSpPr>
          <p:cNvPr id="32" name="Shape 24"/>
          <p:cNvSpPr/>
          <p:nvPr/>
        </p:nvSpPr>
        <p:spPr>
          <a:xfrm>
            <a:off x="6349984" y="4241789"/>
            <a:ext cx="253999" cy="253999"/>
          </a:xfrm>
          <a:prstGeom prst="roundRect">
            <a:avLst>
              <a:gd name="adj" fmla="val 25000"/>
            </a:avLst>
          </a:prstGeom>
          <a:solidFill>
            <a:srgbClr val="DDEBF3"/>
          </a:solidFill>
          <a:ln/>
        </p:spPr>
      </p:sp>
      <p:pic>
        <p:nvPicPr>
          <p:cNvPr id="33" name="Image 6" descr="preencoded.png">    </p:cNvPr>
          <p:cNvPicPr>
            <a:picLocks noChangeAspect="1"/>
          </p:cNvPicPr>
          <p:nvPr/>
        </p:nvPicPr>
        <p:blipFill>
          <a:blip r:embed="rId7"/>
          <a:stretch>
            <a:fillRect/>
          </a:stretch>
        </p:blipFill>
        <p:spPr>
          <a:xfrm>
            <a:off x="6407134" y="4298939"/>
            <a:ext cx="139700" cy="139700"/>
          </a:xfrm>
          <a:prstGeom prst="rect">
            <a:avLst/>
          </a:prstGeom>
        </p:spPr>
      </p:pic>
      <p:sp>
        <p:nvSpPr>
          <p:cNvPr id="34"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35"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kantoren benaderen wij niet.</a:t>
            </a:r>
            <a:endParaRPr lang="en-US" sz="950" dirty="0"/>
          </a:p>
        </p:txBody>
      </p:sp>
      <p:sp>
        <p:nvSpPr>
          <p:cNvPr id="36" name="Shape 27"/>
          <p:cNvSpPr/>
          <p:nvPr/>
        </p:nvSpPr>
        <p:spPr>
          <a:xfrm>
            <a:off x="609598" y="4851388"/>
            <a:ext cx="5232387" cy="0"/>
          </a:xfrm>
          <a:prstGeom prst="line">
            <a:avLst/>
          </a:prstGeom>
          <a:noFill/>
          <a:ln w="6350">
            <a:solidFill>
              <a:srgbClr val="C9C2B2"/>
            </a:solidFill>
            <a:prstDash val="solid"/>
          </a:ln>
        </p:spPr>
      </p:sp>
      <p:sp>
        <p:nvSpPr>
          <p:cNvPr id="37" name="Shape 28"/>
          <p:cNvSpPr/>
          <p:nvPr/>
        </p:nvSpPr>
        <p:spPr>
          <a:xfrm>
            <a:off x="609598" y="4952988"/>
            <a:ext cx="253999" cy="253999"/>
          </a:xfrm>
          <a:prstGeom prst="roundRect">
            <a:avLst>
              <a:gd name="adj" fmla="val 25000"/>
            </a:avLst>
          </a:prstGeom>
          <a:solidFill>
            <a:srgbClr val="DDEBF3"/>
          </a:solidFill>
          <a:ln/>
        </p:spPr>
      </p:sp>
      <p:pic>
        <p:nvPicPr>
          <p:cNvPr id="38" name="Image 7" descr="preencoded.png">    </p:cNvPr>
          <p:cNvPicPr>
            <a:picLocks noChangeAspect="1"/>
          </p:cNvPicPr>
          <p:nvPr/>
        </p:nvPicPr>
        <p:blipFill>
          <a:blip r:embed="rId8"/>
          <a:stretch>
            <a:fillRect/>
          </a:stretch>
        </p:blipFill>
        <p:spPr>
          <a:xfrm>
            <a:off x="666748" y="5010137"/>
            <a:ext cx="139700" cy="139700"/>
          </a:xfrm>
          <a:prstGeom prst="rect">
            <a:avLst/>
          </a:prstGeom>
        </p:spPr>
      </p:pic>
      <p:sp>
        <p:nvSpPr>
          <p:cNvPr id="39"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 lijst blijft van jullie</a:t>
            </a:r>
            <a:endParaRPr lang="en-US" sz="1200" dirty="0"/>
          </a:p>
        </p:txBody>
      </p:sp>
      <p:sp>
        <p:nvSpPr>
          <p:cNvPr id="40"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Na afloop krijgen jullie de volledige bellijst met status en notities.</a:t>
            </a:r>
            <a:endParaRPr lang="en-US" sz="950" dirty="0"/>
          </a:p>
        </p:txBody>
      </p:sp>
      <p:sp>
        <p:nvSpPr>
          <p:cNvPr id="41" name="Shape 31"/>
          <p:cNvSpPr/>
          <p:nvPr/>
        </p:nvSpPr>
        <p:spPr>
          <a:xfrm>
            <a:off x="6349984" y="4851388"/>
            <a:ext cx="5232387" cy="0"/>
          </a:xfrm>
          <a:prstGeom prst="line">
            <a:avLst/>
          </a:prstGeom>
          <a:noFill/>
          <a:ln w="6350">
            <a:solidFill>
              <a:srgbClr val="C9C2B2"/>
            </a:solidFill>
            <a:prstDash val="solid"/>
          </a:ln>
        </p:spPr>
      </p:sp>
      <p:sp>
        <p:nvSpPr>
          <p:cNvPr id="42" name="Shape 32"/>
          <p:cNvSpPr/>
          <p:nvPr/>
        </p:nvSpPr>
        <p:spPr>
          <a:xfrm>
            <a:off x="6349984" y="4952988"/>
            <a:ext cx="253999" cy="253999"/>
          </a:xfrm>
          <a:prstGeom prst="roundRect">
            <a:avLst>
              <a:gd name="adj" fmla="val 25000"/>
            </a:avLst>
          </a:prstGeom>
          <a:solidFill>
            <a:srgbClr val="DDEBF3"/>
          </a:solidFill>
          <a:ln/>
        </p:spPr>
      </p:sp>
      <p:pic>
        <p:nvPicPr>
          <p:cNvPr id="43" name="Image 8" descr="preencoded.png">    </p:cNvPr>
          <p:cNvPicPr>
            <a:picLocks noChangeAspect="1"/>
          </p:cNvPicPr>
          <p:nvPr/>
        </p:nvPicPr>
        <p:blipFill>
          <a:blip r:embed="rId9"/>
          <a:stretch>
            <a:fillRect/>
          </a:stretch>
        </p:blipFill>
        <p:spPr>
          <a:xfrm>
            <a:off x="6407134" y="5010137"/>
            <a:ext cx="139700" cy="139700"/>
          </a:xfrm>
          <a:prstGeom prst="rect">
            <a:avLst/>
          </a:prstGeom>
        </p:spPr>
      </p:pic>
      <p:sp>
        <p:nvSpPr>
          <p:cNvPr id="44"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45"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de verwerkersovereenkomst die er al ligt.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pic>
        <p:nvPicPr>
          <p:cNvPr id="3" name="Image 0" descr="/home/user/Test/assets/okcreative-mark.png">    </p:cNvPr>
          <p:cNvPicPr>
            <a:picLocks noChangeAspect="1"/>
          </p:cNvPicPr>
          <p:nvPr/>
        </p:nvPicPr>
        <p:blipFill>
          <a:blip r:embed="rId1"/>
          <a:stretch>
            <a:fillRect/>
          </a:stretch>
        </p:blipFill>
        <p:spPr>
          <a:xfrm>
            <a:off x="11226772" y="393699"/>
            <a:ext cx="355599" cy="355599"/>
          </a:xfrm>
          <a:prstGeom prst="rect">
            <a:avLst/>
          </a:prstGeom>
        </p:spPr>
      </p:pic>
      <p:sp>
        <p:nvSpPr>
          <p:cNvPr id="4"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Pilot makelaars · OK Creative Agency</a:t>
            </a:r>
            <a:endParaRPr lang="en-US" sz="750" dirty="0"/>
          </a:p>
        </p:txBody>
      </p:sp>
      <p:sp>
        <p:nvSpPr>
          <p:cNvPr id="5"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12 / 12</a:t>
            </a:r>
            <a:endParaRPr lang="en-US" sz="750" dirty="0"/>
          </a:p>
        </p:txBody>
      </p:sp>
      <p:sp>
        <p:nvSpPr>
          <p:cNvPr id="6"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7"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Dan staat de kick-off er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binnen een week</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8" name="Shape 5"/>
          <p:cNvSpPr/>
          <p:nvPr/>
        </p:nvSpPr>
        <p:spPr>
          <a:xfrm>
            <a:off x="609598" y="2920993"/>
            <a:ext cx="304799" cy="304799"/>
          </a:xfrm>
          <a:prstGeom prst="ellipse">
            <a:avLst/>
          </a:prstGeom>
          <a:ln w="15240">
            <a:solidFill>
              <a:srgbClr val="38B6FF"/>
            </a:solidFill>
            <a:prstDash val="solid"/>
          </a:ln>
        </p:spPr>
      </p:sp>
      <p:sp>
        <p:nvSpPr>
          <p:cNvPr id="9"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10"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1"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Mees geeft akkoord op dit voorstel.</a:t>
            </a:r>
            <a:endParaRPr lang="en-US" sz="1100" dirty="0"/>
          </a:p>
        </p:txBody>
      </p:sp>
      <p:sp>
        <p:nvSpPr>
          <p:cNvPr id="12" name="Shape 9"/>
          <p:cNvSpPr/>
          <p:nvPr/>
        </p:nvSpPr>
        <p:spPr>
          <a:xfrm>
            <a:off x="609598" y="3809990"/>
            <a:ext cx="304799" cy="304799"/>
          </a:xfrm>
          <a:prstGeom prst="ellipse">
            <a:avLst/>
          </a:prstGeom>
          <a:ln w="15240">
            <a:solidFill>
              <a:srgbClr val="38B6FF"/>
            </a:solidFill>
            <a:prstDash val="solid"/>
          </a:ln>
        </p:spPr>
      </p:sp>
      <p:sp>
        <p:nvSpPr>
          <p:cNvPr id="13"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5"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Eén uur van jullie, plus de uitsluitlijst.</a:t>
            </a:r>
            <a:endParaRPr lang="en-US" sz="1100" dirty="0"/>
          </a:p>
        </p:txBody>
      </p:sp>
      <p:sp>
        <p:nvSpPr>
          <p:cNvPr id="16" name="Shape 13"/>
          <p:cNvSpPr/>
          <p:nvPr/>
        </p:nvSpPr>
        <p:spPr>
          <a:xfrm>
            <a:off x="609598" y="4698988"/>
            <a:ext cx="304799" cy="304799"/>
          </a:xfrm>
          <a:prstGeom prst="ellipse">
            <a:avLst/>
          </a:prstGeom>
          <a:ln w="15240">
            <a:solidFill>
              <a:srgbClr val="38B6FF"/>
            </a:solidFill>
            <a:prstDash val="solid"/>
          </a:ln>
        </p:spPr>
      </p:sp>
      <p:sp>
        <p:nvSpPr>
          <p:cNvPr id="17"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8"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Bellen</a:t>
            </a:r>
            <a:endParaRPr lang="en-US" sz="1450" dirty="0"/>
          </a:p>
        </p:txBody>
      </p:sp>
      <p:sp>
        <p:nvSpPr>
          <p:cNvPr id="19"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Een week later staat de lijst klaar en gaan we de markt in.</a:t>
            </a:r>
            <a:endParaRPr lang="en-US" sz="1100" dirty="0"/>
          </a:p>
        </p:txBody>
      </p:sp>
      <p:sp>
        <p:nvSpPr>
          <p:cNvPr id="20"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1"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2"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3"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4"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5"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pilotvoorstel OK Creative Agency</dc:title>
  <dc:subject>PptxGenJS Presentation</dc:subject>
  <dc:creator>LINK.</dc:creator>
  <cp:lastModifiedBy>LINK.</cp:lastModifiedBy>
  <cp:revision>1</cp:revision>
  <dcterms:created xsi:type="dcterms:W3CDTF">2026-10-12T13:28:58Z</dcterms:created>
  <dcterms:modified xsi:type="dcterms:W3CDTF">2026-10-12T13:28:58Z</dcterms:modified>
</cp:coreProperties>
</file>