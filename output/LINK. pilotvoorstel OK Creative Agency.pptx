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12</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MEES · OK CREATIVE AGENCY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Jullie makelaarsverhaal, nu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op schaal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hebben ruim twintig makelaarskantoren zelf benaderd en de reacties zijn goed. Er zijn er in Nederland ruim vijfduizend. Dit voorstel gaat over de rest.</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671944"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316345" cy="253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WAAROM WIJ</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maken het werk. Wij zorgen dat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aan tafel komt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Sinds augustus bellen wij voor jullie in de zakelijke dienstverlening. In die twaalf weken hebben we 452 directeuren en marketingverantwoordelijken persoonlijk gesproken en veertien afspraken en overdrachten geleverd. We kennen jullie verhaal inmiddels van binnenuit.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De makelaarspropositie is scherper dan alles wat we tot nu toe hebben gebeld. Er is een duidelijke aanleiding, een herkenbare doelgroep en een demo die jullie al hebben gemaakt. Dat is precies het soort campagne dat op volume beter wordt.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12</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pilot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kick-off tot evaluatie, met elke week een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10</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gekwalificeerde afspraken</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aantal waar we ons aan verbinden, voor één vaste prijs.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AANLEIDING</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hebben de haak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gevonden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Woningaanbod zonder filters</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Dertien pagina's doorklikken zonder één filter. Dat kost de bezoeker geduld en de makelaar een lead. Dit kwam op jullie eigen lijst keer op keer terug.</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Trage, onoverzichtelijke sites</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Beelden die later laden, aanbod dat door elkaar staat, beschikbaar en verkocht naast elkaar. Mooi gemaakt, maar niet gebouwd voor de zoeker.</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Vindbaarheid die niet klopt</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URL-structuren en SEO die niet meebewegen met waar iemand op zoekt. Zichtbaar in één blik, en daarmee een concreet gespreksonderwerp.</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Een platform dat vastloopt</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Veel kantoren zitten op een thema dat ze zelf niet meer kunnen onderhouden. Precies het moment waarop vernieuwen bespreekbaar is.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POTENTIEEL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Twintig kantoren in één hoek.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Vijfduizend</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het land.</a:t>
            </a:r>
            <a:endParaRPr lang="en-US" sz="3200" dirty="0"/>
          </a:p>
        </p:txBody>
      </p:sp>
      <p:pic>
        <p:nvPicPr>
          <p:cNvPr id="7" name="Image 0" descr="/home/user/Test/assets/kaart-makelaars.png">    </p:cNvPr>
          <p:cNvPicPr>
            <a:picLocks noChangeAspect="1"/>
          </p:cNvPicPr>
          <p:nvPr/>
        </p:nvPicPr>
        <p:blipFill>
          <a:blip r:embed="rId1"/>
          <a:stretch>
            <a:fillRect/>
          </a:stretch>
        </p:blipFill>
        <p:spPr>
          <a:xfrm>
            <a:off x="8851878" y="2619061"/>
            <a:ext cx="2730493" cy="3347056"/>
          </a:xfrm>
          <a:prstGeom prst="rect">
            <a:avLst/>
          </a:prstGeom>
        </p:spPr>
      </p:pic>
      <p:sp>
        <p:nvSpPr>
          <p:cNvPr id="8" name="Text 5"/>
          <p:cNvSpPr txBox="1"/>
          <p:nvPr/>
        </p:nvSpPr>
        <p:spPr>
          <a:xfrm>
            <a:off x="609598" y="2565394"/>
            <a:ext cx="4444989" cy="9651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blauwe punten zijn de plaatsen van de kantoren op jullie eigen lijst: Haarlem, Heemstede, Amsterdam, Zwanenburg, Hoofddorp, Nieuw-Vennep, Den Haag en Utrecht. Een strakke cluster rond de eigen regio, met de hand opgebouwd.</a:t>
            </a:r>
            <a:endParaRPr lang="en-US" sz="1150" dirty="0"/>
          </a:p>
        </p:txBody>
      </p:sp>
      <p:sp>
        <p:nvSpPr>
          <p:cNvPr id="9" name="Text 6"/>
          <p:cNvSpPr txBox="1"/>
          <p:nvPr/>
        </p:nvSpPr>
        <p:spPr>
          <a:xfrm>
            <a:off x="609598" y="3682991"/>
            <a:ext cx="4444989" cy="7238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rest van de kaart is nog onaangeroerd. Groningen, Twente, Brabant, Limburg en Zeeland hebben allemaal hun eigen makelaarskantoren met precies dezelfde website.</a:t>
            </a:r>
            <a:endParaRPr lang="en-US" sz="1150" dirty="0"/>
          </a:p>
        </p:txBody>
      </p:sp>
      <p:sp>
        <p:nvSpPr>
          <p:cNvPr id="10" name="Text 7"/>
          <p:cNvSpPr txBox="1"/>
          <p:nvPr/>
        </p:nvSpPr>
        <p:spPr>
          <a:xfrm>
            <a:off x="609598"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5.400+</a:t>
            </a:r>
            <a:endParaRPr lang="en-US" sz="2300" dirty="0"/>
          </a:p>
        </p:txBody>
      </p:sp>
      <p:sp>
        <p:nvSpPr>
          <p:cNvPr id="11" name="Text 8"/>
          <p:cNvSpPr txBox="1"/>
          <p:nvPr/>
        </p:nvSpPr>
        <p:spPr>
          <a:xfrm>
            <a:off x="609598"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makelaarskantoren in Nederland</a:t>
            </a:r>
            <a:endParaRPr lang="en-US" sz="850" dirty="0"/>
          </a:p>
        </p:txBody>
      </p:sp>
      <p:sp>
        <p:nvSpPr>
          <p:cNvPr id="12" name="Text 9"/>
          <p:cNvSpPr txBox="1"/>
          <p:nvPr/>
        </p:nvSpPr>
        <p:spPr>
          <a:xfrm>
            <a:off x="3052226"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3.000+</a:t>
            </a:r>
            <a:endParaRPr lang="en-US" sz="2300" dirty="0"/>
          </a:p>
        </p:txBody>
      </p:sp>
      <p:sp>
        <p:nvSpPr>
          <p:cNvPr id="13" name="Text 10"/>
          <p:cNvSpPr txBox="1"/>
          <p:nvPr/>
        </p:nvSpPr>
        <p:spPr>
          <a:xfrm>
            <a:off x="3052226"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daarvan met telefoonnummer en website in onze datatool</a:t>
            </a:r>
            <a:endParaRPr lang="en-US" sz="850" dirty="0"/>
          </a:p>
        </p:txBody>
      </p:sp>
      <p:sp>
        <p:nvSpPr>
          <p:cNvPr id="14" name="Text 11"/>
          <p:cNvSpPr txBox="1"/>
          <p:nvPr/>
        </p:nvSpPr>
        <p:spPr>
          <a:xfrm>
            <a:off x="5494853"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20</a:t>
            </a:r>
            <a:endParaRPr lang="en-US" sz="2300" dirty="0"/>
          </a:p>
        </p:txBody>
      </p:sp>
      <p:sp>
        <p:nvSpPr>
          <p:cNvPr id="15" name="Text 12"/>
          <p:cNvSpPr txBox="1"/>
          <p:nvPr/>
        </p:nvSpPr>
        <p:spPr>
          <a:xfrm>
            <a:off x="5494853"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die jullie zelf hebben benaderd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JULLIE ZELF AL HEBBEN BEWEZEN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propositie landt. Alleen de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capaciteit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ontbreekt.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KANTOREN BENADERD</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Met de hand, door Mark en Swaan, naast al het andere werk.</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8</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KREGEN HET DECK TE ZIEN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Vier op de tien die jullie spraken wilden het verhaal zien.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OP LATER TERUGKOMEN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Geen nee, maar een moment dat nog niet goed uitkwam.</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OVER OM DOOR TE BELLEN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Dat is geen kritiek maar een rekensom. Bellen kost tijd die bij een creatief bureau nergens vandaan komt.</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jullie eigen overzicht. Een op de vier gesprekken leidde tot het tonen van het deck. Dat is een goede verhouding voor koud bellen.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eigenaar of de marketingverantwoordelijke. Eigen belsysteem en een nummer op jullie naam.</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kantoor</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 kijken voor elk gesprek naar de site: filters, snelheid, aanbod en vindbaarheid. Zo openen we met iets concreets in plaats van een algemeen praatje.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lijst. Wie het deck wil zien krijgt het dezelfde dag, en wordt binnen drie werkdagen nagebeld.</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kantoor past en de juiste persoon tegenover jullie zit.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DE PILOT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Anderhalf tot twee uur. We nemen het verhaal door, scherpen de doelgroep aan en leggen vast wanneer een afspraak meetelt.</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en script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Wij bouwen de bellijst met makelaarskantoren en schrijven het belscript op jullie analyse van hun websites. Jullie geven akkoord.</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namens OK Creative Agency en met een nummer op jullie naam.</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 en evaluatie</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rapportage, om de week een evaluatie. Na twaalf weken weten we wat een afspraak in deze markt kost.</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kantoorinfo,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De volledige bellijst met status, ook na afloop</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makelaarskantoor met een eigen website en woningaanbod, groot genoeg om in een vernieuwing te investeren.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iets concreets: het aanbod is niet te filteren, de site is traag of verouderd, of ze lopen al tegen hun platform aan.</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eigenaar, directeur of de verantwoordelijke voor marketing. Bij een makelaarskantoor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kick-off leggen we deze drie samen vast. Een afspraak die er niet aan voldoet, telt niet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vaste prijs, met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procent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relatiekorting.</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kick-off tot evaluatie. We bellen op de dagen en dagdelen die in onze data het beste werken voor deze doelgroep.</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gekwalificeerde afspraken</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verbinden we ons aan. Halen we het niet binnen de twaalf weken, dan bellen we door tot ze er staan.</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inbegrepen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Kick-off, belscript, bellijst, belsysteem, telefoonnummer en de wekelijkse rapportage. Geen opstartkosten en geen kosten per afspraak.</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procent relatiekorting</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Omdat jullie sinds augustus klant zijn en wij jullie verhaal al kennen, gaat er vierhonderdvijfennegentig euro van de prijs af.</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DE PILOT, TWAALF WEKEN</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€ 4.455</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normaal € 4.950, inclusief 10% relatiekorting,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script en bellijst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nummer op jullie naam</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Wekelijkse rapportage</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opstartkosten</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CREATIVE AGENCY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Ongeveer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halve dag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daarna draaien wij.</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Anderhalf tot twee uur met Mark of Frits om het verhaal en de doelgroep scherp te krijgen.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kantoren die jullie zelf al benaderen, inclusief de twintig van jullie eigen lijst.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Akkoord op het 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het, jullie lezen het door. Zo staat er niets in dat jullie niet zouden zeggen.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waarop wij afspraken mogen inplannen voor het gesprek en de demo.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vaste prijs</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€ 4.455 excl. btw voor de hele pilot van twaalf weken.</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Halen we dat niet binnen twaalf weken, dan bellen we door tot ze er staan.</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Kick-off, script, lijst, belsysteem en nummer zitten in de prijs.</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kosten per afspraak</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nacalculatie en geen rekening achteraf.</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vooraf vastgelegd</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kick-off bepalen we samen wanneer een afspraak meetelt.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kantoren benaderen wij niet.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lijst blijft van jullie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Na afloop krijgen jullie de volledige bellijst met status en notities.</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de verwerkersovereenkomst die er al ligt.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12</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staat de kick-off 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binnen een week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Mees geeft akkoord op dit 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Anderhalf tot twee uur met Mark of Frits, plus de uitsluitlijst.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Een week later staat de lijst klaar en gaan we de markt in.</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pilotvoorstel OK Creative Agency</dc:title>
  <dc:subject>PptxGenJS Presentation</dc:subject>
  <dc:creator>LINK.</dc:creator>
  <cp:lastModifiedBy>LINK.</cp:lastModifiedBy>
  <cp:revision>1</cp:revision>
  <dcterms:created xsi:type="dcterms:W3CDTF">2026-10-12T13:15:22Z</dcterms:created>
  <dcterms:modified xsi:type="dcterms:W3CDTF">2026-10-12T13:15:22Z</dcterms:modified>
</cp:coreProperties>
</file>