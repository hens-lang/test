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12</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MULTIPART · OPTEVEN GROUP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Dealers aan tafel voor jullie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garanties</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MultiPart kan betekenen: structureel aan tafel bij autobedrijven die jullie garanties kunnen gaan verkopen. In deze presentatie staat hoe we werken, hoe groot de markt is en wat de pilot inhoudt.</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530836"/>
            <a:ext cx="1312161" cy="774698"/>
          </a:xfrm>
          <a:prstGeom prst="roundRect">
            <a:avLst>
              <a:gd name="adj" fmla="val 114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44695" y="5613386"/>
            <a:ext cx="931162" cy="609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dealer: merkdealer of universeel, omvang, regio en occasionaanbod. Bestaande dealers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autobedrijf past: het verkoopt occasions waar een garantie bij hoort, en valt binnen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de huidige garantieverstrekker, een aflopend contract, of nog helemaal geen garantieproduct in de showroom.</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vestigingsmanager of verkoopleider. Degene die beslist wat er bij een occasion wordt meeverkocht.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POTENTIEEL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Precies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1.751 autobedrijven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om te bellen.</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1.751</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AUTOBEDRIJVEN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heel Nederland, geteld in onze eigen datatool op 6 oktober 2026, met naam, website en vestiging erbij.</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80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DEALERS PER BELDAG</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ongeveer honderd gesprekspogingen per beldag en gemiddeld 1,25 poging per bedrijf.</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22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BELDAGEN VOOR DE MARKT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Zoveel beldagen kost het om elk autobedrijf in Nederland één keer gesproken te hebben.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Dat is wat de pilot oplevert. Daarna weten we wat een afspraak werkelijk kost.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Het aantal bedrijven is geteld, niet geschat. Het aantal pogingen per bedrijf komt uit onze eigen campagnes en is dus een indicatie. In de kick-off scherpen we de lijst aan op merk, omvang en regio.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LANG DE MARKT MEEGAAT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markt raakt voorlopig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niet op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HELE MARKT ÉÉN KEER ROND</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DAT IS ONGEVEER</a:t>
            </a:r>
            <a:endParaRPr lang="en-US" sz="800" dirty="0"/>
          </a:p>
        </p:txBody>
      </p:sp>
      <p:sp>
        <p:nvSpPr>
          <p:cNvPr id="11" name="Shape 9"/>
          <p:cNvSpPr/>
          <p:nvPr/>
        </p:nvSpPr>
        <p:spPr>
          <a:xfrm>
            <a:off x="609598" y="3136892"/>
            <a:ext cx="10972773" cy="0"/>
          </a:xfrm>
          <a:prstGeom prst="line">
            <a:avLst/>
          </a:prstGeom>
          <a:noFill/>
          <a:ln w="9525">
            <a:solidFill>
              <a:srgbClr val="3A4152"/>
            </a:solidFill>
            <a:prstDash val="solid"/>
          </a:ln>
        </p:spPr>
      </p:sp>
      <p:sp>
        <p:nvSpPr>
          <p:cNvPr id="12" name="Text 10"/>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3" name="Text 11"/>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 werkperiodes</a:t>
            </a:r>
            <a:endParaRPr lang="en-US" sz="1250" dirty="0"/>
          </a:p>
        </p:txBody>
      </p:sp>
      <p:sp>
        <p:nvSpPr>
          <p:cNvPr id="14" name="Text 12"/>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24 weken</a:t>
            </a:r>
            <a:endParaRPr lang="en-US" sz="1250" dirty="0"/>
          </a:p>
        </p:txBody>
      </p:sp>
      <p:sp>
        <p:nvSpPr>
          <p:cNvPr id="15" name="Shape 13"/>
          <p:cNvSpPr/>
          <p:nvPr/>
        </p:nvSpPr>
        <p:spPr>
          <a:xfrm>
            <a:off x="609598" y="3765541"/>
            <a:ext cx="10972773" cy="0"/>
          </a:xfrm>
          <a:prstGeom prst="line">
            <a:avLst/>
          </a:prstGeom>
          <a:noFill/>
          <a:ln w="9525">
            <a:solidFill>
              <a:srgbClr val="3A4152"/>
            </a:solidFill>
            <a:prstDash val="solid"/>
          </a:ln>
        </p:spPr>
      </p:sp>
      <p:sp>
        <p:nvSpPr>
          <p:cNvPr id="16" name="Text 14"/>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 beldagen</a:t>
            </a:r>
            <a:endParaRPr lang="en-US" sz="1250" dirty="0"/>
          </a:p>
        </p:txBody>
      </p:sp>
      <p:sp>
        <p:nvSpPr>
          <p:cNvPr id="17" name="Text 15"/>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werkperiodes</a:t>
            </a:r>
            <a:endParaRPr lang="en-US" sz="1250" dirty="0"/>
          </a:p>
        </p:txBody>
      </p:sp>
      <p:sp>
        <p:nvSpPr>
          <p:cNvPr id="18" name="Text 16"/>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 weken</a:t>
            </a:r>
            <a:endParaRPr lang="en-US" sz="1250" dirty="0"/>
          </a:p>
        </p:txBody>
      </p:sp>
      <p:sp>
        <p:nvSpPr>
          <p:cNvPr id="19" name="Shape 17"/>
          <p:cNvSpPr/>
          <p:nvPr/>
        </p:nvSpPr>
        <p:spPr>
          <a:xfrm>
            <a:off x="615948" y="4394189"/>
            <a:ext cx="10960073" cy="628648"/>
          </a:xfrm>
          <a:prstGeom prst="rect">
            <a:avLst/>
          </a:prstGeom>
          <a:solidFill>
            <a:srgbClr val="38B6FF">
              <a:alpha val="11000"/>
            </a:srgbClr>
          </a:solidFill>
          <a:ln/>
        </p:spPr>
      </p:sp>
      <p:sp>
        <p:nvSpPr>
          <p:cNvPr id="20" name="Shape 18"/>
          <p:cNvSpPr/>
          <p:nvPr/>
        </p:nvSpPr>
        <p:spPr>
          <a:xfrm>
            <a:off x="609598" y="4394189"/>
            <a:ext cx="10972773" cy="0"/>
          </a:xfrm>
          <a:prstGeom prst="line">
            <a:avLst/>
          </a:prstGeom>
          <a:noFill/>
          <a:ln w="9525">
            <a:solidFill>
              <a:srgbClr val="3A4152"/>
            </a:solidFill>
            <a:prstDash val="solid"/>
          </a:ln>
        </p:spPr>
      </p:sp>
      <p:sp>
        <p:nvSpPr>
          <p:cNvPr id="21" name="Text 19"/>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a:t>
            </a:r>
            <a:endParaRPr lang="en-US" sz="1250" dirty="0"/>
          </a:p>
        </p:txBody>
      </p:sp>
      <p:sp>
        <p:nvSpPr>
          <p:cNvPr id="22" name="Text 20"/>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werkperiodes</a:t>
            </a:r>
            <a:endParaRPr lang="en-US" sz="1250" dirty="0"/>
          </a:p>
        </p:txBody>
      </p:sp>
      <p:sp>
        <p:nvSpPr>
          <p:cNvPr id="23" name="Text 21"/>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12 weken</a:t>
            </a:r>
            <a:endParaRPr lang="en-US" sz="1250" dirty="0"/>
          </a:p>
        </p:txBody>
      </p:sp>
      <p:sp>
        <p:nvSpPr>
          <p:cNvPr id="24" name="Shape 22"/>
          <p:cNvSpPr/>
          <p:nvPr/>
        </p:nvSpPr>
        <p:spPr>
          <a:xfrm>
            <a:off x="609598" y="5854685"/>
            <a:ext cx="76200" cy="76200"/>
          </a:xfrm>
          <a:prstGeom prst="ellipse">
            <a:avLst/>
          </a:prstGeom>
          <a:solidFill>
            <a:srgbClr val="38B6FF"/>
          </a:solidFill>
          <a:ln/>
        </p:spPr>
      </p:sp>
      <p:sp>
        <p:nvSpPr>
          <p:cNvPr id="25" name="Text 23"/>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Met 22 beldagen heb je elk autobedrijf in Nederland één keer gesproken. Daarna begin je opnieuw bij de bedrijven die toen net getekend hadden of geen tijd hadden. Contracten lopen af en voorraden wisselen, dus elke ronde levert nieuwe kansen op.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dealer: merkdealer of universeel, omvang, regio en occasionaanbod. Bestaande dealers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autobedrijven op maat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Dealers die al met jullie werken,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MultiPart die de afspraken voert en ons kort laat weten hoe ze verliepen.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met jullie huidige dealers, die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MultiPart</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MultiPart</dc:title>
  <dc:subject>PptxGenJS Presentation</dc:subject>
  <dc:creator>LINK.</dc:creator>
  <cp:lastModifiedBy>LINK.</cp:lastModifiedBy>
  <cp:revision>1</cp:revision>
  <dcterms:created xsi:type="dcterms:W3CDTF">2026-10-06T12:36:05Z</dcterms:created>
  <dcterms:modified xsi:type="dcterms:W3CDTF">2026-10-06T12:36:05Z</dcterms:modified>
</cp:coreProperties>
</file>