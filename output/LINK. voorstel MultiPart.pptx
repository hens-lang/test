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slideLayout" Target="../slideLayouts/slideLayout1.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MultiPart</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12</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MULTIPART · OPTEVEN GROUP · OKTOBER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Dealers aan tafel voor jullie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garanties</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Wat LINK. voor MultiPart kan betekenen: structureel aan tafel bij autobedrijven die jullie garanties kunnen gaan verkopen. In deze presentatie staat hoe we werken, hoe groot de markt is en wat de pilot inhoudt.</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sp>
        <p:nvSpPr>
          <p:cNvPr id="32" name="Shape 30"/>
          <p:cNvSpPr/>
          <p:nvPr/>
        </p:nvSpPr>
        <p:spPr>
          <a:xfrm>
            <a:off x="1854195" y="5530836"/>
            <a:ext cx="1312161" cy="774698"/>
          </a:xfrm>
          <a:prstGeom prst="roundRect">
            <a:avLst>
              <a:gd name="adj" fmla="val 11475"/>
            </a:avLst>
          </a:prstGeom>
          <a:solidFill>
            <a:srgbClr val="F8F4EB"/>
          </a:solidFill>
          <a:ln/>
        </p:spPr>
      </p:sp>
      <p:pic>
        <p:nvPicPr>
          <p:cNvPr id="33" name="Image 0" descr="preencoded.png">    </p:cNvPr>
          <p:cNvPicPr>
            <a:picLocks noChangeAspect="1"/>
          </p:cNvPicPr>
          <p:nvPr/>
        </p:nvPicPr>
        <p:blipFill>
          <a:blip r:embed="rId1"/>
          <a:stretch>
            <a:fillRect/>
          </a:stretch>
        </p:blipFill>
        <p:spPr>
          <a:xfrm>
            <a:off x="2044695" y="5613386"/>
            <a:ext cx="931162" cy="60959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MultiPart</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12</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afspraken op. Geen lijstjes met namen, maar gesprekken in jullie agenda met een beslisser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We werken voor bedrijven met een sterke B2B-propositie, van een fairchain koffieleverancier tot een AI-consultancy. Geen bureau op afstand, maar een partner die elke week met je schakelt.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MultiPart</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12</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afspraken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regionaal telefoonnummer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jullie ideale dealer: merkdealer of universeel, omvang, regio en occasionaanbod. Bestaande dealers en uitsluitingen halen we er vooraf uit.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aan jullie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de interesse echt is en de juiste persoon aan tafel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MultiPart</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12</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SAMENWERKING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Van kick-off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Kick-off</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Samen scherp: doelgroep, beslisser, propositie, bezwaren en wat een goede afspraak voor jullie is. Wij schrijven het belscript, jullie keuren goed.</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Belstart</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Vanaf de eerste maandag na de kick-off gaan we bellen, op de dagen en dagdelen die in onze data het beste werken voor jullie branche. Elke afspraak krijgt een bevestigingsmail naar de prospect en een overdracht met context naar jullie.</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met contactpogingen, gesproken bedrijven, warme uitkomsten, terugbelafspraken en geplande afspraken, plus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Om de week evalueren we samen: klopt de doelgroep, klopt de kwaliteit van de afspraken en wat scherpen we aan.</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MultiPart</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12</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autobedrijf past: het verkoopt occasions waar een garantie bij hoort, en valt binnen de criteria uit de kick-off.</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Er is een concrete aanleiding: ontevreden over de huidige garantieverstrekker, een aflopend contract, of nog helemaal geen garantieproduct in de showroom.</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afspraak staat met de eigenaar, vestigingsmanager of verkoopleider. Degene die beslist wat er bij een occasion wordt meeverkocht.</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afspraak buiten deze eisen, dan telt hij niet mee. Zo blijft het aantal eerlijk en de kwaliteit hoog.</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MultiPart</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6 / 12</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HET POTENTIEEL</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Ruim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1.500 autobedrijven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om te bellen.</a:t>
            </a:r>
            <a:endParaRPr lang="en-US" sz="3200" dirty="0"/>
          </a:p>
        </p:txBody>
      </p:sp>
      <p:sp>
        <p:nvSpPr>
          <p:cNvPr id="7" name="Shape 5"/>
          <p:cNvSpPr/>
          <p:nvPr/>
        </p:nvSpPr>
        <p:spPr>
          <a:xfrm>
            <a:off x="609598" y="2730493"/>
            <a:ext cx="2628893" cy="2222494"/>
          </a:xfrm>
          <a:prstGeom prst="roundRect">
            <a:avLst>
              <a:gd name="adj" fmla="val 4571"/>
            </a:avLst>
          </a:prstGeom>
          <a:solidFill>
            <a:srgbClr val="F8F4EB"/>
          </a:solidFill>
          <a:ln/>
        </p:spPr>
      </p:sp>
      <p:sp>
        <p:nvSpPr>
          <p:cNvPr id="8" name="Text 6"/>
          <p:cNvSpPr txBox="1"/>
          <p:nvPr/>
        </p:nvSpPr>
        <p:spPr>
          <a:xfrm>
            <a:off x="850898"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1.500+</a:t>
            </a:r>
            <a:endParaRPr lang="en-US" sz="3600" dirty="0"/>
          </a:p>
        </p:txBody>
      </p:sp>
      <p:sp>
        <p:nvSpPr>
          <p:cNvPr id="9" name="Text 7"/>
          <p:cNvSpPr txBox="1"/>
          <p:nvPr/>
        </p:nvSpPr>
        <p:spPr>
          <a:xfrm>
            <a:off x="850898"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AUTOBEDRIJVEN</a:t>
            </a:r>
            <a:endParaRPr lang="en-US" sz="900" dirty="0"/>
          </a:p>
        </p:txBody>
      </p:sp>
      <p:sp>
        <p:nvSpPr>
          <p:cNvPr id="10" name="Text 8"/>
          <p:cNvSpPr txBox="1"/>
          <p:nvPr/>
        </p:nvSpPr>
        <p:spPr>
          <a:xfrm>
            <a:off x="850898"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In heel Nederland, geteld in onze eigen datatool op 6 oktober 2026, met naam, website en vestiging erbij.</a:t>
            </a:r>
            <a:endParaRPr lang="en-US" sz="950" dirty="0"/>
          </a:p>
        </p:txBody>
      </p:sp>
      <p:sp>
        <p:nvSpPr>
          <p:cNvPr id="11" name="Shape 9"/>
          <p:cNvSpPr/>
          <p:nvPr/>
        </p:nvSpPr>
        <p:spPr>
          <a:xfrm>
            <a:off x="3390892" y="2730493"/>
            <a:ext cx="2628893" cy="2222494"/>
          </a:xfrm>
          <a:prstGeom prst="roundRect">
            <a:avLst>
              <a:gd name="adj" fmla="val 4571"/>
            </a:avLst>
          </a:prstGeom>
          <a:solidFill>
            <a:srgbClr val="F8F4EB"/>
          </a:solidFill>
          <a:ln/>
        </p:spPr>
      </p:sp>
      <p:sp>
        <p:nvSpPr>
          <p:cNvPr id="12" name="Text 10"/>
          <p:cNvSpPr txBox="1"/>
          <p:nvPr/>
        </p:nvSpPr>
        <p:spPr>
          <a:xfrm>
            <a:off x="3632191"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 80</a:t>
            </a:r>
            <a:endParaRPr lang="en-US" sz="3600" dirty="0"/>
          </a:p>
        </p:txBody>
      </p:sp>
      <p:sp>
        <p:nvSpPr>
          <p:cNvPr id="13" name="Text 11"/>
          <p:cNvSpPr txBox="1"/>
          <p:nvPr/>
        </p:nvSpPr>
        <p:spPr>
          <a:xfrm>
            <a:off x="3632191"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DEALERS PER BELDAG</a:t>
            </a:r>
            <a:endParaRPr lang="en-US" sz="900" dirty="0"/>
          </a:p>
        </p:txBody>
      </p:sp>
      <p:sp>
        <p:nvSpPr>
          <p:cNvPr id="14" name="Text 12"/>
          <p:cNvSpPr txBox="1"/>
          <p:nvPr/>
        </p:nvSpPr>
        <p:spPr>
          <a:xfrm>
            <a:off x="3632191"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Bij ongeveer honderd gesprekspogingen per beldag en gemiddeld 1,25 poging per bedrijf.</a:t>
            </a:r>
            <a:endParaRPr lang="en-US" sz="950" dirty="0"/>
          </a:p>
        </p:txBody>
      </p:sp>
      <p:sp>
        <p:nvSpPr>
          <p:cNvPr id="15" name="Shape 13"/>
          <p:cNvSpPr/>
          <p:nvPr/>
        </p:nvSpPr>
        <p:spPr>
          <a:xfrm>
            <a:off x="6172185" y="2730493"/>
            <a:ext cx="2628893" cy="2222494"/>
          </a:xfrm>
          <a:prstGeom prst="roundRect">
            <a:avLst>
              <a:gd name="adj" fmla="val 4571"/>
            </a:avLst>
          </a:prstGeom>
          <a:solidFill>
            <a:srgbClr val="F8F4EB"/>
          </a:solidFill>
          <a:ln/>
        </p:spPr>
      </p:sp>
      <p:sp>
        <p:nvSpPr>
          <p:cNvPr id="16" name="Text 14"/>
          <p:cNvSpPr txBox="1"/>
          <p:nvPr/>
        </p:nvSpPr>
        <p:spPr>
          <a:xfrm>
            <a:off x="6413484"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 19</a:t>
            </a:r>
            <a:endParaRPr lang="en-US" sz="3600" dirty="0"/>
          </a:p>
        </p:txBody>
      </p:sp>
      <p:sp>
        <p:nvSpPr>
          <p:cNvPr id="17" name="Text 15"/>
          <p:cNvSpPr txBox="1"/>
          <p:nvPr/>
        </p:nvSpPr>
        <p:spPr>
          <a:xfrm>
            <a:off x="6413484"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BELDAGEN VOOR DE MARKT</a:t>
            </a:r>
            <a:endParaRPr lang="en-US" sz="900" dirty="0"/>
          </a:p>
        </p:txBody>
      </p:sp>
      <p:sp>
        <p:nvSpPr>
          <p:cNvPr id="18" name="Text 16"/>
          <p:cNvSpPr txBox="1"/>
          <p:nvPr/>
        </p:nvSpPr>
        <p:spPr>
          <a:xfrm>
            <a:off x="6413484"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Zoveel beldagen kost het om elk autobedrijf in Nederland één keer gesproken te hebben.</a:t>
            </a:r>
            <a:endParaRPr lang="en-US" sz="950" dirty="0"/>
          </a:p>
        </p:txBody>
      </p:sp>
      <p:sp>
        <p:nvSpPr>
          <p:cNvPr id="19" name="Shape 17"/>
          <p:cNvSpPr/>
          <p:nvPr/>
        </p:nvSpPr>
        <p:spPr>
          <a:xfrm>
            <a:off x="8953478" y="2730493"/>
            <a:ext cx="2628893" cy="2222494"/>
          </a:xfrm>
          <a:prstGeom prst="roundRect">
            <a:avLst>
              <a:gd name="adj" fmla="val 4571"/>
            </a:avLst>
          </a:prstGeom>
          <a:solidFill>
            <a:srgbClr val="000000"/>
          </a:solidFill>
          <a:ln/>
        </p:spPr>
      </p:sp>
      <p:sp>
        <p:nvSpPr>
          <p:cNvPr id="20" name="Text 18"/>
          <p:cNvSpPr txBox="1"/>
          <p:nvPr/>
        </p:nvSpPr>
        <p:spPr>
          <a:xfrm>
            <a:off x="9194777" y="2997193"/>
            <a:ext cx="2146295" cy="507999"/>
          </a:xfrm>
          <a:prstGeom prst="rect">
            <a:avLst/>
          </a:prstGeom>
          <a:noFill/>
          <a:ln/>
        </p:spPr>
        <p:txBody>
          <a:bodyPr wrap="square" lIns="0" tIns="0" rIns="0" bIns="0" rtlCol="0" anchor="ctr"/>
          <a:lstStyle/>
          <a:p>
            <a:pPr indent="0" marL="0">
              <a:buNone/>
            </a:pPr>
            <a:r>
              <a:rPr lang="en-US" sz="3600" b="1" dirty="0">
                <a:solidFill>
                  <a:srgbClr val="38B6FF"/>
                </a:solidFill>
                <a:latin typeface="Arial" pitchFamily="34" charset="0"/>
                <a:ea typeface="Arial" pitchFamily="34" charset="-122"/>
                <a:cs typeface="Arial" pitchFamily="34" charset="-120"/>
              </a:rPr>
              <a:t>10</a:t>
            </a:r>
            <a:endParaRPr lang="en-US" sz="3600" dirty="0"/>
          </a:p>
        </p:txBody>
      </p:sp>
      <p:sp>
        <p:nvSpPr>
          <p:cNvPr id="21" name="Text 19"/>
          <p:cNvSpPr txBox="1"/>
          <p:nvPr/>
        </p:nvSpPr>
        <p:spPr>
          <a:xfrm>
            <a:off x="9194777"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GEKWALIFICEERDE AFSPRAKEN</a:t>
            </a:r>
            <a:endParaRPr lang="en-US" sz="900" dirty="0"/>
          </a:p>
        </p:txBody>
      </p:sp>
      <p:sp>
        <p:nvSpPr>
          <p:cNvPr id="22" name="Text 20"/>
          <p:cNvSpPr txBox="1"/>
          <p:nvPr/>
        </p:nvSpPr>
        <p:spPr>
          <a:xfrm>
            <a:off x="9194777"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Dat is wat de pilot oplevert. Daarna weten we wat een afspraak werkelijk kost.</a:t>
            </a:r>
            <a:endParaRPr lang="en-US" sz="950" dirty="0"/>
          </a:p>
        </p:txBody>
      </p:sp>
      <p:sp>
        <p:nvSpPr>
          <p:cNvPr id="23" name="Shape 21"/>
          <p:cNvSpPr/>
          <p:nvPr/>
        </p:nvSpPr>
        <p:spPr>
          <a:xfrm>
            <a:off x="609598" y="5854685"/>
            <a:ext cx="76200" cy="76200"/>
          </a:xfrm>
          <a:prstGeom prst="ellipse">
            <a:avLst/>
          </a:prstGeom>
          <a:solidFill>
            <a:srgbClr val="38B6FF"/>
          </a:solidFill>
          <a:ln/>
        </p:spPr>
      </p:sp>
      <p:sp>
        <p:nvSpPr>
          <p:cNvPr id="24" name="Text 22"/>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De aantallen zijn een indicatie. Het aantal pogingen per bedrijf komt uit onze eigen campagnes, de marktomvang uit onze datatool. In de kick-off scherpen we de lijst aan op merk, omvang en regio.</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MultiPart</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7 / 12</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LANG DE MARKT MEEGAAT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De markt raakt voorlopig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niet op</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666993"/>
            <a:ext cx="10972773" cy="2355844"/>
          </a:xfrm>
          <a:prstGeom prst="roundRect">
            <a:avLst>
              <a:gd name="adj" fmla="val 4313"/>
            </a:avLst>
          </a:prstGeom>
          <a:ln w="9525">
            <a:solidFill>
              <a:srgbClr val="3A4152"/>
            </a:solidFill>
            <a:prstDash val="solid"/>
          </a:ln>
        </p:spPr>
      </p:sp>
      <p:sp>
        <p:nvSpPr>
          <p:cNvPr id="8" name="Text 6"/>
          <p:cNvSpPr txBox="1"/>
          <p:nvPr/>
        </p:nvSpPr>
        <p:spPr>
          <a:xfrm>
            <a:off x="888998" y="2666993"/>
            <a:ext cx="2920993"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BELDAGEN PER 4 WEKEN</a:t>
            </a:r>
            <a:endParaRPr lang="en-US" sz="800" dirty="0"/>
          </a:p>
        </p:txBody>
      </p:sp>
      <p:sp>
        <p:nvSpPr>
          <p:cNvPr id="9" name="Text 7"/>
          <p:cNvSpPr txBox="1"/>
          <p:nvPr/>
        </p:nvSpPr>
        <p:spPr>
          <a:xfrm>
            <a:off x="3886190"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HELE MARKT ÉÉN KEER ROND</a:t>
            </a:r>
            <a:endParaRPr lang="en-US" sz="800" dirty="0"/>
          </a:p>
        </p:txBody>
      </p:sp>
      <p:sp>
        <p:nvSpPr>
          <p:cNvPr id="10" name="Text 8"/>
          <p:cNvSpPr txBox="1"/>
          <p:nvPr/>
        </p:nvSpPr>
        <p:spPr>
          <a:xfrm>
            <a:off x="6324584"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DAT IS ONGEVEER</a:t>
            </a:r>
            <a:endParaRPr lang="en-US" sz="800" dirty="0"/>
          </a:p>
        </p:txBody>
      </p:sp>
      <p:sp>
        <p:nvSpPr>
          <p:cNvPr id="11" name="Shape 9"/>
          <p:cNvSpPr/>
          <p:nvPr/>
        </p:nvSpPr>
        <p:spPr>
          <a:xfrm>
            <a:off x="609598" y="3136892"/>
            <a:ext cx="10972773" cy="0"/>
          </a:xfrm>
          <a:prstGeom prst="line">
            <a:avLst/>
          </a:prstGeom>
          <a:noFill/>
          <a:ln w="9525">
            <a:solidFill>
              <a:srgbClr val="3A4152"/>
            </a:solidFill>
            <a:prstDash val="solid"/>
          </a:ln>
        </p:spPr>
      </p:sp>
      <p:sp>
        <p:nvSpPr>
          <p:cNvPr id="12" name="Text 10"/>
          <p:cNvSpPr txBox="1"/>
          <p:nvPr/>
        </p:nvSpPr>
        <p:spPr>
          <a:xfrm>
            <a:off x="888998" y="3136892"/>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4 beldagen</a:t>
            </a:r>
            <a:endParaRPr lang="en-US" sz="1250" dirty="0"/>
          </a:p>
        </p:txBody>
      </p:sp>
      <p:sp>
        <p:nvSpPr>
          <p:cNvPr id="13" name="Text 11"/>
          <p:cNvSpPr txBox="1"/>
          <p:nvPr/>
        </p:nvSpPr>
        <p:spPr>
          <a:xfrm>
            <a:off x="3886190"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5 werkperiodes</a:t>
            </a:r>
            <a:endParaRPr lang="en-US" sz="1250" dirty="0"/>
          </a:p>
        </p:txBody>
      </p:sp>
      <p:sp>
        <p:nvSpPr>
          <p:cNvPr id="14" name="Text 12"/>
          <p:cNvSpPr txBox="1"/>
          <p:nvPr/>
        </p:nvSpPr>
        <p:spPr>
          <a:xfrm>
            <a:off x="6324584"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20 weken</a:t>
            </a:r>
            <a:endParaRPr lang="en-US" sz="1250" dirty="0"/>
          </a:p>
        </p:txBody>
      </p:sp>
      <p:sp>
        <p:nvSpPr>
          <p:cNvPr id="15" name="Shape 13"/>
          <p:cNvSpPr/>
          <p:nvPr/>
        </p:nvSpPr>
        <p:spPr>
          <a:xfrm>
            <a:off x="609598" y="3765541"/>
            <a:ext cx="10972773" cy="0"/>
          </a:xfrm>
          <a:prstGeom prst="line">
            <a:avLst/>
          </a:prstGeom>
          <a:noFill/>
          <a:ln w="9525">
            <a:solidFill>
              <a:srgbClr val="3A4152"/>
            </a:solidFill>
            <a:prstDash val="solid"/>
          </a:ln>
        </p:spPr>
      </p:sp>
      <p:sp>
        <p:nvSpPr>
          <p:cNvPr id="16" name="Text 14"/>
          <p:cNvSpPr txBox="1"/>
          <p:nvPr/>
        </p:nvSpPr>
        <p:spPr>
          <a:xfrm>
            <a:off x="888998" y="3765541"/>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6 beldagen</a:t>
            </a:r>
            <a:endParaRPr lang="en-US" sz="1250" dirty="0"/>
          </a:p>
        </p:txBody>
      </p:sp>
      <p:sp>
        <p:nvSpPr>
          <p:cNvPr id="17" name="Text 15"/>
          <p:cNvSpPr txBox="1"/>
          <p:nvPr/>
        </p:nvSpPr>
        <p:spPr>
          <a:xfrm>
            <a:off x="3886190"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4 werkperiodes</a:t>
            </a:r>
            <a:endParaRPr lang="en-US" sz="1250" dirty="0"/>
          </a:p>
        </p:txBody>
      </p:sp>
      <p:sp>
        <p:nvSpPr>
          <p:cNvPr id="18" name="Text 16"/>
          <p:cNvSpPr txBox="1"/>
          <p:nvPr/>
        </p:nvSpPr>
        <p:spPr>
          <a:xfrm>
            <a:off x="6324584"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13 weken</a:t>
            </a:r>
            <a:endParaRPr lang="en-US" sz="1250" dirty="0"/>
          </a:p>
        </p:txBody>
      </p:sp>
      <p:sp>
        <p:nvSpPr>
          <p:cNvPr id="19" name="Shape 17"/>
          <p:cNvSpPr/>
          <p:nvPr/>
        </p:nvSpPr>
        <p:spPr>
          <a:xfrm>
            <a:off x="615948" y="4394189"/>
            <a:ext cx="10960073" cy="628648"/>
          </a:xfrm>
          <a:prstGeom prst="rect">
            <a:avLst/>
          </a:prstGeom>
          <a:solidFill>
            <a:srgbClr val="38B6FF">
              <a:alpha val="11000"/>
            </a:srgbClr>
          </a:solidFill>
          <a:ln/>
        </p:spPr>
      </p:sp>
      <p:sp>
        <p:nvSpPr>
          <p:cNvPr id="20" name="Shape 18"/>
          <p:cNvSpPr/>
          <p:nvPr/>
        </p:nvSpPr>
        <p:spPr>
          <a:xfrm>
            <a:off x="609598" y="4394189"/>
            <a:ext cx="10972773" cy="0"/>
          </a:xfrm>
          <a:prstGeom prst="line">
            <a:avLst/>
          </a:prstGeom>
          <a:noFill/>
          <a:ln w="9525">
            <a:solidFill>
              <a:srgbClr val="3A4152"/>
            </a:solidFill>
            <a:prstDash val="solid"/>
          </a:ln>
        </p:spPr>
      </p:sp>
      <p:sp>
        <p:nvSpPr>
          <p:cNvPr id="21" name="Text 19"/>
          <p:cNvSpPr txBox="1"/>
          <p:nvPr/>
        </p:nvSpPr>
        <p:spPr>
          <a:xfrm>
            <a:off x="888998" y="4394189"/>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8 beldagen</a:t>
            </a:r>
            <a:endParaRPr lang="en-US" sz="1250" dirty="0"/>
          </a:p>
        </p:txBody>
      </p:sp>
      <p:sp>
        <p:nvSpPr>
          <p:cNvPr id="22" name="Text 20"/>
          <p:cNvSpPr txBox="1"/>
          <p:nvPr/>
        </p:nvSpPr>
        <p:spPr>
          <a:xfrm>
            <a:off x="3886190"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3 werkperiodes</a:t>
            </a:r>
            <a:endParaRPr lang="en-US" sz="1250" dirty="0"/>
          </a:p>
        </p:txBody>
      </p:sp>
      <p:sp>
        <p:nvSpPr>
          <p:cNvPr id="23" name="Text 21"/>
          <p:cNvSpPr txBox="1"/>
          <p:nvPr/>
        </p:nvSpPr>
        <p:spPr>
          <a:xfrm>
            <a:off x="6324584"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10 weken</a:t>
            </a:r>
            <a:endParaRPr lang="en-US" sz="1250" dirty="0"/>
          </a:p>
        </p:txBody>
      </p:sp>
      <p:sp>
        <p:nvSpPr>
          <p:cNvPr id="24" name="Shape 22"/>
          <p:cNvSpPr/>
          <p:nvPr/>
        </p:nvSpPr>
        <p:spPr>
          <a:xfrm>
            <a:off x="609598" y="5854685"/>
            <a:ext cx="76200" cy="76200"/>
          </a:xfrm>
          <a:prstGeom prst="ellipse">
            <a:avLst/>
          </a:prstGeom>
          <a:solidFill>
            <a:srgbClr val="38B6FF"/>
          </a:solidFill>
          <a:ln/>
        </p:spPr>
      </p:sp>
      <p:sp>
        <p:nvSpPr>
          <p:cNvPr id="25" name="Text 23"/>
          <p:cNvSpPr txBox="1"/>
          <p:nvPr/>
        </p:nvSpPr>
        <p:spPr>
          <a:xfrm>
            <a:off x="800098" y="5651486"/>
            <a:ext cx="9905975" cy="482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Na één ronde begin je opnieuw bij de bedrijven die toen net getekend hadden of geen tijd hadden. Elke ronde levert nieuwe kansen op, want contracten lopen af en voorraden wisselen.</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MultiPart</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8 / 12</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STANDAARDPILOT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Twaalf weken om het te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bewijzen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Kick-off en belscript</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Samen scherp wat we gaan vertellen en bij wie. Wij schrijven het belscript, jullie keuren het goed.</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Bellijst op maat</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Wij bouwen de bellijst op jullie ideale dealer: merkdealer of universeel, omvang, regio en occasionaanbod. Bestaande dealers gaan er vooraf uit.</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Looptijd van twaalf weken</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De pilot loopt twaalf weken. We bellen daarin op de dagen en dagdelen die in onze data het beste werken voor jullie branche, met een regionaal nummer op jullie naam. Elke week een rapportage, om de week evaluatie.</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Tien gekwalificeerde afspraken</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afspraak voldoet aan drie eisen: het bedrijf past, de interesse is echt en de juiste persoon zit aan tafel.</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PILOT</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€ 4.950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excl. btw, alles inbegrepen</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Kick-off en belscript</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Bellijst met autobedrijven op maat</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Volledige inrichting van belsysteem en nummer</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Beldagen binnen een looptijd van 12 weken</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Rapportage elke week, evaluatie om de week</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Tien gekwalificeerde afspraken</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MultiPart</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9 / 12</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WE VERDER GAAN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Je koopt geen uren. Je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investeert</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afspraken in de agenda.</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Wat we dan weten</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Uit de pilot blijkt hoeveel tijd er in één gekwalificeerde afspraak zit en hoeveel afspraken er nodig zijn voor één nieuwe klant. Niet geschat, gewoon geteld.</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Van doel naar bezetting</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Jullie zeggen hoeveel nieuwe klanten je per periode wilt. Wij rekenen terug hoeveel afspraken daarvoor nodig zijn en trekken daar de tijd voor uit.</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Boven target is voor jullie</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Zijn we eerder klaar dan gepland, dan bellen we de tijd gewoon vol. Wat er dan nog bij komt is voor jullie, zonder extra factuur.</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Succesfee bij omzet</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Wordt een afspraak een opdracht, dan spreken we daar vooraf een succesfee over af. Wij verdienen pas extra als het jullie ook echt omzet oplevert.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Het target komt uit jullie eigen cijfers, dus dat halen we. Zo niet, dan halen we het de volgende werkperiode in.</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MultiPart</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10 / 12</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JULLIE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halve dag van jullie, dan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draaien wij</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Kick-off sessie</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Anderhalf tot twee uur met de beslisser en degene die de afspraken gaat voeren.</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Dealers die al met jullie werken, lopende gesprekken en bedrijven die we niet mogen benaderen.</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Goedkeuring belscript</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Wij schrijven, jullie lezen mee en keuren goed.</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Opvolging van afspraken</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Eén vaste persoon bij MultiPart die de afspraken voert en ons kort laat weten hoe ze verliepen.</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MultiPart</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11 / 12</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Niet-exclusief</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Jullie zitten nergens aan vast en houden alle vrijheid.</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met jullie huidige dealers, die benaderen wij niet.</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gebeurd is en wat het opleverde.</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Jullie naam, onze uitvoering</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Regionaal nummer en jullie stijl, wij voeren uit.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Evaluatie om de week</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twijfel om tafel en bijsturen.</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Alles op papier</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korte samenwerkingsovereenkomst.</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MultiPart</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12 / 12</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de pilot? Dan plannen we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kick-off</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Jullie geven akkoord op het pilotvoorstel.</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Overeenkomsten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LINK. stuurt de samenwerkingsovereenkomst en de verwerkersovereenkomst.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Kick-off</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plannen de kick-off en de belstart.</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voorstel MultiPart</dc:title>
  <dc:subject>PptxGenJS Presentation</dc:subject>
  <dc:creator>LINK.</dc:creator>
  <cp:lastModifiedBy>LINK.</cp:lastModifiedBy>
  <cp:revision>1</cp:revision>
  <dcterms:created xsi:type="dcterms:W3CDTF">2026-10-06T12:34:55Z</dcterms:created>
  <dcterms:modified xsi:type="dcterms:W3CDTF">2026-10-06T12:34:55Z</dcterms:modified>
</cp:coreProperties>
</file>