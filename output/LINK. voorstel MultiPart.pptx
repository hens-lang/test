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MultiPart</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12</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MULTIPART · OPTEVEN GROUP · OKTOBER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Dealers aan tafel voor jullie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garanties</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MultiPart kan betekenen: structureel aan tafel bij autobedrijven die jullie garanties kunnen gaan verkopen. In deze presentatie staat hoe we werken, hoe groot de markt is en wat de pilot inhoudt.</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530836"/>
            <a:ext cx="1312161" cy="774698"/>
          </a:xfrm>
          <a:prstGeom prst="roundRect">
            <a:avLst>
              <a:gd name="adj" fmla="val 114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44695" y="5613386"/>
            <a:ext cx="931162" cy="6095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van een fairchain koffieleverancier tot een AI-consultancy.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jullie ideale dealer: merkdealer of universeel, omvang, regio en occasionaanbod. Bestaande dealers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autobedrijf past: het verkoopt occasions waar een garantie bij hoort, en valt binnen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Er is een concrete aanleiding: ontevreden over de huidige garantieverstrekker, een aflopend contract, of nog helemaal geen garantieproduct in de showroom.</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de eigenaar, vestigingsmanager of verkoopleider. Degene die beslist wat er bij een occasion wordt meeverkocht.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6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HET POTENTIEEL</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Precies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1.751 autobedrijven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om te bellen.</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1.751</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AUTOBEDRIJVEN</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In heel Nederland, geteld in onze eigen datatool op 6 oktober 2026, met naam, website en vestiging erbij.</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 80</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DEALERS PER BELDAG</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Bij ongeveer honderd gesprekspogingen per beldag en gemiddeld 1,25 poging per bedrijf.</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 22</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BELDAGEN VOOR DE MARKT</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Zoveel beldagen kost het om elk autobedrijf in Nederland één keer gesproken te hebben.</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10</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GEKWALIFICEERDE AFSPRAKEN</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Dat is wat de pilot oplevert. Daarna weten we wat een afspraak werkelijk kost.</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Het aantal bedrijven is geteld, niet geschat. Het aantal pogingen per bedrijf komt uit onze eigen campagnes en is dus een indicatie. In de kick-off scherpen we de lijst aan op merk, omvang en regio.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LANG DE MARKT MEEGAAT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De markt raakt voorlopig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niet op</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666993"/>
            <a:ext cx="10972773" cy="2355844"/>
          </a:xfrm>
          <a:prstGeom prst="roundRect">
            <a:avLst>
              <a:gd name="adj" fmla="val 4313"/>
            </a:avLst>
          </a:prstGeom>
          <a:ln w="9525">
            <a:solidFill>
              <a:srgbClr val="3A4152"/>
            </a:solidFill>
            <a:prstDash val="solid"/>
          </a:ln>
        </p:spPr>
      </p:sp>
      <p:sp>
        <p:nvSpPr>
          <p:cNvPr id="8" name="Text 6"/>
          <p:cNvSpPr txBox="1"/>
          <p:nvPr/>
        </p:nvSpPr>
        <p:spPr>
          <a:xfrm>
            <a:off x="888998" y="2666993"/>
            <a:ext cx="2920993"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BELDAGEN PER 4 WEKEN</a:t>
            </a:r>
            <a:endParaRPr lang="en-US" sz="800" dirty="0"/>
          </a:p>
        </p:txBody>
      </p:sp>
      <p:sp>
        <p:nvSpPr>
          <p:cNvPr id="9" name="Text 7"/>
          <p:cNvSpPr txBox="1"/>
          <p:nvPr/>
        </p:nvSpPr>
        <p:spPr>
          <a:xfrm>
            <a:off x="3886190"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HELE MARKT ÉÉN KEER ROND</a:t>
            </a:r>
            <a:endParaRPr lang="en-US" sz="800" dirty="0"/>
          </a:p>
        </p:txBody>
      </p:sp>
      <p:sp>
        <p:nvSpPr>
          <p:cNvPr id="10" name="Text 8"/>
          <p:cNvSpPr txBox="1"/>
          <p:nvPr/>
        </p:nvSpPr>
        <p:spPr>
          <a:xfrm>
            <a:off x="6324584"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DAT IS ONGEVEER</a:t>
            </a:r>
            <a:endParaRPr lang="en-US" sz="800" dirty="0"/>
          </a:p>
        </p:txBody>
      </p:sp>
      <p:sp>
        <p:nvSpPr>
          <p:cNvPr id="11" name="Shape 9"/>
          <p:cNvSpPr/>
          <p:nvPr/>
        </p:nvSpPr>
        <p:spPr>
          <a:xfrm>
            <a:off x="609598" y="3136892"/>
            <a:ext cx="10972773" cy="0"/>
          </a:xfrm>
          <a:prstGeom prst="line">
            <a:avLst/>
          </a:prstGeom>
          <a:noFill/>
          <a:ln w="9525">
            <a:solidFill>
              <a:srgbClr val="3A4152"/>
            </a:solidFill>
            <a:prstDash val="solid"/>
          </a:ln>
        </p:spPr>
      </p:sp>
      <p:sp>
        <p:nvSpPr>
          <p:cNvPr id="12" name="Text 10"/>
          <p:cNvSpPr txBox="1"/>
          <p:nvPr/>
        </p:nvSpPr>
        <p:spPr>
          <a:xfrm>
            <a:off x="888998" y="3136892"/>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4 beldagen</a:t>
            </a:r>
            <a:endParaRPr lang="en-US" sz="1250" dirty="0"/>
          </a:p>
        </p:txBody>
      </p:sp>
      <p:sp>
        <p:nvSpPr>
          <p:cNvPr id="13" name="Text 11"/>
          <p:cNvSpPr txBox="1"/>
          <p:nvPr/>
        </p:nvSpPr>
        <p:spPr>
          <a:xfrm>
            <a:off x="3886190"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6 werkperiodes</a:t>
            </a:r>
            <a:endParaRPr lang="en-US" sz="1250" dirty="0"/>
          </a:p>
        </p:txBody>
      </p:sp>
      <p:sp>
        <p:nvSpPr>
          <p:cNvPr id="14" name="Text 12"/>
          <p:cNvSpPr txBox="1"/>
          <p:nvPr/>
        </p:nvSpPr>
        <p:spPr>
          <a:xfrm>
            <a:off x="6324584"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24 weken</a:t>
            </a:r>
            <a:endParaRPr lang="en-US" sz="1250" dirty="0"/>
          </a:p>
        </p:txBody>
      </p:sp>
      <p:sp>
        <p:nvSpPr>
          <p:cNvPr id="15" name="Shape 13"/>
          <p:cNvSpPr/>
          <p:nvPr/>
        </p:nvSpPr>
        <p:spPr>
          <a:xfrm>
            <a:off x="609598" y="3765541"/>
            <a:ext cx="10972773" cy="0"/>
          </a:xfrm>
          <a:prstGeom prst="line">
            <a:avLst/>
          </a:prstGeom>
          <a:noFill/>
          <a:ln w="9525">
            <a:solidFill>
              <a:srgbClr val="3A4152"/>
            </a:solidFill>
            <a:prstDash val="solid"/>
          </a:ln>
        </p:spPr>
      </p:sp>
      <p:sp>
        <p:nvSpPr>
          <p:cNvPr id="16" name="Text 14"/>
          <p:cNvSpPr txBox="1"/>
          <p:nvPr/>
        </p:nvSpPr>
        <p:spPr>
          <a:xfrm>
            <a:off x="888998" y="3765541"/>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6 beldagen</a:t>
            </a:r>
            <a:endParaRPr lang="en-US" sz="1250" dirty="0"/>
          </a:p>
        </p:txBody>
      </p:sp>
      <p:sp>
        <p:nvSpPr>
          <p:cNvPr id="17" name="Text 15"/>
          <p:cNvSpPr txBox="1"/>
          <p:nvPr/>
        </p:nvSpPr>
        <p:spPr>
          <a:xfrm>
            <a:off x="3886190"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4 werkperiodes</a:t>
            </a:r>
            <a:endParaRPr lang="en-US" sz="1250" dirty="0"/>
          </a:p>
        </p:txBody>
      </p:sp>
      <p:sp>
        <p:nvSpPr>
          <p:cNvPr id="18" name="Text 16"/>
          <p:cNvSpPr txBox="1"/>
          <p:nvPr/>
        </p:nvSpPr>
        <p:spPr>
          <a:xfrm>
            <a:off x="6324584"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16 weken</a:t>
            </a:r>
            <a:endParaRPr lang="en-US" sz="1250" dirty="0"/>
          </a:p>
        </p:txBody>
      </p:sp>
      <p:sp>
        <p:nvSpPr>
          <p:cNvPr id="19" name="Shape 17"/>
          <p:cNvSpPr/>
          <p:nvPr/>
        </p:nvSpPr>
        <p:spPr>
          <a:xfrm>
            <a:off x="615948" y="4394189"/>
            <a:ext cx="10960073" cy="628648"/>
          </a:xfrm>
          <a:prstGeom prst="rect">
            <a:avLst/>
          </a:prstGeom>
          <a:solidFill>
            <a:srgbClr val="38B6FF">
              <a:alpha val="11000"/>
            </a:srgbClr>
          </a:solidFill>
          <a:ln/>
        </p:spPr>
      </p:sp>
      <p:sp>
        <p:nvSpPr>
          <p:cNvPr id="20" name="Shape 18"/>
          <p:cNvSpPr/>
          <p:nvPr/>
        </p:nvSpPr>
        <p:spPr>
          <a:xfrm>
            <a:off x="609598" y="4394189"/>
            <a:ext cx="10972773" cy="0"/>
          </a:xfrm>
          <a:prstGeom prst="line">
            <a:avLst/>
          </a:prstGeom>
          <a:noFill/>
          <a:ln w="9525">
            <a:solidFill>
              <a:srgbClr val="3A4152"/>
            </a:solidFill>
            <a:prstDash val="solid"/>
          </a:ln>
        </p:spPr>
      </p:sp>
      <p:sp>
        <p:nvSpPr>
          <p:cNvPr id="21" name="Text 19"/>
          <p:cNvSpPr txBox="1"/>
          <p:nvPr/>
        </p:nvSpPr>
        <p:spPr>
          <a:xfrm>
            <a:off x="888998" y="4394189"/>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8 beldagen</a:t>
            </a:r>
            <a:endParaRPr lang="en-US" sz="1250" dirty="0"/>
          </a:p>
        </p:txBody>
      </p:sp>
      <p:sp>
        <p:nvSpPr>
          <p:cNvPr id="22" name="Text 20"/>
          <p:cNvSpPr txBox="1"/>
          <p:nvPr/>
        </p:nvSpPr>
        <p:spPr>
          <a:xfrm>
            <a:off x="3886190"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3 werkperiodes</a:t>
            </a:r>
            <a:endParaRPr lang="en-US" sz="1250" dirty="0"/>
          </a:p>
        </p:txBody>
      </p:sp>
      <p:sp>
        <p:nvSpPr>
          <p:cNvPr id="23" name="Text 21"/>
          <p:cNvSpPr txBox="1"/>
          <p:nvPr/>
        </p:nvSpPr>
        <p:spPr>
          <a:xfrm>
            <a:off x="6324584"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12 weken</a:t>
            </a:r>
            <a:endParaRPr lang="en-US" sz="1250" dirty="0"/>
          </a:p>
        </p:txBody>
      </p:sp>
      <p:sp>
        <p:nvSpPr>
          <p:cNvPr id="24" name="Shape 22"/>
          <p:cNvSpPr/>
          <p:nvPr/>
        </p:nvSpPr>
        <p:spPr>
          <a:xfrm>
            <a:off x="609598" y="5854685"/>
            <a:ext cx="76200" cy="76200"/>
          </a:xfrm>
          <a:prstGeom prst="ellipse">
            <a:avLst/>
          </a:prstGeom>
          <a:solidFill>
            <a:srgbClr val="38B6FF"/>
          </a:solidFill>
          <a:ln/>
        </p:spPr>
      </p:sp>
      <p:sp>
        <p:nvSpPr>
          <p:cNvPr id="25" name="Text 23"/>
          <p:cNvSpPr txBox="1"/>
          <p:nvPr/>
        </p:nvSpPr>
        <p:spPr>
          <a:xfrm>
            <a:off x="800098" y="5651486"/>
            <a:ext cx="9905975" cy="482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Met 22 beldagen heb je elk autobedrijf in Nederland één keer gesproken. Daarna begin je opnieuw bij de bedrijven die toen net getekend hadden of geen tijd hadden. Contracten lopen af en voorraden wisselen, dus elke ronde levert nieuwe kansen op.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8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dealer: merkdealer of universeel, omvang, regio en occasionaanbod. Bestaande dealers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met autobedrijven op maat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9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10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de beslisser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Dealers die al met jullie werken,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MultiPart die de afspraken voert en ons kort laat weten hoe ze verliepen.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11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met jullie huidige dealers, die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MultiPart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12 / 12</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Jullie geven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voorstel MultiPart</dc:title>
  <dc:subject>PptxGenJS Presentation</dc:subject>
  <dc:creator>LINK.</dc:creator>
  <cp:lastModifiedBy>LINK.</cp:lastModifiedBy>
  <cp:revision>1</cp:revision>
  <dcterms:created xsi:type="dcterms:W3CDTF">2026-10-12T13:29:49Z</dcterms:created>
  <dcterms:modified xsi:type="dcterms:W3CDTF">2026-10-12T13:29:49Z</dcterms:modified>
</cp:coreProperties>
</file>