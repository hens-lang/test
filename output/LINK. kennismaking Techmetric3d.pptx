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9</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BART · TECHMETRIC3D · 18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doet, hoe we werken en wat het pilotvoorstel voor Techmetric3d inhoudt.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een acquisitiebureau voor B2B-bedrijven. Wij bellen en mailen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van koffie voor kantoren en videoproductie tot CO2-certificaten, cybersecurity en interieurbeplanting.</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voor bellen, mailen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opvolgen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e-mail</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Korte, persoonlijke mails als opening of als opvolging van een gesprek. Geen massamails, één relevant bericht per bedrijf, in jullie tone of voice.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klantprofiel: branche, grootte, regio en functie. Bestaande relaties en uitsluitingen halen we er vooraf uit.</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en de mails,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werkperiode evalueren we: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per werkperiode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PILOTVOORSTEL TECHMETRIC3D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12 weken, 12 gekwalificeerde afspraken.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Zoals besproken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095495"/>
          </a:xfrm>
          <a:prstGeom prst="roundRect">
            <a:avLst>
              <a:gd name="adj" fmla="val 4848"/>
            </a:avLst>
          </a:prstGeom>
          <a:solidFill>
            <a:srgbClr val="1B2130"/>
          </a:solidFill>
          <a:ln w="9525">
            <a:solidFill>
              <a:srgbClr val="3A4152"/>
            </a:solidFill>
            <a:prstDash val="solid"/>
          </a:ln>
        </p:spPr>
      </p:sp>
      <p:sp>
        <p:nvSpPr>
          <p:cNvPr id="8" name="Text 6"/>
          <p:cNvSpPr txBox="1"/>
          <p:nvPr/>
        </p:nvSpPr>
        <p:spPr>
          <a:xfrm>
            <a:off x="838198"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3 × 4</a:t>
            </a:r>
            <a:endParaRPr lang="en-US" sz="2900" dirty="0"/>
          </a:p>
        </p:txBody>
      </p:sp>
      <p:sp>
        <p:nvSpPr>
          <p:cNvPr id="9" name="Text 7"/>
          <p:cNvSpPr txBox="1"/>
          <p:nvPr/>
        </p:nvSpPr>
        <p:spPr>
          <a:xfrm>
            <a:off x="838198"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WEKEN</a:t>
            </a:r>
            <a:endParaRPr lang="en-US" sz="950" dirty="0"/>
          </a:p>
        </p:txBody>
      </p:sp>
      <p:sp>
        <p:nvSpPr>
          <p:cNvPr id="10" name="Text 8"/>
          <p:cNvSpPr txBox="1"/>
          <p:nvPr/>
        </p:nvSpPr>
        <p:spPr>
          <a:xfrm>
            <a:off x="838198"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Drie werkperiodes van vier weken</a:t>
            </a:r>
            <a:endParaRPr lang="en-US" sz="900" dirty="0"/>
          </a:p>
        </p:txBody>
      </p:sp>
      <p:sp>
        <p:nvSpPr>
          <p:cNvPr id="11" name="Shape 9"/>
          <p:cNvSpPr/>
          <p:nvPr/>
        </p:nvSpPr>
        <p:spPr>
          <a:xfrm>
            <a:off x="3390892" y="2730493"/>
            <a:ext cx="2628893" cy="2095495"/>
          </a:xfrm>
          <a:prstGeom prst="roundRect">
            <a:avLst>
              <a:gd name="adj" fmla="val 4848"/>
            </a:avLst>
          </a:prstGeom>
          <a:solidFill>
            <a:srgbClr val="1B2130"/>
          </a:solidFill>
          <a:ln w="9525">
            <a:solidFill>
              <a:srgbClr val="3A4152"/>
            </a:solidFill>
            <a:prstDash val="solid"/>
          </a:ln>
        </p:spPr>
      </p:sp>
      <p:sp>
        <p:nvSpPr>
          <p:cNvPr id="12" name="Text 10"/>
          <p:cNvSpPr txBox="1"/>
          <p:nvPr/>
        </p:nvSpPr>
        <p:spPr>
          <a:xfrm>
            <a:off x="3619491"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€ 1.500</a:t>
            </a:r>
            <a:endParaRPr lang="en-US" sz="2900" dirty="0"/>
          </a:p>
        </p:txBody>
      </p:sp>
      <p:sp>
        <p:nvSpPr>
          <p:cNvPr id="13" name="Text 11"/>
          <p:cNvSpPr txBox="1"/>
          <p:nvPr/>
        </p:nvSpPr>
        <p:spPr>
          <a:xfrm>
            <a:off x="3619491"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PER WERKPERIODE</a:t>
            </a:r>
            <a:endParaRPr lang="en-US" sz="950" dirty="0"/>
          </a:p>
        </p:txBody>
      </p:sp>
      <p:sp>
        <p:nvSpPr>
          <p:cNvPr id="14" name="Text 12"/>
          <p:cNvSpPr txBox="1"/>
          <p:nvPr/>
        </p:nvSpPr>
        <p:spPr>
          <a:xfrm>
            <a:off x="3619491"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Excl. btw, vooraf gefactureerd</a:t>
            </a:r>
            <a:endParaRPr lang="en-US" sz="900" dirty="0"/>
          </a:p>
        </p:txBody>
      </p:sp>
      <p:sp>
        <p:nvSpPr>
          <p:cNvPr id="15" name="Shape 13"/>
          <p:cNvSpPr/>
          <p:nvPr/>
        </p:nvSpPr>
        <p:spPr>
          <a:xfrm>
            <a:off x="6172185" y="2730493"/>
            <a:ext cx="2628893" cy="2095495"/>
          </a:xfrm>
          <a:prstGeom prst="roundRect">
            <a:avLst>
              <a:gd name="adj" fmla="val 4848"/>
            </a:avLst>
          </a:prstGeom>
          <a:solidFill>
            <a:srgbClr val="1B2130"/>
          </a:solidFill>
          <a:ln w="9525">
            <a:solidFill>
              <a:srgbClr val="3A4152"/>
            </a:solidFill>
            <a:prstDash val="solid"/>
          </a:ln>
        </p:spPr>
      </p:sp>
      <p:sp>
        <p:nvSpPr>
          <p:cNvPr id="16" name="Text 14"/>
          <p:cNvSpPr txBox="1"/>
          <p:nvPr/>
        </p:nvSpPr>
        <p:spPr>
          <a:xfrm>
            <a:off x="6400784"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4</a:t>
            </a:r>
            <a:endParaRPr lang="en-US" sz="2900" dirty="0"/>
          </a:p>
        </p:txBody>
      </p:sp>
      <p:sp>
        <p:nvSpPr>
          <p:cNvPr id="17" name="Text 15"/>
          <p:cNvSpPr txBox="1"/>
          <p:nvPr/>
        </p:nvSpPr>
        <p:spPr>
          <a:xfrm>
            <a:off x="6400784"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PER WERKPERIODE</a:t>
            </a:r>
            <a:endParaRPr lang="en-US" sz="950" dirty="0"/>
          </a:p>
        </p:txBody>
      </p:sp>
      <p:sp>
        <p:nvSpPr>
          <p:cNvPr id="18" name="Text 16"/>
          <p:cNvSpPr txBox="1"/>
          <p:nvPr/>
        </p:nvSpPr>
        <p:spPr>
          <a:xfrm>
            <a:off x="6400784"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Gekwalificeerd volgens fit, interesse, beslisser</a:t>
            </a:r>
            <a:endParaRPr lang="en-US" sz="900" dirty="0"/>
          </a:p>
        </p:txBody>
      </p:sp>
      <p:sp>
        <p:nvSpPr>
          <p:cNvPr id="19" name="Shape 17"/>
          <p:cNvSpPr/>
          <p:nvPr/>
        </p:nvSpPr>
        <p:spPr>
          <a:xfrm>
            <a:off x="8953478" y="2730493"/>
            <a:ext cx="2628893" cy="2095495"/>
          </a:xfrm>
          <a:prstGeom prst="roundRect">
            <a:avLst>
              <a:gd name="adj" fmla="val 4848"/>
            </a:avLst>
          </a:prstGeom>
          <a:solidFill>
            <a:srgbClr val="1B2130"/>
          </a:solidFill>
          <a:ln w="15240">
            <a:solidFill>
              <a:srgbClr val="38B6FF"/>
            </a:solidFill>
            <a:prstDash val="solid"/>
          </a:ln>
        </p:spPr>
      </p:sp>
      <p:sp>
        <p:nvSpPr>
          <p:cNvPr id="20" name="Text 18"/>
          <p:cNvSpPr txBox="1"/>
          <p:nvPr/>
        </p:nvSpPr>
        <p:spPr>
          <a:xfrm>
            <a:off x="9182077" y="2959093"/>
            <a:ext cx="2171695" cy="406399"/>
          </a:xfrm>
          <a:prstGeom prst="rect">
            <a:avLst/>
          </a:prstGeom>
          <a:noFill/>
          <a:ln/>
        </p:spPr>
        <p:txBody>
          <a:bodyPr wrap="square" lIns="0" tIns="0" rIns="0" bIns="0" rtlCol="0" anchor="ctr"/>
          <a:lstStyle/>
          <a:p>
            <a:pPr indent="0" marL="0">
              <a:buNone/>
            </a:pPr>
            <a:r>
              <a:rPr lang="en-US" sz="2900" b="1" dirty="0">
                <a:solidFill>
                  <a:srgbClr val="38B6FF"/>
                </a:solidFill>
                <a:latin typeface="Arial" pitchFamily="34" charset="0"/>
                <a:ea typeface="Arial" pitchFamily="34" charset="-122"/>
                <a:cs typeface="Arial" pitchFamily="34" charset="-120"/>
              </a:rPr>
              <a:t>12</a:t>
            </a:r>
            <a:endParaRPr lang="en-US" sz="2900" dirty="0"/>
          </a:p>
        </p:txBody>
      </p:sp>
      <p:sp>
        <p:nvSpPr>
          <p:cNvPr id="21" name="Text 19"/>
          <p:cNvSpPr txBox="1"/>
          <p:nvPr/>
        </p:nvSpPr>
        <p:spPr>
          <a:xfrm>
            <a:off x="9182077"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IN TOTAAL</a:t>
            </a:r>
            <a:endParaRPr lang="en-US" sz="950" dirty="0"/>
          </a:p>
        </p:txBody>
      </p:sp>
      <p:sp>
        <p:nvSpPr>
          <p:cNvPr id="22" name="Text 20"/>
          <p:cNvSpPr txBox="1"/>
          <p:nvPr/>
        </p:nvSpPr>
        <p:spPr>
          <a:xfrm>
            <a:off x="9182077"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Werkperiodes samen € 4.500 excl. btw, dat is € 375 per gekwalificeerde afspraak. De kick-off fee van € 995 staat hier eenmalig los van.</a:t>
            </a:r>
            <a:endParaRPr lang="en-US" sz="900" dirty="0"/>
          </a:p>
        </p:txBody>
      </p:sp>
      <p:sp>
        <p:nvSpPr>
          <p:cNvPr id="23" name="Shape 21"/>
          <p:cNvSpPr/>
          <p:nvPr/>
        </p:nvSpPr>
        <p:spPr>
          <a:xfrm>
            <a:off x="609598" y="5219687"/>
            <a:ext cx="88900" cy="88900"/>
          </a:xfrm>
          <a:prstGeom prst="ellipse">
            <a:avLst/>
          </a:prstGeom>
          <a:solidFill>
            <a:srgbClr val="38B6FF"/>
          </a:solidFill>
          <a:ln/>
        </p:spPr>
      </p:sp>
      <p:sp>
        <p:nvSpPr>
          <p:cNvPr id="24" name="Shape 22"/>
          <p:cNvSpPr/>
          <p:nvPr/>
        </p:nvSpPr>
        <p:spPr>
          <a:xfrm>
            <a:off x="749298" y="5264137"/>
            <a:ext cx="2552694" cy="0"/>
          </a:xfrm>
          <a:prstGeom prst="line">
            <a:avLst/>
          </a:prstGeom>
          <a:noFill/>
          <a:ln w="9525">
            <a:solidFill>
              <a:srgbClr val="38B6FF">
                <a:alpha val="35000"/>
              </a:srgbClr>
            </a:solidFill>
            <a:prstDash val="solid"/>
          </a:ln>
        </p:spPr>
      </p:sp>
      <p:sp>
        <p:nvSpPr>
          <p:cNvPr id="25" name="Text 23"/>
          <p:cNvSpPr txBox="1"/>
          <p:nvPr/>
        </p:nvSpPr>
        <p:spPr>
          <a:xfrm>
            <a:off x="60959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Kick-off</a:t>
            </a:r>
            <a:endParaRPr lang="en-US" sz="1050" dirty="0"/>
          </a:p>
        </p:txBody>
      </p:sp>
      <p:sp>
        <p:nvSpPr>
          <p:cNvPr id="26" name="Text 24"/>
          <p:cNvSpPr txBox="1"/>
          <p:nvPr/>
        </p:nvSpPr>
        <p:spPr>
          <a:xfrm>
            <a:off x="60959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2 WEKEN · EENMALIG € 995</a:t>
            </a:r>
            <a:endParaRPr lang="en-US" sz="750" dirty="0"/>
          </a:p>
        </p:txBody>
      </p:sp>
      <p:sp>
        <p:nvSpPr>
          <p:cNvPr id="27" name="Text 25"/>
          <p:cNvSpPr txBox="1"/>
          <p:nvPr/>
        </p:nvSpPr>
        <p:spPr>
          <a:xfrm>
            <a:off x="60959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Doelgroep, script, lijst, uitsluitingen</a:t>
            </a:r>
            <a:endParaRPr lang="en-US" sz="850" dirty="0"/>
          </a:p>
        </p:txBody>
      </p:sp>
      <p:sp>
        <p:nvSpPr>
          <p:cNvPr id="28" name="Shape 26"/>
          <p:cNvSpPr/>
          <p:nvPr/>
        </p:nvSpPr>
        <p:spPr>
          <a:xfrm>
            <a:off x="3352792" y="5219687"/>
            <a:ext cx="88900" cy="88900"/>
          </a:xfrm>
          <a:prstGeom prst="ellipse">
            <a:avLst/>
          </a:prstGeom>
          <a:solidFill>
            <a:srgbClr val="38B6FF"/>
          </a:solidFill>
          <a:ln/>
        </p:spPr>
      </p:sp>
      <p:sp>
        <p:nvSpPr>
          <p:cNvPr id="29" name="Shape 27"/>
          <p:cNvSpPr/>
          <p:nvPr/>
        </p:nvSpPr>
        <p:spPr>
          <a:xfrm>
            <a:off x="3492491" y="5264137"/>
            <a:ext cx="2552694" cy="0"/>
          </a:xfrm>
          <a:prstGeom prst="line">
            <a:avLst/>
          </a:prstGeom>
          <a:noFill/>
          <a:ln w="9525">
            <a:solidFill>
              <a:srgbClr val="38B6FF">
                <a:alpha val="35000"/>
              </a:srgbClr>
            </a:solidFill>
            <a:prstDash val="solid"/>
          </a:ln>
        </p:spPr>
      </p:sp>
      <p:sp>
        <p:nvSpPr>
          <p:cNvPr id="30" name="Text 28"/>
          <p:cNvSpPr txBox="1"/>
          <p:nvPr/>
        </p:nvSpPr>
        <p:spPr>
          <a:xfrm>
            <a:off x="3352792"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1</a:t>
            </a:r>
            <a:endParaRPr lang="en-US" sz="1050" dirty="0"/>
          </a:p>
        </p:txBody>
      </p:sp>
      <p:sp>
        <p:nvSpPr>
          <p:cNvPr id="31" name="Text 29"/>
          <p:cNvSpPr txBox="1"/>
          <p:nvPr/>
        </p:nvSpPr>
        <p:spPr>
          <a:xfrm>
            <a:off x="3352792"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1 T/M 4</a:t>
            </a:r>
            <a:endParaRPr lang="en-US" sz="750" dirty="0"/>
          </a:p>
        </p:txBody>
      </p:sp>
      <p:sp>
        <p:nvSpPr>
          <p:cNvPr id="32" name="Text 30"/>
          <p:cNvSpPr txBox="1"/>
          <p:nvPr/>
        </p:nvSpPr>
        <p:spPr>
          <a:xfrm>
            <a:off x="3352792"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Belstart, eerste afspraken, eerste rapportages</a:t>
            </a:r>
            <a:endParaRPr lang="en-US" sz="850" dirty="0"/>
          </a:p>
        </p:txBody>
      </p:sp>
      <p:sp>
        <p:nvSpPr>
          <p:cNvPr id="33" name="Shape 31"/>
          <p:cNvSpPr/>
          <p:nvPr/>
        </p:nvSpPr>
        <p:spPr>
          <a:xfrm>
            <a:off x="6095985" y="5219687"/>
            <a:ext cx="88900" cy="88900"/>
          </a:xfrm>
          <a:prstGeom prst="ellipse">
            <a:avLst/>
          </a:prstGeom>
          <a:solidFill>
            <a:srgbClr val="38B6FF"/>
          </a:solidFill>
          <a:ln/>
        </p:spPr>
      </p:sp>
      <p:sp>
        <p:nvSpPr>
          <p:cNvPr id="34" name="Shape 32"/>
          <p:cNvSpPr/>
          <p:nvPr/>
        </p:nvSpPr>
        <p:spPr>
          <a:xfrm>
            <a:off x="6235684" y="5264137"/>
            <a:ext cx="2552694" cy="0"/>
          </a:xfrm>
          <a:prstGeom prst="line">
            <a:avLst/>
          </a:prstGeom>
          <a:noFill/>
          <a:ln w="9525">
            <a:solidFill>
              <a:srgbClr val="38B6FF">
                <a:alpha val="35000"/>
              </a:srgbClr>
            </a:solidFill>
            <a:prstDash val="solid"/>
          </a:ln>
        </p:spPr>
      </p:sp>
      <p:sp>
        <p:nvSpPr>
          <p:cNvPr id="35" name="Text 33"/>
          <p:cNvSpPr txBox="1"/>
          <p:nvPr/>
        </p:nvSpPr>
        <p:spPr>
          <a:xfrm>
            <a:off x="6095985"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2</a:t>
            </a:r>
            <a:endParaRPr lang="en-US" sz="1050" dirty="0"/>
          </a:p>
        </p:txBody>
      </p:sp>
      <p:sp>
        <p:nvSpPr>
          <p:cNvPr id="36" name="Text 34"/>
          <p:cNvSpPr txBox="1"/>
          <p:nvPr/>
        </p:nvSpPr>
        <p:spPr>
          <a:xfrm>
            <a:off x="6095985"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5 T/M 8</a:t>
            </a:r>
            <a:endParaRPr lang="en-US" sz="750" dirty="0"/>
          </a:p>
        </p:txBody>
      </p:sp>
      <p:sp>
        <p:nvSpPr>
          <p:cNvPr id="37" name="Text 35"/>
          <p:cNvSpPr txBox="1"/>
          <p:nvPr/>
        </p:nvSpPr>
        <p:spPr>
          <a:xfrm>
            <a:off x="6095985"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Tussentijdse evaluatie</a:t>
            </a:r>
            <a:endParaRPr lang="en-US" sz="850" dirty="0"/>
          </a:p>
        </p:txBody>
      </p:sp>
      <p:sp>
        <p:nvSpPr>
          <p:cNvPr id="38" name="Shape 36"/>
          <p:cNvSpPr/>
          <p:nvPr/>
        </p:nvSpPr>
        <p:spPr>
          <a:xfrm>
            <a:off x="8839178" y="5219687"/>
            <a:ext cx="88900" cy="88900"/>
          </a:xfrm>
          <a:prstGeom prst="ellipse">
            <a:avLst/>
          </a:prstGeom>
          <a:solidFill>
            <a:srgbClr val="38B6FF"/>
          </a:solidFill>
          <a:ln/>
        </p:spPr>
      </p:sp>
      <p:sp>
        <p:nvSpPr>
          <p:cNvPr id="39" name="Text 37"/>
          <p:cNvSpPr txBox="1"/>
          <p:nvPr/>
        </p:nvSpPr>
        <p:spPr>
          <a:xfrm>
            <a:off x="883917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3</a:t>
            </a:r>
            <a:endParaRPr lang="en-US" sz="1050" dirty="0"/>
          </a:p>
        </p:txBody>
      </p:sp>
      <p:sp>
        <p:nvSpPr>
          <p:cNvPr id="40" name="Text 38"/>
          <p:cNvSpPr txBox="1"/>
          <p:nvPr/>
        </p:nvSpPr>
        <p:spPr>
          <a:xfrm>
            <a:off x="883917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9 T/M 12</a:t>
            </a:r>
            <a:endParaRPr lang="en-US" sz="750" dirty="0"/>
          </a:p>
        </p:txBody>
      </p:sp>
      <p:sp>
        <p:nvSpPr>
          <p:cNvPr id="41" name="Text 39"/>
          <p:cNvSpPr txBox="1"/>
          <p:nvPr/>
        </p:nvSpPr>
        <p:spPr>
          <a:xfrm>
            <a:off x="883917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Eindevaluatie en besluit over vervolg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TECHMETRIC3D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Bart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script en mails</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Techmetric3d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Bart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Techmetric3d</dc:title>
  <dc:subject>PptxGenJS Presentation</dc:subject>
  <dc:creator>LINK.</dc:creator>
  <cp:lastModifiedBy>LINK.</cp:lastModifiedBy>
  <cp:revision>1</cp:revision>
  <dcterms:created xsi:type="dcterms:W3CDTF">2026-09-18T13:02:24Z</dcterms:created>
  <dcterms:modified xsi:type="dcterms:W3CDTF">2026-09-18T13:02:24Z</dcterms:modified>
</cp:coreProperties>
</file>