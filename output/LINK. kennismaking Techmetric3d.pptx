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0"/>
        </a:solidFill>
      </p:bgPr>
    </p:bg>
    <p:spTree>
      <p:nvGrpSpPr>
        <p:cNvPr id="1" name=""/>
        <p:cNvGrpSpPr/>
        <p:nvPr/>
      </p:nvGrpSpPr>
      <p:grpSpPr>
        <a:xfrm>
          <a:off x="0" y="0"/>
          <a:ext cx="0" cy="0"/>
          <a:chOff x="0" y="0"/>
          <a:chExt cx="0" cy="0"/>
        </a:xfrm>
      </p:grpSpPr>
      <p:sp>
        <p:nvSpPr>
          <p:cNvPr id="2" name="Shape 0"/>
          <p:cNvSpPr/>
          <p:nvPr/>
        </p:nvSpPr>
        <p:spPr>
          <a:xfrm flipH="1">
            <a:off x="8159730" y="3460741"/>
            <a:ext cx="1111247" cy="984248"/>
          </a:xfrm>
          <a:prstGeom prst="line">
            <a:avLst/>
          </a:prstGeom>
          <a:noFill/>
          <a:ln w="9525">
            <a:solidFill>
              <a:srgbClr val="38B6FF">
                <a:alpha val="30000"/>
              </a:srgbClr>
            </a:solidFill>
            <a:prstDash val="solid"/>
          </a:ln>
        </p:spPr>
      </p:sp>
      <p:sp>
        <p:nvSpPr>
          <p:cNvPr id="3" name="Shape 1"/>
          <p:cNvSpPr/>
          <p:nvPr/>
        </p:nvSpPr>
        <p:spPr>
          <a:xfrm>
            <a:off x="9270977" y="3460741"/>
            <a:ext cx="1301747" cy="476249"/>
          </a:xfrm>
          <a:prstGeom prst="line">
            <a:avLst/>
          </a:prstGeom>
          <a:noFill/>
          <a:ln w="9525">
            <a:solidFill>
              <a:srgbClr val="38B6FF">
                <a:alpha val="30000"/>
              </a:srgbClr>
            </a:solidFill>
            <a:prstDash val="solid"/>
          </a:ln>
        </p:spPr>
      </p:sp>
      <p:sp>
        <p:nvSpPr>
          <p:cNvPr id="4" name="Shape 2"/>
          <p:cNvSpPr/>
          <p:nvPr/>
        </p:nvSpPr>
        <p:spPr>
          <a:xfrm flipH="1">
            <a:off x="10159975" y="3936990"/>
            <a:ext cx="412749" cy="1206497"/>
          </a:xfrm>
          <a:prstGeom prst="line">
            <a:avLst/>
          </a:prstGeom>
          <a:noFill/>
          <a:ln w="9525">
            <a:solidFill>
              <a:srgbClr val="38B6FF">
                <a:alpha val="30000"/>
              </a:srgbClr>
            </a:solidFill>
            <a:prstDash val="solid"/>
          </a:ln>
        </p:spPr>
      </p:sp>
      <p:sp>
        <p:nvSpPr>
          <p:cNvPr id="5" name="Shape 3"/>
          <p:cNvSpPr/>
          <p:nvPr/>
        </p:nvSpPr>
        <p:spPr>
          <a:xfrm flipH="1">
            <a:off x="8889978" y="5143487"/>
            <a:ext cx="1269997" cy="444499"/>
          </a:xfrm>
          <a:prstGeom prst="line">
            <a:avLst/>
          </a:prstGeom>
          <a:noFill/>
          <a:ln w="9525">
            <a:solidFill>
              <a:srgbClr val="38B6FF">
                <a:alpha val="30000"/>
              </a:srgbClr>
            </a:solidFill>
            <a:prstDash val="solid"/>
          </a:ln>
        </p:spPr>
      </p:sp>
      <p:sp>
        <p:nvSpPr>
          <p:cNvPr id="6" name="Shape 4"/>
          <p:cNvSpPr/>
          <p:nvPr/>
        </p:nvSpPr>
        <p:spPr>
          <a:xfrm>
            <a:off x="8159730" y="4444989"/>
            <a:ext cx="730248" cy="1142997"/>
          </a:xfrm>
          <a:prstGeom prst="line">
            <a:avLst/>
          </a:prstGeom>
          <a:noFill/>
          <a:ln w="9525">
            <a:solidFill>
              <a:srgbClr val="38B6FF">
                <a:alpha val="30000"/>
              </a:srgbClr>
            </a:solidFill>
            <a:prstDash val="solid"/>
          </a:ln>
        </p:spPr>
      </p:sp>
      <p:sp>
        <p:nvSpPr>
          <p:cNvPr id="7" name="Shape 5"/>
          <p:cNvSpPr/>
          <p:nvPr/>
        </p:nvSpPr>
        <p:spPr>
          <a:xfrm flipH="1">
            <a:off x="9270977" y="2730493"/>
            <a:ext cx="1809745" cy="730248"/>
          </a:xfrm>
          <a:prstGeom prst="line">
            <a:avLst/>
          </a:prstGeom>
          <a:noFill/>
          <a:ln w="9525">
            <a:solidFill>
              <a:srgbClr val="38B6FF">
                <a:alpha val="30000"/>
              </a:srgbClr>
            </a:solidFill>
            <a:prstDash val="solid"/>
          </a:ln>
        </p:spPr>
      </p:sp>
      <p:sp>
        <p:nvSpPr>
          <p:cNvPr id="8" name="Shape 6"/>
          <p:cNvSpPr/>
          <p:nvPr/>
        </p:nvSpPr>
        <p:spPr>
          <a:xfrm flipH="1">
            <a:off x="10572724" y="2730493"/>
            <a:ext cx="507999" cy="1206497"/>
          </a:xfrm>
          <a:prstGeom prst="line">
            <a:avLst/>
          </a:prstGeom>
          <a:noFill/>
          <a:ln w="9525">
            <a:solidFill>
              <a:srgbClr val="38B6FF">
                <a:alpha val="30000"/>
              </a:srgbClr>
            </a:solidFill>
            <a:prstDash val="solid"/>
          </a:ln>
        </p:spPr>
      </p:sp>
      <p:sp>
        <p:nvSpPr>
          <p:cNvPr id="9" name="Shape 7"/>
          <p:cNvSpPr/>
          <p:nvPr/>
        </p:nvSpPr>
        <p:spPr>
          <a:xfrm>
            <a:off x="10572724" y="3936990"/>
            <a:ext cx="1047747" cy="761998"/>
          </a:xfrm>
          <a:prstGeom prst="line">
            <a:avLst/>
          </a:prstGeom>
          <a:noFill/>
          <a:ln w="9525">
            <a:solidFill>
              <a:srgbClr val="38B6FF">
                <a:alpha val="30000"/>
              </a:srgbClr>
            </a:solidFill>
            <a:prstDash val="solid"/>
          </a:ln>
        </p:spPr>
      </p:sp>
      <p:sp>
        <p:nvSpPr>
          <p:cNvPr id="10" name="Shape 8"/>
          <p:cNvSpPr/>
          <p:nvPr/>
        </p:nvSpPr>
        <p:spPr>
          <a:xfrm flipH="1">
            <a:off x="10159975" y="4698988"/>
            <a:ext cx="1460496" cy="444499"/>
          </a:xfrm>
          <a:prstGeom prst="line">
            <a:avLst/>
          </a:prstGeom>
          <a:noFill/>
          <a:ln w="9525">
            <a:solidFill>
              <a:srgbClr val="38B6FF">
                <a:alpha val="30000"/>
              </a:srgbClr>
            </a:solidFill>
            <a:prstDash val="solid"/>
          </a:ln>
        </p:spPr>
      </p:sp>
      <p:sp>
        <p:nvSpPr>
          <p:cNvPr id="11" name="Shape 9"/>
          <p:cNvSpPr/>
          <p:nvPr/>
        </p:nvSpPr>
        <p:spPr>
          <a:xfrm flipH="1">
            <a:off x="9905975" y="5143487"/>
            <a:ext cx="253999" cy="1111247"/>
          </a:xfrm>
          <a:prstGeom prst="line">
            <a:avLst/>
          </a:prstGeom>
          <a:noFill/>
          <a:ln w="9525">
            <a:solidFill>
              <a:srgbClr val="38B6FF">
                <a:alpha val="30000"/>
              </a:srgbClr>
            </a:solidFill>
            <a:prstDash val="solid"/>
          </a:ln>
        </p:spPr>
      </p:sp>
      <p:sp>
        <p:nvSpPr>
          <p:cNvPr id="12" name="Shape 10"/>
          <p:cNvSpPr/>
          <p:nvPr/>
        </p:nvSpPr>
        <p:spPr>
          <a:xfrm>
            <a:off x="8889978" y="5587986"/>
            <a:ext cx="1015997" cy="666748"/>
          </a:xfrm>
          <a:prstGeom prst="line">
            <a:avLst/>
          </a:prstGeom>
          <a:noFill/>
          <a:ln w="9525">
            <a:solidFill>
              <a:srgbClr val="38B6FF">
                <a:alpha val="30000"/>
              </a:srgbClr>
            </a:solidFill>
            <a:prstDash val="solid"/>
          </a:ln>
        </p:spPr>
      </p:sp>
      <p:sp>
        <p:nvSpPr>
          <p:cNvPr id="13" name="Shape 11"/>
          <p:cNvSpPr/>
          <p:nvPr/>
        </p:nvSpPr>
        <p:spPr>
          <a:xfrm>
            <a:off x="11620471" y="4698988"/>
            <a:ext cx="158750" cy="1206497"/>
          </a:xfrm>
          <a:prstGeom prst="line">
            <a:avLst/>
          </a:prstGeom>
          <a:noFill/>
          <a:ln w="9525">
            <a:solidFill>
              <a:srgbClr val="38B6FF">
                <a:alpha val="30000"/>
              </a:srgbClr>
            </a:solidFill>
            <a:prstDash val="solid"/>
          </a:ln>
        </p:spPr>
      </p:sp>
      <p:sp>
        <p:nvSpPr>
          <p:cNvPr id="14" name="Shape 12"/>
          <p:cNvSpPr/>
          <p:nvPr/>
        </p:nvSpPr>
        <p:spPr>
          <a:xfrm flipH="1">
            <a:off x="9905975" y="5905485"/>
            <a:ext cx="1873245" cy="349249"/>
          </a:xfrm>
          <a:prstGeom prst="line">
            <a:avLst/>
          </a:prstGeom>
          <a:noFill/>
          <a:ln w="9525">
            <a:solidFill>
              <a:srgbClr val="38B6FF">
                <a:alpha val="30000"/>
              </a:srgbClr>
            </a:solidFill>
            <a:prstDash val="solid"/>
          </a:ln>
        </p:spPr>
      </p:sp>
      <p:sp>
        <p:nvSpPr>
          <p:cNvPr id="15" name="Shape 13"/>
          <p:cNvSpPr/>
          <p:nvPr/>
        </p:nvSpPr>
        <p:spPr>
          <a:xfrm>
            <a:off x="8134330" y="4419589"/>
            <a:ext cx="50800" cy="50800"/>
          </a:xfrm>
          <a:prstGeom prst="ellipse">
            <a:avLst/>
          </a:prstGeom>
          <a:solidFill>
            <a:srgbClr val="141821"/>
          </a:solidFill>
          <a:ln w="9525">
            <a:solidFill>
              <a:srgbClr val="38B6FF">
                <a:alpha val="50000"/>
              </a:srgbClr>
            </a:solidFill>
            <a:prstDash val="solid"/>
          </a:ln>
        </p:spPr>
      </p:sp>
      <p:sp>
        <p:nvSpPr>
          <p:cNvPr id="16" name="Shape 14"/>
          <p:cNvSpPr/>
          <p:nvPr/>
        </p:nvSpPr>
        <p:spPr>
          <a:xfrm>
            <a:off x="9245577" y="3435341"/>
            <a:ext cx="50800" cy="50800"/>
          </a:xfrm>
          <a:prstGeom prst="ellipse">
            <a:avLst/>
          </a:prstGeom>
          <a:solidFill>
            <a:srgbClr val="141821"/>
          </a:solidFill>
          <a:ln w="9525">
            <a:solidFill>
              <a:srgbClr val="38B6FF">
                <a:alpha val="50000"/>
              </a:srgbClr>
            </a:solidFill>
            <a:prstDash val="solid"/>
          </a:ln>
        </p:spPr>
      </p:sp>
      <p:sp>
        <p:nvSpPr>
          <p:cNvPr id="17" name="Shape 15"/>
          <p:cNvSpPr/>
          <p:nvPr/>
        </p:nvSpPr>
        <p:spPr>
          <a:xfrm>
            <a:off x="10528274" y="3892540"/>
            <a:ext cx="88900" cy="88900"/>
          </a:xfrm>
          <a:prstGeom prst="ellipse">
            <a:avLst/>
          </a:prstGeom>
          <a:solidFill>
            <a:srgbClr val="38B6FF"/>
          </a:solidFill>
          <a:ln/>
        </p:spPr>
      </p:sp>
      <p:sp>
        <p:nvSpPr>
          <p:cNvPr id="18" name="Shape 16"/>
          <p:cNvSpPr/>
          <p:nvPr/>
        </p:nvSpPr>
        <p:spPr>
          <a:xfrm>
            <a:off x="10134575" y="5118087"/>
            <a:ext cx="50800" cy="50800"/>
          </a:xfrm>
          <a:prstGeom prst="ellipse">
            <a:avLst/>
          </a:prstGeom>
          <a:solidFill>
            <a:srgbClr val="141821"/>
          </a:solidFill>
          <a:ln w="9525">
            <a:solidFill>
              <a:srgbClr val="38B6FF">
                <a:alpha val="50000"/>
              </a:srgbClr>
            </a:solidFill>
            <a:prstDash val="solid"/>
          </a:ln>
        </p:spPr>
      </p:sp>
      <p:sp>
        <p:nvSpPr>
          <p:cNvPr id="19" name="Shape 17"/>
          <p:cNvSpPr/>
          <p:nvPr/>
        </p:nvSpPr>
        <p:spPr>
          <a:xfrm>
            <a:off x="8864578" y="5562586"/>
            <a:ext cx="50800" cy="50800"/>
          </a:xfrm>
          <a:prstGeom prst="ellipse">
            <a:avLst/>
          </a:prstGeom>
          <a:solidFill>
            <a:srgbClr val="141821"/>
          </a:solidFill>
          <a:ln w="9525">
            <a:solidFill>
              <a:srgbClr val="38B6FF">
                <a:alpha val="50000"/>
              </a:srgbClr>
            </a:solidFill>
            <a:prstDash val="solid"/>
          </a:ln>
        </p:spPr>
      </p:sp>
      <p:sp>
        <p:nvSpPr>
          <p:cNvPr id="20" name="Shape 18"/>
          <p:cNvSpPr/>
          <p:nvPr/>
        </p:nvSpPr>
        <p:spPr>
          <a:xfrm>
            <a:off x="11055322" y="2705093"/>
            <a:ext cx="50800" cy="50800"/>
          </a:xfrm>
          <a:prstGeom prst="ellipse">
            <a:avLst/>
          </a:prstGeom>
          <a:solidFill>
            <a:srgbClr val="141821"/>
          </a:solidFill>
          <a:ln w="9525">
            <a:solidFill>
              <a:srgbClr val="38B6FF">
                <a:alpha val="50000"/>
              </a:srgbClr>
            </a:solidFill>
            <a:prstDash val="solid"/>
          </a:ln>
        </p:spPr>
      </p:sp>
      <p:sp>
        <p:nvSpPr>
          <p:cNvPr id="21" name="Shape 19"/>
          <p:cNvSpPr/>
          <p:nvPr/>
        </p:nvSpPr>
        <p:spPr>
          <a:xfrm>
            <a:off x="11595071" y="4673588"/>
            <a:ext cx="50800" cy="50800"/>
          </a:xfrm>
          <a:prstGeom prst="ellipse">
            <a:avLst/>
          </a:prstGeom>
          <a:solidFill>
            <a:srgbClr val="141821"/>
          </a:solidFill>
          <a:ln w="9525">
            <a:solidFill>
              <a:srgbClr val="38B6FF">
                <a:alpha val="50000"/>
              </a:srgbClr>
            </a:solidFill>
            <a:prstDash val="solid"/>
          </a:ln>
        </p:spPr>
      </p:sp>
      <p:sp>
        <p:nvSpPr>
          <p:cNvPr id="22" name="Shape 20"/>
          <p:cNvSpPr/>
          <p:nvPr/>
        </p:nvSpPr>
        <p:spPr>
          <a:xfrm>
            <a:off x="9880575" y="6229334"/>
            <a:ext cx="50800" cy="50800"/>
          </a:xfrm>
          <a:prstGeom prst="ellipse">
            <a:avLst/>
          </a:prstGeom>
          <a:solidFill>
            <a:srgbClr val="141821"/>
          </a:solidFill>
          <a:ln w="9525">
            <a:solidFill>
              <a:srgbClr val="38B6FF">
                <a:alpha val="50000"/>
              </a:srgbClr>
            </a:solidFill>
            <a:prstDash val="solid"/>
          </a:ln>
        </p:spPr>
      </p:sp>
      <p:sp>
        <p:nvSpPr>
          <p:cNvPr id="23" name="Shape 21"/>
          <p:cNvSpPr/>
          <p:nvPr/>
        </p:nvSpPr>
        <p:spPr>
          <a:xfrm>
            <a:off x="11753821" y="5880085"/>
            <a:ext cx="50800" cy="50800"/>
          </a:xfrm>
          <a:prstGeom prst="ellipse">
            <a:avLst/>
          </a:prstGeom>
          <a:solidFill>
            <a:srgbClr val="141821"/>
          </a:solidFill>
          <a:ln w="9525">
            <a:solidFill>
              <a:srgbClr val="38B6FF">
                <a:alpha val="50000"/>
              </a:srgbClr>
            </a:solidFill>
            <a:prstDash val="solid"/>
          </a:ln>
        </p:spPr>
      </p:sp>
      <p:sp>
        <p:nvSpPr>
          <p:cNvPr id="24" name="Text 22"/>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25" name="Text 23"/>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Techmetric3d</a:t>
            </a:r>
            <a:endParaRPr lang="en-US" sz="750" dirty="0"/>
          </a:p>
        </p:txBody>
      </p:sp>
      <p:sp>
        <p:nvSpPr>
          <p:cNvPr id="26" name="Text 24"/>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 / 9</a:t>
            </a:r>
            <a:endParaRPr lang="en-US" sz="750" dirty="0"/>
          </a:p>
        </p:txBody>
      </p:sp>
      <p:sp>
        <p:nvSpPr>
          <p:cNvPr id="27" name="Text 25"/>
          <p:cNvSpPr txBox="1"/>
          <p:nvPr/>
        </p:nvSpPr>
        <p:spPr>
          <a:xfrm>
            <a:off x="609598" y="2133595"/>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VOOR BART · TECHMETRIC3D · 18 SEPTEMBER 2026</a:t>
            </a:r>
            <a:endParaRPr lang="en-US" sz="950" dirty="0"/>
          </a:p>
        </p:txBody>
      </p:sp>
      <p:sp>
        <p:nvSpPr>
          <p:cNvPr id="28" name="Text 26"/>
          <p:cNvSpPr txBox="1"/>
          <p:nvPr/>
        </p:nvSpPr>
        <p:spPr>
          <a:xfrm>
            <a:off x="609598" y="2514594"/>
            <a:ext cx="8635978" cy="2031995"/>
          </a:xfrm>
          <a:prstGeom prst="rect">
            <a:avLst/>
          </a:prstGeom>
          <a:noFill/>
          <a:ln/>
        </p:spPr>
        <p:txBody>
          <a:bodyPr wrap="square" lIns="0" tIns="0" rIns="0" bIns="0" rtlCol="0" anchor="t"/>
          <a:lstStyle/>
          <a:p>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Structureel </a:t>
            </a:r>
            <a:pPr algn="l" indent="0" marL="0">
              <a:lnSpc>
                <a:spcPct val="105000"/>
              </a:lnSpc>
              <a:buNone/>
            </a:pPr>
            <a:r>
              <a:rPr lang="en-US" sz="5000" i="1" dirty="0">
                <a:solidFill>
                  <a:srgbClr val="F2EFE6"/>
                </a:solidFill>
                <a:latin typeface="Georgia" pitchFamily="34" charset="0"/>
                <a:ea typeface="Georgia" pitchFamily="34" charset="-122"/>
                <a:cs typeface="Georgia" pitchFamily="34" charset="-120"/>
              </a:rPr>
              <a:t>nieuwe klanten</a:t>
            </a:r>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 aan tafel.</a:t>
            </a:r>
            <a:endParaRPr lang="en-US" sz="5200" dirty="0"/>
          </a:p>
        </p:txBody>
      </p:sp>
      <p:sp>
        <p:nvSpPr>
          <p:cNvPr id="29" name="Text 27"/>
          <p:cNvSpPr txBox="1"/>
          <p:nvPr/>
        </p:nvSpPr>
        <p:spPr>
          <a:xfrm>
            <a:off x="609598" y="4711688"/>
            <a:ext cx="6667483" cy="761998"/>
          </a:xfrm>
          <a:prstGeom prst="rect">
            <a:avLst/>
          </a:prstGeom>
          <a:noFill/>
          <a:ln/>
        </p:spPr>
        <p:txBody>
          <a:bodyPr wrap="square" lIns="0" tIns="0" rIns="0" bIns="0" rtlCol="0" anchor="t"/>
          <a:lstStyle/>
          <a:p>
            <a:pPr indent="0" marL="0">
              <a:lnSpc>
                <a:spcPct val="135000"/>
              </a:lnSpc>
              <a:buNone/>
            </a:pPr>
            <a:r>
              <a:rPr lang="en-US" sz="1400" dirty="0">
                <a:solidFill>
                  <a:srgbClr val="BDC3CE"/>
                </a:solidFill>
                <a:latin typeface="Arial" pitchFamily="34" charset="0"/>
                <a:ea typeface="Arial" pitchFamily="34" charset="-122"/>
                <a:cs typeface="Arial" pitchFamily="34" charset="-120"/>
              </a:rPr>
              <a:t>Wat LINK. doet, hoe we werken en wat het pilotvoorstel voor Techmetric3d inhoudt.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Techmetric3d</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2 / 9</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WIE WIJ ZIJN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Bellen is een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vak</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 Wij doen niets anders.</a:t>
            </a:r>
            <a:endParaRPr lang="en-US" sz="3200" dirty="0"/>
          </a:p>
        </p:txBody>
      </p:sp>
      <p:sp>
        <p:nvSpPr>
          <p:cNvPr id="7" name="Text 5"/>
          <p:cNvSpPr txBox="1"/>
          <p:nvPr/>
        </p:nvSpPr>
        <p:spPr>
          <a:xfrm>
            <a:off x="609598" y="2692393"/>
            <a:ext cx="6095985" cy="3174992"/>
          </a:xfrm>
          <a:prstGeom prst="rect">
            <a:avLst/>
          </a:prstGeom>
          <a:noFill/>
          <a:ln/>
        </p:spPr>
        <p:txBody>
          <a:bodyPr wrap="square" lIns="0" tIns="0" rIns="0" bIns="0" rtlCol="0" anchor="t"/>
          <a:lstStyle/>
          <a:p>
            <a:pPr indent="0" marL="0">
              <a:lnSpc>
                <a:spcPct val="142000"/>
              </a:lnSpc>
              <a:spcAft>
                <a:spcPts val="1800"/>
              </a:spcAft>
              <a:buNone/>
            </a:pPr>
            <a:r>
              <a:rPr lang="en-US" sz="1350" dirty="0">
                <a:solidFill>
                  <a:srgbClr val="1C2230"/>
                </a:solidFill>
                <a:latin typeface="Arial" pitchFamily="34" charset="0"/>
                <a:ea typeface="Arial" pitchFamily="34" charset="-122"/>
                <a:cs typeface="Arial" pitchFamily="34" charset="-120"/>
              </a:rPr>
              <a:t>LINK. is een acquisitiebureau voor B2B-bedrijven. Wij bellen en mailen dagelijks namens onze klanten en leveren gekwalificeerde afspraken op. Geen lijstjes met namen, maar gesprekken in jullie agenda met een beslisser die weet waarom hij aan tafel zit.</a:t>
            </a:r>
            <a:endParaRPr lang="en-US" sz="1350" dirty="0"/>
          </a:p>
          <a:p>
            <a:pPr indent="0" marL="0">
              <a:lnSpc>
                <a:spcPct val="142000"/>
              </a:lnSpc>
              <a:buNone/>
            </a:pPr>
            <a:r>
              <a:rPr lang="en-US" sz="1350" dirty="0">
                <a:solidFill>
                  <a:srgbClr val="1C2230"/>
                </a:solidFill>
                <a:latin typeface="Arial" pitchFamily="34" charset="0"/>
                <a:ea typeface="Arial" pitchFamily="34" charset="-122"/>
                <a:cs typeface="Arial" pitchFamily="34" charset="-120"/>
              </a:rPr>
              <a:t>We werken voor bedrijven met een sterke B2B-propositie in uiteenlopende branches: van koffie voor kantoren en videoproductie tot CO2-certificaten, cybersecurity en interieurbeplanting.</a:t>
            </a:r>
            <a:endParaRPr lang="en-US" sz="1350" dirty="0"/>
          </a:p>
        </p:txBody>
      </p:sp>
      <p:sp>
        <p:nvSpPr>
          <p:cNvPr id="8" name="Shape 6"/>
          <p:cNvSpPr/>
          <p:nvPr/>
        </p:nvSpPr>
        <p:spPr>
          <a:xfrm>
            <a:off x="7899380" y="2666993"/>
            <a:ext cx="3682991" cy="1549396"/>
          </a:xfrm>
          <a:prstGeom prst="roundRect">
            <a:avLst>
              <a:gd name="adj" fmla="val 6557"/>
            </a:avLst>
          </a:prstGeom>
          <a:solidFill>
            <a:srgbClr val="F8F4EB"/>
          </a:solidFill>
          <a:ln/>
        </p:spPr>
      </p:sp>
      <p:sp>
        <p:nvSpPr>
          <p:cNvPr id="9" name="Text 7"/>
          <p:cNvSpPr txBox="1"/>
          <p:nvPr/>
        </p:nvSpPr>
        <p:spPr>
          <a:xfrm>
            <a:off x="8178780" y="2857493"/>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1</a:t>
            </a:r>
            <a:endParaRPr lang="en-US" sz="3400" dirty="0"/>
          </a:p>
        </p:txBody>
      </p:sp>
      <p:sp>
        <p:nvSpPr>
          <p:cNvPr id="10" name="Text 8"/>
          <p:cNvSpPr txBox="1"/>
          <p:nvPr/>
        </p:nvSpPr>
        <p:spPr>
          <a:xfrm>
            <a:off x="8178780" y="3352792"/>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vast aanspreekpunt</a:t>
            </a:r>
            <a:endParaRPr lang="en-US" sz="1250" dirty="0"/>
          </a:p>
        </p:txBody>
      </p:sp>
      <p:sp>
        <p:nvSpPr>
          <p:cNvPr id="11" name="Text 9"/>
          <p:cNvSpPr txBox="1"/>
          <p:nvPr/>
        </p:nvSpPr>
        <p:spPr>
          <a:xfrm>
            <a:off x="8178780" y="3619491"/>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Eén persoon die jullie campagne kent, van kick-off tot rapportage.</a:t>
            </a:r>
            <a:endParaRPr lang="en-US" sz="950" dirty="0"/>
          </a:p>
        </p:txBody>
      </p:sp>
      <p:sp>
        <p:nvSpPr>
          <p:cNvPr id="12" name="Shape 10"/>
          <p:cNvSpPr/>
          <p:nvPr/>
        </p:nvSpPr>
        <p:spPr>
          <a:xfrm>
            <a:off x="7899380" y="4368789"/>
            <a:ext cx="3682991" cy="1549396"/>
          </a:xfrm>
          <a:prstGeom prst="roundRect">
            <a:avLst>
              <a:gd name="adj" fmla="val 6557"/>
            </a:avLst>
          </a:prstGeom>
          <a:solidFill>
            <a:srgbClr val="F8F4EB"/>
          </a:solidFill>
          <a:ln/>
        </p:spPr>
      </p:sp>
      <p:sp>
        <p:nvSpPr>
          <p:cNvPr id="13" name="Text 11"/>
          <p:cNvSpPr txBox="1"/>
          <p:nvPr/>
        </p:nvSpPr>
        <p:spPr>
          <a:xfrm>
            <a:off x="8178780" y="4559289"/>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4</a:t>
            </a:r>
            <a:endParaRPr lang="en-US" sz="3400" dirty="0"/>
          </a:p>
        </p:txBody>
      </p:sp>
      <p:sp>
        <p:nvSpPr>
          <p:cNvPr id="14" name="Text 12"/>
          <p:cNvSpPr txBox="1"/>
          <p:nvPr/>
        </p:nvSpPr>
        <p:spPr>
          <a:xfrm>
            <a:off x="8178780" y="5054587"/>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weken per werkperiode</a:t>
            </a:r>
            <a:endParaRPr lang="en-US" sz="1250" dirty="0"/>
          </a:p>
        </p:txBody>
      </p:sp>
      <p:sp>
        <p:nvSpPr>
          <p:cNvPr id="15" name="Text 13"/>
          <p:cNvSpPr txBox="1"/>
          <p:nvPr/>
        </p:nvSpPr>
        <p:spPr>
          <a:xfrm>
            <a:off x="8178780" y="5321287"/>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Vaste rapportage en vaste evaluatiemomenten, elke werkperiode opnieuw.</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Techmetric3d</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3 / 9</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DOEN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Eén team voor bellen, mailen 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opvolgen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2628893" cy="3238492"/>
          </a:xfrm>
          <a:prstGeom prst="roundRect">
            <a:avLst>
              <a:gd name="adj" fmla="val 3865"/>
            </a:avLst>
          </a:prstGeom>
          <a:solidFill>
            <a:srgbClr val="F8F4EB"/>
          </a:solidFill>
          <a:ln/>
        </p:spPr>
      </p:sp>
      <p:sp>
        <p:nvSpPr>
          <p:cNvPr id="8" name="Shape 6"/>
          <p:cNvSpPr/>
          <p:nvPr/>
        </p:nvSpPr>
        <p:spPr>
          <a:xfrm>
            <a:off x="863598" y="30733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958848" y="3168642"/>
            <a:ext cx="190500" cy="190500"/>
          </a:xfrm>
          <a:prstGeom prst="rect">
            <a:avLst/>
          </a:prstGeom>
        </p:spPr>
      </p:pic>
      <p:sp>
        <p:nvSpPr>
          <p:cNvPr id="10" name="Text 7"/>
          <p:cNvSpPr txBox="1"/>
          <p:nvPr/>
        </p:nvSpPr>
        <p:spPr>
          <a:xfrm>
            <a:off x="863598"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Cold calling</a:t>
            </a:r>
            <a:endParaRPr lang="en-US" sz="1350" dirty="0"/>
          </a:p>
        </p:txBody>
      </p:sp>
      <p:sp>
        <p:nvSpPr>
          <p:cNvPr id="11" name="Text 8"/>
          <p:cNvSpPr txBox="1"/>
          <p:nvPr/>
        </p:nvSpPr>
        <p:spPr>
          <a:xfrm>
            <a:off x="863598"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Ervaren B2B-bellers die het gesprek voeren met de beslisser. Eigen belsysteem, een regionaal telefoonnummer op jullie naam en elk gesprek vastgelegd met notities.</a:t>
            </a:r>
            <a:endParaRPr lang="en-US" sz="950" dirty="0"/>
          </a:p>
        </p:txBody>
      </p:sp>
      <p:sp>
        <p:nvSpPr>
          <p:cNvPr id="12" name="Shape 9"/>
          <p:cNvSpPr/>
          <p:nvPr/>
        </p:nvSpPr>
        <p:spPr>
          <a:xfrm>
            <a:off x="3390892" y="2793993"/>
            <a:ext cx="2628893" cy="3238492"/>
          </a:xfrm>
          <a:prstGeom prst="roundRect">
            <a:avLst>
              <a:gd name="adj" fmla="val 3865"/>
            </a:avLst>
          </a:prstGeom>
          <a:solidFill>
            <a:srgbClr val="F8F4EB"/>
          </a:solidFill>
          <a:ln/>
        </p:spPr>
      </p:sp>
      <p:sp>
        <p:nvSpPr>
          <p:cNvPr id="13" name="Shape 10"/>
          <p:cNvSpPr/>
          <p:nvPr/>
        </p:nvSpPr>
        <p:spPr>
          <a:xfrm>
            <a:off x="3644891" y="30733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3740141" y="3168642"/>
            <a:ext cx="190500" cy="190500"/>
          </a:xfrm>
          <a:prstGeom prst="rect">
            <a:avLst/>
          </a:prstGeom>
        </p:spPr>
      </p:pic>
      <p:sp>
        <p:nvSpPr>
          <p:cNvPr id="15" name="Text 11"/>
          <p:cNvSpPr txBox="1"/>
          <p:nvPr/>
        </p:nvSpPr>
        <p:spPr>
          <a:xfrm>
            <a:off x="3644891"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Cold e-mail</a:t>
            </a:r>
            <a:endParaRPr lang="en-US" sz="1350" dirty="0"/>
          </a:p>
        </p:txBody>
      </p:sp>
      <p:sp>
        <p:nvSpPr>
          <p:cNvPr id="16" name="Text 12"/>
          <p:cNvSpPr txBox="1"/>
          <p:nvPr/>
        </p:nvSpPr>
        <p:spPr>
          <a:xfrm>
            <a:off x="3644891"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Korte, persoonlijke mails als opening of als opvolging van een gesprek. Geen massamails, één relevant bericht per bedrijf, in jullie tone of voice.</a:t>
            </a:r>
            <a:endParaRPr lang="en-US" sz="950" dirty="0"/>
          </a:p>
        </p:txBody>
      </p:sp>
      <p:sp>
        <p:nvSpPr>
          <p:cNvPr id="17" name="Shape 13"/>
          <p:cNvSpPr/>
          <p:nvPr/>
        </p:nvSpPr>
        <p:spPr>
          <a:xfrm>
            <a:off x="6172185" y="2793993"/>
            <a:ext cx="2628893" cy="3238492"/>
          </a:xfrm>
          <a:prstGeom prst="roundRect">
            <a:avLst>
              <a:gd name="adj" fmla="val 3865"/>
            </a:avLst>
          </a:prstGeom>
          <a:solidFill>
            <a:srgbClr val="F8F4EB"/>
          </a:solidFill>
          <a:ln/>
        </p:spPr>
      </p:sp>
      <p:sp>
        <p:nvSpPr>
          <p:cNvPr id="18" name="Shape 14"/>
          <p:cNvSpPr/>
          <p:nvPr/>
        </p:nvSpPr>
        <p:spPr>
          <a:xfrm>
            <a:off x="6426184" y="30733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6521434" y="3168642"/>
            <a:ext cx="190500" cy="190500"/>
          </a:xfrm>
          <a:prstGeom prst="rect">
            <a:avLst/>
          </a:prstGeom>
        </p:spPr>
      </p:pic>
      <p:sp>
        <p:nvSpPr>
          <p:cNvPr id="20" name="Text 15"/>
          <p:cNvSpPr txBox="1"/>
          <p:nvPr/>
        </p:nvSpPr>
        <p:spPr>
          <a:xfrm>
            <a:off x="6426184"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Data en doelgroep</a:t>
            </a:r>
            <a:endParaRPr lang="en-US" sz="1350" dirty="0"/>
          </a:p>
        </p:txBody>
      </p:sp>
      <p:sp>
        <p:nvSpPr>
          <p:cNvPr id="21" name="Text 16"/>
          <p:cNvSpPr txBox="1"/>
          <p:nvPr/>
        </p:nvSpPr>
        <p:spPr>
          <a:xfrm>
            <a:off x="6426184"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Wij bouwen de bellijst op basis van jullie ideale klantprofiel: branche, grootte, regio en functie. Bestaande relaties en uitsluitingen halen we er vooraf uit.</a:t>
            </a:r>
            <a:endParaRPr lang="en-US" sz="950" dirty="0"/>
          </a:p>
        </p:txBody>
      </p:sp>
      <p:sp>
        <p:nvSpPr>
          <p:cNvPr id="22" name="Shape 17"/>
          <p:cNvSpPr/>
          <p:nvPr/>
        </p:nvSpPr>
        <p:spPr>
          <a:xfrm>
            <a:off x="8953478" y="2793993"/>
            <a:ext cx="2628893" cy="3238492"/>
          </a:xfrm>
          <a:prstGeom prst="roundRect">
            <a:avLst>
              <a:gd name="adj" fmla="val 3865"/>
            </a:avLst>
          </a:prstGeom>
          <a:solidFill>
            <a:srgbClr val="000000"/>
          </a:solidFill>
          <a:ln/>
        </p:spPr>
      </p:sp>
      <p:sp>
        <p:nvSpPr>
          <p:cNvPr id="23" name="Shape 18"/>
          <p:cNvSpPr/>
          <p:nvPr/>
        </p:nvSpPr>
        <p:spPr>
          <a:xfrm>
            <a:off x="9207477" y="3073392"/>
            <a:ext cx="380999" cy="380999"/>
          </a:xfrm>
          <a:prstGeom prst="roundRect">
            <a:avLst>
              <a:gd name="adj" fmla="val 23333"/>
            </a:avLst>
          </a:prstGeom>
          <a:solidFill>
            <a:srgbClr val="203C55"/>
          </a:solidFill>
          <a:ln/>
        </p:spPr>
      </p:sp>
      <p:pic>
        <p:nvPicPr>
          <p:cNvPr id="24" name="Image 3" descr="preencoded.png">    </p:cNvPr>
          <p:cNvPicPr>
            <a:picLocks noChangeAspect="1"/>
          </p:cNvPicPr>
          <p:nvPr/>
        </p:nvPicPr>
        <p:blipFill>
          <a:blip r:embed="rId4"/>
          <a:stretch>
            <a:fillRect/>
          </a:stretch>
        </p:blipFill>
        <p:spPr>
          <a:xfrm>
            <a:off x="9302727" y="3168642"/>
            <a:ext cx="190500" cy="190500"/>
          </a:xfrm>
          <a:prstGeom prst="rect">
            <a:avLst/>
          </a:prstGeom>
        </p:spPr>
      </p:pic>
      <p:sp>
        <p:nvSpPr>
          <p:cNvPr id="25" name="Text 19"/>
          <p:cNvSpPr txBox="1"/>
          <p:nvPr/>
        </p:nvSpPr>
        <p:spPr>
          <a:xfrm>
            <a:off x="9207477"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FFFFFF"/>
                </a:solidFill>
                <a:latin typeface="Arial" pitchFamily="34" charset="0"/>
                <a:ea typeface="Arial" pitchFamily="34" charset="-122"/>
                <a:cs typeface="Arial" pitchFamily="34" charset="-120"/>
              </a:rPr>
              <a:t>Gekwalificeerde afspraken</a:t>
            </a:r>
            <a:endParaRPr lang="en-US" sz="1350" dirty="0"/>
          </a:p>
        </p:txBody>
      </p:sp>
      <p:sp>
        <p:nvSpPr>
          <p:cNvPr id="26" name="Text 20"/>
          <p:cNvSpPr txBox="1"/>
          <p:nvPr/>
        </p:nvSpPr>
        <p:spPr>
          <a:xfrm>
            <a:off x="9207477"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Het resultaat waar we op sturen. Een afspraak staat pas als het bedrijf past, de interesse echt is en de juiste persoon aan tafel zit.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Techmetric3d</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4 / 9</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EEN SAMENWERKING LOOPT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Van kick-off naar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afspraken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de agenda.</a:t>
            </a:r>
            <a:endParaRPr lang="en-US" sz="3200" dirty="0"/>
          </a:p>
        </p:txBody>
      </p:sp>
      <p:sp>
        <p:nvSpPr>
          <p:cNvPr id="7" name="Shape 5"/>
          <p:cNvSpPr/>
          <p:nvPr/>
        </p:nvSpPr>
        <p:spPr>
          <a:xfrm>
            <a:off x="609598" y="2743193"/>
            <a:ext cx="304799" cy="304799"/>
          </a:xfrm>
          <a:prstGeom prst="ellipse">
            <a:avLst/>
          </a:prstGeom>
          <a:ln w="15240">
            <a:solidFill>
              <a:srgbClr val="38B6FF"/>
            </a:solidFill>
            <a:prstDash val="solid"/>
          </a:ln>
        </p:spPr>
      </p:sp>
      <p:sp>
        <p:nvSpPr>
          <p:cNvPr id="8" name="Text 6"/>
          <p:cNvSpPr txBox="1"/>
          <p:nvPr/>
        </p:nvSpPr>
        <p:spPr>
          <a:xfrm>
            <a:off x="609598"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Shape 7"/>
          <p:cNvSpPr/>
          <p:nvPr/>
        </p:nvSpPr>
        <p:spPr>
          <a:xfrm>
            <a:off x="1015997" y="2895593"/>
            <a:ext cx="2349494" cy="0"/>
          </a:xfrm>
          <a:prstGeom prst="line">
            <a:avLst/>
          </a:prstGeom>
          <a:noFill/>
          <a:ln w="9525">
            <a:solidFill>
              <a:srgbClr val="38B6FF">
                <a:alpha val="40000"/>
              </a:srgbClr>
            </a:solidFill>
            <a:prstDash val="solid"/>
          </a:ln>
        </p:spPr>
      </p:sp>
      <p:sp>
        <p:nvSpPr>
          <p:cNvPr id="10" name="Text 8"/>
          <p:cNvSpPr txBox="1"/>
          <p:nvPr/>
        </p:nvSpPr>
        <p:spPr>
          <a:xfrm>
            <a:off x="609598"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Kick-off</a:t>
            </a:r>
            <a:endParaRPr lang="en-US" sz="1250" dirty="0"/>
          </a:p>
        </p:txBody>
      </p:sp>
      <p:sp>
        <p:nvSpPr>
          <p:cNvPr id="11" name="Text 9"/>
          <p:cNvSpPr txBox="1"/>
          <p:nvPr/>
        </p:nvSpPr>
        <p:spPr>
          <a:xfrm>
            <a:off x="609598"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Samen scherp: doelgroep, beslisser, propositie, bezwaren en wat een goede afspraak voor jullie is. Wij leggen de USP's en de mails vast, jullie keuren goed.</a:t>
            </a:r>
            <a:endParaRPr lang="en-US" sz="900" dirty="0"/>
          </a:p>
        </p:txBody>
      </p:sp>
      <p:sp>
        <p:nvSpPr>
          <p:cNvPr id="12" name="Shape 10"/>
          <p:cNvSpPr/>
          <p:nvPr/>
        </p:nvSpPr>
        <p:spPr>
          <a:xfrm>
            <a:off x="3416291" y="2743193"/>
            <a:ext cx="304799" cy="304799"/>
          </a:xfrm>
          <a:prstGeom prst="ellipse">
            <a:avLst/>
          </a:prstGeom>
          <a:ln w="15240">
            <a:solidFill>
              <a:srgbClr val="38B6FF"/>
            </a:solidFill>
            <a:prstDash val="solid"/>
          </a:ln>
        </p:spPr>
      </p:sp>
      <p:sp>
        <p:nvSpPr>
          <p:cNvPr id="13" name="Text 11"/>
          <p:cNvSpPr txBox="1"/>
          <p:nvPr/>
        </p:nvSpPr>
        <p:spPr>
          <a:xfrm>
            <a:off x="3416291"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4" name="Shape 12"/>
          <p:cNvSpPr/>
          <p:nvPr/>
        </p:nvSpPr>
        <p:spPr>
          <a:xfrm>
            <a:off x="3822690" y="2895593"/>
            <a:ext cx="2349494" cy="0"/>
          </a:xfrm>
          <a:prstGeom prst="line">
            <a:avLst/>
          </a:prstGeom>
          <a:noFill/>
          <a:ln w="9525">
            <a:solidFill>
              <a:srgbClr val="38B6FF">
                <a:alpha val="40000"/>
              </a:srgbClr>
            </a:solidFill>
            <a:prstDash val="solid"/>
          </a:ln>
        </p:spPr>
      </p:sp>
      <p:sp>
        <p:nvSpPr>
          <p:cNvPr id="15" name="Text 13"/>
          <p:cNvSpPr txBox="1"/>
          <p:nvPr/>
        </p:nvSpPr>
        <p:spPr>
          <a:xfrm>
            <a:off x="3416291"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Belstart</a:t>
            </a:r>
            <a:endParaRPr lang="en-US" sz="1250" dirty="0"/>
          </a:p>
        </p:txBody>
      </p:sp>
      <p:sp>
        <p:nvSpPr>
          <p:cNvPr id="16" name="Text 14"/>
          <p:cNvSpPr txBox="1"/>
          <p:nvPr/>
        </p:nvSpPr>
        <p:spPr>
          <a:xfrm>
            <a:off x="3416291"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Vanaf de eerste maandag na de kick-off gaan we bellen, op de dagen en dagdelen die in onze data het beste werken voor jullie branche. Elke afspraak krijgt een bevestigingsmail naar de prospect en een overdracht met context naar jullie.</a:t>
            </a:r>
            <a:endParaRPr lang="en-US" sz="900" dirty="0"/>
          </a:p>
        </p:txBody>
      </p:sp>
      <p:sp>
        <p:nvSpPr>
          <p:cNvPr id="17" name="Shape 15"/>
          <p:cNvSpPr/>
          <p:nvPr/>
        </p:nvSpPr>
        <p:spPr>
          <a:xfrm>
            <a:off x="6222984" y="2743193"/>
            <a:ext cx="304799" cy="304799"/>
          </a:xfrm>
          <a:prstGeom prst="ellipse">
            <a:avLst/>
          </a:prstGeom>
          <a:ln w="15240">
            <a:solidFill>
              <a:srgbClr val="38B6FF"/>
            </a:solidFill>
            <a:prstDash val="solid"/>
          </a:ln>
        </p:spPr>
      </p:sp>
      <p:sp>
        <p:nvSpPr>
          <p:cNvPr id="18" name="Text 16"/>
          <p:cNvSpPr txBox="1"/>
          <p:nvPr/>
        </p:nvSpPr>
        <p:spPr>
          <a:xfrm>
            <a:off x="6222984"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9" name="Shape 17"/>
          <p:cNvSpPr/>
          <p:nvPr/>
        </p:nvSpPr>
        <p:spPr>
          <a:xfrm>
            <a:off x="6629383" y="2895593"/>
            <a:ext cx="2349494" cy="0"/>
          </a:xfrm>
          <a:prstGeom prst="line">
            <a:avLst/>
          </a:prstGeom>
          <a:noFill/>
          <a:ln w="9525">
            <a:solidFill>
              <a:srgbClr val="38B6FF">
                <a:alpha val="40000"/>
              </a:srgbClr>
            </a:solidFill>
            <a:prstDash val="solid"/>
          </a:ln>
        </p:spPr>
      </p:sp>
      <p:sp>
        <p:nvSpPr>
          <p:cNvPr id="20" name="Text 18"/>
          <p:cNvSpPr txBox="1"/>
          <p:nvPr/>
        </p:nvSpPr>
        <p:spPr>
          <a:xfrm>
            <a:off x="6222984"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Wekelijkse rapportage</a:t>
            </a:r>
            <a:endParaRPr lang="en-US" sz="1250" dirty="0"/>
          </a:p>
        </p:txBody>
      </p:sp>
      <p:sp>
        <p:nvSpPr>
          <p:cNvPr id="21" name="Text 19"/>
          <p:cNvSpPr txBox="1"/>
          <p:nvPr/>
        </p:nvSpPr>
        <p:spPr>
          <a:xfrm>
            <a:off x="6222984"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Elke week een rapport met contactpogingen, gesproken bedrijven, warme uitkomsten, terugbelafspraken en geplande afspraken, plus wat we terughoren uit de markt.</a:t>
            </a:r>
            <a:endParaRPr lang="en-US" sz="900" dirty="0"/>
          </a:p>
        </p:txBody>
      </p:sp>
      <p:sp>
        <p:nvSpPr>
          <p:cNvPr id="22" name="Shape 20"/>
          <p:cNvSpPr/>
          <p:nvPr/>
        </p:nvSpPr>
        <p:spPr>
          <a:xfrm>
            <a:off x="9029677" y="2743193"/>
            <a:ext cx="304799" cy="304799"/>
          </a:xfrm>
          <a:prstGeom prst="ellipse">
            <a:avLst/>
          </a:prstGeom>
          <a:ln w="15240">
            <a:solidFill>
              <a:srgbClr val="38B6FF"/>
            </a:solidFill>
            <a:prstDash val="solid"/>
          </a:ln>
        </p:spPr>
      </p:sp>
      <p:sp>
        <p:nvSpPr>
          <p:cNvPr id="23" name="Text 21"/>
          <p:cNvSpPr txBox="1"/>
          <p:nvPr/>
        </p:nvSpPr>
        <p:spPr>
          <a:xfrm>
            <a:off x="9029677"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4</a:t>
            </a:r>
            <a:endParaRPr lang="en-US" sz="1050" dirty="0"/>
          </a:p>
        </p:txBody>
      </p:sp>
      <p:sp>
        <p:nvSpPr>
          <p:cNvPr id="24" name="Text 22"/>
          <p:cNvSpPr txBox="1"/>
          <p:nvPr/>
        </p:nvSpPr>
        <p:spPr>
          <a:xfrm>
            <a:off x="9029677"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Bijsturen</a:t>
            </a:r>
            <a:endParaRPr lang="en-US" sz="1250" dirty="0"/>
          </a:p>
        </p:txBody>
      </p:sp>
      <p:sp>
        <p:nvSpPr>
          <p:cNvPr id="25" name="Text 23"/>
          <p:cNvSpPr txBox="1"/>
          <p:nvPr/>
        </p:nvSpPr>
        <p:spPr>
          <a:xfrm>
            <a:off x="9029677"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Na elke werkperiode evalueren we: klopt de doelgroep, klopt de kwaliteit van de afspraken en wat scherpen we aan.</a:t>
            </a:r>
            <a:endParaRPr lang="en-US" sz="900" dirty="0"/>
          </a:p>
        </p:txBody>
      </p:sp>
      <p:sp>
        <p:nvSpPr>
          <p:cNvPr id="26" name="Shape 24"/>
          <p:cNvSpPr/>
          <p:nvPr/>
        </p:nvSpPr>
        <p:spPr>
          <a:xfrm>
            <a:off x="609598" y="4711688"/>
            <a:ext cx="10972773" cy="1320797"/>
          </a:xfrm>
          <a:prstGeom prst="roundRect">
            <a:avLst>
              <a:gd name="adj" fmla="val 7692"/>
            </a:avLst>
          </a:prstGeom>
          <a:solidFill>
            <a:srgbClr val="1B2130"/>
          </a:solidFill>
          <a:ln w="9525">
            <a:solidFill>
              <a:srgbClr val="3A4152"/>
            </a:solidFill>
            <a:prstDash val="solid"/>
          </a:ln>
        </p:spPr>
      </p:sp>
      <p:sp>
        <p:nvSpPr>
          <p:cNvPr id="27" name="Text 25"/>
          <p:cNvSpPr txBox="1"/>
          <p:nvPr/>
        </p:nvSpPr>
        <p:spPr>
          <a:xfrm>
            <a:off x="914398" y="4927588"/>
            <a:ext cx="5079987" cy="228599"/>
          </a:xfrm>
          <a:prstGeom prst="rect">
            <a:avLst/>
          </a:prstGeom>
          <a:noFill/>
          <a:ln/>
        </p:spPr>
        <p:txBody>
          <a:bodyPr wrap="square" lIns="0" tIns="0" rIns="0" bIns="0" rtlCol="0" anchor="ctr"/>
          <a:lstStyle/>
          <a:p>
            <a:pPr indent="0" marL="0">
              <a:buNone/>
            </a:pPr>
            <a:r>
              <a:rPr lang="en-US" sz="1150" b="1" dirty="0">
                <a:solidFill>
                  <a:srgbClr val="F2EFE6"/>
                </a:solidFill>
                <a:latin typeface="Arial" pitchFamily="34" charset="0"/>
                <a:ea typeface="Arial" pitchFamily="34" charset="-122"/>
                <a:cs typeface="Arial" pitchFamily="34" charset="-120"/>
              </a:rPr>
              <a:t>Wat jullie ontvangen</a:t>
            </a:r>
            <a:endParaRPr lang="en-US" sz="1150" dirty="0"/>
          </a:p>
        </p:txBody>
      </p:sp>
      <p:pic>
        <p:nvPicPr>
          <p:cNvPr id="28" name="Image 0" descr="preencoded.png">    </p:cNvPr>
          <p:cNvPicPr>
            <a:picLocks noChangeAspect="1"/>
          </p:cNvPicPr>
          <p:nvPr/>
        </p:nvPicPr>
        <p:blipFill>
          <a:blip r:embed="rId1"/>
          <a:stretch>
            <a:fillRect/>
          </a:stretch>
        </p:blipFill>
        <p:spPr>
          <a:xfrm>
            <a:off x="914398" y="5314937"/>
            <a:ext cx="139700" cy="139700"/>
          </a:xfrm>
          <a:prstGeom prst="rect">
            <a:avLst/>
          </a:prstGeom>
        </p:spPr>
      </p:pic>
      <p:sp>
        <p:nvSpPr>
          <p:cNvPr id="29" name="Text 26"/>
          <p:cNvSpPr txBox="1"/>
          <p:nvPr/>
        </p:nvSpPr>
        <p:spPr>
          <a:xfrm>
            <a:off x="1142997"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Afspraak in de agenda met bedrijfsinfo, contactpersoon en aanleiding</a:t>
            </a:r>
            <a:endParaRPr lang="en-US" sz="950" dirty="0"/>
          </a:p>
        </p:txBody>
      </p:sp>
      <p:pic>
        <p:nvPicPr>
          <p:cNvPr id="30" name="Image 1" descr="preencoded.png">    </p:cNvPr>
          <p:cNvPicPr>
            <a:picLocks noChangeAspect="1"/>
          </p:cNvPicPr>
          <p:nvPr/>
        </p:nvPicPr>
        <p:blipFill>
          <a:blip r:embed="rId2"/>
          <a:stretch>
            <a:fillRect/>
          </a:stretch>
        </p:blipFill>
        <p:spPr>
          <a:xfrm>
            <a:off x="6400784" y="5314937"/>
            <a:ext cx="139700" cy="139700"/>
          </a:xfrm>
          <a:prstGeom prst="rect">
            <a:avLst/>
          </a:prstGeom>
        </p:spPr>
      </p:pic>
      <p:sp>
        <p:nvSpPr>
          <p:cNvPr id="31" name="Text 27"/>
          <p:cNvSpPr txBox="1"/>
          <p:nvPr/>
        </p:nvSpPr>
        <p:spPr>
          <a:xfrm>
            <a:off x="6629383"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Bevestiging naar de prospect uit jullie naam</a:t>
            </a:r>
            <a:endParaRPr lang="en-US" sz="950" dirty="0"/>
          </a:p>
        </p:txBody>
      </p:sp>
      <p:pic>
        <p:nvPicPr>
          <p:cNvPr id="32" name="Image 2" descr="preencoded.png">    </p:cNvPr>
          <p:cNvPicPr>
            <a:picLocks noChangeAspect="1"/>
          </p:cNvPicPr>
          <p:nvPr/>
        </p:nvPicPr>
        <p:blipFill>
          <a:blip r:embed="rId3"/>
          <a:stretch>
            <a:fillRect/>
          </a:stretch>
        </p:blipFill>
        <p:spPr>
          <a:xfrm>
            <a:off x="914398" y="5619736"/>
            <a:ext cx="139700" cy="139700"/>
          </a:xfrm>
          <a:prstGeom prst="rect">
            <a:avLst/>
          </a:prstGeom>
        </p:spPr>
      </p:pic>
      <p:sp>
        <p:nvSpPr>
          <p:cNvPr id="33" name="Text 28"/>
          <p:cNvSpPr txBox="1"/>
          <p:nvPr/>
        </p:nvSpPr>
        <p:spPr>
          <a:xfrm>
            <a:off x="1142997"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Wekelijks rapport in PDF plus alle gespreksnotities</a:t>
            </a:r>
            <a:endParaRPr lang="en-US" sz="950" dirty="0"/>
          </a:p>
        </p:txBody>
      </p:sp>
      <p:pic>
        <p:nvPicPr>
          <p:cNvPr id="34" name="Image 3" descr="preencoded.png">    </p:cNvPr>
          <p:cNvPicPr>
            <a:picLocks noChangeAspect="1"/>
          </p:cNvPicPr>
          <p:nvPr/>
        </p:nvPicPr>
        <p:blipFill>
          <a:blip r:embed="rId4"/>
          <a:stretch>
            <a:fillRect/>
          </a:stretch>
        </p:blipFill>
        <p:spPr>
          <a:xfrm>
            <a:off x="6400784" y="5619736"/>
            <a:ext cx="139700" cy="139700"/>
          </a:xfrm>
          <a:prstGeom prst="rect">
            <a:avLst/>
          </a:prstGeom>
        </p:spPr>
      </p:pic>
      <p:sp>
        <p:nvSpPr>
          <p:cNvPr id="35" name="Text 29"/>
          <p:cNvSpPr txBox="1"/>
          <p:nvPr/>
        </p:nvSpPr>
        <p:spPr>
          <a:xfrm>
            <a:off x="6629383"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Een vast aanspreekpunt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Techmetric3d</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5 / 9</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EEN GEKWALIFICEERDE AFSPRAAK NOEMEN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Geen afspraak om de afspraak.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Drie eisen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3536941" cy="2476494"/>
          </a:xfrm>
          <a:prstGeom prst="roundRect">
            <a:avLst>
              <a:gd name="adj" fmla="val 4103"/>
            </a:avLst>
          </a:prstGeom>
          <a:solidFill>
            <a:srgbClr val="F8F4EB"/>
          </a:solidFill>
          <a:ln/>
        </p:spPr>
      </p:sp>
      <p:sp>
        <p:nvSpPr>
          <p:cNvPr id="8" name="Shape 6"/>
          <p:cNvSpPr/>
          <p:nvPr/>
        </p:nvSpPr>
        <p:spPr>
          <a:xfrm>
            <a:off x="914398" y="31241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09647" y="3219442"/>
            <a:ext cx="190500" cy="190500"/>
          </a:xfrm>
          <a:prstGeom prst="rect">
            <a:avLst/>
          </a:prstGeom>
        </p:spPr>
      </p:pic>
      <p:sp>
        <p:nvSpPr>
          <p:cNvPr id="10" name="Text 7"/>
          <p:cNvSpPr txBox="1"/>
          <p:nvPr/>
        </p:nvSpPr>
        <p:spPr>
          <a:xfrm>
            <a:off x="91439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Fit</a:t>
            </a:r>
            <a:endParaRPr lang="en-US" sz="1600" dirty="0"/>
          </a:p>
        </p:txBody>
      </p:sp>
      <p:sp>
        <p:nvSpPr>
          <p:cNvPr id="11" name="Text 8"/>
          <p:cNvSpPr txBox="1"/>
          <p:nvPr/>
        </p:nvSpPr>
        <p:spPr>
          <a:xfrm>
            <a:off x="91439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Het bedrijf past: branche, omvang en situatie voldoen aan de criteria uit de kick-off.</a:t>
            </a:r>
            <a:endParaRPr lang="en-US" sz="1050" dirty="0"/>
          </a:p>
        </p:txBody>
      </p:sp>
      <p:sp>
        <p:nvSpPr>
          <p:cNvPr id="12" name="Shape 9"/>
          <p:cNvSpPr/>
          <p:nvPr/>
        </p:nvSpPr>
        <p:spPr>
          <a:xfrm>
            <a:off x="4324339" y="2793993"/>
            <a:ext cx="3536941" cy="2476494"/>
          </a:xfrm>
          <a:prstGeom prst="roundRect">
            <a:avLst>
              <a:gd name="adj" fmla="val 4103"/>
            </a:avLst>
          </a:prstGeom>
          <a:solidFill>
            <a:srgbClr val="F8F4EB"/>
          </a:solidFill>
          <a:ln/>
        </p:spPr>
      </p:sp>
      <p:sp>
        <p:nvSpPr>
          <p:cNvPr id="13" name="Shape 10"/>
          <p:cNvSpPr/>
          <p:nvPr/>
        </p:nvSpPr>
        <p:spPr>
          <a:xfrm>
            <a:off x="4629138" y="31241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4724388" y="3219442"/>
            <a:ext cx="190500" cy="190500"/>
          </a:xfrm>
          <a:prstGeom prst="rect">
            <a:avLst/>
          </a:prstGeom>
        </p:spPr>
      </p:pic>
      <p:sp>
        <p:nvSpPr>
          <p:cNvPr id="15" name="Text 11"/>
          <p:cNvSpPr txBox="1"/>
          <p:nvPr/>
        </p:nvSpPr>
        <p:spPr>
          <a:xfrm>
            <a:off x="462913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Interesse</a:t>
            </a:r>
            <a:endParaRPr lang="en-US" sz="1600" dirty="0"/>
          </a:p>
        </p:txBody>
      </p:sp>
      <p:sp>
        <p:nvSpPr>
          <p:cNvPr id="16" name="Text 12"/>
          <p:cNvSpPr txBox="1"/>
          <p:nvPr/>
        </p:nvSpPr>
        <p:spPr>
          <a:xfrm>
            <a:off x="462913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prospect heeft een concrete aanleiding of vraag en neemt bewust de tijd. Wij leggen de aanleiding vast in de overdracht.</a:t>
            </a:r>
            <a:endParaRPr lang="en-US" sz="1050" dirty="0"/>
          </a:p>
        </p:txBody>
      </p:sp>
      <p:sp>
        <p:nvSpPr>
          <p:cNvPr id="17" name="Shape 13"/>
          <p:cNvSpPr/>
          <p:nvPr/>
        </p:nvSpPr>
        <p:spPr>
          <a:xfrm>
            <a:off x="8039080" y="2793993"/>
            <a:ext cx="3536941" cy="2476494"/>
          </a:xfrm>
          <a:prstGeom prst="roundRect">
            <a:avLst>
              <a:gd name="adj" fmla="val 4103"/>
            </a:avLst>
          </a:prstGeom>
          <a:solidFill>
            <a:srgbClr val="F8F4EB"/>
          </a:solidFill>
          <a:ln/>
        </p:spPr>
      </p:sp>
      <p:sp>
        <p:nvSpPr>
          <p:cNvPr id="18" name="Shape 14"/>
          <p:cNvSpPr/>
          <p:nvPr/>
        </p:nvSpPr>
        <p:spPr>
          <a:xfrm>
            <a:off x="8343879" y="31241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8439129" y="3219442"/>
            <a:ext cx="190500" cy="190500"/>
          </a:xfrm>
          <a:prstGeom prst="rect">
            <a:avLst/>
          </a:prstGeom>
        </p:spPr>
      </p:pic>
      <p:sp>
        <p:nvSpPr>
          <p:cNvPr id="20" name="Text 15"/>
          <p:cNvSpPr txBox="1"/>
          <p:nvPr/>
        </p:nvSpPr>
        <p:spPr>
          <a:xfrm>
            <a:off x="8343879"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Beslisser</a:t>
            </a:r>
            <a:endParaRPr lang="en-US" sz="1600" dirty="0"/>
          </a:p>
        </p:txBody>
      </p:sp>
      <p:sp>
        <p:nvSpPr>
          <p:cNvPr id="21" name="Text 16"/>
          <p:cNvSpPr txBox="1"/>
          <p:nvPr/>
        </p:nvSpPr>
        <p:spPr>
          <a:xfrm>
            <a:off x="8343879"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afspraak staat met iemand die over de aankoop gaat of daar direct invloed op heeft.</a:t>
            </a:r>
            <a:endParaRPr lang="en-US" sz="1050" dirty="0"/>
          </a:p>
        </p:txBody>
      </p:sp>
      <p:sp>
        <p:nvSpPr>
          <p:cNvPr id="22" name="Shape 17"/>
          <p:cNvSpPr/>
          <p:nvPr/>
        </p:nvSpPr>
        <p:spPr>
          <a:xfrm>
            <a:off x="609598" y="5854685"/>
            <a:ext cx="76200" cy="76200"/>
          </a:xfrm>
          <a:prstGeom prst="ellipse">
            <a:avLst/>
          </a:prstGeom>
          <a:solidFill>
            <a:srgbClr val="38B6FF"/>
          </a:solidFill>
          <a:ln/>
        </p:spPr>
      </p:sp>
      <p:sp>
        <p:nvSpPr>
          <p:cNvPr id="23" name="Text 18"/>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Valt een afspraak buiten deze eisen, dan telt hij niet mee. Zo blijft het aantal eerlijk en de kwaliteit hoog.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Techmetric3d</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6 / 9</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SPELREGELS</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Transparant en zonder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kleine lettertjes</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819393"/>
            <a:ext cx="253999" cy="253999"/>
          </a:xfrm>
          <a:prstGeom prst="roundRect">
            <a:avLst>
              <a:gd name="adj" fmla="val 25000"/>
            </a:avLst>
          </a:prstGeom>
          <a:solidFill>
            <a:srgbClr val="DDEBF3"/>
          </a:solidFill>
          <a:ln/>
        </p:spPr>
      </p:sp>
      <p:pic>
        <p:nvPicPr>
          <p:cNvPr id="8" name="Image 0" descr="preencoded.png">    </p:cNvPr>
          <p:cNvPicPr>
            <a:picLocks noChangeAspect="1"/>
          </p:cNvPicPr>
          <p:nvPr/>
        </p:nvPicPr>
        <p:blipFill>
          <a:blip r:embed="rId1"/>
          <a:stretch>
            <a:fillRect/>
          </a:stretch>
        </p:blipFill>
        <p:spPr>
          <a:xfrm>
            <a:off x="666748" y="2876543"/>
            <a:ext cx="139700" cy="139700"/>
          </a:xfrm>
          <a:prstGeom prst="rect">
            <a:avLst/>
          </a:prstGeom>
        </p:spPr>
      </p:pic>
      <p:sp>
        <p:nvSpPr>
          <p:cNvPr id="9" name="Text 6"/>
          <p:cNvSpPr txBox="1"/>
          <p:nvPr/>
        </p:nvSpPr>
        <p:spPr>
          <a:xfrm>
            <a:off x="1015997"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Niet-exclusief</a:t>
            </a:r>
            <a:endParaRPr lang="en-US" sz="1200" dirty="0"/>
          </a:p>
        </p:txBody>
      </p:sp>
      <p:sp>
        <p:nvSpPr>
          <p:cNvPr id="10" name="Text 7"/>
          <p:cNvSpPr txBox="1"/>
          <p:nvPr/>
        </p:nvSpPr>
        <p:spPr>
          <a:xfrm>
            <a:off x="1015997"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Jullie zitten nergens aan vast en houden alle vrijheid.</a:t>
            </a:r>
            <a:endParaRPr lang="en-US" sz="950" dirty="0"/>
          </a:p>
        </p:txBody>
      </p:sp>
      <p:sp>
        <p:nvSpPr>
          <p:cNvPr id="11" name="Shape 8"/>
          <p:cNvSpPr/>
          <p:nvPr/>
        </p:nvSpPr>
        <p:spPr>
          <a:xfrm>
            <a:off x="6349984" y="2819393"/>
            <a:ext cx="253999" cy="253999"/>
          </a:xfrm>
          <a:prstGeom prst="roundRect">
            <a:avLst>
              <a:gd name="adj" fmla="val 25000"/>
            </a:avLst>
          </a:prstGeom>
          <a:solidFill>
            <a:srgbClr val="DDEBF3"/>
          </a:solidFill>
          <a:ln/>
        </p:spPr>
      </p:sp>
      <p:pic>
        <p:nvPicPr>
          <p:cNvPr id="12" name="Image 1" descr="preencoded.png">    </p:cNvPr>
          <p:cNvPicPr>
            <a:picLocks noChangeAspect="1"/>
          </p:cNvPicPr>
          <p:nvPr/>
        </p:nvPicPr>
        <p:blipFill>
          <a:blip r:embed="rId2"/>
          <a:stretch>
            <a:fillRect/>
          </a:stretch>
        </p:blipFill>
        <p:spPr>
          <a:xfrm>
            <a:off x="6407134" y="2876543"/>
            <a:ext cx="139700" cy="139700"/>
          </a:xfrm>
          <a:prstGeom prst="rect">
            <a:avLst/>
          </a:prstGeom>
        </p:spPr>
      </p:pic>
      <p:sp>
        <p:nvSpPr>
          <p:cNvPr id="13" name="Text 9"/>
          <p:cNvSpPr txBox="1"/>
          <p:nvPr/>
        </p:nvSpPr>
        <p:spPr>
          <a:xfrm>
            <a:off x="6756383"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Bestaande relaties blijven van jullie</a:t>
            </a:r>
            <a:endParaRPr lang="en-US" sz="1200" dirty="0"/>
          </a:p>
        </p:txBody>
      </p:sp>
      <p:sp>
        <p:nvSpPr>
          <p:cNvPr id="14" name="Text 10"/>
          <p:cNvSpPr txBox="1"/>
          <p:nvPr/>
        </p:nvSpPr>
        <p:spPr>
          <a:xfrm>
            <a:off x="6756383"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Uitsluitlijst vooraf, die bedrijven benaderen wij niet.</a:t>
            </a:r>
            <a:endParaRPr lang="en-US" sz="950" dirty="0"/>
          </a:p>
        </p:txBody>
      </p:sp>
      <p:sp>
        <p:nvSpPr>
          <p:cNvPr id="15" name="Shape 11"/>
          <p:cNvSpPr/>
          <p:nvPr/>
        </p:nvSpPr>
        <p:spPr>
          <a:xfrm>
            <a:off x="609598" y="3428991"/>
            <a:ext cx="5232387" cy="0"/>
          </a:xfrm>
          <a:prstGeom prst="line">
            <a:avLst/>
          </a:prstGeom>
          <a:noFill/>
          <a:ln w="6350">
            <a:solidFill>
              <a:srgbClr val="C9C2B2"/>
            </a:solidFill>
            <a:prstDash val="solid"/>
          </a:ln>
        </p:spPr>
      </p:sp>
      <p:sp>
        <p:nvSpPr>
          <p:cNvPr id="16" name="Shape 12"/>
          <p:cNvSpPr/>
          <p:nvPr/>
        </p:nvSpPr>
        <p:spPr>
          <a:xfrm>
            <a:off x="609598" y="3530591"/>
            <a:ext cx="253999" cy="253999"/>
          </a:xfrm>
          <a:prstGeom prst="roundRect">
            <a:avLst>
              <a:gd name="adj" fmla="val 25000"/>
            </a:avLst>
          </a:prstGeom>
          <a:solidFill>
            <a:srgbClr val="DDEBF3"/>
          </a:solidFill>
          <a:ln/>
        </p:spPr>
      </p:sp>
      <p:pic>
        <p:nvPicPr>
          <p:cNvPr id="17" name="Image 2" descr="preencoded.png">    </p:cNvPr>
          <p:cNvPicPr>
            <a:picLocks noChangeAspect="1"/>
          </p:cNvPicPr>
          <p:nvPr/>
        </p:nvPicPr>
        <p:blipFill>
          <a:blip r:embed="rId3"/>
          <a:stretch>
            <a:fillRect/>
          </a:stretch>
        </p:blipFill>
        <p:spPr>
          <a:xfrm>
            <a:off x="666748" y="3587741"/>
            <a:ext cx="139700" cy="139700"/>
          </a:xfrm>
          <a:prstGeom prst="rect">
            <a:avLst/>
          </a:prstGeom>
        </p:spPr>
      </p:pic>
      <p:sp>
        <p:nvSpPr>
          <p:cNvPr id="18" name="Text 13"/>
          <p:cNvSpPr txBox="1"/>
          <p:nvPr/>
        </p:nvSpPr>
        <p:spPr>
          <a:xfrm>
            <a:off x="1015997"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Werkperiodes van 4 weken</a:t>
            </a:r>
            <a:endParaRPr lang="en-US" sz="1200" dirty="0"/>
          </a:p>
        </p:txBody>
      </p:sp>
      <p:sp>
        <p:nvSpPr>
          <p:cNvPr id="19" name="Text 14"/>
          <p:cNvSpPr txBox="1"/>
          <p:nvPr/>
        </p:nvSpPr>
        <p:spPr>
          <a:xfrm>
            <a:off x="1015997"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Vooraf gefactureerd, per werkperiode.</a:t>
            </a:r>
            <a:endParaRPr lang="en-US" sz="950" dirty="0"/>
          </a:p>
        </p:txBody>
      </p:sp>
      <p:sp>
        <p:nvSpPr>
          <p:cNvPr id="20" name="Shape 15"/>
          <p:cNvSpPr/>
          <p:nvPr/>
        </p:nvSpPr>
        <p:spPr>
          <a:xfrm>
            <a:off x="6349984" y="3428991"/>
            <a:ext cx="5232387" cy="0"/>
          </a:xfrm>
          <a:prstGeom prst="line">
            <a:avLst/>
          </a:prstGeom>
          <a:noFill/>
          <a:ln w="6350">
            <a:solidFill>
              <a:srgbClr val="C9C2B2"/>
            </a:solidFill>
            <a:prstDash val="solid"/>
          </a:ln>
        </p:spPr>
      </p:sp>
      <p:sp>
        <p:nvSpPr>
          <p:cNvPr id="21" name="Shape 16"/>
          <p:cNvSpPr/>
          <p:nvPr/>
        </p:nvSpPr>
        <p:spPr>
          <a:xfrm>
            <a:off x="6349984" y="3530591"/>
            <a:ext cx="253999" cy="253999"/>
          </a:xfrm>
          <a:prstGeom prst="roundRect">
            <a:avLst>
              <a:gd name="adj" fmla="val 25000"/>
            </a:avLst>
          </a:prstGeom>
          <a:solidFill>
            <a:srgbClr val="DDEBF3"/>
          </a:solidFill>
          <a:ln/>
        </p:spPr>
      </p:sp>
      <p:pic>
        <p:nvPicPr>
          <p:cNvPr id="22" name="Image 3" descr="preencoded.png">    </p:cNvPr>
          <p:cNvPicPr>
            <a:picLocks noChangeAspect="1"/>
          </p:cNvPicPr>
          <p:nvPr/>
        </p:nvPicPr>
        <p:blipFill>
          <a:blip r:embed="rId4"/>
          <a:stretch>
            <a:fillRect/>
          </a:stretch>
        </p:blipFill>
        <p:spPr>
          <a:xfrm>
            <a:off x="6407134" y="3587741"/>
            <a:ext cx="139700" cy="139700"/>
          </a:xfrm>
          <a:prstGeom prst="rect">
            <a:avLst/>
          </a:prstGeom>
        </p:spPr>
      </p:pic>
      <p:sp>
        <p:nvSpPr>
          <p:cNvPr id="23" name="Text 17"/>
          <p:cNvSpPr txBox="1"/>
          <p:nvPr/>
        </p:nvSpPr>
        <p:spPr>
          <a:xfrm>
            <a:off x="6756383"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Wekelijkse rapportage</a:t>
            </a:r>
            <a:endParaRPr lang="en-US" sz="1200" dirty="0"/>
          </a:p>
        </p:txBody>
      </p:sp>
      <p:sp>
        <p:nvSpPr>
          <p:cNvPr id="24" name="Text 18"/>
          <p:cNvSpPr txBox="1"/>
          <p:nvPr/>
        </p:nvSpPr>
        <p:spPr>
          <a:xfrm>
            <a:off x="6756383"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Elke week zicht op wat er gebeurd is en wat het opleverde.</a:t>
            </a:r>
            <a:endParaRPr lang="en-US" sz="950" dirty="0"/>
          </a:p>
        </p:txBody>
      </p:sp>
      <p:sp>
        <p:nvSpPr>
          <p:cNvPr id="25" name="Shape 19"/>
          <p:cNvSpPr/>
          <p:nvPr/>
        </p:nvSpPr>
        <p:spPr>
          <a:xfrm>
            <a:off x="609598" y="4140190"/>
            <a:ext cx="5232387" cy="0"/>
          </a:xfrm>
          <a:prstGeom prst="line">
            <a:avLst/>
          </a:prstGeom>
          <a:noFill/>
          <a:ln w="6350">
            <a:solidFill>
              <a:srgbClr val="C9C2B2"/>
            </a:solidFill>
            <a:prstDash val="solid"/>
          </a:ln>
        </p:spPr>
      </p:sp>
      <p:sp>
        <p:nvSpPr>
          <p:cNvPr id="26" name="Shape 20"/>
          <p:cNvSpPr/>
          <p:nvPr/>
        </p:nvSpPr>
        <p:spPr>
          <a:xfrm>
            <a:off x="609598" y="4241789"/>
            <a:ext cx="253999" cy="253999"/>
          </a:xfrm>
          <a:prstGeom prst="roundRect">
            <a:avLst>
              <a:gd name="adj" fmla="val 25000"/>
            </a:avLst>
          </a:prstGeom>
          <a:solidFill>
            <a:srgbClr val="DDEBF3"/>
          </a:solidFill>
          <a:ln/>
        </p:spPr>
      </p:sp>
      <p:pic>
        <p:nvPicPr>
          <p:cNvPr id="27" name="Image 4" descr="preencoded.png">    </p:cNvPr>
          <p:cNvPicPr>
            <a:picLocks noChangeAspect="1"/>
          </p:cNvPicPr>
          <p:nvPr/>
        </p:nvPicPr>
        <p:blipFill>
          <a:blip r:embed="rId5"/>
          <a:stretch>
            <a:fillRect/>
          </a:stretch>
        </p:blipFill>
        <p:spPr>
          <a:xfrm>
            <a:off x="666748" y="4298939"/>
            <a:ext cx="139700" cy="139700"/>
          </a:xfrm>
          <a:prstGeom prst="rect">
            <a:avLst/>
          </a:prstGeom>
        </p:spPr>
      </p:pic>
      <p:sp>
        <p:nvSpPr>
          <p:cNvPr id="28" name="Text 21"/>
          <p:cNvSpPr txBox="1"/>
          <p:nvPr/>
        </p:nvSpPr>
        <p:spPr>
          <a:xfrm>
            <a:off x="1015997"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Jullie naam, onze uitvoering</a:t>
            </a:r>
            <a:endParaRPr lang="en-US" sz="1200" dirty="0"/>
          </a:p>
        </p:txBody>
      </p:sp>
      <p:sp>
        <p:nvSpPr>
          <p:cNvPr id="29" name="Text 22"/>
          <p:cNvSpPr txBox="1"/>
          <p:nvPr/>
        </p:nvSpPr>
        <p:spPr>
          <a:xfrm>
            <a:off x="1015997"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Regionaal nummer en jullie stijl, wij voeren uit.</a:t>
            </a:r>
            <a:endParaRPr lang="en-US" sz="950" dirty="0"/>
          </a:p>
        </p:txBody>
      </p:sp>
      <p:sp>
        <p:nvSpPr>
          <p:cNvPr id="30" name="Shape 23"/>
          <p:cNvSpPr/>
          <p:nvPr/>
        </p:nvSpPr>
        <p:spPr>
          <a:xfrm>
            <a:off x="6349984" y="4140190"/>
            <a:ext cx="5232387" cy="0"/>
          </a:xfrm>
          <a:prstGeom prst="line">
            <a:avLst/>
          </a:prstGeom>
          <a:noFill/>
          <a:ln w="6350">
            <a:solidFill>
              <a:srgbClr val="C9C2B2"/>
            </a:solidFill>
            <a:prstDash val="solid"/>
          </a:ln>
        </p:spPr>
      </p:sp>
      <p:sp>
        <p:nvSpPr>
          <p:cNvPr id="31" name="Shape 24"/>
          <p:cNvSpPr/>
          <p:nvPr/>
        </p:nvSpPr>
        <p:spPr>
          <a:xfrm>
            <a:off x="6349984" y="4241789"/>
            <a:ext cx="253999" cy="253999"/>
          </a:xfrm>
          <a:prstGeom prst="roundRect">
            <a:avLst>
              <a:gd name="adj" fmla="val 25000"/>
            </a:avLst>
          </a:prstGeom>
          <a:solidFill>
            <a:srgbClr val="DDEBF3"/>
          </a:solidFill>
          <a:ln/>
        </p:spPr>
      </p:sp>
      <p:pic>
        <p:nvPicPr>
          <p:cNvPr id="32" name="Image 5" descr="preencoded.png">    </p:cNvPr>
          <p:cNvPicPr>
            <a:picLocks noChangeAspect="1"/>
          </p:cNvPicPr>
          <p:nvPr/>
        </p:nvPicPr>
        <p:blipFill>
          <a:blip r:embed="rId6"/>
          <a:stretch>
            <a:fillRect/>
          </a:stretch>
        </p:blipFill>
        <p:spPr>
          <a:xfrm>
            <a:off x="6407134" y="4298939"/>
            <a:ext cx="139700" cy="139700"/>
          </a:xfrm>
          <a:prstGeom prst="rect">
            <a:avLst/>
          </a:prstGeom>
        </p:spPr>
      </p:pic>
      <p:sp>
        <p:nvSpPr>
          <p:cNvPr id="33" name="Text 25"/>
          <p:cNvSpPr txBox="1"/>
          <p:nvPr/>
        </p:nvSpPr>
        <p:spPr>
          <a:xfrm>
            <a:off x="6756383"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Gegevens veilig</a:t>
            </a:r>
            <a:endParaRPr lang="en-US" sz="1200" dirty="0"/>
          </a:p>
        </p:txBody>
      </p:sp>
      <p:sp>
        <p:nvSpPr>
          <p:cNvPr id="34" name="Text 26"/>
          <p:cNvSpPr txBox="1"/>
          <p:nvPr/>
        </p:nvSpPr>
        <p:spPr>
          <a:xfrm>
            <a:off x="6756383"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verwerkersovereenkomst.</a:t>
            </a:r>
            <a:endParaRPr lang="en-US" sz="950" dirty="0"/>
          </a:p>
        </p:txBody>
      </p:sp>
      <p:sp>
        <p:nvSpPr>
          <p:cNvPr id="35" name="Shape 27"/>
          <p:cNvSpPr/>
          <p:nvPr/>
        </p:nvSpPr>
        <p:spPr>
          <a:xfrm>
            <a:off x="609598" y="4851388"/>
            <a:ext cx="5232387" cy="0"/>
          </a:xfrm>
          <a:prstGeom prst="line">
            <a:avLst/>
          </a:prstGeom>
          <a:noFill/>
          <a:ln w="6350">
            <a:solidFill>
              <a:srgbClr val="C9C2B2"/>
            </a:solidFill>
            <a:prstDash val="solid"/>
          </a:ln>
        </p:spPr>
      </p:sp>
      <p:sp>
        <p:nvSpPr>
          <p:cNvPr id="36" name="Shape 28"/>
          <p:cNvSpPr/>
          <p:nvPr/>
        </p:nvSpPr>
        <p:spPr>
          <a:xfrm>
            <a:off x="609598" y="4952988"/>
            <a:ext cx="253999" cy="253999"/>
          </a:xfrm>
          <a:prstGeom prst="roundRect">
            <a:avLst>
              <a:gd name="adj" fmla="val 25000"/>
            </a:avLst>
          </a:prstGeom>
          <a:solidFill>
            <a:srgbClr val="DDEBF3"/>
          </a:solidFill>
          <a:ln/>
        </p:spPr>
      </p:sp>
      <p:pic>
        <p:nvPicPr>
          <p:cNvPr id="37" name="Image 6" descr="preencoded.png">    </p:cNvPr>
          <p:cNvPicPr>
            <a:picLocks noChangeAspect="1"/>
          </p:cNvPicPr>
          <p:nvPr/>
        </p:nvPicPr>
        <p:blipFill>
          <a:blip r:embed="rId7"/>
          <a:stretch>
            <a:fillRect/>
          </a:stretch>
        </p:blipFill>
        <p:spPr>
          <a:xfrm>
            <a:off x="666748" y="5010137"/>
            <a:ext cx="139700" cy="139700"/>
          </a:xfrm>
          <a:prstGeom prst="rect">
            <a:avLst/>
          </a:prstGeom>
        </p:spPr>
      </p:pic>
      <p:sp>
        <p:nvSpPr>
          <p:cNvPr id="38" name="Text 29"/>
          <p:cNvSpPr txBox="1"/>
          <p:nvPr/>
        </p:nvSpPr>
        <p:spPr>
          <a:xfrm>
            <a:off x="1015997"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Evaluatie per werkperiode</a:t>
            </a:r>
            <a:endParaRPr lang="en-US" sz="1200" dirty="0"/>
          </a:p>
        </p:txBody>
      </p:sp>
      <p:sp>
        <p:nvSpPr>
          <p:cNvPr id="39" name="Text 30"/>
          <p:cNvSpPr txBox="1"/>
          <p:nvPr/>
        </p:nvSpPr>
        <p:spPr>
          <a:xfrm>
            <a:off x="1015997"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Bij twijfel om tafel en bijsturen.</a:t>
            </a:r>
            <a:endParaRPr lang="en-US" sz="950" dirty="0"/>
          </a:p>
        </p:txBody>
      </p:sp>
      <p:sp>
        <p:nvSpPr>
          <p:cNvPr id="40" name="Shape 31"/>
          <p:cNvSpPr/>
          <p:nvPr/>
        </p:nvSpPr>
        <p:spPr>
          <a:xfrm>
            <a:off x="6349984" y="4851388"/>
            <a:ext cx="5232387" cy="0"/>
          </a:xfrm>
          <a:prstGeom prst="line">
            <a:avLst/>
          </a:prstGeom>
          <a:noFill/>
          <a:ln w="6350">
            <a:solidFill>
              <a:srgbClr val="C9C2B2"/>
            </a:solidFill>
            <a:prstDash val="solid"/>
          </a:ln>
        </p:spPr>
      </p:sp>
      <p:sp>
        <p:nvSpPr>
          <p:cNvPr id="41" name="Shape 32"/>
          <p:cNvSpPr/>
          <p:nvPr/>
        </p:nvSpPr>
        <p:spPr>
          <a:xfrm>
            <a:off x="6349984" y="4952988"/>
            <a:ext cx="253999" cy="253999"/>
          </a:xfrm>
          <a:prstGeom prst="roundRect">
            <a:avLst>
              <a:gd name="adj" fmla="val 25000"/>
            </a:avLst>
          </a:prstGeom>
          <a:solidFill>
            <a:srgbClr val="DDEBF3"/>
          </a:solidFill>
          <a:ln/>
        </p:spPr>
      </p:sp>
      <p:pic>
        <p:nvPicPr>
          <p:cNvPr id="42" name="Image 7" descr="preencoded.png">    </p:cNvPr>
          <p:cNvPicPr>
            <a:picLocks noChangeAspect="1"/>
          </p:cNvPicPr>
          <p:nvPr/>
        </p:nvPicPr>
        <p:blipFill>
          <a:blip r:embed="rId8"/>
          <a:stretch>
            <a:fillRect/>
          </a:stretch>
        </p:blipFill>
        <p:spPr>
          <a:xfrm>
            <a:off x="6407134" y="5010137"/>
            <a:ext cx="139700" cy="139700"/>
          </a:xfrm>
          <a:prstGeom prst="rect">
            <a:avLst/>
          </a:prstGeom>
        </p:spPr>
      </p:pic>
      <p:sp>
        <p:nvSpPr>
          <p:cNvPr id="43" name="Text 33"/>
          <p:cNvSpPr txBox="1"/>
          <p:nvPr/>
        </p:nvSpPr>
        <p:spPr>
          <a:xfrm>
            <a:off x="6756383"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Alles op papier</a:t>
            </a:r>
            <a:endParaRPr lang="en-US" sz="1200" dirty="0"/>
          </a:p>
        </p:txBody>
      </p:sp>
      <p:sp>
        <p:nvSpPr>
          <p:cNvPr id="44" name="Text 34"/>
          <p:cNvSpPr txBox="1"/>
          <p:nvPr/>
        </p:nvSpPr>
        <p:spPr>
          <a:xfrm>
            <a:off x="6756383"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korte samenwerkingsovereenkomst.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Techmetric3d</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7 / 9</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PILOTVOORSTEL TECHMETRIC3D</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12 weken, 12 gekwalificeerde afspraken.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Zoals besproken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30493"/>
            <a:ext cx="2628893" cy="2095495"/>
          </a:xfrm>
          <a:prstGeom prst="roundRect">
            <a:avLst>
              <a:gd name="adj" fmla="val 4848"/>
            </a:avLst>
          </a:prstGeom>
          <a:solidFill>
            <a:srgbClr val="1B2130"/>
          </a:solidFill>
          <a:ln w="9525">
            <a:solidFill>
              <a:srgbClr val="3A4152"/>
            </a:solidFill>
            <a:prstDash val="solid"/>
          </a:ln>
        </p:spPr>
      </p:sp>
      <p:sp>
        <p:nvSpPr>
          <p:cNvPr id="8" name="Text 6"/>
          <p:cNvSpPr txBox="1"/>
          <p:nvPr/>
        </p:nvSpPr>
        <p:spPr>
          <a:xfrm>
            <a:off x="838198" y="2959093"/>
            <a:ext cx="2171695" cy="406399"/>
          </a:xfrm>
          <a:prstGeom prst="rect">
            <a:avLst/>
          </a:prstGeom>
          <a:noFill/>
          <a:ln/>
        </p:spPr>
        <p:txBody>
          <a:bodyPr wrap="square" lIns="0" tIns="0" rIns="0" bIns="0" rtlCol="0" anchor="ctr"/>
          <a:lstStyle/>
          <a:p>
            <a:pPr indent="0" marL="0">
              <a:buNone/>
            </a:pPr>
            <a:r>
              <a:rPr lang="en-US" sz="2900" b="1" dirty="0">
                <a:solidFill>
                  <a:srgbClr val="F2EFE6"/>
                </a:solidFill>
                <a:latin typeface="Arial" pitchFamily="34" charset="0"/>
                <a:ea typeface="Arial" pitchFamily="34" charset="-122"/>
                <a:cs typeface="Arial" pitchFamily="34" charset="-120"/>
              </a:rPr>
              <a:t>3 × 4</a:t>
            </a:r>
            <a:endParaRPr lang="en-US" sz="2900" dirty="0"/>
          </a:p>
        </p:txBody>
      </p:sp>
      <p:sp>
        <p:nvSpPr>
          <p:cNvPr id="9" name="Text 7"/>
          <p:cNvSpPr txBox="1"/>
          <p:nvPr/>
        </p:nvSpPr>
        <p:spPr>
          <a:xfrm>
            <a:off x="838198" y="3441691"/>
            <a:ext cx="2171695" cy="368299"/>
          </a:xfrm>
          <a:prstGeom prst="rect">
            <a:avLst/>
          </a:prstGeom>
          <a:noFill/>
          <a:ln/>
        </p:spPr>
        <p:txBody>
          <a:bodyPr wrap="square" lIns="0" tIns="0" rIns="0" bIns="0" rtlCol="0" anchor="t"/>
          <a:lstStyle/>
          <a:p>
            <a:pPr indent="0" marL="0">
              <a:lnSpc>
                <a:spcPct val="120000"/>
              </a:lnSpc>
              <a:buNone/>
            </a:pPr>
            <a:r>
              <a:rPr lang="en-US" sz="950" b="1" spc="150" kern="0" dirty="0">
                <a:solidFill>
                  <a:srgbClr val="38B6FF"/>
                </a:solidFill>
                <a:latin typeface="Arial" pitchFamily="34" charset="0"/>
                <a:ea typeface="Arial" pitchFamily="34" charset="-122"/>
                <a:cs typeface="Arial" pitchFamily="34" charset="-120"/>
              </a:rPr>
              <a:t>WEKEN</a:t>
            </a:r>
            <a:endParaRPr lang="en-US" sz="950" dirty="0"/>
          </a:p>
        </p:txBody>
      </p:sp>
      <p:sp>
        <p:nvSpPr>
          <p:cNvPr id="10" name="Text 8"/>
          <p:cNvSpPr txBox="1"/>
          <p:nvPr/>
        </p:nvSpPr>
        <p:spPr>
          <a:xfrm>
            <a:off x="838198" y="3975090"/>
            <a:ext cx="2171695" cy="660398"/>
          </a:xfrm>
          <a:prstGeom prst="rect">
            <a:avLst/>
          </a:prstGeom>
          <a:noFill/>
          <a:ln/>
        </p:spPr>
        <p:txBody>
          <a:bodyPr wrap="square" lIns="0" tIns="0" rIns="0" bIns="0" rtlCol="0" anchor="b"/>
          <a:lstStyle/>
          <a:p>
            <a:pPr indent="0" marL="0">
              <a:lnSpc>
                <a:spcPct val="130000"/>
              </a:lnSpc>
              <a:buNone/>
            </a:pPr>
            <a:r>
              <a:rPr lang="en-US" sz="900" dirty="0">
                <a:solidFill>
                  <a:srgbClr val="C2C8D2"/>
                </a:solidFill>
                <a:latin typeface="Arial" pitchFamily="34" charset="0"/>
                <a:ea typeface="Arial" pitchFamily="34" charset="-122"/>
                <a:cs typeface="Arial" pitchFamily="34" charset="-120"/>
              </a:rPr>
              <a:t>Drie werkperiodes van vier weken</a:t>
            </a:r>
            <a:endParaRPr lang="en-US" sz="900" dirty="0"/>
          </a:p>
        </p:txBody>
      </p:sp>
      <p:sp>
        <p:nvSpPr>
          <p:cNvPr id="11" name="Shape 9"/>
          <p:cNvSpPr/>
          <p:nvPr/>
        </p:nvSpPr>
        <p:spPr>
          <a:xfrm>
            <a:off x="3390892" y="2730493"/>
            <a:ext cx="2628893" cy="2095495"/>
          </a:xfrm>
          <a:prstGeom prst="roundRect">
            <a:avLst>
              <a:gd name="adj" fmla="val 4848"/>
            </a:avLst>
          </a:prstGeom>
          <a:solidFill>
            <a:srgbClr val="1B2130"/>
          </a:solidFill>
          <a:ln w="9525">
            <a:solidFill>
              <a:srgbClr val="3A4152"/>
            </a:solidFill>
            <a:prstDash val="solid"/>
          </a:ln>
        </p:spPr>
      </p:sp>
      <p:sp>
        <p:nvSpPr>
          <p:cNvPr id="12" name="Text 10"/>
          <p:cNvSpPr txBox="1"/>
          <p:nvPr/>
        </p:nvSpPr>
        <p:spPr>
          <a:xfrm>
            <a:off x="3619491" y="2959093"/>
            <a:ext cx="2171695" cy="406399"/>
          </a:xfrm>
          <a:prstGeom prst="rect">
            <a:avLst/>
          </a:prstGeom>
          <a:noFill/>
          <a:ln/>
        </p:spPr>
        <p:txBody>
          <a:bodyPr wrap="square" lIns="0" tIns="0" rIns="0" bIns="0" rtlCol="0" anchor="ctr"/>
          <a:lstStyle/>
          <a:p>
            <a:pPr indent="0" marL="0">
              <a:buNone/>
            </a:pPr>
            <a:r>
              <a:rPr lang="en-US" sz="2900" b="1" dirty="0">
                <a:solidFill>
                  <a:srgbClr val="F2EFE6"/>
                </a:solidFill>
                <a:latin typeface="Arial" pitchFamily="34" charset="0"/>
                <a:ea typeface="Arial" pitchFamily="34" charset="-122"/>
                <a:cs typeface="Arial" pitchFamily="34" charset="-120"/>
              </a:rPr>
              <a:t>€ 1.500</a:t>
            </a:r>
            <a:endParaRPr lang="en-US" sz="2900" dirty="0"/>
          </a:p>
        </p:txBody>
      </p:sp>
      <p:sp>
        <p:nvSpPr>
          <p:cNvPr id="13" name="Text 11"/>
          <p:cNvSpPr txBox="1"/>
          <p:nvPr/>
        </p:nvSpPr>
        <p:spPr>
          <a:xfrm>
            <a:off x="3619491" y="3441691"/>
            <a:ext cx="2171695" cy="368299"/>
          </a:xfrm>
          <a:prstGeom prst="rect">
            <a:avLst/>
          </a:prstGeom>
          <a:noFill/>
          <a:ln/>
        </p:spPr>
        <p:txBody>
          <a:bodyPr wrap="square" lIns="0" tIns="0" rIns="0" bIns="0" rtlCol="0" anchor="t"/>
          <a:lstStyle/>
          <a:p>
            <a:pPr indent="0" marL="0">
              <a:lnSpc>
                <a:spcPct val="120000"/>
              </a:lnSpc>
              <a:buNone/>
            </a:pPr>
            <a:r>
              <a:rPr lang="en-US" sz="950" b="1" spc="150" kern="0" dirty="0">
                <a:solidFill>
                  <a:srgbClr val="38B6FF"/>
                </a:solidFill>
                <a:latin typeface="Arial" pitchFamily="34" charset="0"/>
                <a:ea typeface="Arial" pitchFamily="34" charset="-122"/>
                <a:cs typeface="Arial" pitchFamily="34" charset="-120"/>
              </a:rPr>
              <a:t>PER WERKPERIODE</a:t>
            </a:r>
            <a:endParaRPr lang="en-US" sz="950" dirty="0"/>
          </a:p>
        </p:txBody>
      </p:sp>
      <p:sp>
        <p:nvSpPr>
          <p:cNvPr id="14" name="Text 12"/>
          <p:cNvSpPr txBox="1"/>
          <p:nvPr/>
        </p:nvSpPr>
        <p:spPr>
          <a:xfrm>
            <a:off x="3619491" y="3975090"/>
            <a:ext cx="2171695" cy="660398"/>
          </a:xfrm>
          <a:prstGeom prst="rect">
            <a:avLst/>
          </a:prstGeom>
          <a:noFill/>
          <a:ln/>
        </p:spPr>
        <p:txBody>
          <a:bodyPr wrap="square" lIns="0" tIns="0" rIns="0" bIns="0" rtlCol="0" anchor="b"/>
          <a:lstStyle/>
          <a:p>
            <a:pPr indent="0" marL="0">
              <a:lnSpc>
                <a:spcPct val="130000"/>
              </a:lnSpc>
              <a:buNone/>
            </a:pPr>
            <a:r>
              <a:rPr lang="en-US" sz="900" dirty="0">
                <a:solidFill>
                  <a:srgbClr val="C2C8D2"/>
                </a:solidFill>
                <a:latin typeface="Arial" pitchFamily="34" charset="0"/>
                <a:ea typeface="Arial" pitchFamily="34" charset="-122"/>
                <a:cs typeface="Arial" pitchFamily="34" charset="-120"/>
              </a:rPr>
              <a:t>Excl. btw, vooraf gefactureerd</a:t>
            </a:r>
            <a:endParaRPr lang="en-US" sz="900" dirty="0"/>
          </a:p>
        </p:txBody>
      </p:sp>
      <p:sp>
        <p:nvSpPr>
          <p:cNvPr id="15" name="Shape 13"/>
          <p:cNvSpPr/>
          <p:nvPr/>
        </p:nvSpPr>
        <p:spPr>
          <a:xfrm>
            <a:off x="6172185" y="2730493"/>
            <a:ext cx="2628893" cy="2095495"/>
          </a:xfrm>
          <a:prstGeom prst="roundRect">
            <a:avLst>
              <a:gd name="adj" fmla="val 4848"/>
            </a:avLst>
          </a:prstGeom>
          <a:solidFill>
            <a:srgbClr val="1B2130"/>
          </a:solidFill>
          <a:ln w="9525">
            <a:solidFill>
              <a:srgbClr val="3A4152"/>
            </a:solidFill>
            <a:prstDash val="solid"/>
          </a:ln>
        </p:spPr>
      </p:sp>
      <p:sp>
        <p:nvSpPr>
          <p:cNvPr id="16" name="Text 14"/>
          <p:cNvSpPr txBox="1"/>
          <p:nvPr/>
        </p:nvSpPr>
        <p:spPr>
          <a:xfrm>
            <a:off x="6400784" y="2959093"/>
            <a:ext cx="2171695" cy="406399"/>
          </a:xfrm>
          <a:prstGeom prst="rect">
            <a:avLst/>
          </a:prstGeom>
          <a:noFill/>
          <a:ln/>
        </p:spPr>
        <p:txBody>
          <a:bodyPr wrap="square" lIns="0" tIns="0" rIns="0" bIns="0" rtlCol="0" anchor="ctr"/>
          <a:lstStyle/>
          <a:p>
            <a:pPr indent="0" marL="0">
              <a:buNone/>
            </a:pPr>
            <a:r>
              <a:rPr lang="en-US" sz="2900" b="1" dirty="0">
                <a:solidFill>
                  <a:srgbClr val="F2EFE6"/>
                </a:solidFill>
                <a:latin typeface="Arial" pitchFamily="34" charset="0"/>
                <a:ea typeface="Arial" pitchFamily="34" charset="-122"/>
                <a:cs typeface="Arial" pitchFamily="34" charset="-120"/>
              </a:rPr>
              <a:t>4</a:t>
            </a:r>
            <a:endParaRPr lang="en-US" sz="2900" dirty="0"/>
          </a:p>
        </p:txBody>
      </p:sp>
      <p:sp>
        <p:nvSpPr>
          <p:cNvPr id="17" name="Text 15"/>
          <p:cNvSpPr txBox="1"/>
          <p:nvPr/>
        </p:nvSpPr>
        <p:spPr>
          <a:xfrm>
            <a:off x="6400784" y="3441691"/>
            <a:ext cx="2171695" cy="368299"/>
          </a:xfrm>
          <a:prstGeom prst="rect">
            <a:avLst/>
          </a:prstGeom>
          <a:noFill/>
          <a:ln/>
        </p:spPr>
        <p:txBody>
          <a:bodyPr wrap="square" lIns="0" tIns="0" rIns="0" bIns="0" rtlCol="0" anchor="t"/>
          <a:lstStyle/>
          <a:p>
            <a:pPr indent="0" marL="0">
              <a:lnSpc>
                <a:spcPct val="120000"/>
              </a:lnSpc>
              <a:buNone/>
            </a:pPr>
            <a:r>
              <a:rPr lang="en-US" sz="950" b="1" spc="150" kern="0" dirty="0">
                <a:solidFill>
                  <a:srgbClr val="38B6FF"/>
                </a:solidFill>
                <a:latin typeface="Arial" pitchFamily="34" charset="0"/>
                <a:ea typeface="Arial" pitchFamily="34" charset="-122"/>
                <a:cs typeface="Arial" pitchFamily="34" charset="-120"/>
              </a:rPr>
              <a:t>AFSPRAKEN PER WERKPERIODE</a:t>
            </a:r>
            <a:endParaRPr lang="en-US" sz="950" dirty="0"/>
          </a:p>
        </p:txBody>
      </p:sp>
      <p:sp>
        <p:nvSpPr>
          <p:cNvPr id="18" name="Text 16"/>
          <p:cNvSpPr txBox="1"/>
          <p:nvPr/>
        </p:nvSpPr>
        <p:spPr>
          <a:xfrm>
            <a:off x="6400784" y="3975090"/>
            <a:ext cx="2171695" cy="660398"/>
          </a:xfrm>
          <a:prstGeom prst="rect">
            <a:avLst/>
          </a:prstGeom>
          <a:noFill/>
          <a:ln/>
        </p:spPr>
        <p:txBody>
          <a:bodyPr wrap="square" lIns="0" tIns="0" rIns="0" bIns="0" rtlCol="0" anchor="b"/>
          <a:lstStyle/>
          <a:p>
            <a:pPr indent="0" marL="0">
              <a:lnSpc>
                <a:spcPct val="130000"/>
              </a:lnSpc>
              <a:buNone/>
            </a:pPr>
            <a:r>
              <a:rPr lang="en-US" sz="900" dirty="0">
                <a:solidFill>
                  <a:srgbClr val="C2C8D2"/>
                </a:solidFill>
                <a:latin typeface="Arial" pitchFamily="34" charset="0"/>
                <a:ea typeface="Arial" pitchFamily="34" charset="-122"/>
                <a:cs typeface="Arial" pitchFamily="34" charset="-120"/>
              </a:rPr>
              <a:t>Gekwalificeerd volgens fit, interesse, beslisser</a:t>
            </a:r>
            <a:endParaRPr lang="en-US" sz="900" dirty="0"/>
          </a:p>
        </p:txBody>
      </p:sp>
      <p:sp>
        <p:nvSpPr>
          <p:cNvPr id="19" name="Shape 17"/>
          <p:cNvSpPr/>
          <p:nvPr/>
        </p:nvSpPr>
        <p:spPr>
          <a:xfrm>
            <a:off x="8953478" y="2730493"/>
            <a:ext cx="2628893" cy="2095495"/>
          </a:xfrm>
          <a:prstGeom prst="roundRect">
            <a:avLst>
              <a:gd name="adj" fmla="val 4848"/>
            </a:avLst>
          </a:prstGeom>
          <a:solidFill>
            <a:srgbClr val="1B2130"/>
          </a:solidFill>
          <a:ln w="15240">
            <a:solidFill>
              <a:srgbClr val="38B6FF"/>
            </a:solidFill>
            <a:prstDash val="solid"/>
          </a:ln>
        </p:spPr>
      </p:sp>
      <p:sp>
        <p:nvSpPr>
          <p:cNvPr id="20" name="Text 18"/>
          <p:cNvSpPr txBox="1"/>
          <p:nvPr/>
        </p:nvSpPr>
        <p:spPr>
          <a:xfrm>
            <a:off x="9182077" y="2959093"/>
            <a:ext cx="2171695" cy="406399"/>
          </a:xfrm>
          <a:prstGeom prst="rect">
            <a:avLst/>
          </a:prstGeom>
          <a:noFill/>
          <a:ln/>
        </p:spPr>
        <p:txBody>
          <a:bodyPr wrap="square" lIns="0" tIns="0" rIns="0" bIns="0" rtlCol="0" anchor="ctr"/>
          <a:lstStyle/>
          <a:p>
            <a:pPr indent="0" marL="0">
              <a:buNone/>
            </a:pPr>
            <a:r>
              <a:rPr lang="en-US" sz="2900" b="1" dirty="0">
                <a:solidFill>
                  <a:srgbClr val="38B6FF"/>
                </a:solidFill>
                <a:latin typeface="Arial" pitchFamily="34" charset="0"/>
                <a:ea typeface="Arial" pitchFamily="34" charset="-122"/>
                <a:cs typeface="Arial" pitchFamily="34" charset="-120"/>
              </a:rPr>
              <a:t>12</a:t>
            </a:r>
            <a:endParaRPr lang="en-US" sz="2900" dirty="0"/>
          </a:p>
        </p:txBody>
      </p:sp>
      <p:sp>
        <p:nvSpPr>
          <p:cNvPr id="21" name="Text 19"/>
          <p:cNvSpPr txBox="1"/>
          <p:nvPr/>
        </p:nvSpPr>
        <p:spPr>
          <a:xfrm>
            <a:off x="9182077" y="3441691"/>
            <a:ext cx="2171695" cy="368299"/>
          </a:xfrm>
          <a:prstGeom prst="rect">
            <a:avLst/>
          </a:prstGeom>
          <a:noFill/>
          <a:ln/>
        </p:spPr>
        <p:txBody>
          <a:bodyPr wrap="square" lIns="0" tIns="0" rIns="0" bIns="0" rtlCol="0" anchor="t"/>
          <a:lstStyle/>
          <a:p>
            <a:pPr indent="0" marL="0">
              <a:lnSpc>
                <a:spcPct val="120000"/>
              </a:lnSpc>
              <a:buNone/>
            </a:pPr>
            <a:r>
              <a:rPr lang="en-US" sz="950" b="1" spc="150" kern="0" dirty="0">
                <a:solidFill>
                  <a:srgbClr val="38B6FF"/>
                </a:solidFill>
                <a:latin typeface="Arial" pitchFamily="34" charset="0"/>
                <a:ea typeface="Arial" pitchFamily="34" charset="-122"/>
                <a:cs typeface="Arial" pitchFamily="34" charset="-120"/>
              </a:rPr>
              <a:t>AFSPRAKEN IN TOTAAL</a:t>
            </a:r>
            <a:endParaRPr lang="en-US" sz="950" dirty="0"/>
          </a:p>
        </p:txBody>
      </p:sp>
      <p:sp>
        <p:nvSpPr>
          <p:cNvPr id="22" name="Text 20"/>
          <p:cNvSpPr txBox="1"/>
          <p:nvPr/>
        </p:nvSpPr>
        <p:spPr>
          <a:xfrm>
            <a:off x="9182077" y="3975090"/>
            <a:ext cx="2171695" cy="660398"/>
          </a:xfrm>
          <a:prstGeom prst="rect">
            <a:avLst/>
          </a:prstGeom>
          <a:noFill/>
          <a:ln/>
        </p:spPr>
        <p:txBody>
          <a:bodyPr wrap="square" lIns="0" tIns="0" rIns="0" bIns="0" rtlCol="0" anchor="b"/>
          <a:lstStyle/>
          <a:p>
            <a:pPr indent="0" marL="0">
              <a:lnSpc>
                <a:spcPct val="130000"/>
              </a:lnSpc>
              <a:buNone/>
            </a:pPr>
            <a:r>
              <a:rPr lang="en-US" sz="900" dirty="0">
                <a:solidFill>
                  <a:srgbClr val="C2C8D2"/>
                </a:solidFill>
                <a:latin typeface="Arial" pitchFamily="34" charset="0"/>
                <a:ea typeface="Arial" pitchFamily="34" charset="-122"/>
                <a:cs typeface="Arial" pitchFamily="34" charset="-120"/>
              </a:rPr>
              <a:t>Werkperiodes samen € 4.500 excl. btw, dat is € 375 per gekwalificeerde afspraak. De kick-off fee van € 995 staat hier eenmalig los van.</a:t>
            </a:r>
            <a:endParaRPr lang="en-US" sz="900" dirty="0"/>
          </a:p>
        </p:txBody>
      </p:sp>
      <p:sp>
        <p:nvSpPr>
          <p:cNvPr id="23" name="Shape 21"/>
          <p:cNvSpPr/>
          <p:nvPr/>
        </p:nvSpPr>
        <p:spPr>
          <a:xfrm>
            <a:off x="609598" y="5219687"/>
            <a:ext cx="88900" cy="88900"/>
          </a:xfrm>
          <a:prstGeom prst="ellipse">
            <a:avLst/>
          </a:prstGeom>
          <a:solidFill>
            <a:srgbClr val="38B6FF"/>
          </a:solidFill>
          <a:ln/>
        </p:spPr>
      </p:sp>
      <p:sp>
        <p:nvSpPr>
          <p:cNvPr id="24" name="Shape 22"/>
          <p:cNvSpPr/>
          <p:nvPr/>
        </p:nvSpPr>
        <p:spPr>
          <a:xfrm>
            <a:off x="749298" y="5264137"/>
            <a:ext cx="2552694" cy="0"/>
          </a:xfrm>
          <a:prstGeom prst="line">
            <a:avLst/>
          </a:prstGeom>
          <a:noFill/>
          <a:ln w="9525">
            <a:solidFill>
              <a:srgbClr val="38B6FF">
                <a:alpha val="35000"/>
              </a:srgbClr>
            </a:solidFill>
            <a:prstDash val="solid"/>
          </a:ln>
        </p:spPr>
      </p:sp>
      <p:sp>
        <p:nvSpPr>
          <p:cNvPr id="25" name="Text 23"/>
          <p:cNvSpPr txBox="1"/>
          <p:nvPr/>
        </p:nvSpPr>
        <p:spPr>
          <a:xfrm>
            <a:off x="609598" y="5435586"/>
            <a:ext cx="2489194" cy="215899"/>
          </a:xfrm>
          <a:prstGeom prst="rect">
            <a:avLst/>
          </a:prstGeom>
          <a:noFill/>
          <a:ln/>
        </p:spPr>
        <p:txBody>
          <a:bodyPr wrap="square" lIns="0" tIns="0" rIns="0" bIns="0" rtlCol="0" anchor="ctr"/>
          <a:lstStyle/>
          <a:p>
            <a:pPr indent="0" marL="0">
              <a:buNone/>
            </a:pPr>
            <a:r>
              <a:rPr lang="en-US" sz="1050" b="1" dirty="0">
                <a:solidFill>
                  <a:srgbClr val="F2EFE6"/>
                </a:solidFill>
                <a:latin typeface="Arial" pitchFamily="34" charset="0"/>
                <a:ea typeface="Arial" pitchFamily="34" charset="-122"/>
                <a:cs typeface="Arial" pitchFamily="34" charset="-120"/>
              </a:rPr>
              <a:t>Kick-off</a:t>
            </a:r>
            <a:endParaRPr lang="en-US" sz="1050" dirty="0"/>
          </a:p>
        </p:txBody>
      </p:sp>
      <p:sp>
        <p:nvSpPr>
          <p:cNvPr id="26" name="Text 24"/>
          <p:cNvSpPr txBox="1"/>
          <p:nvPr/>
        </p:nvSpPr>
        <p:spPr>
          <a:xfrm>
            <a:off x="609598" y="5664186"/>
            <a:ext cx="2489194" cy="165100"/>
          </a:xfrm>
          <a:prstGeom prst="rect">
            <a:avLst/>
          </a:prstGeom>
          <a:noFill/>
          <a:ln/>
        </p:spPr>
        <p:txBody>
          <a:bodyPr wrap="square" lIns="0" tIns="0" rIns="0" bIns="0" rtlCol="0" anchor="ctr"/>
          <a:lstStyle/>
          <a:p>
            <a:pPr indent="0" marL="0">
              <a:buNone/>
            </a:pPr>
            <a:r>
              <a:rPr lang="en-US" sz="750" b="1" spc="150" kern="0" dirty="0">
                <a:solidFill>
                  <a:srgbClr val="38B6FF"/>
                </a:solidFill>
                <a:latin typeface="Arial" pitchFamily="34" charset="0"/>
                <a:ea typeface="Arial" pitchFamily="34" charset="-122"/>
                <a:cs typeface="Arial" pitchFamily="34" charset="-120"/>
              </a:rPr>
              <a:t>2 WEKEN · EENMALIG € 995</a:t>
            </a:r>
            <a:endParaRPr lang="en-US" sz="750" dirty="0"/>
          </a:p>
        </p:txBody>
      </p:sp>
      <p:sp>
        <p:nvSpPr>
          <p:cNvPr id="27" name="Text 25"/>
          <p:cNvSpPr txBox="1"/>
          <p:nvPr/>
        </p:nvSpPr>
        <p:spPr>
          <a:xfrm>
            <a:off x="609598" y="5854685"/>
            <a:ext cx="2489194" cy="380999"/>
          </a:xfrm>
          <a:prstGeom prst="rect">
            <a:avLst/>
          </a:prstGeom>
          <a:noFill/>
          <a:ln/>
        </p:spPr>
        <p:txBody>
          <a:bodyPr wrap="square" lIns="0" tIns="0" rIns="0" bIns="0" rtlCol="0" anchor="t"/>
          <a:lstStyle/>
          <a:p>
            <a:pPr indent="0" marL="0">
              <a:lnSpc>
                <a:spcPct val="125000"/>
              </a:lnSpc>
              <a:buNone/>
            </a:pPr>
            <a:r>
              <a:rPr lang="en-US" sz="850" dirty="0">
                <a:solidFill>
                  <a:srgbClr val="C2C8D2"/>
                </a:solidFill>
                <a:latin typeface="Arial" pitchFamily="34" charset="0"/>
                <a:ea typeface="Arial" pitchFamily="34" charset="-122"/>
                <a:cs typeface="Arial" pitchFamily="34" charset="-120"/>
              </a:rPr>
              <a:t>Doelgroep, USP's, lijst, uitsluitingen</a:t>
            </a:r>
            <a:endParaRPr lang="en-US" sz="850" dirty="0"/>
          </a:p>
        </p:txBody>
      </p:sp>
      <p:sp>
        <p:nvSpPr>
          <p:cNvPr id="28" name="Shape 26"/>
          <p:cNvSpPr/>
          <p:nvPr/>
        </p:nvSpPr>
        <p:spPr>
          <a:xfrm>
            <a:off x="3352792" y="5219687"/>
            <a:ext cx="88900" cy="88900"/>
          </a:xfrm>
          <a:prstGeom prst="ellipse">
            <a:avLst/>
          </a:prstGeom>
          <a:solidFill>
            <a:srgbClr val="38B6FF"/>
          </a:solidFill>
          <a:ln/>
        </p:spPr>
      </p:sp>
      <p:sp>
        <p:nvSpPr>
          <p:cNvPr id="29" name="Shape 27"/>
          <p:cNvSpPr/>
          <p:nvPr/>
        </p:nvSpPr>
        <p:spPr>
          <a:xfrm>
            <a:off x="3492491" y="5264137"/>
            <a:ext cx="2552694" cy="0"/>
          </a:xfrm>
          <a:prstGeom prst="line">
            <a:avLst/>
          </a:prstGeom>
          <a:noFill/>
          <a:ln w="9525">
            <a:solidFill>
              <a:srgbClr val="38B6FF">
                <a:alpha val="35000"/>
              </a:srgbClr>
            </a:solidFill>
            <a:prstDash val="solid"/>
          </a:ln>
        </p:spPr>
      </p:sp>
      <p:sp>
        <p:nvSpPr>
          <p:cNvPr id="30" name="Text 28"/>
          <p:cNvSpPr txBox="1"/>
          <p:nvPr/>
        </p:nvSpPr>
        <p:spPr>
          <a:xfrm>
            <a:off x="3352792" y="5435586"/>
            <a:ext cx="2489194" cy="215899"/>
          </a:xfrm>
          <a:prstGeom prst="rect">
            <a:avLst/>
          </a:prstGeom>
          <a:noFill/>
          <a:ln/>
        </p:spPr>
        <p:txBody>
          <a:bodyPr wrap="square" lIns="0" tIns="0" rIns="0" bIns="0" rtlCol="0" anchor="ctr"/>
          <a:lstStyle/>
          <a:p>
            <a:pPr indent="0" marL="0">
              <a:buNone/>
            </a:pPr>
            <a:r>
              <a:rPr lang="en-US" sz="1050" b="1" dirty="0">
                <a:solidFill>
                  <a:srgbClr val="F2EFE6"/>
                </a:solidFill>
                <a:latin typeface="Arial" pitchFamily="34" charset="0"/>
                <a:ea typeface="Arial" pitchFamily="34" charset="-122"/>
                <a:cs typeface="Arial" pitchFamily="34" charset="-120"/>
              </a:rPr>
              <a:t>Werkperiode 1</a:t>
            </a:r>
            <a:endParaRPr lang="en-US" sz="1050" dirty="0"/>
          </a:p>
        </p:txBody>
      </p:sp>
      <p:sp>
        <p:nvSpPr>
          <p:cNvPr id="31" name="Text 29"/>
          <p:cNvSpPr txBox="1"/>
          <p:nvPr/>
        </p:nvSpPr>
        <p:spPr>
          <a:xfrm>
            <a:off x="3352792" y="5664186"/>
            <a:ext cx="2489194" cy="165100"/>
          </a:xfrm>
          <a:prstGeom prst="rect">
            <a:avLst/>
          </a:prstGeom>
          <a:noFill/>
          <a:ln/>
        </p:spPr>
        <p:txBody>
          <a:bodyPr wrap="square" lIns="0" tIns="0" rIns="0" bIns="0" rtlCol="0" anchor="ctr"/>
          <a:lstStyle/>
          <a:p>
            <a:pPr indent="0" marL="0">
              <a:buNone/>
            </a:pPr>
            <a:r>
              <a:rPr lang="en-US" sz="750" b="1" spc="150" kern="0" dirty="0">
                <a:solidFill>
                  <a:srgbClr val="38B6FF"/>
                </a:solidFill>
                <a:latin typeface="Arial" pitchFamily="34" charset="0"/>
                <a:ea typeface="Arial" pitchFamily="34" charset="-122"/>
                <a:cs typeface="Arial" pitchFamily="34" charset="-120"/>
              </a:rPr>
              <a:t>WEEK 1 T/M 4</a:t>
            </a:r>
            <a:endParaRPr lang="en-US" sz="750" dirty="0"/>
          </a:p>
        </p:txBody>
      </p:sp>
      <p:sp>
        <p:nvSpPr>
          <p:cNvPr id="32" name="Text 30"/>
          <p:cNvSpPr txBox="1"/>
          <p:nvPr/>
        </p:nvSpPr>
        <p:spPr>
          <a:xfrm>
            <a:off x="3352792" y="5854685"/>
            <a:ext cx="2489194" cy="380999"/>
          </a:xfrm>
          <a:prstGeom prst="rect">
            <a:avLst/>
          </a:prstGeom>
          <a:noFill/>
          <a:ln/>
        </p:spPr>
        <p:txBody>
          <a:bodyPr wrap="square" lIns="0" tIns="0" rIns="0" bIns="0" rtlCol="0" anchor="t"/>
          <a:lstStyle/>
          <a:p>
            <a:pPr indent="0" marL="0">
              <a:lnSpc>
                <a:spcPct val="125000"/>
              </a:lnSpc>
              <a:buNone/>
            </a:pPr>
            <a:r>
              <a:rPr lang="en-US" sz="850" dirty="0">
                <a:solidFill>
                  <a:srgbClr val="C2C8D2"/>
                </a:solidFill>
                <a:latin typeface="Arial" pitchFamily="34" charset="0"/>
                <a:ea typeface="Arial" pitchFamily="34" charset="-122"/>
                <a:cs typeface="Arial" pitchFamily="34" charset="-120"/>
              </a:rPr>
              <a:t>Belstart, eerste afspraken, eerste rapportages</a:t>
            </a:r>
            <a:endParaRPr lang="en-US" sz="850" dirty="0"/>
          </a:p>
        </p:txBody>
      </p:sp>
      <p:sp>
        <p:nvSpPr>
          <p:cNvPr id="33" name="Shape 31"/>
          <p:cNvSpPr/>
          <p:nvPr/>
        </p:nvSpPr>
        <p:spPr>
          <a:xfrm>
            <a:off x="6095985" y="5219687"/>
            <a:ext cx="88900" cy="88900"/>
          </a:xfrm>
          <a:prstGeom prst="ellipse">
            <a:avLst/>
          </a:prstGeom>
          <a:solidFill>
            <a:srgbClr val="38B6FF"/>
          </a:solidFill>
          <a:ln/>
        </p:spPr>
      </p:sp>
      <p:sp>
        <p:nvSpPr>
          <p:cNvPr id="34" name="Shape 32"/>
          <p:cNvSpPr/>
          <p:nvPr/>
        </p:nvSpPr>
        <p:spPr>
          <a:xfrm>
            <a:off x="6235684" y="5264137"/>
            <a:ext cx="2552694" cy="0"/>
          </a:xfrm>
          <a:prstGeom prst="line">
            <a:avLst/>
          </a:prstGeom>
          <a:noFill/>
          <a:ln w="9525">
            <a:solidFill>
              <a:srgbClr val="38B6FF">
                <a:alpha val="35000"/>
              </a:srgbClr>
            </a:solidFill>
            <a:prstDash val="solid"/>
          </a:ln>
        </p:spPr>
      </p:sp>
      <p:sp>
        <p:nvSpPr>
          <p:cNvPr id="35" name="Text 33"/>
          <p:cNvSpPr txBox="1"/>
          <p:nvPr/>
        </p:nvSpPr>
        <p:spPr>
          <a:xfrm>
            <a:off x="6095985" y="5435586"/>
            <a:ext cx="2489194" cy="215899"/>
          </a:xfrm>
          <a:prstGeom prst="rect">
            <a:avLst/>
          </a:prstGeom>
          <a:noFill/>
          <a:ln/>
        </p:spPr>
        <p:txBody>
          <a:bodyPr wrap="square" lIns="0" tIns="0" rIns="0" bIns="0" rtlCol="0" anchor="ctr"/>
          <a:lstStyle/>
          <a:p>
            <a:pPr indent="0" marL="0">
              <a:buNone/>
            </a:pPr>
            <a:r>
              <a:rPr lang="en-US" sz="1050" b="1" dirty="0">
                <a:solidFill>
                  <a:srgbClr val="F2EFE6"/>
                </a:solidFill>
                <a:latin typeface="Arial" pitchFamily="34" charset="0"/>
                <a:ea typeface="Arial" pitchFamily="34" charset="-122"/>
                <a:cs typeface="Arial" pitchFamily="34" charset="-120"/>
              </a:rPr>
              <a:t>Werkperiode 2</a:t>
            </a:r>
            <a:endParaRPr lang="en-US" sz="1050" dirty="0"/>
          </a:p>
        </p:txBody>
      </p:sp>
      <p:sp>
        <p:nvSpPr>
          <p:cNvPr id="36" name="Text 34"/>
          <p:cNvSpPr txBox="1"/>
          <p:nvPr/>
        </p:nvSpPr>
        <p:spPr>
          <a:xfrm>
            <a:off x="6095985" y="5664186"/>
            <a:ext cx="2489194" cy="165100"/>
          </a:xfrm>
          <a:prstGeom prst="rect">
            <a:avLst/>
          </a:prstGeom>
          <a:noFill/>
          <a:ln/>
        </p:spPr>
        <p:txBody>
          <a:bodyPr wrap="square" lIns="0" tIns="0" rIns="0" bIns="0" rtlCol="0" anchor="ctr"/>
          <a:lstStyle/>
          <a:p>
            <a:pPr indent="0" marL="0">
              <a:buNone/>
            </a:pPr>
            <a:r>
              <a:rPr lang="en-US" sz="750" b="1" spc="150" kern="0" dirty="0">
                <a:solidFill>
                  <a:srgbClr val="38B6FF"/>
                </a:solidFill>
                <a:latin typeface="Arial" pitchFamily="34" charset="0"/>
                <a:ea typeface="Arial" pitchFamily="34" charset="-122"/>
                <a:cs typeface="Arial" pitchFamily="34" charset="-120"/>
              </a:rPr>
              <a:t>WEEK 5 T/M 8</a:t>
            </a:r>
            <a:endParaRPr lang="en-US" sz="750" dirty="0"/>
          </a:p>
        </p:txBody>
      </p:sp>
      <p:sp>
        <p:nvSpPr>
          <p:cNvPr id="37" name="Text 35"/>
          <p:cNvSpPr txBox="1"/>
          <p:nvPr/>
        </p:nvSpPr>
        <p:spPr>
          <a:xfrm>
            <a:off x="6095985" y="5854685"/>
            <a:ext cx="2489194" cy="380999"/>
          </a:xfrm>
          <a:prstGeom prst="rect">
            <a:avLst/>
          </a:prstGeom>
          <a:noFill/>
          <a:ln/>
        </p:spPr>
        <p:txBody>
          <a:bodyPr wrap="square" lIns="0" tIns="0" rIns="0" bIns="0" rtlCol="0" anchor="t"/>
          <a:lstStyle/>
          <a:p>
            <a:pPr indent="0" marL="0">
              <a:lnSpc>
                <a:spcPct val="125000"/>
              </a:lnSpc>
              <a:buNone/>
            </a:pPr>
            <a:r>
              <a:rPr lang="en-US" sz="850" dirty="0">
                <a:solidFill>
                  <a:srgbClr val="C2C8D2"/>
                </a:solidFill>
                <a:latin typeface="Arial" pitchFamily="34" charset="0"/>
                <a:ea typeface="Arial" pitchFamily="34" charset="-122"/>
                <a:cs typeface="Arial" pitchFamily="34" charset="-120"/>
              </a:rPr>
              <a:t>Tussentijdse evaluatie</a:t>
            </a:r>
            <a:endParaRPr lang="en-US" sz="850" dirty="0"/>
          </a:p>
        </p:txBody>
      </p:sp>
      <p:sp>
        <p:nvSpPr>
          <p:cNvPr id="38" name="Shape 36"/>
          <p:cNvSpPr/>
          <p:nvPr/>
        </p:nvSpPr>
        <p:spPr>
          <a:xfrm>
            <a:off x="8839178" y="5219687"/>
            <a:ext cx="88900" cy="88900"/>
          </a:xfrm>
          <a:prstGeom prst="ellipse">
            <a:avLst/>
          </a:prstGeom>
          <a:solidFill>
            <a:srgbClr val="38B6FF"/>
          </a:solidFill>
          <a:ln/>
        </p:spPr>
      </p:sp>
      <p:sp>
        <p:nvSpPr>
          <p:cNvPr id="39" name="Text 37"/>
          <p:cNvSpPr txBox="1"/>
          <p:nvPr/>
        </p:nvSpPr>
        <p:spPr>
          <a:xfrm>
            <a:off x="8839178" y="5435586"/>
            <a:ext cx="2489194" cy="215899"/>
          </a:xfrm>
          <a:prstGeom prst="rect">
            <a:avLst/>
          </a:prstGeom>
          <a:noFill/>
          <a:ln/>
        </p:spPr>
        <p:txBody>
          <a:bodyPr wrap="square" lIns="0" tIns="0" rIns="0" bIns="0" rtlCol="0" anchor="ctr"/>
          <a:lstStyle/>
          <a:p>
            <a:pPr indent="0" marL="0">
              <a:buNone/>
            </a:pPr>
            <a:r>
              <a:rPr lang="en-US" sz="1050" b="1" dirty="0">
                <a:solidFill>
                  <a:srgbClr val="F2EFE6"/>
                </a:solidFill>
                <a:latin typeface="Arial" pitchFamily="34" charset="0"/>
                <a:ea typeface="Arial" pitchFamily="34" charset="-122"/>
                <a:cs typeface="Arial" pitchFamily="34" charset="-120"/>
              </a:rPr>
              <a:t>Werkperiode 3</a:t>
            </a:r>
            <a:endParaRPr lang="en-US" sz="1050" dirty="0"/>
          </a:p>
        </p:txBody>
      </p:sp>
      <p:sp>
        <p:nvSpPr>
          <p:cNvPr id="40" name="Text 38"/>
          <p:cNvSpPr txBox="1"/>
          <p:nvPr/>
        </p:nvSpPr>
        <p:spPr>
          <a:xfrm>
            <a:off x="8839178" y="5664186"/>
            <a:ext cx="2489194" cy="165100"/>
          </a:xfrm>
          <a:prstGeom prst="rect">
            <a:avLst/>
          </a:prstGeom>
          <a:noFill/>
          <a:ln/>
        </p:spPr>
        <p:txBody>
          <a:bodyPr wrap="square" lIns="0" tIns="0" rIns="0" bIns="0" rtlCol="0" anchor="ctr"/>
          <a:lstStyle/>
          <a:p>
            <a:pPr indent="0" marL="0">
              <a:buNone/>
            </a:pPr>
            <a:r>
              <a:rPr lang="en-US" sz="750" b="1" spc="150" kern="0" dirty="0">
                <a:solidFill>
                  <a:srgbClr val="38B6FF"/>
                </a:solidFill>
                <a:latin typeface="Arial" pitchFamily="34" charset="0"/>
                <a:ea typeface="Arial" pitchFamily="34" charset="-122"/>
                <a:cs typeface="Arial" pitchFamily="34" charset="-120"/>
              </a:rPr>
              <a:t>WEEK 9 T/M 12</a:t>
            </a:r>
            <a:endParaRPr lang="en-US" sz="750" dirty="0"/>
          </a:p>
        </p:txBody>
      </p:sp>
      <p:sp>
        <p:nvSpPr>
          <p:cNvPr id="41" name="Text 39"/>
          <p:cNvSpPr txBox="1"/>
          <p:nvPr/>
        </p:nvSpPr>
        <p:spPr>
          <a:xfrm>
            <a:off x="8839178" y="5854685"/>
            <a:ext cx="2489194" cy="380999"/>
          </a:xfrm>
          <a:prstGeom prst="rect">
            <a:avLst/>
          </a:prstGeom>
          <a:noFill/>
          <a:ln/>
        </p:spPr>
        <p:txBody>
          <a:bodyPr wrap="square" lIns="0" tIns="0" rIns="0" bIns="0" rtlCol="0" anchor="t"/>
          <a:lstStyle/>
          <a:p>
            <a:pPr indent="0" marL="0">
              <a:lnSpc>
                <a:spcPct val="125000"/>
              </a:lnSpc>
              <a:buNone/>
            </a:pPr>
            <a:r>
              <a:rPr lang="en-US" sz="850" dirty="0">
                <a:solidFill>
                  <a:srgbClr val="C2C8D2"/>
                </a:solidFill>
                <a:latin typeface="Arial" pitchFamily="34" charset="0"/>
                <a:ea typeface="Arial" pitchFamily="34" charset="-122"/>
                <a:cs typeface="Arial" pitchFamily="34" charset="-120"/>
              </a:rPr>
              <a:t>Eindevaluatie en besluit over vervolg</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Techmetric3d</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8 / 9</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WE VAN TECHMETRIC3D NODIG HEBBEN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Een halve dag van jullie, dan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draaien wij</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5397487" cy="1530346"/>
          </a:xfrm>
          <a:prstGeom prst="roundRect">
            <a:avLst>
              <a:gd name="adj" fmla="val 6639"/>
            </a:avLst>
          </a:prstGeom>
          <a:solidFill>
            <a:srgbClr val="F8F4EB"/>
          </a:solidFill>
          <a:ln/>
        </p:spPr>
      </p:sp>
      <p:sp>
        <p:nvSpPr>
          <p:cNvPr id="8" name="Shape 6"/>
          <p:cNvSpPr/>
          <p:nvPr/>
        </p:nvSpPr>
        <p:spPr>
          <a:xfrm>
            <a:off x="939798" y="30987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35047" y="3194042"/>
            <a:ext cx="190500" cy="190500"/>
          </a:xfrm>
          <a:prstGeom prst="rect">
            <a:avLst/>
          </a:prstGeom>
        </p:spPr>
      </p:pic>
      <p:sp>
        <p:nvSpPr>
          <p:cNvPr id="10" name="Text 7"/>
          <p:cNvSpPr txBox="1"/>
          <p:nvPr/>
        </p:nvSpPr>
        <p:spPr>
          <a:xfrm>
            <a:off x="1549396"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Kick-off sessie</a:t>
            </a:r>
            <a:endParaRPr lang="en-US" sz="1450" dirty="0"/>
          </a:p>
        </p:txBody>
      </p:sp>
      <p:sp>
        <p:nvSpPr>
          <p:cNvPr id="11" name="Text 8"/>
          <p:cNvSpPr txBox="1"/>
          <p:nvPr/>
        </p:nvSpPr>
        <p:spPr>
          <a:xfrm>
            <a:off x="1549396"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Anderhalf tot twee uur met Bart en degene die de afspraken gaat voeren.</a:t>
            </a:r>
            <a:endParaRPr lang="en-US" sz="1050" dirty="0"/>
          </a:p>
        </p:txBody>
      </p:sp>
      <p:sp>
        <p:nvSpPr>
          <p:cNvPr id="12" name="Shape 9"/>
          <p:cNvSpPr/>
          <p:nvPr/>
        </p:nvSpPr>
        <p:spPr>
          <a:xfrm>
            <a:off x="6184885" y="2793993"/>
            <a:ext cx="5397487" cy="1530346"/>
          </a:xfrm>
          <a:prstGeom prst="roundRect">
            <a:avLst>
              <a:gd name="adj" fmla="val 6639"/>
            </a:avLst>
          </a:prstGeom>
          <a:solidFill>
            <a:srgbClr val="F8F4EB"/>
          </a:solidFill>
          <a:ln/>
        </p:spPr>
      </p:sp>
      <p:sp>
        <p:nvSpPr>
          <p:cNvPr id="13" name="Shape 10"/>
          <p:cNvSpPr/>
          <p:nvPr/>
        </p:nvSpPr>
        <p:spPr>
          <a:xfrm>
            <a:off x="6515084" y="30987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6610333" y="3194042"/>
            <a:ext cx="190500" cy="190500"/>
          </a:xfrm>
          <a:prstGeom prst="rect">
            <a:avLst/>
          </a:prstGeom>
        </p:spPr>
      </p:pic>
      <p:sp>
        <p:nvSpPr>
          <p:cNvPr id="15" name="Text 11"/>
          <p:cNvSpPr txBox="1"/>
          <p:nvPr/>
        </p:nvSpPr>
        <p:spPr>
          <a:xfrm>
            <a:off x="7124682"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Uitsluitlijst</a:t>
            </a:r>
            <a:endParaRPr lang="en-US" sz="1450" dirty="0"/>
          </a:p>
        </p:txBody>
      </p:sp>
      <p:sp>
        <p:nvSpPr>
          <p:cNvPr id="16" name="Text 12"/>
          <p:cNvSpPr txBox="1"/>
          <p:nvPr/>
        </p:nvSpPr>
        <p:spPr>
          <a:xfrm>
            <a:off x="7124682"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Bestaande klanten, lopende gesprekken en bedrijven die we niet mogen benaderen.</a:t>
            </a:r>
            <a:endParaRPr lang="en-US" sz="1050" dirty="0"/>
          </a:p>
        </p:txBody>
      </p:sp>
      <p:sp>
        <p:nvSpPr>
          <p:cNvPr id="17" name="Shape 13"/>
          <p:cNvSpPr/>
          <p:nvPr/>
        </p:nvSpPr>
        <p:spPr>
          <a:xfrm>
            <a:off x="609598" y="4502139"/>
            <a:ext cx="5397487" cy="1530346"/>
          </a:xfrm>
          <a:prstGeom prst="roundRect">
            <a:avLst>
              <a:gd name="adj" fmla="val 6639"/>
            </a:avLst>
          </a:prstGeom>
          <a:solidFill>
            <a:srgbClr val="F8F4EB"/>
          </a:solidFill>
          <a:ln/>
        </p:spPr>
      </p:sp>
      <p:sp>
        <p:nvSpPr>
          <p:cNvPr id="18" name="Shape 14"/>
          <p:cNvSpPr/>
          <p:nvPr/>
        </p:nvSpPr>
        <p:spPr>
          <a:xfrm>
            <a:off x="939798" y="4806938"/>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1035047" y="4902188"/>
            <a:ext cx="190500" cy="190500"/>
          </a:xfrm>
          <a:prstGeom prst="rect">
            <a:avLst/>
          </a:prstGeom>
        </p:spPr>
      </p:pic>
      <p:sp>
        <p:nvSpPr>
          <p:cNvPr id="20" name="Text 15"/>
          <p:cNvSpPr txBox="1"/>
          <p:nvPr/>
        </p:nvSpPr>
        <p:spPr>
          <a:xfrm>
            <a:off x="1549396"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Goedkeuring USP's en mails</a:t>
            </a:r>
            <a:endParaRPr lang="en-US" sz="1450" dirty="0"/>
          </a:p>
        </p:txBody>
      </p:sp>
      <p:sp>
        <p:nvSpPr>
          <p:cNvPr id="21" name="Text 16"/>
          <p:cNvSpPr txBox="1"/>
          <p:nvPr/>
        </p:nvSpPr>
        <p:spPr>
          <a:xfrm>
            <a:off x="1549396"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Wij schrijven, jullie lezen mee en keuren goed.</a:t>
            </a:r>
            <a:endParaRPr lang="en-US" sz="1050" dirty="0"/>
          </a:p>
        </p:txBody>
      </p:sp>
      <p:sp>
        <p:nvSpPr>
          <p:cNvPr id="22" name="Shape 17"/>
          <p:cNvSpPr/>
          <p:nvPr/>
        </p:nvSpPr>
        <p:spPr>
          <a:xfrm>
            <a:off x="6184885" y="4502139"/>
            <a:ext cx="5397487" cy="1530346"/>
          </a:xfrm>
          <a:prstGeom prst="roundRect">
            <a:avLst>
              <a:gd name="adj" fmla="val 6639"/>
            </a:avLst>
          </a:prstGeom>
          <a:solidFill>
            <a:srgbClr val="F8F4EB"/>
          </a:solidFill>
          <a:ln/>
        </p:spPr>
      </p:sp>
      <p:sp>
        <p:nvSpPr>
          <p:cNvPr id="23" name="Shape 18"/>
          <p:cNvSpPr/>
          <p:nvPr/>
        </p:nvSpPr>
        <p:spPr>
          <a:xfrm>
            <a:off x="6515084" y="4806938"/>
            <a:ext cx="380999" cy="380999"/>
          </a:xfrm>
          <a:prstGeom prst="roundRect">
            <a:avLst>
              <a:gd name="adj" fmla="val 23333"/>
            </a:avLst>
          </a:prstGeom>
          <a:solidFill>
            <a:srgbClr val="DDEBF3"/>
          </a:solidFill>
          <a:ln/>
        </p:spPr>
      </p:sp>
      <p:pic>
        <p:nvPicPr>
          <p:cNvPr id="24" name="Image 3" descr="preencoded.png">    </p:cNvPr>
          <p:cNvPicPr>
            <a:picLocks noChangeAspect="1"/>
          </p:cNvPicPr>
          <p:nvPr/>
        </p:nvPicPr>
        <p:blipFill>
          <a:blip r:embed="rId4"/>
          <a:stretch>
            <a:fillRect/>
          </a:stretch>
        </p:blipFill>
        <p:spPr>
          <a:xfrm>
            <a:off x="6610333" y="4902188"/>
            <a:ext cx="190500" cy="190500"/>
          </a:xfrm>
          <a:prstGeom prst="rect">
            <a:avLst/>
          </a:prstGeom>
        </p:spPr>
      </p:pic>
      <p:sp>
        <p:nvSpPr>
          <p:cNvPr id="25" name="Text 19"/>
          <p:cNvSpPr txBox="1"/>
          <p:nvPr/>
        </p:nvSpPr>
        <p:spPr>
          <a:xfrm>
            <a:off x="7124682"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Opvolging van afspraken</a:t>
            </a:r>
            <a:endParaRPr lang="en-US" sz="1450" dirty="0"/>
          </a:p>
        </p:txBody>
      </p:sp>
      <p:sp>
        <p:nvSpPr>
          <p:cNvPr id="26" name="Text 20"/>
          <p:cNvSpPr txBox="1"/>
          <p:nvPr/>
        </p:nvSpPr>
        <p:spPr>
          <a:xfrm>
            <a:off x="7124682"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Eén vaste persoon bij Techmetric3d die de afspraken voert en ons kort laat weten hoe ze verliepen.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Techmetric3d</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9 / 9</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VOLGENDE STAP</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Akkoord op de pilot? Dan plannen we de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kick-off</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920993"/>
            <a:ext cx="304799" cy="304799"/>
          </a:xfrm>
          <a:prstGeom prst="ellipse">
            <a:avLst/>
          </a:prstGeom>
          <a:ln w="15240">
            <a:solidFill>
              <a:srgbClr val="38B6FF"/>
            </a:solidFill>
            <a:prstDash val="solid"/>
          </a:ln>
        </p:spPr>
      </p:sp>
      <p:sp>
        <p:nvSpPr>
          <p:cNvPr id="8" name="Text 6"/>
          <p:cNvSpPr txBox="1"/>
          <p:nvPr/>
        </p:nvSpPr>
        <p:spPr>
          <a:xfrm>
            <a:off x="609598" y="29209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Text 7"/>
          <p:cNvSpPr txBox="1"/>
          <p:nvPr/>
        </p:nvSpPr>
        <p:spPr>
          <a:xfrm>
            <a:off x="1117597" y="2908293"/>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Akkoord</a:t>
            </a:r>
            <a:endParaRPr lang="en-US" sz="1450" dirty="0"/>
          </a:p>
        </p:txBody>
      </p:sp>
      <p:sp>
        <p:nvSpPr>
          <p:cNvPr id="10" name="Text 8"/>
          <p:cNvSpPr txBox="1"/>
          <p:nvPr/>
        </p:nvSpPr>
        <p:spPr>
          <a:xfrm>
            <a:off x="1117597" y="3200392"/>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Bart geeft akkoord op het pilotvoorstel.</a:t>
            </a:r>
            <a:endParaRPr lang="en-US" sz="1100" dirty="0"/>
          </a:p>
        </p:txBody>
      </p:sp>
      <p:sp>
        <p:nvSpPr>
          <p:cNvPr id="11" name="Shape 9"/>
          <p:cNvSpPr/>
          <p:nvPr/>
        </p:nvSpPr>
        <p:spPr>
          <a:xfrm>
            <a:off x="609598" y="3809990"/>
            <a:ext cx="304799" cy="304799"/>
          </a:xfrm>
          <a:prstGeom prst="ellipse">
            <a:avLst/>
          </a:prstGeom>
          <a:ln w="15240">
            <a:solidFill>
              <a:srgbClr val="38B6FF"/>
            </a:solidFill>
            <a:prstDash val="solid"/>
          </a:ln>
        </p:spPr>
      </p:sp>
      <p:sp>
        <p:nvSpPr>
          <p:cNvPr id="12" name="Text 10"/>
          <p:cNvSpPr txBox="1"/>
          <p:nvPr/>
        </p:nvSpPr>
        <p:spPr>
          <a:xfrm>
            <a:off x="609598" y="3809990"/>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3" name="Text 11"/>
          <p:cNvSpPr txBox="1"/>
          <p:nvPr/>
        </p:nvSpPr>
        <p:spPr>
          <a:xfrm>
            <a:off x="1117597" y="3797291"/>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Overeenkomsten</a:t>
            </a:r>
            <a:endParaRPr lang="en-US" sz="1450" dirty="0"/>
          </a:p>
        </p:txBody>
      </p:sp>
      <p:sp>
        <p:nvSpPr>
          <p:cNvPr id="14" name="Text 12"/>
          <p:cNvSpPr txBox="1"/>
          <p:nvPr/>
        </p:nvSpPr>
        <p:spPr>
          <a:xfrm>
            <a:off x="1117597" y="4089390"/>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LINK. stuurt de samenwerkingsovereenkomst en de verwerkersovereenkomst.</a:t>
            </a:r>
            <a:endParaRPr lang="en-US" sz="1100" dirty="0"/>
          </a:p>
        </p:txBody>
      </p:sp>
      <p:sp>
        <p:nvSpPr>
          <p:cNvPr id="15" name="Shape 13"/>
          <p:cNvSpPr/>
          <p:nvPr/>
        </p:nvSpPr>
        <p:spPr>
          <a:xfrm>
            <a:off x="609598" y="4698988"/>
            <a:ext cx="304799" cy="304799"/>
          </a:xfrm>
          <a:prstGeom prst="ellipse">
            <a:avLst/>
          </a:prstGeom>
          <a:ln w="15240">
            <a:solidFill>
              <a:srgbClr val="38B6FF"/>
            </a:solidFill>
            <a:prstDash val="solid"/>
          </a:ln>
        </p:spPr>
      </p:sp>
      <p:sp>
        <p:nvSpPr>
          <p:cNvPr id="16" name="Text 14"/>
          <p:cNvSpPr txBox="1"/>
          <p:nvPr/>
        </p:nvSpPr>
        <p:spPr>
          <a:xfrm>
            <a:off x="609598" y="4698988"/>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7" name="Text 15"/>
          <p:cNvSpPr txBox="1"/>
          <p:nvPr/>
        </p:nvSpPr>
        <p:spPr>
          <a:xfrm>
            <a:off x="1117597" y="4686288"/>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Kick-off</a:t>
            </a:r>
            <a:endParaRPr lang="en-US" sz="1450" dirty="0"/>
          </a:p>
        </p:txBody>
      </p:sp>
      <p:sp>
        <p:nvSpPr>
          <p:cNvPr id="18" name="Text 16"/>
          <p:cNvSpPr txBox="1"/>
          <p:nvPr/>
        </p:nvSpPr>
        <p:spPr>
          <a:xfrm>
            <a:off x="1117597" y="4978388"/>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We plannen de kick-off en de belstart.</a:t>
            </a:r>
            <a:endParaRPr lang="en-US" sz="1100" dirty="0"/>
          </a:p>
        </p:txBody>
      </p:sp>
      <p:sp>
        <p:nvSpPr>
          <p:cNvPr id="19" name="Shape 17"/>
          <p:cNvSpPr/>
          <p:nvPr/>
        </p:nvSpPr>
        <p:spPr>
          <a:xfrm>
            <a:off x="7645381" y="2920993"/>
            <a:ext cx="3936990" cy="2666993"/>
          </a:xfrm>
          <a:prstGeom prst="roundRect">
            <a:avLst>
              <a:gd name="adj" fmla="val 3810"/>
            </a:avLst>
          </a:prstGeom>
          <a:solidFill>
            <a:srgbClr val="1B2130"/>
          </a:solidFill>
          <a:ln w="9525">
            <a:solidFill>
              <a:srgbClr val="3A4152"/>
            </a:solidFill>
            <a:prstDash val="solid"/>
          </a:ln>
        </p:spPr>
      </p:sp>
      <p:sp>
        <p:nvSpPr>
          <p:cNvPr id="20" name="Text 18"/>
          <p:cNvSpPr txBox="1"/>
          <p:nvPr/>
        </p:nvSpPr>
        <p:spPr>
          <a:xfrm>
            <a:off x="8000980" y="3251192"/>
            <a:ext cx="3225792" cy="355599"/>
          </a:xfrm>
          <a:prstGeom prst="rect">
            <a:avLst/>
          </a:prstGeom>
          <a:noFill/>
          <a:ln/>
        </p:spPr>
        <p:txBody>
          <a:bodyPr wrap="square" lIns="0" tIns="0" rIns="0" bIns="0" rtlCol="0" anchor="ctr"/>
          <a:lstStyle/>
          <a:p>
            <a:pPr indent="0" marL="0">
              <a:buNone/>
            </a:pPr>
            <a:r>
              <a:rPr lang="en-US" sz="2000" b="1" dirty="0">
                <a:solidFill>
                  <a:srgbClr val="F2EFE6"/>
                </a:solidFill>
                <a:latin typeface="Arial" pitchFamily="34" charset="0"/>
                <a:ea typeface="Arial" pitchFamily="34" charset="-122"/>
                <a:cs typeface="Arial" pitchFamily="34" charset="-120"/>
              </a:rPr>
              <a:t>Hens Boer</a:t>
            </a:r>
            <a:endParaRPr lang="en-US" sz="2000" dirty="0"/>
          </a:p>
        </p:txBody>
      </p:sp>
      <p:sp>
        <p:nvSpPr>
          <p:cNvPr id="21" name="Text 19"/>
          <p:cNvSpPr txBox="1"/>
          <p:nvPr/>
        </p:nvSpPr>
        <p:spPr>
          <a:xfrm>
            <a:off x="8000980" y="3644891"/>
            <a:ext cx="3225792" cy="215899"/>
          </a:xfrm>
          <a:prstGeom prst="rect">
            <a:avLst/>
          </a:prstGeom>
          <a:noFill/>
          <a:ln/>
        </p:spPr>
        <p:txBody>
          <a:bodyPr wrap="square" lIns="0" tIns="0" rIns="0" bIns="0" rtlCol="0" anchor="ctr"/>
          <a:lstStyle/>
          <a:p>
            <a:pPr indent="0" marL="0">
              <a:buNone/>
            </a:pPr>
            <a:r>
              <a:rPr lang="en-US" sz="1050" b="1" dirty="0">
                <a:solidFill>
                  <a:srgbClr val="38B6FF"/>
                </a:solidFill>
                <a:latin typeface="Arial" pitchFamily="34" charset="0"/>
                <a:ea typeface="Arial" pitchFamily="34" charset="-122"/>
                <a:cs typeface="Arial" pitchFamily="34" charset="-120"/>
              </a:rPr>
              <a:t>Eigenaar LINK.</a:t>
            </a:r>
            <a:endParaRPr lang="en-US" sz="1050" dirty="0"/>
          </a:p>
        </p:txBody>
      </p:sp>
      <p:sp>
        <p:nvSpPr>
          <p:cNvPr id="22" name="Text 20"/>
          <p:cNvSpPr txBox="1"/>
          <p:nvPr/>
        </p:nvSpPr>
        <p:spPr>
          <a:xfrm>
            <a:off x="8000980" y="4165590"/>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hens@linkgrp.nl</a:t>
            </a:r>
            <a:endParaRPr lang="en-US" sz="1100" dirty="0"/>
          </a:p>
        </p:txBody>
      </p:sp>
      <p:sp>
        <p:nvSpPr>
          <p:cNvPr id="23" name="Text 21"/>
          <p:cNvSpPr txBox="1"/>
          <p:nvPr/>
        </p:nvSpPr>
        <p:spPr>
          <a:xfrm>
            <a:off x="8000980" y="4521189"/>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linkgrp.nl</a:t>
            </a:r>
            <a:endParaRPr lang="en-US" sz="1100" dirty="0"/>
          </a:p>
        </p:txBody>
      </p:sp>
      <p:sp>
        <p:nvSpPr>
          <p:cNvPr id="24" name="Text 22"/>
          <p:cNvSpPr txBox="1"/>
          <p:nvPr/>
        </p:nvSpPr>
        <p:spPr>
          <a:xfrm>
            <a:off x="8000980" y="4876788"/>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Flemingweg 8, Alphen aan den Rijn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 kennismaking Techmetric3d</dc:title>
  <dc:subject>PptxGenJS Presentation</dc:subject>
  <dc:creator>LINK.</dc:creator>
  <cp:lastModifiedBy>LINK.</cp:lastModifiedBy>
  <cp:revision>1</cp:revision>
  <dcterms:created xsi:type="dcterms:W3CDTF">2026-10-12T13:30:02Z</dcterms:created>
  <dcterms:modified xsi:type="dcterms:W3CDTF">2026-10-12T13:30:02Z</dcterms:modified>
</cp:coreProperties>
</file>