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Securicon</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10</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BERT · SECURICON · OKTOBER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Structureel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nieuwe klanten</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 aan tafel.</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Wat LINK. voor Securicon kan betekenen: structureel aan tafel bij bedrijven en instellingen die hun beveiliging willen vernieuwen of uitbesteden, en na twaalf weken een plan op basis van echte cijfers.</a:t>
            </a:r>
            <a:endParaRPr lang="en-US" sz="1400" dirty="0"/>
          </a:p>
        </p:txBody>
      </p:sp>
      <p:sp>
        <p:nvSpPr>
          <p:cNvPr id="30"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1"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sp>
        <p:nvSpPr>
          <p:cNvPr id="32" name="Shape 30"/>
          <p:cNvSpPr/>
          <p:nvPr/>
        </p:nvSpPr>
        <p:spPr>
          <a:xfrm>
            <a:off x="1854195" y="5714986"/>
            <a:ext cx="1396997" cy="406399"/>
          </a:xfrm>
          <a:prstGeom prst="roundRect">
            <a:avLst>
              <a:gd name="adj" fmla="val 21875"/>
            </a:avLst>
          </a:prstGeom>
          <a:solidFill>
            <a:srgbClr val="F8F4EB"/>
          </a:solidFill>
          <a:ln/>
        </p:spPr>
      </p:sp>
      <p:sp>
        <p:nvSpPr>
          <p:cNvPr id="33" name="Text 31"/>
          <p:cNvSpPr txBox="1"/>
          <p:nvPr/>
        </p:nvSpPr>
        <p:spPr>
          <a:xfrm>
            <a:off x="1854195" y="5714986"/>
            <a:ext cx="1396997" cy="406399"/>
          </a:xfrm>
          <a:prstGeom prst="rect">
            <a:avLst/>
          </a:prstGeom>
          <a:noFill/>
          <a:ln/>
        </p:spPr>
        <p:txBody>
          <a:bodyPr wrap="square" lIns="0" tIns="0" rIns="0" bIns="0" rtlCol="0" anchor="ctr"/>
          <a:lstStyle/>
          <a:p>
            <a:pPr algn="ctr" indent="0" marL="0">
              <a:buNone/>
            </a:pPr>
            <a:r>
              <a:rPr lang="en-US" sz="1500" b="1" dirty="0">
                <a:solidFill>
                  <a:srgbClr val="1C2230"/>
                </a:solidFill>
                <a:latin typeface="Arial" pitchFamily="34" charset="0"/>
                <a:ea typeface="Arial" pitchFamily="34" charset="-122"/>
                <a:cs typeface="Arial" pitchFamily="34" charset="-120"/>
              </a:rPr>
              <a:t>Securicon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Securicon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afspraken op. Geen lijstjes met namen, maar gesprekken in jullie agenda met een beslisser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We werken voor bedrijven met een sterke B2B-propositie, van een fairchain koffieleverancier tot een AI-consultancy. Geen bureau op afstand, maar een partner die elke week met je schakelt.</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kick-off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4</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per werkperiode</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Vaste rapportage en vaste evaluatiemomenten, elke werkperiode opnieuw.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Securicon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afspraken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beslisser. Eigen belsysteem, een regionaal telefoonnummer op jullie naam en elk gesprek vastgelegd met notities.</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Data en doelgroep</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de bellijst op jullie ideale klant: branche, grootte, regio en de persoon die over beveiliging gaat. Bestaande relaties en uitsluitingen halen we er vooraf uit.</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bellijst en warme leads dragen we direct aan jullie over, met de reden en de context erbij.</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de interesse echt is en de juiste persoon aan tafel zit.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Securicon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EEN SAMENWERKING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Van kick-off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Kick-off</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Samen scherp: doelgroep, beslisser, propositie, bezwaren en wat een goede afspraak voor jullie is. Wij leggen de USP's en de opbouw van het gesprek vast, jullie keuren goed.</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Belstart</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Vanaf de eerste maandag na de kick-off gaan we bellen, op de dagen en dagdelen die in onze data het beste werken voor jullie branche. Elke afspraak krijgt een bevestigingsmail naar de prospect en een overdracht met context naar jullie.</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Wekelijkse rapportage</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 met contactpogingen, gesproken bedrijven, warme uitkomsten, terugbelafspraken en geplande afspraken, plus wat we terughoren uit de markt.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Bijsturen</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Om de week evalueren we samen: klopt de doelgroep, klopt de kwaliteit van de afspraken en wat scherpen we aan.</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Een vast aanspreekpunt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Securicon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Het bedrijf past: branche, omvang en pand voldoen aan de criteria uit de kick-off, en er valt iets te beveiligen of te vernieuwen.</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Interesse</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Er is een concrete aanleiding: een verouderde installatie, een aflopend onderhoudscontract, een verbouwing of nieuwbouw, of gedoe met de huidige partij.</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afspraak staat met degene die over beveiliging en onderhoud gaat. Vaak de eigenaar, facilitair manager of technisch verantwoordelijke.</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Valt een afspraak buiten deze eisen, dan telt hij niet mee. Zo blijft het aantal eerlijk en de kwaliteit hoog.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Securicon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6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STANDAARDPILOT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Twaalf weken om het te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bewijzen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Kick-off en USP's</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Samen scherp wat we gaan vertellen en bij wie. Wij leggen de USP's vast, jullie keuren ze goed.</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Bellijst op maat</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Wij bouwen de bellijst op jullie ideale klant: branche, grootte, regio en de persoon die over beveiliging gaat. Bestaande relaties gaan er vooraf uit.</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Looptijd van twaalf weken</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De pilot loopt twaalf weken. We bellen daarin op de dagen en dagdelen die in onze data het beste werken voor jullie branche, met een regionaal nummer op jullie naam. Elke week een rapportage, om de week evaluatie.</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Tien gekwalificeerde afspraken</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Elke afspraak voldoet aan drie eisen: het bedrijf past, de interesse is echt en de juiste persoon zit aan tafel.</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PILOT</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€ 4.950</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excl. btw, alles inbegrepen</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Kick-off en USP's</a:t>
            </a:r>
            <a:endParaRPr lang="en-US" sz="900" dirty="0"/>
          </a:p>
        </p:txBody>
      </p:sp>
      <p:pic>
        <p:nvPicPr>
          <p:cNvPr id="34" name="Image 1" descr="preencoded.png">    </p:cNvPr>
          <p:cNvPicPr>
            <a:picLocks noChangeAspect="1"/>
          </p:cNvPicPr>
          <p:nvPr/>
        </p:nvPicPr>
        <p:blipFill>
          <a:blip r:embed="rId2"/>
          <a:stretch>
            <a:fillRect/>
          </a:stretch>
        </p:blipFill>
        <p:spPr>
          <a:xfrm>
            <a:off x="7556481" y="5276837"/>
            <a:ext cx="127000" cy="127000"/>
          </a:xfrm>
          <a:prstGeom prst="rect">
            <a:avLst/>
          </a:prstGeom>
        </p:spPr>
      </p:pic>
      <p:sp>
        <p:nvSpPr>
          <p:cNvPr id="35" name="Text 31"/>
          <p:cNvSpPr txBox="1"/>
          <p:nvPr/>
        </p:nvSpPr>
        <p:spPr>
          <a:xfrm>
            <a:off x="775968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Bellijst op jullie ideale klant</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Volledige inrichting van belsysteem en nummer</a:t>
            </a:r>
            <a:endParaRPr lang="en-US" sz="900" dirty="0"/>
          </a:p>
        </p:txBody>
      </p:sp>
      <p:pic>
        <p:nvPicPr>
          <p:cNvPr id="38" name="Image 3" descr="preencoded.png">    </p:cNvPr>
          <p:cNvPicPr>
            <a:picLocks noChangeAspect="1"/>
          </p:cNvPicPr>
          <p:nvPr/>
        </p:nvPicPr>
        <p:blipFill>
          <a:blip r:embed="rId4"/>
          <a:stretch>
            <a:fillRect/>
          </a:stretch>
        </p:blipFill>
        <p:spPr>
          <a:xfrm>
            <a:off x="7556481" y="5530836"/>
            <a:ext cx="127000" cy="127000"/>
          </a:xfrm>
          <a:prstGeom prst="rect">
            <a:avLst/>
          </a:prstGeom>
        </p:spPr>
      </p:pic>
      <p:sp>
        <p:nvSpPr>
          <p:cNvPr id="39" name="Text 33"/>
          <p:cNvSpPr txBox="1"/>
          <p:nvPr/>
        </p:nvSpPr>
        <p:spPr>
          <a:xfrm>
            <a:off x="775968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Beldagen binnen een looptijd van 12 weken</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Rapportage elke week, evaluatie om de week</a:t>
            </a:r>
            <a:endParaRPr lang="en-US" sz="900" dirty="0"/>
          </a:p>
        </p:txBody>
      </p:sp>
      <p:pic>
        <p:nvPicPr>
          <p:cNvPr id="42" name="Image 5" descr="preencoded.png">    </p:cNvPr>
          <p:cNvPicPr>
            <a:picLocks noChangeAspect="1"/>
          </p:cNvPicPr>
          <p:nvPr/>
        </p:nvPicPr>
        <p:blipFill>
          <a:blip r:embed="rId6"/>
          <a:stretch>
            <a:fillRect/>
          </a:stretch>
        </p:blipFill>
        <p:spPr>
          <a:xfrm>
            <a:off x="7556481" y="5784836"/>
            <a:ext cx="127000" cy="127000"/>
          </a:xfrm>
          <a:prstGeom prst="rect">
            <a:avLst/>
          </a:prstGeom>
        </p:spPr>
      </p:pic>
      <p:sp>
        <p:nvSpPr>
          <p:cNvPr id="43" name="Text 35"/>
          <p:cNvSpPr txBox="1"/>
          <p:nvPr/>
        </p:nvSpPr>
        <p:spPr>
          <a:xfrm>
            <a:off x="775968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Tien gekwalificeerde afspraken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Securicon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7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WE VERDER GAAN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Je koopt geen uren. Je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investeert</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afspraken in de agenda.</a:t>
            </a:r>
            <a:endParaRPr lang="en-US" sz="3200" dirty="0"/>
          </a:p>
        </p:txBody>
      </p:sp>
      <p:sp>
        <p:nvSpPr>
          <p:cNvPr id="7" name="Shape 5"/>
          <p:cNvSpPr/>
          <p:nvPr/>
        </p:nvSpPr>
        <p:spPr>
          <a:xfrm>
            <a:off x="609598" y="2793993"/>
            <a:ext cx="2628893" cy="2285994"/>
          </a:xfrm>
          <a:prstGeom prst="roundRect">
            <a:avLst>
              <a:gd name="adj" fmla="val 4444"/>
            </a:avLst>
          </a:prstGeom>
          <a:solidFill>
            <a:srgbClr val="1B2130"/>
          </a:solidFill>
          <a:ln w="9525">
            <a:solidFill>
              <a:srgbClr val="3A4152"/>
            </a:solidFill>
            <a:prstDash val="solid"/>
          </a:ln>
        </p:spPr>
      </p:sp>
      <p:sp>
        <p:nvSpPr>
          <p:cNvPr id="8" name="Shape 6"/>
          <p:cNvSpPr/>
          <p:nvPr/>
        </p:nvSpPr>
        <p:spPr>
          <a:xfrm>
            <a:off x="825498" y="3022592"/>
            <a:ext cx="292099" cy="292099"/>
          </a:xfrm>
          <a:prstGeom prst="ellipse">
            <a:avLst/>
          </a:prstGeom>
          <a:ln w="15240">
            <a:solidFill>
              <a:srgbClr val="38B6FF"/>
            </a:solidFill>
            <a:prstDash val="solid"/>
          </a:ln>
        </p:spPr>
      </p:sp>
      <p:sp>
        <p:nvSpPr>
          <p:cNvPr id="9" name="Text 7"/>
          <p:cNvSpPr txBox="1"/>
          <p:nvPr/>
        </p:nvSpPr>
        <p:spPr>
          <a:xfrm>
            <a:off x="825498"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Wat we dan weten</a:t>
            </a:r>
            <a:endParaRPr lang="en-US" sz="1150" dirty="0"/>
          </a:p>
        </p:txBody>
      </p:sp>
      <p:sp>
        <p:nvSpPr>
          <p:cNvPr id="11" name="Text 9"/>
          <p:cNvSpPr txBox="1"/>
          <p:nvPr/>
        </p:nvSpPr>
        <p:spPr>
          <a:xfrm>
            <a:off x="825498"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Uit de pilot blijkt hoeveel tijd er in één gekwalificeerde afspraak zit en hoeveel afspraken er nodig zijn voor één nieuwe klant. Niet geschat, gewoon geteld.</a:t>
            </a:r>
            <a:endParaRPr lang="en-US" sz="875" dirty="0"/>
          </a:p>
        </p:txBody>
      </p:sp>
      <p:sp>
        <p:nvSpPr>
          <p:cNvPr id="12" name="Shape 10"/>
          <p:cNvSpPr/>
          <p:nvPr/>
        </p:nvSpPr>
        <p:spPr>
          <a:xfrm>
            <a:off x="3390892" y="2793993"/>
            <a:ext cx="2628893" cy="2285994"/>
          </a:xfrm>
          <a:prstGeom prst="roundRect">
            <a:avLst>
              <a:gd name="adj" fmla="val 4444"/>
            </a:avLst>
          </a:prstGeom>
          <a:solidFill>
            <a:srgbClr val="1B2130"/>
          </a:solidFill>
          <a:ln w="9525">
            <a:solidFill>
              <a:srgbClr val="3A4152"/>
            </a:solidFill>
            <a:prstDash val="solid"/>
          </a:ln>
        </p:spPr>
      </p:sp>
      <p:sp>
        <p:nvSpPr>
          <p:cNvPr id="13" name="Shape 11"/>
          <p:cNvSpPr/>
          <p:nvPr/>
        </p:nvSpPr>
        <p:spPr>
          <a:xfrm>
            <a:off x="3606791" y="3022592"/>
            <a:ext cx="292099" cy="292099"/>
          </a:xfrm>
          <a:prstGeom prst="ellipse">
            <a:avLst/>
          </a:prstGeom>
          <a:ln w="15240">
            <a:solidFill>
              <a:srgbClr val="38B6FF"/>
            </a:solidFill>
            <a:prstDash val="solid"/>
          </a:ln>
        </p:spPr>
      </p:sp>
      <p:sp>
        <p:nvSpPr>
          <p:cNvPr id="14" name="Text 12"/>
          <p:cNvSpPr txBox="1"/>
          <p:nvPr/>
        </p:nvSpPr>
        <p:spPr>
          <a:xfrm>
            <a:off x="3606791"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Van doel naar bezetting</a:t>
            </a:r>
            <a:endParaRPr lang="en-US" sz="1150" dirty="0"/>
          </a:p>
        </p:txBody>
      </p:sp>
      <p:sp>
        <p:nvSpPr>
          <p:cNvPr id="16" name="Text 14"/>
          <p:cNvSpPr txBox="1"/>
          <p:nvPr/>
        </p:nvSpPr>
        <p:spPr>
          <a:xfrm>
            <a:off x="3606791"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Jullie zeggen hoeveel nieuwe klanten je per periode wilt. Wij rekenen terug hoeveel afspraken daarvoor nodig zijn en trekken daar de tijd voor uit.</a:t>
            </a:r>
            <a:endParaRPr lang="en-US" sz="875" dirty="0"/>
          </a:p>
        </p:txBody>
      </p:sp>
      <p:sp>
        <p:nvSpPr>
          <p:cNvPr id="17" name="Shape 15"/>
          <p:cNvSpPr/>
          <p:nvPr/>
        </p:nvSpPr>
        <p:spPr>
          <a:xfrm>
            <a:off x="6172185" y="2793993"/>
            <a:ext cx="2628893" cy="2285994"/>
          </a:xfrm>
          <a:prstGeom prst="roundRect">
            <a:avLst>
              <a:gd name="adj" fmla="val 4444"/>
            </a:avLst>
          </a:prstGeom>
          <a:solidFill>
            <a:srgbClr val="1B2130"/>
          </a:solidFill>
          <a:ln w="9525">
            <a:solidFill>
              <a:srgbClr val="3A4152"/>
            </a:solidFill>
            <a:prstDash val="solid"/>
          </a:ln>
        </p:spPr>
      </p:sp>
      <p:sp>
        <p:nvSpPr>
          <p:cNvPr id="18" name="Shape 16"/>
          <p:cNvSpPr/>
          <p:nvPr/>
        </p:nvSpPr>
        <p:spPr>
          <a:xfrm>
            <a:off x="6388084" y="3022592"/>
            <a:ext cx="292099" cy="292099"/>
          </a:xfrm>
          <a:prstGeom prst="ellipse">
            <a:avLst/>
          </a:prstGeom>
          <a:ln w="15240">
            <a:solidFill>
              <a:srgbClr val="38B6FF"/>
            </a:solidFill>
            <a:prstDash val="solid"/>
          </a:ln>
        </p:spPr>
      </p:sp>
      <p:sp>
        <p:nvSpPr>
          <p:cNvPr id="19" name="Text 17"/>
          <p:cNvSpPr txBox="1"/>
          <p:nvPr/>
        </p:nvSpPr>
        <p:spPr>
          <a:xfrm>
            <a:off x="6388084"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Boven target is voor jullie</a:t>
            </a:r>
            <a:endParaRPr lang="en-US" sz="1150" dirty="0"/>
          </a:p>
        </p:txBody>
      </p:sp>
      <p:sp>
        <p:nvSpPr>
          <p:cNvPr id="21" name="Text 19"/>
          <p:cNvSpPr txBox="1"/>
          <p:nvPr/>
        </p:nvSpPr>
        <p:spPr>
          <a:xfrm>
            <a:off x="6388084"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Zijn we eerder klaar dan gepland, dan bellen we de tijd gewoon vol. Wat er dan nog bij komt is voor jullie, zonder extra factuur.</a:t>
            </a:r>
            <a:endParaRPr lang="en-US" sz="875" dirty="0"/>
          </a:p>
        </p:txBody>
      </p:sp>
      <p:sp>
        <p:nvSpPr>
          <p:cNvPr id="22" name="Shape 20"/>
          <p:cNvSpPr/>
          <p:nvPr/>
        </p:nvSpPr>
        <p:spPr>
          <a:xfrm>
            <a:off x="8953478" y="2793993"/>
            <a:ext cx="2628893" cy="2285994"/>
          </a:xfrm>
          <a:prstGeom prst="roundRect">
            <a:avLst>
              <a:gd name="adj" fmla="val 4444"/>
            </a:avLst>
          </a:prstGeom>
          <a:solidFill>
            <a:srgbClr val="1B2130"/>
          </a:solidFill>
          <a:ln w="15240">
            <a:solidFill>
              <a:srgbClr val="38B6FF"/>
            </a:solidFill>
            <a:prstDash val="solid"/>
          </a:ln>
        </p:spPr>
      </p:sp>
      <p:sp>
        <p:nvSpPr>
          <p:cNvPr id="23" name="Shape 21"/>
          <p:cNvSpPr/>
          <p:nvPr/>
        </p:nvSpPr>
        <p:spPr>
          <a:xfrm>
            <a:off x="9169377" y="3022592"/>
            <a:ext cx="292099" cy="292099"/>
          </a:xfrm>
          <a:prstGeom prst="ellipse">
            <a:avLst/>
          </a:prstGeom>
          <a:ln w="15240">
            <a:solidFill>
              <a:srgbClr val="38B6FF"/>
            </a:solidFill>
            <a:prstDash val="solid"/>
          </a:ln>
        </p:spPr>
      </p:sp>
      <p:sp>
        <p:nvSpPr>
          <p:cNvPr id="24" name="Text 22"/>
          <p:cNvSpPr txBox="1"/>
          <p:nvPr/>
        </p:nvSpPr>
        <p:spPr>
          <a:xfrm>
            <a:off x="9169377"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Succesfee bij omzet</a:t>
            </a:r>
            <a:endParaRPr lang="en-US" sz="1150" dirty="0"/>
          </a:p>
        </p:txBody>
      </p:sp>
      <p:sp>
        <p:nvSpPr>
          <p:cNvPr id="26" name="Text 24"/>
          <p:cNvSpPr txBox="1"/>
          <p:nvPr/>
        </p:nvSpPr>
        <p:spPr>
          <a:xfrm>
            <a:off x="9169377"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Wordt een afspraak een opdracht, dan spreken we daar vooraf een succesfee over af. Wij verdienen pas extra als het jullie ook echt omzet oplevert.</a:t>
            </a:r>
            <a:endParaRPr lang="en-US" sz="875" dirty="0"/>
          </a:p>
        </p:txBody>
      </p:sp>
      <p:sp>
        <p:nvSpPr>
          <p:cNvPr id="27" name="Shape 25"/>
          <p:cNvSpPr/>
          <p:nvPr/>
        </p:nvSpPr>
        <p:spPr>
          <a:xfrm>
            <a:off x="609598" y="5854685"/>
            <a:ext cx="76200" cy="76200"/>
          </a:xfrm>
          <a:prstGeom prst="ellipse">
            <a:avLst/>
          </a:prstGeom>
          <a:solidFill>
            <a:srgbClr val="38B6FF"/>
          </a:solidFill>
          <a:ln/>
        </p:spPr>
      </p:sp>
      <p:sp>
        <p:nvSpPr>
          <p:cNvPr id="28" name="Text 26"/>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Het target komt uit jullie eigen cijfers, dus dat halen we. Zo niet, dan halen we het de volgende werkperiode in.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Securicon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8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JULLIE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Een halve dag van jullie, dan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draaien wij</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5397487" cy="1530346"/>
          </a:xfrm>
          <a:prstGeom prst="roundRect">
            <a:avLst>
              <a:gd name="adj" fmla="val 6639"/>
            </a:avLst>
          </a:prstGeom>
          <a:solidFill>
            <a:srgbClr val="F8F4EB"/>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Kick-off sessie</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Anderhalf tot twee uur met Bert en degene die de afspraken gaat voeren.</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Bestaande klanten, lopende gesprekken en bedrijven die we niet mogen benaderen.</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Goedkeuring op de USP's</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Wij schrijven, jullie lezen mee en keuren goed.</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Opvolging van afspraken</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Eén vaste persoon bij Securicon die de afspraken voert en ons kort laat weten hoe ze verliepen.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Securicon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9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Niet-exclusief</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Jullie zitten nergens aan vast en houden alle vrijheid.</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bedrijven benaderen wij niet.</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Werkperiodes van 4 weken</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Vooraf gefactureerd, per werkperiode.</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Wekelijkse rapportage</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Elke week zicht op wat er gebeurd is en wat het opleverde.</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Jullie naam, onze uitvoering</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Regionaal nummer en jullie stijl, wij voeren uit.</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verwerkersovereenkomst.</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Evaluatie om de week</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twijfel om tafel en bijsturen.</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Alles op papier</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korte samenwerkingsovereenkomst.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Securicon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10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op de pilot? Dan plannen we de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kick-off</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Bert geeft akkoord op het pilotvoorstel.</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Overeenkomsten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LINK. stuurt de samenwerkingsovereenkomst en de verwerkersovereenkomst.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 plannen de kick-off en de belstart.</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kennismaking Securicon</dc:title>
  <dc:subject>PptxGenJS Presentation</dc:subject>
  <dc:creator>LINK.</dc:creator>
  <cp:lastModifiedBy>LINK.</cp:lastModifiedBy>
  <cp:revision>1</cp:revision>
  <dcterms:created xsi:type="dcterms:W3CDTF">2026-10-12T13:29:59Z</dcterms:created>
  <dcterms:modified xsi:type="dcterms:W3CDTF">2026-10-12T13:29:59Z</dcterms:modified>
</cp:coreProperties>
</file>