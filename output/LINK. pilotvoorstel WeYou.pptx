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Pilot techniek · WeYou</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11</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NICO HOUWAARD · WEYOU · OKTOBER 2026</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Jullie kennen de techniek. Wij zorgen dat je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aan tafel komt</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Twaalf weken bellen bij technische bedrijven, tien gekwalificeerde afspraken, één vaste prijs. Dit voorstel gaat over het bewijs, niet over een belofte.</a:t>
            </a:r>
            <a:endParaRPr lang="en-US" sz="1400" dirty="0"/>
          </a:p>
        </p:txBody>
      </p:sp>
      <p:sp>
        <p:nvSpPr>
          <p:cNvPr id="30" name="Text 28"/>
          <p:cNvSpPr txBox="1"/>
          <p:nvPr/>
        </p:nvSpPr>
        <p:spPr>
          <a:xfrm>
            <a:off x="609598" y="5714986"/>
            <a:ext cx="825498" cy="406399"/>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LINK</a:t>
            </a:r>
            <a:pPr indent="0" marL="0">
              <a:buNone/>
            </a:pPr>
            <a:r>
              <a:rPr lang="en-US" sz="1700" b="1" dirty="0">
                <a:solidFill>
                  <a:srgbClr val="38B6FF"/>
                </a:solidFill>
                <a:latin typeface="Arial" pitchFamily="34" charset="0"/>
                <a:ea typeface="Arial" pitchFamily="34" charset="-122"/>
                <a:cs typeface="Arial" pitchFamily="34" charset="-120"/>
              </a:rPr>
              <a:t>.</a:t>
            </a:r>
            <a:endParaRPr lang="en-US" sz="1700" dirty="0"/>
          </a:p>
        </p:txBody>
      </p:sp>
      <p:sp>
        <p:nvSpPr>
          <p:cNvPr id="31" name="Text 29"/>
          <p:cNvSpPr txBox="1"/>
          <p:nvPr/>
        </p:nvSpPr>
        <p:spPr>
          <a:xfrm>
            <a:off x="1473196" y="5714986"/>
            <a:ext cx="279399" cy="406399"/>
          </a:xfrm>
          <a:prstGeom prst="rect">
            <a:avLst/>
          </a:prstGeom>
          <a:noFill/>
          <a:ln/>
        </p:spPr>
        <p:txBody>
          <a:bodyPr wrap="square" lIns="0" tIns="0" rIns="0" bIns="0" rtlCol="0" anchor="ctr"/>
          <a:lstStyle/>
          <a:p>
            <a:pPr algn="ctr" indent="0" marL="0">
              <a:buNone/>
            </a:pPr>
            <a:r>
              <a:rPr lang="en-US" sz="1300" dirty="0">
                <a:solidFill>
                  <a:srgbClr val="8A90A0"/>
                </a:solidFill>
                <a:latin typeface="Arial" pitchFamily="34" charset="0"/>
                <a:ea typeface="Arial" pitchFamily="34" charset="-122"/>
                <a:cs typeface="Arial" pitchFamily="34" charset="-120"/>
              </a:rPr>
              <a:t>×</a:t>
            </a:r>
            <a:endParaRPr lang="en-US" sz="1300" dirty="0"/>
          </a:p>
        </p:txBody>
      </p:sp>
      <p:sp>
        <p:nvSpPr>
          <p:cNvPr id="32" name="Shape 30"/>
          <p:cNvSpPr/>
          <p:nvPr/>
        </p:nvSpPr>
        <p:spPr>
          <a:xfrm>
            <a:off x="1854195" y="5714986"/>
            <a:ext cx="1396997" cy="406399"/>
          </a:xfrm>
          <a:prstGeom prst="roundRect">
            <a:avLst>
              <a:gd name="adj" fmla="val 21875"/>
            </a:avLst>
          </a:prstGeom>
          <a:solidFill>
            <a:srgbClr val="F8F4EB"/>
          </a:solidFill>
          <a:ln/>
        </p:spPr>
      </p:sp>
      <p:sp>
        <p:nvSpPr>
          <p:cNvPr id="33" name="Text 31"/>
          <p:cNvSpPr txBox="1"/>
          <p:nvPr/>
        </p:nvSpPr>
        <p:spPr>
          <a:xfrm>
            <a:off x="1854195" y="5714986"/>
            <a:ext cx="1396997" cy="406399"/>
          </a:xfrm>
          <a:prstGeom prst="rect">
            <a:avLst/>
          </a:prstGeom>
          <a:noFill/>
          <a:ln/>
        </p:spPr>
        <p:txBody>
          <a:bodyPr wrap="square" lIns="0" tIns="0" rIns="0" bIns="0" rtlCol="0" anchor="ctr"/>
          <a:lstStyle/>
          <a:p>
            <a:pPr algn="ctr" indent="0" marL="0">
              <a:buNone/>
            </a:pPr>
            <a:r>
              <a:rPr lang="en-US" sz="1500" b="1" dirty="0">
                <a:solidFill>
                  <a:srgbClr val="1C2230"/>
                </a:solidFill>
                <a:latin typeface="Arial" pitchFamily="34" charset="0"/>
                <a:ea typeface="Arial" pitchFamily="34" charset="-122"/>
                <a:cs typeface="Arial" pitchFamily="34" charset="-120"/>
              </a:rPr>
              <a:t>WeYou</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Pilot techniek · WeYou</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de vaste acquisitiepartner van B2B-bedrijven. Wij bellen dagelijks namens onze klanten en leveren gekwalificeerde afspraken op. Geen lijst met namen, maar een gesprek in jullie agenda met iemand die weet waarom hij aan tafel zit.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Wij werken niet met afgelezen belscripts. We leggen samen de USP's vast en voeren daarmee een echt gesprek. Jullie lezen ze door voordat we de markt in gaan, zodat er niets wordt gezegd wat jullie zelf niet zouden zeggen.</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12</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pilot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Van kick-off tot evaluatie, met elke week een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10</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gekwalificeerde afspraken</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Het aantal waar we ons aan verbinden, voor één vaste prijs.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Pilot techniek · WeYou</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HET SPEELVELD</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Veertienduizend bedrijven, en wij bellen ze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één voor één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30493"/>
            <a:ext cx="2628893" cy="2222494"/>
          </a:xfrm>
          <a:prstGeom prst="roundRect">
            <a:avLst>
              <a:gd name="adj" fmla="val 4571"/>
            </a:avLst>
          </a:prstGeom>
          <a:solidFill>
            <a:srgbClr val="F8F4EB"/>
          </a:solidFill>
          <a:ln/>
        </p:spPr>
      </p:sp>
      <p:sp>
        <p:nvSpPr>
          <p:cNvPr id="8" name="Text 6"/>
          <p:cNvSpPr txBox="1"/>
          <p:nvPr/>
        </p:nvSpPr>
        <p:spPr>
          <a:xfrm>
            <a:off x="850898"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14.000+</a:t>
            </a:r>
            <a:endParaRPr lang="en-US" sz="3600" dirty="0"/>
          </a:p>
        </p:txBody>
      </p:sp>
      <p:sp>
        <p:nvSpPr>
          <p:cNvPr id="9" name="Text 7"/>
          <p:cNvSpPr txBox="1"/>
          <p:nvPr/>
        </p:nvSpPr>
        <p:spPr>
          <a:xfrm>
            <a:off x="850898"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TECHNISCHE BEDRIJVEN</a:t>
            </a:r>
            <a:endParaRPr lang="en-US" sz="900" dirty="0"/>
          </a:p>
        </p:txBody>
      </p:sp>
      <p:sp>
        <p:nvSpPr>
          <p:cNvPr id="10" name="Text 8"/>
          <p:cNvSpPr txBox="1"/>
          <p:nvPr/>
        </p:nvSpPr>
        <p:spPr>
          <a:xfrm>
            <a:off x="850898"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In Nederland, vanaf elf medewerkers. Maakindustrie, bouw, installatietechniek en ingenieursbureaus.</a:t>
            </a:r>
            <a:endParaRPr lang="en-US" sz="950" dirty="0"/>
          </a:p>
        </p:txBody>
      </p:sp>
      <p:sp>
        <p:nvSpPr>
          <p:cNvPr id="11" name="Shape 9"/>
          <p:cNvSpPr/>
          <p:nvPr/>
        </p:nvSpPr>
        <p:spPr>
          <a:xfrm>
            <a:off x="3390892" y="2730493"/>
            <a:ext cx="2628893" cy="2222494"/>
          </a:xfrm>
          <a:prstGeom prst="roundRect">
            <a:avLst>
              <a:gd name="adj" fmla="val 4571"/>
            </a:avLst>
          </a:prstGeom>
          <a:solidFill>
            <a:srgbClr val="F8F4EB"/>
          </a:solidFill>
          <a:ln/>
        </p:spPr>
      </p:sp>
      <p:sp>
        <p:nvSpPr>
          <p:cNvPr id="12" name="Text 10"/>
          <p:cNvSpPr txBox="1"/>
          <p:nvPr/>
        </p:nvSpPr>
        <p:spPr>
          <a:xfrm>
            <a:off x="3632191"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2.500+</a:t>
            </a:r>
            <a:endParaRPr lang="en-US" sz="3600" dirty="0"/>
          </a:p>
        </p:txBody>
      </p:sp>
      <p:sp>
        <p:nvSpPr>
          <p:cNvPr id="13" name="Text 11"/>
          <p:cNvSpPr txBox="1"/>
          <p:nvPr/>
        </p:nvSpPr>
        <p:spPr>
          <a:xfrm>
            <a:off x="3632191"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DAARVAN VANAF VIJFTIG FTE</a:t>
            </a:r>
            <a:endParaRPr lang="en-US" sz="900" dirty="0"/>
          </a:p>
        </p:txBody>
      </p:sp>
      <p:sp>
        <p:nvSpPr>
          <p:cNvPr id="14" name="Text 12"/>
          <p:cNvSpPr txBox="1"/>
          <p:nvPr/>
        </p:nvSpPr>
        <p:spPr>
          <a:xfrm>
            <a:off x="3632191"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Groot genoeg voor een eigen wervingsbudget, klein genoeg om de directeur zelf aan de lijn te krijgen.</a:t>
            </a:r>
            <a:endParaRPr lang="en-US" sz="950" dirty="0"/>
          </a:p>
        </p:txBody>
      </p:sp>
      <p:sp>
        <p:nvSpPr>
          <p:cNvPr id="15" name="Shape 13"/>
          <p:cNvSpPr/>
          <p:nvPr/>
        </p:nvSpPr>
        <p:spPr>
          <a:xfrm>
            <a:off x="6172185" y="2730493"/>
            <a:ext cx="2628893" cy="2222494"/>
          </a:xfrm>
          <a:prstGeom prst="roundRect">
            <a:avLst>
              <a:gd name="adj" fmla="val 4571"/>
            </a:avLst>
          </a:prstGeom>
          <a:solidFill>
            <a:srgbClr val="F8F4EB"/>
          </a:solidFill>
          <a:ln/>
        </p:spPr>
      </p:sp>
      <p:sp>
        <p:nvSpPr>
          <p:cNvPr id="16" name="Text 14"/>
          <p:cNvSpPr txBox="1"/>
          <p:nvPr/>
        </p:nvSpPr>
        <p:spPr>
          <a:xfrm>
            <a:off x="6413484"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150</a:t>
            </a:r>
            <a:endParaRPr lang="en-US" sz="3600" dirty="0"/>
          </a:p>
        </p:txBody>
      </p:sp>
      <p:sp>
        <p:nvSpPr>
          <p:cNvPr id="17" name="Text 15"/>
          <p:cNvSpPr txBox="1"/>
          <p:nvPr/>
        </p:nvSpPr>
        <p:spPr>
          <a:xfrm>
            <a:off x="6413484"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CONTACTPOGINGEN PER BELDAG</a:t>
            </a:r>
            <a:endParaRPr lang="en-US" sz="900" dirty="0"/>
          </a:p>
        </p:txBody>
      </p:sp>
      <p:sp>
        <p:nvSpPr>
          <p:cNvPr id="18" name="Text 16"/>
          <p:cNvSpPr txBox="1"/>
          <p:nvPr/>
        </p:nvSpPr>
        <p:spPr>
          <a:xfrm>
            <a:off x="6413484"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Dat is wat één beller op een dag van zes uur daadwerkelijk doet. Geteld, niet geschat.</a:t>
            </a:r>
            <a:endParaRPr lang="en-US" sz="950" dirty="0"/>
          </a:p>
        </p:txBody>
      </p:sp>
      <p:sp>
        <p:nvSpPr>
          <p:cNvPr id="19" name="Shape 17"/>
          <p:cNvSpPr/>
          <p:nvPr/>
        </p:nvSpPr>
        <p:spPr>
          <a:xfrm>
            <a:off x="8953478" y="2730493"/>
            <a:ext cx="2628893" cy="2222494"/>
          </a:xfrm>
          <a:prstGeom prst="roundRect">
            <a:avLst>
              <a:gd name="adj" fmla="val 4571"/>
            </a:avLst>
          </a:prstGeom>
          <a:solidFill>
            <a:srgbClr val="000000"/>
          </a:solidFill>
          <a:ln/>
        </p:spPr>
      </p:sp>
      <p:sp>
        <p:nvSpPr>
          <p:cNvPr id="20" name="Text 18"/>
          <p:cNvSpPr txBox="1"/>
          <p:nvPr/>
        </p:nvSpPr>
        <p:spPr>
          <a:xfrm>
            <a:off x="9194777" y="2997193"/>
            <a:ext cx="2146295" cy="507999"/>
          </a:xfrm>
          <a:prstGeom prst="rect">
            <a:avLst/>
          </a:prstGeom>
          <a:noFill/>
          <a:ln/>
        </p:spPr>
        <p:txBody>
          <a:bodyPr wrap="square" lIns="0" tIns="0" rIns="0" bIns="0" rtlCol="0" anchor="ctr"/>
          <a:lstStyle/>
          <a:p>
            <a:pPr indent="0" marL="0">
              <a:buNone/>
            </a:pPr>
            <a:r>
              <a:rPr lang="en-US" sz="3600" b="1" dirty="0">
                <a:solidFill>
                  <a:srgbClr val="38B6FF"/>
                </a:solidFill>
                <a:latin typeface="Arial" pitchFamily="34" charset="0"/>
                <a:ea typeface="Arial" pitchFamily="34" charset="-122"/>
                <a:cs typeface="Arial" pitchFamily="34" charset="-120"/>
              </a:rPr>
              <a:t>10</a:t>
            </a:r>
            <a:endParaRPr lang="en-US" sz="3600" dirty="0"/>
          </a:p>
        </p:txBody>
      </p:sp>
      <p:sp>
        <p:nvSpPr>
          <p:cNvPr id="21" name="Text 19"/>
          <p:cNvSpPr txBox="1"/>
          <p:nvPr/>
        </p:nvSpPr>
        <p:spPr>
          <a:xfrm>
            <a:off x="9194777"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GEKWALIFICEERDE AFSPRAKEN</a:t>
            </a:r>
            <a:endParaRPr lang="en-US" sz="900" dirty="0"/>
          </a:p>
        </p:txBody>
      </p:sp>
      <p:sp>
        <p:nvSpPr>
          <p:cNvPr id="22" name="Text 20"/>
          <p:cNvSpPr txBox="1"/>
          <p:nvPr/>
        </p:nvSpPr>
        <p:spPr>
          <a:xfrm>
            <a:off x="9194777"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Wat daar in twaalf weken uit komt, en waar we ons in deze pilot aan verbinden.</a:t>
            </a:r>
            <a:endParaRPr lang="en-US" sz="950" dirty="0"/>
          </a:p>
        </p:txBody>
      </p:sp>
      <p:sp>
        <p:nvSpPr>
          <p:cNvPr id="23" name="Shape 21"/>
          <p:cNvSpPr/>
          <p:nvPr/>
        </p:nvSpPr>
        <p:spPr>
          <a:xfrm>
            <a:off x="609598" y="5854685"/>
            <a:ext cx="76200" cy="76200"/>
          </a:xfrm>
          <a:prstGeom prst="ellipse">
            <a:avLst/>
          </a:prstGeom>
          <a:solidFill>
            <a:srgbClr val="38B6FF"/>
          </a:solidFill>
          <a:ln/>
        </p:spPr>
      </p:sp>
      <p:sp>
        <p:nvSpPr>
          <p:cNvPr id="24" name="Text 22"/>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De aantallen komen uit onze eigen datatool, op bedrijven met een telefoonnummer en een website. Bij de kick-off snijden we dat terug naar de bedrijven die jullie echt willen spreken.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Pilot techniek · WeYou</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4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WAAROM KOUD BELLEN PAST BIJ JULLIE VERHAAL</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Jullie verhaal is er een om te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vertellen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niet om te adverteren.</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Het begint met een vraag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Een werkgever weet wel dat zijn vacature niet gevuld raakt, maar niet waarom. Dat is geen onderwerp voor een advertentie, dat is een gesprek.</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De pijn is concreet</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Een openstaande vacature in de techniek kost elke maand geld. Dat maakt het makkelijk om aan de telefoon scherp te worden.</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De beslisser is bereikbaar</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Bij technische bedrijven van deze omvang zit de directeur of de HR-verantwoordelijke gewoon op kantoor en neemt hij de telefoon op.</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Jullie kennen de sector al</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Dat is het verschil tussen koud en lauw bellen. We bellen met kennis van zaken, niet met een algemeen praatje.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Pilot techniek · WeYou</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dat belt, opvolgt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afspraken levert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directeur of de HR-verantwoordelijke. Geen afgelezen belscript, maar vastgelegde USP's en een echt gesprek.</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Bellijst op maat</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Wij bouwen de lijst op jullie ideale klant: branche, grootte, regio en functie. Bestaande relaties en uitsluitingen gaan er vooraf uit.</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Opvolging</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komen echt terug in de lijst. Wie meer wil weten krijgt het dezelfde dag, en wordt binnen drie werkdagen nagebeld.</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bedrijf past en de juiste persoon tegenover jullie zit.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Pilot techniek · WeYou</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6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DE PILOT LOOPT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Twaalf weken, van bellijst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agenda.</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Kick-off</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Eén uur. We nemen het verhaal door, scherpen de doelgroep aan en leggen vast wanneer een afspraak meetelt.</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Lijst en USP's</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Wij bouwen de bellijst met technische bedrijven en leggen de USP's vast. Geen belscript, wel een scherp verhaal. Jullie geven akkoord.</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Bellen</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We bellen op de dagen en dagdelen die in onze data het beste werken voor de techniek, namens WeYou en met een nummer op jullie naam.</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Rapportage en evaluatie</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een rapportage, om de week een evaluatie. Na twaalf weken weten we wat een afspraak in deze markt kost.</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jullie naam, dezelfde dag</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De volledige bellijst met status, ook na afloop</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Pilot techniek · WeYou</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7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Een technisch bedrijf dat groot genoeg is om structureel te werven en dat binnen de doelgroep valt die we bij de kick-off vastleggen.</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Aanleiding</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Er is iets concreets: openstaande vacatures, verloop dat pijn doet, of werving die al maanden niets oplevert.</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directeur of degene die over personeel en werving gaat. Bij bedrijven van deze omvang is dat vaak dezelfde persoon.</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Bij de kick-off leggen we deze drie samen vast. Een afspraak die er niet aan voldoet, telt niet mee.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Pilot techniek · WeYou</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8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DE PILOT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Eén vaste prijs,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alles inbegrepen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8" name="Shape 6"/>
          <p:cNvSpPr/>
          <p:nvPr/>
        </p:nvSpPr>
        <p:spPr>
          <a:xfrm>
            <a:off x="825498" y="2692393"/>
            <a:ext cx="292099" cy="292099"/>
          </a:xfrm>
          <a:prstGeom prst="ellipse">
            <a:avLst/>
          </a:prstGeom>
          <a:ln w="15240">
            <a:solidFill>
              <a:srgbClr val="38B6FF"/>
            </a:solidFill>
            <a:prstDash val="solid"/>
          </a:ln>
        </p:spPr>
      </p:sp>
      <p:sp>
        <p:nvSpPr>
          <p:cNvPr id="9"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Twaalf weken bellen</a:t>
            </a:r>
            <a:endParaRPr lang="en-US" sz="1150" dirty="0"/>
          </a:p>
        </p:txBody>
      </p:sp>
      <p:sp>
        <p:nvSpPr>
          <p:cNvPr id="11"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Van kick-off tot evaluatie. We bellen op de dagen en dagdelen die in onze data het beste werken voor deze doelgroep.</a:t>
            </a:r>
            <a:endParaRPr lang="en-US" sz="875" dirty="0"/>
          </a:p>
        </p:txBody>
      </p:sp>
      <p:sp>
        <p:nvSpPr>
          <p:cNvPr id="12"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3" name="Shape 11"/>
          <p:cNvSpPr/>
          <p:nvPr/>
        </p:nvSpPr>
        <p:spPr>
          <a:xfrm>
            <a:off x="3606791" y="2692393"/>
            <a:ext cx="292099" cy="292099"/>
          </a:xfrm>
          <a:prstGeom prst="ellipse">
            <a:avLst/>
          </a:prstGeom>
          <a:ln w="15240">
            <a:solidFill>
              <a:srgbClr val="38B6FF"/>
            </a:solidFill>
            <a:prstDash val="solid"/>
          </a:ln>
        </p:spPr>
      </p:sp>
      <p:sp>
        <p:nvSpPr>
          <p:cNvPr id="14"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Tien gekwalificeerde afspraken</a:t>
            </a:r>
            <a:endParaRPr lang="en-US" sz="1150" dirty="0"/>
          </a:p>
        </p:txBody>
      </p:sp>
      <p:sp>
        <p:nvSpPr>
          <p:cNvPr id="16"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Daar verbinden we ons aan. Halen we het niet binnen de twaalf weken, dan bellen we door tot ze er staan.</a:t>
            </a:r>
            <a:endParaRPr lang="en-US" sz="875" dirty="0"/>
          </a:p>
        </p:txBody>
      </p:sp>
      <p:sp>
        <p:nvSpPr>
          <p:cNvPr id="17"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8" name="Shape 16"/>
          <p:cNvSpPr/>
          <p:nvPr/>
        </p:nvSpPr>
        <p:spPr>
          <a:xfrm>
            <a:off x="6388084" y="2692393"/>
            <a:ext cx="292099" cy="292099"/>
          </a:xfrm>
          <a:prstGeom prst="ellipse">
            <a:avLst/>
          </a:prstGeom>
          <a:ln w="15240">
            <a:solidFill>
              <a:srgbClr val="38B6FF"/>
            </a:solidFill>
            <a:prstDash val="solid"/>
          </a:ln>
        </p:spPr>
      </p:sp>
      <p:sp>
        <p:nvSpPr>
          <p:cNvPr id="19"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Alles inbegrepen</a:t>
            </a:r>
            <a:endParaRPr lang="en-US" sz="1150" dirty="0"/>
          </a:p>
        </p:txBody>
      </p:sp>
      <p:sp>
        <p:nvSpPr>
          <p:cNvPr id="21"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Kick-off, USP's, bellijst, belsysteem, telefoonnummer en de wekelijkse rapportage. Geen opstartkosten en geen kosten per afspraak.</a:t>
            </a:r>
            <a:endParaRPr lang="en-US" sz="875" dirty="0"/>
          </a:p>
        </p:txBody>
      </p:sp>
      <p:sp>
        <p:nvSpPr>
          <p:cNvPr id="22"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3" name="Shape 21"/>
          <p:cNvSpPr/>
          <p:nvPr/>
        </p:nvSpPr>
        <p:spPr>
          <a:xfrm>
            <a:off x="9169377" y="2692393"/>
            <a:ext cx="292099" cy="292099"/>
          </a:xfrm>
          <a:prstGeom prst="ellipse">
            <a:avLst/>
          </a:prstGeom>
          <a:ln w="15240">
            <a:solidFill>
              <a:srgbClr val="38B6FF"/>
            </a:solidFill>
            <a:prstDash val="solid"/>
          </a:ln>
        </p:spPr>
      </p:sp>
      <p:sp>
        <p:nvSpPr>
          <p:cNvPr id="24"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Daarna weten we wat het kost</a:t>
            </a:r>
            <a:endParaRPr lang="en-US" sz="1150" dirty="0"/>
          </a:p>
        </p:txBody>
      </p:sp>
      <p:sp>
        <p:nvSpPr>
          <p:cNvPr id="26"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Na twaalf weken ligt er een getal: wat kost één gekwalificeerde afspraak in de techniek. Daarmee kun je rekenen in plaats van gokken.</a:t>
            </a:r>
            <a:endParaRPr lang="en-US" sz="875" dirty="0"/>
          </a:p>
        </p:txBody>
      </p:sp>
      <p:sp>
        <p:nvSpPr>
          <p:cNvPr id="27" name="Shape 25"/>
          <p:cNvSpPr/>
          <p:nvPr/>
        </p:nvSpPr>
        <p:spPr>
          <a:xfrm>
            <a:off x="609598" y="5079987"/>
            <a:ext cx="10972773" cy="1028697"/>
          </a:xfrm>
          <a:prstGeom prst="roundRect">
            <a:avLst>
              <a:gd name="adj" fmla="val 9877"/>
            </a:avLst>
          </a:prstGeom>
          <a:solidFill>
            <a:srgbClr val="38B6FF"/>
          </a:solidFill>
          <a:ln/>
        </p:spPr>
      </p:sp>
      <p:sp>
        <p:nvSpPr>
          <p:cNvPr id="28"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DE PILOT, TWAALF WEKEN</a:t>
            </a:r>
            <a:endParaRPr lang="en-US" sz="800" dirty="0"/>
          </a:p>
        </p:txBody>
      </p:sp>
      <p:sp>
        <p:nvSpPr>
          <p:cNvPr id="29" name="Text 27"/>
          <p:cNvSpPr txBox="1"/>
          <p:nvPr/>
        </p:nvSpPr>
        <p:spPr>
          <a:xfrm>
            <a:off x="914398" y="5410186"/>
            <a:ext cx="1904995" cy="406399"/>
          </a:xfrm>
          <a:prstGeom prst="rect">
            <a:avLst/>
          </a:prstGeom>
          <a:noFill/>
          <a:ln/>
        </p:spPr>
        <p:txBody>
          <a:bodyPr wrap="square" lIns="0" tIns="0" rIns="0" bIns="0" rtlCol="0" anchor="ctr"/>
          <a:lstStyle/>
          <a:p>
            <a:pPr indent="0" marL="0">
              <a:buNone/>
            </a:pPr>
            <a:r>
              <a:rPr lang="en-US" sz="2900" b="1" dirty="0">
                <a:solidFill>
                  <a:srgbClr val="0D1420"/>
                </a:solidFill>
                <a:latin typeface="Arial" pitchFamily="34" charset="0"/>
                <a:ea typeface="Arial" pitchFamily="34" charset="-122"/>
                <a:cs typeface="Arial" pitchFamily="34" charset="-120"/>
              </a:rPr>
              <a:t>€ 4.950</a:t>
            </a:r>
            <a:endParaRPr lang="en-US" sz="2900" dirty="0"/>
          </a:p>
        </p:txBody>
      </p:sp>
      <p:sp>
        <p:nvSpPr>
          <p:cNvPr id="30" name="Text 28"/>
          <p:cNvSpPr txBox="1"/>
          <p:nvPr/>
        </p:nvSpPr>
        <p:spPr>
          <a:xfrm>
            <a:off x="914398" y="5829285"/>
            <a:ext cx="2031995"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excl. btw, voor de hele pilot</a:t>
            </a:r>
            <a:endParaRPr lang="en-US" sz="800" dirty="0"/>
          </a:p>
        </p:txBody>
      </p:sp>
      <p:sp>
        <p:nvSpPr>
          <p:cNvPr id="31" name="Shape 29"/>
          <p:cNvSpPr/>
          <p:nvPr/>
        </p:nvSpPr>
        <p:spPr>
          <a:xfrm>
            <a:off x="3174992" y="5257787"/>
            <a:ext cx="0" cy="673098"/>
          </a:xfrm>
          <a:prstGeom prst="line">
            <a:avLst/>
          </a:prstGeom>
          <a:noFill/>
          <a:ln w="9525">
            <a:solidFill>
              <a:srgbClr val="0D1420">
                <a:alpha val="40000"/>
              </a:srgbClr>
            </a:solidFill>
            <a:prstDash val="solid"/>
          </a:ln>
        </p:spPr>
      </p:sp>
      <p:pic>
        <p:nvPicPr>
          <p:cNvPr id="32" name="Image 0" descr="preencoded.png">    </p:cNvPr>
          <p:cNvPicPr>
            <a:picLocks noChangeAspect="1"/>
          </p:cNvPicPr>
          <p:nvPr/>
        </p:nvPicPr>
        <p:blipFill>
          <a:blip r:embed="rId1"/>
          <a:stretch>
            <a:fillRect/>
          </a:stretch>
        </p:blipFill>
        <p:spPr>
          <a:xfrm>
            <a:off x="3530591" y="5276837"/>
            <a:ext cx="127000" cy="127000"/>
          </a:xfrm>
          <a:prstGeom prst="rect">
            <a:avLst/>
          </a:prstGeom>
        </p:spPr>
      </p:pic>
      <p:sp>
        <p:nvSpPr>
          <p:cNvPr id="33" name="Text 30"/>
          <p:cNvSpPr txBox="1"/>
          <p:nvPr/>
        </p:nvSpPr>
        <p:spPr>
          <a:xfrm>
            <a:off x="373379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Tien gekwalificeerde afspraken</a:t>
            </a:r>
            <a:endParaRPr lang="en-US" sz="900" dirty="0"/>
          </a:p>
        </p:txBody>
      </p:sp>
      <p:pic>
        <p:nvPicPr>
          <p:cNvPr id="34" name="Image 1" descr="preencoded.png">    </p:cNvPr>
          <p:cNvPicPr>
            <a:picLocks noChangeAspect="1"/>
          </p:cNvPicPr>
          <p:nvPr/>
        </p:nvPicPr>
        <p:blipFill>
          <a:blip r:embed="rId2"/>
          <a:stretch>
            <a:fillRect/>
          </a:stretch>
        </p:blipFill>
        <p:spPr>
          <a:xfrm>
            <a:off x="7556481" y="5276837"/>
            <a:ext cx="127000" cy="127000"/>
          </a:xfrm>
          <a:prstGeom prst="rect">
            <a:avLst/>
          </a:prstGeom>
        </p:spPr>
      </p:pic>
      <p:sp>
        <p:nvSpPr>
          <p:cNvPr id="35" name="Text 31"/>
          <p:cNvSpPr txBox="1"/>
          <p:nvPr/>
        </p:nvSpPr>
        <p:spPr>
          <a:xfrm>
            <a:off x="775968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Kick-off, USP's en bellijst</a:t>
            </a:r>
            <a:endParaRPr lang="en-US" sz="900" dirty="0"/>
          </a:p>
        </p:txBody>
      </p:sp>
      <p:pic>
        <p:nvPicPr>
          <p:cNvPr id="36" name="Image 2" descr="preencoded.png">    </p:cNvPr>
          <p:cNvPicPr>
            <a:picLocks noChangeAspect="1"/>
          </p:cNvPicPr>
          <p:nvPr/>
        </p:nvPicPr>
        <p:blipFill>
          <a:blip r:embed="rId3"/>
          <a:stretch>
            <a:fillRect/>
          </a:stretch>
        </p:blipFill>
        <p:spPr>
          <a:xfrm>
            <a:off x="3530591" y="5530836"/>
            <a:ext cx="127000" cy="127000"/>
          </a:xfrm>
          <a:prstGeom prst="rect">
            <a:avLst/>
          </a:prstGeom>
        </p:spPr>
      </p:pic>
      <p:sp>
        <p:nvSpPr>
          <p:cNvPr id="37" name="Text 32"/>
          <p:cNvSpPr txBox="1"/>
          <p:nvPr/>
        </p:nvSpPr>
        <p:spPr>
          <a:xfrm>
            <a:off x="373379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Belsysteem en nummer op jullie naam</a:t>
            </a:r>
            <a:endParaRPr lang="en-US" sz="900" dirty="0"/>
          </a:p>
        </p:txBody>
      </p:sp>
      <p:pic>
        <p:nvPicPr>
          <p:cNvPr id="38" name="Image 3" descr="preencoded.png">    </p:cNvPr>
          <p:cNvPicPr>
            <a:picLocks noChangeAspect="1"/>
          </p:cNvPicPr>
          <p:nvPr/>
        </p:nvPicPr>
        <p:blipFill>
          <a:blip r:embed="rId4"/>
          <a:stretch>
            <a:fillRect/>
          </a:stretch>
        </p:blipFill>
        <p:spPr>
          <a:xfrm>
            <a:off x="7556481" y="5530836"/>
            <a:ext cx="127000" cy="127000"/>
          </a:xfrm>
          <a:prstGeom prst="rect">
            <a:avLst/>
          </a:prstGeom>
        </p:spPr>
      </p:pic>
      <p:sp>
        <p:nvSpPr>
          <p:cNvPr id="39" name="Text 33"/>
          <p:cNvSpPr txBox="1"/>
          <p:nvPr/>
        </p:nvSpPr>
        <p:spPr>
          <a:xfrm>
            <a:off x="775968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Wekelijkse rapportage</a:t>
            </a:r>
            <a:endParaRPr lang="en-US" sz="900" dirty="0"/>
          </a:p>
        </p:txBody>
      </p:sp>
      <p:pic>
        <p:nvPicPr>
          <p:cNvPr id="40" name="Image 4" descr="preencoded.png">    </p:cNvPr>
          <p:cNvPicPr>
            <a:picLocks noChangeAspect="1"/>
          </p:cNvPicPr>
          <p:nvPr/>
        </p:nvPicPr>
        <p:blipFill>
          <a:blip r:embed="rId5"/>
          <a:stretch>
            <a:fillRect/>
          </a:stretch>
        </p:blipFill>
        <p:spPr>
          <a:xfrm>
            <a:off x="3530591" y="5784836"/>
            <a:ext cx="127000" cy="127000"/>
          </a:xfrm>
          <a:prstGeom prst="rect">
            <a:avLst/>
          </a:prstGeom>
        </p:spPr>
      </p:pic>
      <p:sp>
        <p:nvSpPr>
          <p:cNvPr id="41" name="Text 34"/>
          <p:cNvSpPr txBox="1"/>
          <p:nvPr/>
        </p:nvSpPr>
        <p:spPr>
          <a:xfrm>
            <a:off x="373379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Geen opstartkosten</a:t>
            </a:r>
            <a:endParaRPr lang="en-US" sz="900" dirty="0"/>
          </a:p>
        </p:txBody>
      </p:sp>
      <p:pic>
        <p:nvPicPr>
          <p:cNvPr id="42" name="Image 5" descr="preencoded.png">    </p:cNvPr>
          <p:cNvPicPr>
            <a:picLocks noChangeAspect="1"/>
          </p:cNvPicPr>
          <p:nvPr/>
        </p:nvPicPr>
        <p:blipFill>
          <a:blip r:embed="rId6"/>
          <a:stretch>
            <a:fillRect/>
          </a:stretch>
        </p:blipFill>
        <p:spPr>
          <a:xfrm>
            <a:off x="7556481" y="5784836"/>
            <a:ext cx="127000" cy="127000"/>
          </a:xfrm>
          <a:prstGeom prst="rect">
            <a:avLst/>
          </a:prstGeom>
        </p:spPr>
      </p:pic>
      <p:sp>
        <p:nvSpPr>
          <p:cNvPr id="43" name="Text 35"/>
          <p:cNvSpPr txBox="1"/>
          <p:nvPr/>
        </p:nvSpPr>
        <p:spPr>
          <a:xfrm>
            <a:off x="775968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Geen kosten per afspraak</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Pilot techniek · WeYou</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9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WEYOU NODIG HEBBEN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uur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kick-off</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daarna draaien wij.</a:t>
            </a:r>
            <a:endParaRPr lang="en-US" sz="3200" dirty="0"/>
          </a:p>
        </p:txBody>
      </p:sp>
      <p:sp>
        <p:nvSpPr>
          <p:cNvPr id="7" name="Shape 5"/>
          <p:cNvSpPr/>
          <p:nvPr/>
        </p:nvSpPr>
        <p:spPr>
          <a:xfrm>
            <a:off x="609598" y="2793993"/>
            <a:ext cx="5397487" cy="1530346"/>
          </a:xfrm>
          <a:prstGeom prst="roundRect">
            <a:avLst>
              <a:gd name="adj" fmla="val 6639"/>
            </a:avLst>
          </a:prstGeom>
          <a:solidFill>
            <a:srgbClr val="000000"/>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Kick-off</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C2C8D2"/>
                </a:solidFill>
                <a:latin typeface="Arial" pitchFamily="34" charset="0"/>
                <a:ea typeface="Arial" pitchFamily="34" charset="-122"/>
                <a:cs typeface="Arial" pitchFamily="34" charset="-120"/>
              </a:rPr>
              <a:t>Eén uur van jullie om het verhaal en de doelgroep scherp te krijgen. Daarna kunnen wij aan de slag.</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Uitsluitlijst</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bedrijven die jullie zelf al benaderen of al als relatie hebben. Die halen we er vooraf uit.</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Akkoord op de USP's</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Wij leggen ze vast, jullie lezen ze door. Zo staat er niets in dat jullie zelf niet zouden zeggen.</a:t>
            </a:r>
            <a:endParaRPr lang="en-US" sz="1050" dirty="0"/>
          </a:p>
        </p:txBody>
      </p:sp>
      <p:sp>
        <p:nvSpPr>
          <p:cNvPr id="22" name="Shape 17"/>
          <p:cNvSpPr/>
          <p:nvPr/>
        </p:nvSpPr>
        <p:spPr>
          <a:xfrm>
            <a:off x="6184885" y="4502139"/>
            <a:ext cx="5397487" cy="1530346"/>
          </a:xfrm>
          <a:prstGeom prst="roundRect">
            <a:avLst>
              <a:gd name="adj" fmla="val 6639"/>
            </a:avLst>
          </a:prstGeom>
          <a:solidFill>
            <a:srgbClr val="F8F4EB"/>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Agenda</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Vaste momenten waarop wij afspraken mogen inplannen. Hoe ruimer die zijn, hoe meer er staat.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Pilot techniek · WeYou</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10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Eén vaste prijs</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€ 4.950 excl. btw voor de hele pilot van twaalf weken.</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Tien afspraken</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Halen we dat niet binnen twaalf weken, dan bellen we door tot ze er staan.</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Geen opstartkosten</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Kick-off, USP's, lijst, belsysteem en nummer zitten in de prijs.</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Geen kosten per afspraak</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Geen nacalculatie en geen rekening achteraf.</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Kwalificatie vooraf vastgelegd</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de kick-off bepalen we samen wanneer een afspraak meetelt.</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die bedrijven benaderen wij niet.</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Niet-exclusief</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Jullie zitten nergens aan vast en houden alle vrijheid.</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Gegevens veilig</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de verwerkersovereenkomst die er al ligt.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Pilot techniek · WeYou</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11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Dan staat de kick-off er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binnen een week</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Nico geeft akkoord op dit voorstel.</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Kick-off</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Eén uur bij ons of bij jullie, plus de uitsluitlijst.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Bellen</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Een week later staat de lijst klaar en gaan we de markt in.</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pilotvoorstel WeYou</dc:title>
  <dc:subject>PptxGenJS Presentation</dc:subject>
  <dc:creator>LINK.</dc:creator>
  <cp:lastModifiedBy>LINK.</cp:lastModifiedBy>
  <cp:revision>1</cp:revision>
  <dcterms:created xsi:type="dcterms:W3CDTF">2026-10-20T14:10:53Z</dcterms:created>
  <dcterms:modified xsi:type="dcterms:W3CDTF">2026-10-20T14:10:53Z</dcterms:modified>
</cp:coreProperties>
</file>