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CentreBlock</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11</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KEES · CENTREBLOCK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De opvolging van jullie leads,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geregeld</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CentreBlock laat zien welke campagnes echt omzet opleveren. Wij bellen de leads die daaruit komen na, namens jullie klanten, en zetten ze om in afspraken. Eén partner voor de opvolging, voor elke klant die dat wil.</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752596" cy="406399"/>
          </a:xfrm>
          <a:prstGeom prst="roundRect">
            <a:avLst>
              <a:gd name="adj" fmla="val 21875"/>
            </a:avLst>
          </a:prstGeom>
          <a:solidFill>
            <a:srgbClr val="F8F4EB"/>
          </a:solidFill>
          <a:ln/>
        </p:spPr>
      </p:sp>
      <p:pic>
        <p:nvPicPr>
          <p:cNvPr id="33" name="Image 0" descr="preencoded.png">    </p:cNvPr>
          <p:cNvPicPr>
            <a:picLocks noChangeAspect="1"/>
          </p:cNvPicPr>
          <p:nvPr/>
        </p:nvPicPr>
        <p:blipFill>
          <a:blip r:embed="rId1"/>
          <a:stretch>
            <a:fillRect/>
          </a:stretch>
        </p:blipFill>
        <p:spPr>
          <a:xfrm>
            <a:off x="2031995" y="5791186"/>
            <a:ext cx="1396997" cy="253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van een fairchain koffieleverancier tot een AI-consultancy. Software die het werk van marketeers lichter maakt past daar goed bij.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Wij pakken op waar het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stil valt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Leads nabellen</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De leads die uit jullie platform komen, bellen we na. Snel, met de context van de campagne erbij, namens de klant en op hun naam.</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Koud doorbellen</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Vult de leadstroom een beldag niet, dan bellen we koud door in dezelfde doelgroep. Zo is een beldag altijd een volle beldag.</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Wie nu niet wil, spreken we later opnieuw. Er gaat niets verloren.</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HET LOOPT PER KLANT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jullie lead naar een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afspraak</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bij de klant.</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Per klant een korte sessie: doelgroep, propositie, bezwaren en wat een goede afspraak is. Wij leggen de USP's vast, de klant keurt ze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Leads binnen</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CentreBlock levert de leads met de context uit de campagne. Wij zetten ze in de bellijst, met de verse leads bovenaan.</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Bellen</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We bellen op de dagen en dagdelen die in onze data het beste werken voor die branche, met een regionaal nummer op naam van de klant.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Rapportage</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per klant: pogingen, gesproken bedrijven, afspraken en wat we terughoren uit de markt. CentreBlock krijgt dezelfde cijfers.</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de klant ontvangt</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naam van de klant</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 ook voor CentreBlock</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bij de klant: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houdt CentreBlock er een goed verhaal aan over.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6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VOOR JULLIE AANPASSEN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Normaal werken we zo. Voor CentreBlock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anders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89194"/>
            <a:ext cx="5384787" cy="2768593"/>
          </a:xfrm>
          <a:prstGeom prst="roundRect">
            <a:avLst>
              <a:gd name="adj" fmla="val 3670"/>
            </a:avLst>
          </a:prstGeom>
          <a:solidFill>
            <a:srgbClr val="F8F4EB"/>
          </a:solidFill>
          <a:ln/>
        </p:spPr>
      </p:sp>
      <p:sp>
        <p:nvSpPr>
          <p:cNvPr id="8" name="Text 6"/>
          <p:cNvSpPr txBox="1"/>
          <p:nvPr/>
        </p:nvSpPr>
        <p:spPr>
          <a:xfrm>
            <a:off x="939798" y="2743193"/>
            <a:ext cx="4724388" cy="190500"/>
          </a:xfrm>
          <a:prstGeom prst="rect">
            <a:avLst/>
          </a:prstGeom>
          <a:noFill/>
          <a:ln/>
        </p:spPr>
        <p:txBody>
          <a:bodyPr wrap="square" lIns="0" tIns="0" rIns="0" bIns="0" rtlCol="0" anchor="ctr"/>
          <a:lstStyle/>
          <a:p>
            <a:pPr indent="0" marL="0">
              <a:buNone/>
            </a:pPr>
            <a:r>
              <a:rPr lang="en-US" sz="800" b="1" spc="180" kern="0" dirty="0">
                <a:solidFill>
                  <a:srgbClr val="6F6A5C"/>
                </a:solidFill>
                <a:latin typeface="Arial" pitchFamily="34" charset="0"/>
                <a:ea typeface="Arial" pitchFamily="34" charset="-122"/>
                <a:cs typeface="Arial" pitchFamily="34" charset="-120"/>
              </a:rPr>
              <a:t>ONZE STANDAARD</a:t>
            </a:r>
            <a:endParaRPr lang="en-US" sz="800" dirty="0"/>
          </a:p>
        </p:txBody>
      </p:sp>
      <p:sp>
        <p:nvSpPr>
          <p:cNvPr id="9" name="Text 7"/>
          <p:cNvSpPr txBox="1"/>
          <p:nvPr/>
        </p:nvSpPr>
        <p:spPr>
          <a:xfrm>
            <a:off x="939798" y="2959093"/>
            <a:ext cx="4724388" cy="355599"/>
          </a:xfrm>
          <a:prstGeom prst="rect">
            <a:avLst/>
          </a:prstGeom>
          <a:noFill/>
          <a:ln/>
        </p:spPr>
        <p:txBody>
          <a:bodyPr wrap="square" lIns="0" tIns="0" rIns="0" bIns="0" rtlCol="0" anchor="ctr"/>
          <a:lstStyle/>
          <a:p>
            <a:pPr indent="0" marL="0">
              <a:lnSpc>
                <a:spcPct val="115000"/>
              </a:lnSpc>
              <a:buNone/>
            </a:pPr>
            <a:r>
              <a:rPr lang="en-US" sz="1500" b="1" dirty="0">
                <a:solidFill>
                  <a:srgbClr val="1C2230"/>
                </a:solidFill>
                <a:latin typeface="Arial" pitchFamily="34" charset="0"/>
                <a:ea typeface="Arial" pitchFamily="34" charset="-122"/>
                <a:cs typeface="Arial" pitchFamily="34" charset="-120"/>
              </a:rPr>
              <a:t>Pilot van twaalf weken</a:t>
            </a:r>
            <a:endParaRPr lang="en-US" sz="1500" dirty="0"/>
          </a:p>
        </p:txBody>
      </p:sp>
      <p:sp>
        <p:nvSpPr>
          <p:cNvPr id="10" name="Text 8"/>
          <p:cNvSpPr txBox="1"/>
          <p:nvPr/>
        </p:nvSpPr>
        <p:spPr>
          <a:xfrm>
            <a:off x="939798" y="3378192"/>
            <a:ext cx="4292589" cy="350519"/>
          </a:xfrm>
          <a:prstGeom prst="rect">
            <a:avLst/>
          </a:prstGeom>
          <a:noFill/>
          <a:ln/>
        </p:spPr>
        <p:txBody>
          <a:bodyPr wrap="square" lIns="0" tIns="0" rIns="0" bIns="0" rtlCol="0" anchor="ctr"/>
          <a:lstStyle/>
          <a:p>
            <a:pPr indent="0" marL="0">
              <a:buNone/>
            </a:pPr>
            <a:r>
              <a:rPr lang="en-US" sz="1100" dirty="0">
                <a:solidFill>
                  <a:srgbClr val="6F6A5C"/>
                </a:solidFill>
                <a:latin typeface="Arial" pitchFamily="34" charset="0"/>
                <a:ea typeface="Arial" pitchFamily="34" charset="-122"/>
                <a:cs typeface="Arial" pitchFamily="34" charset="-120"/>
              </a:rPr>
              <a:t>Start</a:t>
            </a:r>
            <a:endParaRPr lang="en-US" sz="1100" dirty="0"/>
          </a:p>
        </p:txBody>
      </p:sp>
      <p:sp>
        <p:nvSpPr>
          <p:cNvPr id="11" name="Text 9"/>
          <p:cNvSpPr txBox="1"/>
          <p:nvPr/>
        </p:nvSpPr>
        <p:spPr>
          <a:xfrm>
            <a:off x="4838688" y="3378192"/>
            <a:ext cx="825498" cy="350519"/>
          </a:xfrm>
          <a:prstGeom prst="rect">
            <a:avLst/>
          </a:prstGeom>
          <a:noFill/>
          <a:ln/>
        </p:spPr>
        <p:txBody>
          <a:bodyPr wrap="square" lIns="0" tIns="0" rIns="0" bIns="0" rtlCol="0" anchor="ctr"/>
          <a:lstStyle/>
          <a:p>
            <a:pPr algn="r" indent="0" marL="0">
              <a:buNone/>
            </a:pPr>
            <a:r>
              <a:rPr lang="en-US" sz="1350" b="1" dirty="0">
                <a:solidFill>
                  <a:srgbClr val="1C2230"/>
                </a:solidFill>
                <a:latin typeface="Arial" pitchFamily="34" charset="0"/>
                <a:ea typeface="Arial" pitchFamily="34" charset="-122"/>
                <a:cs typeface="Arial" pitchFamily="34" charset="-120"/>
              </a:rPr>
              <a:t>Pilot € 4.950</a:t>
            </a:r>
            <a:endParaRPr lang="en-US" sz="1350" dirty="0"/>
          </a:p>
        </p:txBody>
      </p:sp>
      <p:sp>
        <p:nvSpPr>
          <p:cNvPr id="12" name="Shape 10"/>
          <p:cNvSpPr/>
          <p:nvPr/>
        </p:nvSpPr>
        <p:spPr>
          <a:xfrm>
            <a:off x="939798" y="3728711"/>
            <a:ext cx="4724388" cy="0"/>
          </a:xfrm>
          <a:prstGeom prst="line">
            <a:avLst/>
          </a:prstGeom>
          <a:noFill/>
          <a:ln w="9525">
            <a:solidFill>
              <a:srgbClr val="D8D2C4"/>
            </a:solidFill>
            <a:prstDash val="solid"/>
          </a:ln>
        </p:spPr>
      </p:sp>
      <p:sp>
        <p:nvSpPr>
          <p:cNvPr id="13" name="Text 11"/>
          <p:cNvSpPr txBox="1"/>
          <p:nvPr/>
        </p:nvSpPr>
        <p:spPr>
          <a:xfrm>
            <a:off x="939798" y="3728711"/>
            <a:ext cx="4292589" cy="350519"/>
          </a:xfrm>
          <a:prstGeom prst="rect">
            <a:avLst/>
          </a:prstGeom>
          <a:noFill/>
          <a:ln/>
        </p:spPr>
        <p:txBody>
          <a:bodyPr wrap="square" lIns="0" tIns="0" rIns="0" bIns="0" rtlCol="0" anchor="ctr"/>
          <a:lstStyle/>
          <a:p>
            <a:pPr indent="0" marL="0">
              <a:buNone/>
            </a:pPr>
            <a:r>
              <a:rPr lang="en-US" sz="1100" dirty="0">
                <a:solidFill>
                  <a:srgbClr val="6F6A5C"/>
                </a:solidFill>
                <a:latin typeface="Arial" pitchFamily="34" charset="0"/>
                <a:ea typeface="Arial" pitchFamily="34" charset="-122"/>
                <a:cs typeface="Arial" pitchFamily="34" charset="-120"/>
              </a:rPr>
              <a:t>Looptijd</a:t>
            </a:r>
            <a:endParaRPr lang="en-US" sz="1100" dirty="0"/>
          </a:p>
        </p:txBody>
      </p:sp>
      <p:sp>
        <p:nvSpPr>
          <p:cNvPr id="14" name="Text 12"/>
          <p:cNvSpPr txBox="1"/>
          <p:nvPr/>
        </p:nvSpPr>
        <p:spPr>
          <a:xfrm>
            <a:off x="4838688" y="3728711"/>
            <a:ext cx="825498" cy="350519"/>
          </a:xfrm>
          <a:prstGeom prst="rect">
            <a:avLst/>
          </a:prstGeom>
          <a:noFill/>
          <a:ln/>
        </p:spPr>
        <p:txBody>
          <a:bodyPr wrap="square" lIns="0" tIns="0" rIns="0" bIns="0" rtlCol="0" anchor="ctr"/>
          <a:lstStyle/>
          <a:p>
            <a:pPr algn="r" indent="0" marL="0">
              <a:buNone/>
            </a:pPr>
            <a:r>
              <a:rPr lang="en-US" sz="1350" b="1" dirty="0">
                <a:solidFill>
                  <a:srgbClr val="1C2230"/>
                </a:solidFill>
                <a:latin typeface="Arial" pitchFamily="34" charset="0"/>
                <a:ea typeface="Arial" pitchFamily="34" charset="-122"/>
                <a:cs typeface="Arial" pitchFamily="34" charset="-120"/>
              </a:rPr>
              <a:t>12 weken vast</a:t>
            </a:r>
            <a:endParaRPr lang="en-US" sz="1350" dirty="0"/>
          </a:p>
        </p:txBody>
      </p:sp>
      <p:sp>
        <p:nvSpPr>
          <p:cNvPr id="15" name="Shape 13"/>
          <p:cNvSpPr/>
          <p:nvPr/>
        </p:nvSpPr>
        <p:spPr>
          <a:xfrm>
            <a:off x="939798" y="4079230"/>
            <a:ext cx="4724388" cy="0"/>
          </a:xfrm>
          <a:prstGeom prst="line">
            <a:avLst/>
          </a:prstGeom>
          <a:noFill/>
          <a:ln w="9525">
            <a:solidFill>
              <a:srgbClr val="D8D2C4"/>
            </a:solidFill>
            <a:prstDash val="solid"/>
          </a:ln>
        </p:spPr>
      </p:sp>
      <p:sp>
        <p:nvSpPr>
          <p:cNvPr id="16" name="Text 14"/>
          <p:cNvSpPr txBox="1"/>
          <p:nvPr/>
        </p:nvSpPr>
        <p:spPr>
          <a:xfrm>
            <a:off x="939798" y="4079230"/>
            <a:ext cx="4292589" cy="350519"/>
          </a:xfrm>
          <a:prstGeom prst="rect">
            <a:avLst/>
          </a:prstGeom>
          <a:noFill/>
          <a:ln/>
        </p:spPr>
        <p:txBody>
          <a:bodyPr wrap="square" lIns="0" tIns="0" rIns="0" bIns="0" rtlCol="0" anchor="ctr"/>
          <a:lstStyle/>
          <a:p>
            <a:pPr indent="0" marL="0">
              <a:buNone/>
            </a:pPr>
            <a:r>
              <a:rPr lang="en-US" sz="1100" dirty="0">
                <a:solidFill>
                  <a:srgbClr val="6F6A5C"/>
                </a:solidFill>
                <a:latin typeface="Arial" pitchFamily="34" charset="0"/>
                <a:ea typeface="Arial" pitchFamily="34" charset="-122"/>
                <a:cs typeface="Arial" pitchFamily="34" charset="-120"/>
              </a:rPr>
              <a:t>Afspraak vooraf</a:t>
            </a:r>
            <a:endParaRPr lang="en-US" sz="1100" dirty="0"/>
          </a:p>
        </p:txBody>
      </p:sp>
      <p:sp>
        <p:nvSpPr>
          <p:cNvPr id="17" name="Text 15"/>
          <p:cNvSpPr txBox="1"/>
          <p:nvPr/>
        </p:nvSpPr>
        <p:spPr>
          <a:xfrm>
            <a:off x="4838688" y="4079230"/>
            <a:ext cx="825498" cy="350519"/>
          </a:xfrm>
          <a:prstGeom prst="rect">
            <a:avLst/>
          </a:prstGeom>
          <a:noFill/>
          <a:ln/>
        </p:spPr>
        <p:txBody>
          <a:bodyPr wrap="square" lIns="0" tIns="0" rIns="0" bIns="0" rtlCol="0" anchor="ctr"/>
          <a:lstStyle/>
          <a:p>
            <a:pPr algn="r" indent="0" marL="0">
              <a:buNone/>
            </a:pPr>
            <a:r>
              <a:rPr lang="en-US" sz="1350" b="1" dirty="0">
                <a:solidFill>
                  <a:srgbClr val="1C2230"/>
                </a:solidFill>
                <a:latin typeface="Arial" pitchFamily="34" charset="0"/>
                <a:ea typeface="Arial" pitchFamily="34" charset="-122"/>
                <a:cs typeface="Arial" pitchFamily="34" charset="-120"/>
              </a:rPr>
              <a:t>10 gekwalificeerd</a:t>
            </a:r>
            <a:endParaRPr lang="en-US" sz="1350" dirty="0"/>
          </a:p>
        </p:txBody>
      </p:sp>
      <p:sp>
        <p:nvSpPr>
          <p:cNvPr id="18" name="Shape 16"/>
          <p:cNvSpPr/>
          <p:nvPr/>
        </p:nvSpPr>
        <p:spPr>
          <a:xfrm>
            <a:off x="939798" y="4429749"/>
            <a:ext cx="4724388" cy="0"/>
          </a:xfrm>
          <a:prstGeom prst="line">
            <a:avLst/>
          </a:prstGeom>
          <a:noFill/>
          <a:ln w="9525">
            <a:solidFill>
              <a:srgbClr val="D8D2C4"/>
            </a:solidFill>
            <a:prstDash val="solid"/>
          </a:ln>
        </p:spPr>
      </p:sp>
      <p:sp>
        <p:nvSpPr>
          <p:cNvPr id="19" name="Text 17"/>
          <p:cNvSpPr txBox="1"/>
          <p:nvPr/>
        </p:nvSpPr>
        <p:spPr>
          <a:xfrm>
            <a:off x="939798" y="4429749"/>
            <a:ext cx="4292589" cy="350519"/>
          </a:xfrm>
          <a:prstGeom prst="rect">
            <a:avLst/>
          </a:prstGeom>
          <a:noFill/>
          <a:ln/>
        </p:spPr>
        <p:txBody>
          <a:bodyPr wrap="square" lIns="0" tIns="0" rIns="0" bIns="0" rtlCol="0" anchor="ctr"/>
          <a:lstStyle/>
          <a:p>
            <a:pPr indent="0" marL="0">
              <a:buNone/>
            </a:pPr>
            <a:r>
              <a:rPr lang="en-US" sz="1100" dirty="0">
                <a:solidFill>
                  <a:srgbClr val="6F6A5C"/>
                </a:solidFill>
                <a:latin typeface="Arial" pitchFamily="34" charset="0"/>
                <a:ea typeface="Arial" pitchFamily="34" charset="-122"/>
                <a:cs typeface="Arial" pitchFamily="34" charset="-120"/>
              </a:rPr>
              <a:t>Minimum daarna</a:t>
            </a:r>
            <a:endParaRPr lang="en-US" sz="1100" dirty="0"/>
          </a:p>
        </p:txBody>
      </p:sp>
      <p:sp>
        <p:nvSpPr>
          <p:cNvPr id="20" name="Text 18"/>
          <p:cNvSpPr txBox="1"/>
          <p:nvPr/>
        </p:nvSpPr>
        <p:spPr>
          <a:xfrm>
            <a:off x="4838688" y="4429749"/>
            <a:ext cx="825498" cy="350519"/>
          </a:xfrm>
          <a:prstGeom prst="rect">
            <a:avLst/>
          </a:prstGeom>
          <a:noFill/>
          <a:ln/>
        </p:spPr>
        <p:txBody>
          <a:bodyPr wrap="square" lIns="0" tIns="0" rIns="0" bIns="0" rtlCol="0" anchor="ctr"/>
          <a:lstStyle/>
          <a:p>
            <a:pPr algn="r" indent="0" marL="0">
              <a:buNone/>
            </a:pPr>
            <a:r>
              <a:rPr lang="en-US" sz="1350" b="1" dirty="0">
                <a:solidFill>
                  <a:srgbClr val="1C2230"/>
                </a:solidFill>
                <a:latin typeface="Arial" pitchFamily="34" charset="0"/>
                <a:ea typeface="Arial" pitchFamily="34" charset="-122"/>
                <a:cs typeface="Arial" pitchFamily="34" charset="-120"/>
              </a:rPr>
              <a:t>4 beldagen</a:t>
            </a:r>
            <a:endParaRPr lang="en-US" sz="1350" dirty="0"/>
          </a:p>
        </p:txBody>
      </p:sp>
      <p:sp>
        <p:nvSpPr>
          <p:cNvPr id="21" name="Shape 19"/>
          <p:cNvSpPr/>
          <p:nvPr/>
        </p:nvSpPr>
        <p:spPr>
          <a:xfrm>
            <a:off x="939798" y="4780268"/>
            <a:ext cx="4724388" cy="0"/>
          </a:xfrm>
          <a:prstGeom prst="line">
            <a:avLst/>
          </a:prstGeom>
          <a:noFill/>
          <a:ln w="9525">
            <a:solidFill>
              <a:srgbClr val="D8D2C4"/>
            </a:solidFill>
            <a:prstDash val="solid"/>
          </a:ln>
        </p:spPr>
      </p:sp>
      <p:sp>
        <p:nvSpPr>
          <p:cNvPr id="22" name="Text 20"/>
          <p:cNvSpPr txBox="1"/>
          <p:nvPr/>
        </p:nvSpPr>
        <p:spPr>
          <a:xfrm>
            <a:off x="939798" y="4780268"/>
            <a:ext cx="4292589" cy="350519"/>
          </a:xfrm>
          <a:prstGeom prst="rect">
            <a:avLst/>
          </a:prstGeom>
          <a:noFill/>
          <a:ln/>
        </p:spPr>
        <p:txBody>
          <a:bodyPr wrap="square" lIns="0" tIns="0" rIns="0" bIns="0" rtlCol="0" anchor="ctr"/>
          <a:lstStyle/>
          <a:p>
            <a:pPr indent="0" marL="0">
              <a:buNone/>
            </a:pPr>
            <a:r>
              <a:rPr lang="en-US" sz="1100" dirty="0">
                <a:solidFill>
                  <a:srgbClr val="6F6A5C"/>
                </a:solidFill>
                <a:latin typeface="Arial" pitchFamily="34" charset="0"/>
                <a:ea typeface="Arial" pitchFamily="34" charset="-122"/>
                <a:cs typeface="Arial" pitchFamily="34" charset="-120"/>
              </a:rPr>
              <a:t>Beslissen</a:t>
            </a:r>
            <a:endParaRPr lang="en-US" sz="1100" dirty="0"/>
          </a:p>
        </p:txBody>
      </p:sp>
      <p:sp>
        <p:nvSpPr>
          <p:cNvPr id="23" name="Text 21"/>
          <p:cNvSpPr txBox="1"/>
          <p:nvPr/>
        </p:nvSpPr>
        <p:spPr>
          <a:xfrm>
            <a:off x="4838688" y="4780268"/>
            <a:ext cx="825498" cy="350519"/>
          </a:xfrm>
          <a:prstGeom prst="rect">
            <a:avLst/>
          </a:prstGeom>
          <a:noFill/>
          <a:ln/>
        </p:spPr>
        <p:txBody>
          <a:bodyPr wrap="square" lIns="0" tIns="0" rIns="0" bIns="0" rtlCol="0" anchor="ctr"/>
          <a:lstStyle/>
          <a:p>
            <a:pPr algn="r" indent="0" marL="0">
              <a:buNone/>
            </a:pPr>
            <a:r>
              <a:rPr lang="en-US" sz="1350" b="1" dirty="0">
                <a:solidFill>
                  <a:srgbClr val="1C2230"/>
                </a:solidFill>
                <a:latin typeface="Arial" pitchFamily="34" charset="0"/>
                <a:ea typeface="Arial" pitchFamily="34" charset="-122"/>
                <a:cs typeface="Arial" pitchFamily="34" charset="-120"/>
              </a:rPr>
              <a:t>Na de pilot</a:t>
            </a:r>
            <a:endParaRPr lang="en-US" sz="1350" dirty="0"/>
          </a:p>
        </p:txBody>
      </p:sp>
      <p:sp>
        <p:nvSpPr>
          <p:cNvPr id="24" name="Shape 22"/>
          <p:cNvSpPr/>
          <p:nvPr/>
        </p:nvSpPr>
        <p:spPr>
          <a:xfrm>
            <a:off x="6197585" y="2489194"/>
            <a:ext cx="5384787" cy="2768593"/>
          </a:xfrm>
          <a:prstGeom prst="roundRect">
            <a:avLst>
              <a:gd name="adj" fmla="val 3670"/>
            </a:avLst>
          </a:prstGeom>
          <a:solidFill>
            <a:srgbClr val="000000"/>
          </a:solidFill>
          <a:ln/>
        </p:spPr>
      </p:sp>
      <p:sp>
        <p:nvSpPr>
          <p:cNvPr id="25" name="Text 23"/>
          <p:cNvSpPr txBox="1"/>
          <p:nvPr/>
        </p:nvSpPr>
        <p:spPr>
          <a:xfrm>
            <a:off x="6527784" y="2743193"/>
            <a:ext cx="4724388" cy="190500"/>
          </a:xfrm>
          <a:prstGeom prst="rect">
            <a:avLst/>
          </a:prstGeom>
          <a:noFill/>
          <a:ln/>
        </p:spPr>
        <p:txBody>
          <a:bodyPr wrap="square" lIns="0" tIns="0" rIns="0" bIns="0" rtlCol="0" anchor="ctr"/>
          <a:lstStyle/>
          <a:p>
            <a:pPr indent="0" marL="0">
              <a:buNone/>
            </a:pPr>
            <a:r>
              <a:rPr lang="en-US" sz="800" b="1" spc="180" kern="0" dirty="0">
                <a:solidFill>
                  <a:srgbClr val="38B6FF"/>
                </a:solidFill>
                <a:latin typeface="Arial" pitchFamily="34" charset="0"/>
                <a:ea typeface="Arial" pitchFamily="34" charset="-122"/>
                <a:cs typeface="Arial" pitchFamily="34" charset="-120"/>
              </a:rPr>
              <a:t>VOOR CENTREBLOCK</a:t>
            </a:r>
            <a:endParaRPr lang="en-US" sz="800" dirty="0"/>
          </a:p>
        </p:txBody>
      </p:sp>
      <p:sp>
        <p:nvSpPr>
          <p:cNvPr id="26" name="Text 24"/>
          <p:cNvSpPr txBox="1"/>
          <p:nvPr/>
        </p:nvSpPr>
        <p:spPr>
          <a:xfrm>
            <a:off x="6527784" y="2959093"/>
            <a:ext cx="4724388" cy="355599"/>
          </a:xfrm>
          <a:prstGeom prst="rect">
            <a:avLst/>
          </a:prstGeom>
          <a:noFill/>
          <a:ln/>
        </p:spPr>
        <p:txBody>
          <a:bodyPr wrap="square" lIns="0" tIns="0" rIns="0" bIns="0" rtlCol="0" anchor="ctr"/>
          <a:lstStyle/>
          <a:p>
            <a:pPr indent="0" marL="0">
              <a:lnSpc>
                <a:spcPct val="115000"/>
              </a:lnSpc>
              <a:buNone/>
            </a:pPr>
            <a:r>
              <a:rPr lang="en-US" sz="1500" b="1" dirty="0">
                <a:solidFill>
                  <a:srgbClr val="F2EFE6"/>
                </a:solidFill>
                <a:latin typeface="Arial" pitchFamily="34" charset="0"/>
                <a:ea typeface="Arial" pitchFamily="34" charset="-122"/>
                <a:cs typeface="Arial" pitchFamily="34" charset="-120"/>
              </a:rPr>
              <a:t>Direct beldagen, per klant</a:t>
            </a:r>
            <a:endParaRPr lang="en-US" sz="1500" dirty="0"/>
          </a:p>
        </p:txBody>
      </p:sp>
      <p:sp>
        <p:nvSpPr>
          <p:cNvPr id="27" name="Text 25"/>
          <p:cNvSpPr txBox="1"/>
          <p:nvPr/>
        </p:nvSpPr>
        <p:spPr>
          <a:xfrm>
            <a:off x="6527784" y="3378192"/>
            <a:ext cx="4292589" cy="35051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Start</a:t>
            </a:r>
            <a:endParaRPr lang="en-US" sz="1100" dirty="0"/>
          </a:p>
        </p:txBody>
      </p:sp>
      <p:sp>
        <p:nvSpPr>
          <p:cNvPr id="28" name="Text 26"/>
          <p:cNvSpPr txBox="1"/>
          <p:nvPr/>
        </p:nvSpPr>
        <p:spPr>
          <a:xfrm>
            <a:off x="10426674" y="3378192"/>
            <a:ext cx="825498" cy="350519"/>
          </a:xfrm>
          <a:prstGeom prst="rect">
            <a:avLst/>
          </a:prstGeom>
          <a:noFill/>
          <a:ln/>
        </p:spPr>
        <p:txBody>
          <a:bodyPr wrap="square" lIns="0" tIns="0" rIns="0" bIns="0" rtlCol="0" anchor="ctr"/>
          <a:lstStyle/>
          <a:p>
            <a:pPr algn="r" indent="0" marL="0">
              <a:buNone/>
            </a:pPr>
            <a:r>
              <a:rPr lang="en-US" sz="1350" b="1" dirty="0">
                <a:solidFill>
                  <a:srgbClr val="38B6FF"/>
                </a:solidFill>
                <a:latin typeface="Arial" pitchFamily="34" charset="0"/>
                <a:ea typeface="Arial" pitchFamily="34" charset="-122"/>
                <a:cs typeface="Arial" pitchFamily="34" charset="-120"/>
              </a:rPr>
              <a:t>Opstart € 695</a:t>
            </a:r>
            <a:endParaRPr lang="en-US" sz="1350" dirty="0"/>
          </a:p>
        </p:txBody>
      </p:sp>
      <p:sp>
        <p:nvSpPr>
          <p:cNvPr id="29" name="Shape 27"/>
          <p:cNvSpPr/>
          <p:nvPr/>
        </p:nvSpPr>
        <p:spPr>
          <a:xfrm>
            <a:off x="6527784" y="3728711"/>
            <a:ext cx="4724388" cy="0"/>
          </a:xfrm>
          <a:prstGeom prst="line">
            <a:avLst/>
          </a:prstGeom>
          <a:noFill/>
          <a:ln w="9525">
            <a:solidFill>
              <a:srgbClr val="3A4152"/>
            </a:solidFill>
            <a:prstDash val="solid"/>
          </a:ln>
        </p:spPr>
      </p:sp>
      <p:sp>
        <p:nvSpPr>
          <p:cNvPr id="30" name="Text 28"/>
          <p:cNvSpPr txBox="1"/>
          <p:nvPr/>
        </p:nvSpPr>
        <p:spPr>
          <a:xfrm>
            <a:off x="6527784" y="3728711"/>
            <a:ext cx="4292589" cy="35051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Looptijd</a:t>
            </a:r>
            <a:endParaRPr lang="en-US" sz="1100" dirty="0"/>
          </a:p>
        </p:txBody>
      </p:sp>
      <p:sp>
        <p:nvSpPr>
          <p:cNvPr id="31" name="Text 29"/>
          <p:cNvSpPr txBox="1"/>
          <p:nvPr/>
        </p:nvSpPr>
        <p:spPr>
          <a:xfrm>
            <a:off x="10426674" y="3728711"/>
            <a:ext cx="825498" cy="350519"/>
          </a:xfrm>
          <a:prstGeom prst="rect">
            <a:avLst/>
          </a:prstGeom>
          <a:noFill/>
          <a:ln/>
        </p:spPr>
        <p:txBody>
          <a:bodyPr wrap="square" lIns="0" tIns="0" rIns="0" bIns="0" rtlCol="0" anchor="ctr"/>
          <a:lstStyle/>
          <a:p>
            <a:pPr algn="r" indent="0" marL="0">
              <a:buNone/>
            </a:pPr>
            <a:r>
              <a:rPr lang="en-US" sz="1350" b="1" dirty="0">
                <a:solidFill>
                  <a:srgbClr val="38B6FF"/>
                </a:solidFill>
                <a:latin typeface="Arial" pitchFamily="34" charset="0"/>
                <a:ea typeface="Arial" pitchFamily="34" charset="-122"/>
                <a:cs typeface="Arial" pitchFamily="34" charset="-120"/>
              </a:rPr>
              <a:t>Maand opzegtermijn</a:t>
            </a:r>
            <a:endParaRPr lang="en-US" sz="1350" dirty="0"/>
          </a:p>
        </p:txBody>
      </p:sp>
      <p:sp>
        <p:nvSpPr>
          <p:cNvPr id="32" name="Shape 30"/>
          <p:cNvSpPr/>
          <p:nvPr/>
        </p:nvSpPr>
        <p:spPr>
          <a:xfrm>
            <a:off x="6527784" y="4079230"/>
            <a:ext cx="4724388" cy="0"/>
          </a:xfrm>
          <a:prstGeom prst="line">
            <a:avLst/>
          </a:prstGeom>
          <a:noFill/>
          <a:ln w="9525">
            <a:solidFill>
              <a:srgbClr val="3A4152"/>
            </a:solidFill>
            <a:prstDash val="solid"/>
          </a:ln>
        </p:spPr>
      </p:sp>
      <p:sp>
        <p:nvSpPr>
          <p:cNvPr id="33" name="Text 31"/>
          <p:cNvSpPr txBox="1"/>
          <p:nvPr/>
        </p:nvSpPr>
        <p:spPr>
          <a:xfrm>
            <a:off x="6527784" y="4079230"/>
            <a:ext cx="4292589" cy="35051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Afspraak vooraf</a:t>
            </a:r>
            <a:endParaRPr lang="en-US" sz="1100" dirty="0"/>
          </a:p>
        </p:txBody>
      </p:sp>
      <p:sp>
        <p:nvSpPr>
          <p:cNvPr id="34" name="Text 32"/>
          <p:cNvSpPr txBox="1"/>
          <p:nvPr/>
        </p:nvSpPr>
        <p:spPr>
          <a:xfrm>
            <a:off x="10426674" y="4079230"/>
            <a:ext cx="825498" cy="350519"/>
          </a:xfrm>
          <a:prstGeom prst="rect">
            <a:avLst/>
          </a:prstGeom>
          <a:noFill/>
          <a:ln/>
        </p:spPr>
        <p:txBody>
          <a:bodyPr wrap="square" lIns="0" tIns="0" rIns="0" bIns="0" rtlCol="0" anchor="ctr"/>
          <a:lstStyle/>
          <a:p>
            <a:pPr algn="r" indent="0" marL="0">
              <a:buNone/>
            </a:pPr>
            <a:r>
              <a:rPr lang="en-US" sz="1350" b="1" dirty="0">
                <a:solidFill>
                  <a:srgbClr val="38B6FF"/>
                </a:solidFill>
                <a:latin typeface="Arial" pitchFamily="34" charset="0"/>
                <a:ea typeface="Arial" pitchFamily="34" charset="-122"/>
                <a:cs typeface="Arial" pitchFamily="34" charset="-120"/>
              </a:rPr>
              <a:t>Geen, we tellen</a:t>
            </a:r>
            <a:endParaRPr lang="en-US" sz="1350" dirty="0"/>
          </a:p>
        </p:txBody>
      </p:sp>
      <p:sp>
        <p:nvSpPr>
          <p:cNvPr id="35" name="Shape 33"/>
          <p:cNvSpPr/>
          <p:nvPr/>
        </p:nvSpPr>
        <p:spPr>
          <a:xfrm>
            <a:off x="6527784" y="4429749"/>
            <a:ext cx="4724388" cy="0"/>
          </a:xfrm>
          <a:prstGeom prst="line">
            <a:avLst/>
          </a:prstGeom>
          <a:noFill/>
          <a:ln w="9525">
            <a:solidFill>
              <a:srgbClr val="3A4152"/>
            </a:solidFill>
            <a:prstDash val="solid"/>
          </a:ln>
        </p:spPr>
      </p:sp>
      <p:sp>
        <p:nvSpPr>
          <p:cNvPr id="36" name="Text 34"/>
          <p:cNvSpPr txBox="1"/>
          <p:nvPr/>
        </p:nvSpPr>
        <p:spPr>
          <a:xfrm>
            <a:off x="6527784" y="4429749"/>
            <a:ext cx="4292589" cy="35051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Minimum daarna</a:t>
            </a:r>
            <a:endParaRPr lang="en-US" sz="1100" dirty="0"/>
          </a:p>
        </p:txBody>
      </p:sp>
      <p:sp>
        <p:nvSpPr>
          <p:cNvPr id="37" name="Text 35"/>
          <p:cNvSpPr txBox="1"/>
          <p:nvPr/>
        </p:nvSpPr>
        <p:spPr>
          <a:xfrm>
            <a:off x="10426674" y="4429749"/>
            <a:ext cx="825498" cy="350519"/>
          </a:xfrm>
          <a:prstGeom prst="rect">
            <a:avLst/>
          </a:prstGeom>
          <a:noFill/>
          <a:ln/>
        </p:spPr>
        <p:txBody>
          <a:bodyPr wrap="square" lIns="0" tIns="0" rIns="0" bIns="0" rtlCol="0" anchor="ctr"/>
          <a:lstStyle/>
          <a:p>
            <a:pPr algn="r" indent="0" marL="0">
              <a:buNone/>
            </a:pPr>
            <a:r>
              <a:rPr lang="en-US" sz="1350" b="1" dirty="0">
                <a:solidFill>
                  <a:srgbClr val="38B6FF"/>
                </a:solidFill>
                <a:latin typeface="Arial" pitchFamily="34" charset="0"/>
                <a:ea typeface="Arial" pitchFamily="34" charset="-122"/>
                <a:cs typeface="Arial" pitchFamily="34" charset="-120"/>
              </a:rPr>
              <a:t>2 beldagen</a:t>
            </a:r>
            <a:endParaRPr lang="en-US" sz="1350" dirty="0"/>
          </a:p>
        </p:txBody>
      </p:sp>
      <p:sp>
        <p:nvSpPr>
          <p:cNvPr id="38" name="Shape 36"/>
          <p:cNvSpPr/>
          <p:nvPr/>
        </p:nvSpPr>
        <p:spPr>
          <a:xfrm>
            <a:off x="6527784" y="4780268"/>
            <a:ext cx="4724388" cy="0"/>
          </a:xfrm>
          <a:prstGeom prst="line">
            <a:avLst/>
          </a:prstGeom>
          <a:noFill/>
          <a:ln w="9525">
            <a:solidFill>
              <a:srgbClr val="3A4152"/>
            </a:solidFill>
            <a:prstDash val="solid"/>
          </a:ln>
        </p:spPr>
      </p:sp>
      <p:sp>
        <p:nvSpPr>
          <p:cNvPr id="39" name="Text 37"/>
          <p:cNvSpPr txBox="1"/>
          <p:nvPr/>
        </p:nvSpPr>
        <p:spPr>
          <a:xfrm>
            <a:off x="6527784" y="4780268"/>
            <a:ext cx="4292589" cy="35051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Beslissen</a:t>
            </a:r>
            <a:endParaRPr lang="en-US" sz="1100" dirty="0"/>
          </a:p>
        </p:txBody>
      </p:sp>
      <p:sp>
        <p:nvSpPr>
          <p:cNvPr id="40" name="Text 38"/>
          <p:cNvSpPr txBox="1"/>
          <p:nvPr/>
        </p:nvSpPr>
        <p:spPr>
          <a:xfrm>
            <a:off x="10426674" y="4780268"/>
            <a:ext cx="825498" cy="350519"/>
          </a:xfrm>
          <a:prstGeom prst="rect">
            <a:avLst/>
          </a:prstGeom>
          <a:noFill/>
          <a:ln/>
        </p:spPr>
        <p:txBody>
          <a:bodyPr wrap="square" lIns="0" tIns="0" rIns="0" bIns="0" rtlCol="0" anchor="ctr"/>
          <a:lstStyle/>
          <a:p>
            <a:pPr algn="r" indent="0" marL="0">
              <a:buNone/>
            </a:pPr>
            <a:r>
              <a:rPr lang="en-US" sz="1350" b="1" dirty="0">
                <a:solidFill>
                  <a:srgbClr val="38B6FF"/>
                </a:solidFill>
                <a:latin typeface="Arial" pitchFamily="34" charset="0"/>
                <a:ea typeface="Arial" pitchFamily="34" charset="-122"/>
                <a:cs typeface="Arial" pitchFamily="34" charset="-120"/>
              </a:rPr>
              <a:t>Elke periode</a:t>
            </a:r>
            <a:endParaRPr lang="en-US" sz="1350" dirty="0"/>
          </a:p>
        </p:txBody>
      </p:sp>
      <p:sp>
        <p:nvSpPr>
          <p:cNvPr id="41" name="Shape 39"/>
          <p:cNvSpPr/>
          <p:nvPr/>
        </p:nvSpPr>
        <p:spPr>
          <a:xfrm>
            <a:off x="609598" y="5854685"/>
            <a:ext cx="76200" cy="76200"/>
          </a:xfrm>
          <a:prstGeom prst="ellipse">
            <a:avLst/>
          </a:prstGeom>
          <a:solidFill>
            <a:srgbClr val="38B6FF"/>
          </a:solidFill>
          <a:ln/>
        </p:spPr>
      </p:sp>
      <p:sp>
        <p:nvSpPr>
          <p:cNvPr id="42" name="Text 40"/>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Normaal vragen we eerst een pilot. Jullie kennen de klant al, dus die stap slaan we over. De drempel wordt daarmee € 695 in plaats van € 4.950.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HET MODEL</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Geen pilot.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Meteen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beldagen.</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Eenmalige opstart</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€ 695 per klant. Kick-off, USP's, inrichting van het belsysteem en een regionaal nummer op naam van de klant. Eén keer, daarna nooit meer.</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Beldagen per vier weken</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Daarna reken je per beldag. De klant kiest zelf hoeveel dagen er per periode gebeld wordt, vanaf twee. Normaal is onze ondergrens vier.</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een beldag is</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Een volle dag bellen door één vaste beller: ongeveer honderd gesprekspogingen, alle notities vastgelegd en dezelfde dag overgedragen.</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Op- en afschalen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Loopt het goed, dan zetten we er beldagen bij. Loopt het minder, dan schalen we terug naar twee. Vastgelegd met een maand opzegtermijn.</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OPSTART PER KLANT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€ 695</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eenmalig, excl. btw</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met de klant</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USP's en bezwaren</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en uitsluitingen</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Belsysteem en regionaal nummer</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Koppeling met jullie leads</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Daarna vanaf twee beldagen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8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BELDAGEN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Vanaf twee beldagen. Hoe meer dagen, hoe lager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dagprijs</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666993"/>
            <a:ext cx="10972773" cy="2355844"/>
          </a:xfrm>
          <a:prstGeom prst="roundRect">
            <a:avLst>
              <a:gd name="adj" fmla="val 4313"/>
            </a:avLst>
          </a:prstGeom>
          <a:ln w="9525">
            <a:solidFill>
              <a:srgbClr val="3A4152"/>
            </a:solidFill>
            <a:prstDash val="solid"/>
          </a:ln>
        </p:spPr>
      </p:sp>
      <p:sp>
        <p:nvSpPr>
          <p:cNvPr id="8" name="Text 6"/>
          <p:cNvSpPr txBox="1"/>
          <p:nvPr/>
        </p:nvSpPr>
        <p:spPr>
          <a:xfrm>
            <a:off x="888998" y="2666993"/>
            <a:ext cx="2920993"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BELDAGEN PER 4 WEKEN</a:t>
            </a:r>
            <a:endParaRPr lang="en-US" sz="800" dirty="0"/>
          </a:p>
        </p:txBody>
      </p:sp>
      <p:sp>
        <p:nvSpPr>
          <p:cNvPr id="9" name="Text 7"/>
          <p:cNvSpPr txBox="1"/>
          <p:nvPr/>
        </p:nvSpPr>
        <p:spPr>
          <a:xfrm>
            <a:off x="3886190" y="2666993"/>
            <a:ext cx="23494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PRIJS PER BELDAG</a:t>
            </a:r>
            <a:endParaRPr lang="en-US" sz="800" dirty="0"/>
          </a:p>
        </p:txBody>
      </p:sp>
      <p:sp>
        <p:nvSpPr>
          <p:cNvPr id="10" name="Text 8"/>
          <p:cNvSpPr txBox="1"/>
          <p:nvPr/>
        </p:nvSpPr>
        <p:spPr>
          <a:xfrm>
            <a:off x="6324584" y="2666993"/>
            <a:ext cx="23494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PER 4 WEKEN</a:t>
            </a:r>
            <a:endParaRPr lang="en-US" sz="800" dirty="0"/>
          </a:p>
        </p:txBody>
      </p:sp>
      <p:sp>
        <p:nvSpPr>
          <p:cNvPr id="11" name="Shape 9"/>
          <p:cNvSpPr/>
          <p:nvPr/>
        </p:nvSpPr>
        <p:spPr>
          <a:xfrm>
            <a:off x="609598" y="3136892"/>
            <a:ext cx="10972773" cy="0"/>
          </a:xfrm>
          <a:prstGeom prst="line">
            <a:avLst/>
          </a:prstGeom>
          <a:noFill/>
          <a:ln w="9525">
            <a:solidFill>
              <a:srgbClr val="3A4152"/>
            </a:solidFill>
            <a:prstDash val="solid"/>
          </a:ln>
        </p:spPr>
      </p:sp>
      <p:sp>
        <p:nvSpPr>
          <p:cNvPr id="12" name="Text 10"/>
          <p:cNvSpPr txBox="1"/>
          <p:nvPr/>
        </p:nvSpPr>
        <p:spPr>
          <a:xfrm>
            <a:off x="888998" y="3136892"/>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2 tot 4 beldagen</a:t>
            </a:r>
            <a:endParaRPr lang="en-US" sz="1250" dirty="0"/>
          </a:p>
        </p:txBody>
      </p:sp>
      <p:sp>
        <p:nvSpPr>
          <p:cNvPr id="13" name="Text 11"/>
          <p:cNvSpPr txBox="1"/>
          <p:nvPr/>
        </p:nvSpPr>
        <p:spPr>
          <a:xfrm>
            <a:off x="3886190" y="3136892"/>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€ 600</a:t>
            </a:r>
            <a:endParaRPr lang="en-US" sz="1250" dirty="0"/>
          </a:p>
        </p:txBody>
      </p:sp>
      <p:sp>
        <p:nvSpPr>
          <p:cNvPr id="14" name="Text 12"/>
          <p:cNvSpPr txBox="1"/>
          <p:nvPr/>
        </p:nvSpPr>
        <p:spPr>
          <a:xfrm>
            <a:off x="6324584" y="3136892"/>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€ 1.200 tot € 2.400</a:t>
            </a:r>
            <a:endParaRPr lang="en-US" sz="1250" dirty="0"/>
          </a:p>
        </p:txBody>
      </p:sp>
      <p:sp>
        <p:nvSpPr>
          <p:cNvPr id="15" name="Shape 13"/>
          <p:cNvSpPr/>
          <p:nvPr/>
        </p:nvSpPr>
        <p:spPr>
          <a:xfrm>
            <a:off x="609598" y="3765541"/>
            <a:ext cx="10972773" cy="0"/>
          </a:xfrm>
          <a:prstGeom prst="line">
            <a:avLst/>
          </a:prstGeom>
          <a:noFill/>
          <a:ln w="9525">
            <a:solidFill>
              <a:srgbClr val="3A4152"/>
            </a:solidFill>
            <a:prstDash val="solid"/>
          </a:ln>
        </p:spPr>
      </p:sp>
      <p:sp>
        <p:nvSpPr>
          <p:cNvPr id="16" name="Text 14"/>
          <p:cNvSpPr txBox="1"/>
          <p:nvPr/>
        </p:nvSpPr>
        <p:spPr>
          <a:xfrm>
            <a:off x="888998" y="3765541"/>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5 tot 7 beldagen</a:t>
            </a:r>
            <a:endParaRPr lang="en-US" sz="1250" dirty="0"/>
          </a:p>
        </p:txBody>
      </p:sp>
      <p:sp>
        <p:nvSpPr>
          <p:cNvPr id="17" name="Text 15"/>
          <p:cNvSpPr txBox="1"/>
          <p:nvPr/>
        </p:nvSpPr>
        <p:spPr>
          <a:xfrm>
            <a:off x="3886190" y="3765541"/>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€ 550</a:t>
            </a:r>
            <a:endParaRPr lang="en-US" sz="1250" dirty="0"/>
          </a:p>
        </p:txBody>
      </p:sp>
      <p:sp>
        <p:nvSpPr>
          <p:cNvPr id="18" name="Text 16"/>
          <p:cNvSpPr txBox="1"/>
          <p:nvPr/>
        </p:nvSpPr>
        <p:spPr>
          <a:xfrm>
            <a:off x="6324584" y="3765541"/>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€ 2.750 tot € 3.850</a:t>
            </a:r>
            <a:endParaRPr lang="en-US" sz="1250" dirty="0"/>
          </a:p>
        </p:txBody>
      </p:sp>
      <p:sp>
        <p:nvSpPr>
          <p:cNvPr id="19" name="Shape 17"/>
          <p:cNvSpPr/>
          <p:nvPr/>
        </p:nvSpPr>
        <p:spPr>
          <a:xfrm>
            <a:off x="615948" y="4394189"/>
            <a:ext cx="10960073" cy="628648"/>
          </a:xfrm>
          <a:prstGeom prst="rect">
            <a:avLst/>
          </a:prstGeom>
          <a:solidFill>
            <a:srgbClr val="38B6FF">
              <a:alpha val="11000"/>
            </a:srgbClr>
          </a:solidFill>
          <a:ln/>
        </p:spPr>
      </p:sp>
      <p:sp>
        <p:nvSpPr>
          <p:cNvPr id="20" name="Shape 18"/>
          <p:cNvSpPr/>
          <p:nvPr/>
        </p:nvSpPr>
        <p:spPr>
          <a:xfrm>
            <a:off x="609598" y="4394189"/>
            <a:ext cx="10972773" cy="0"/>
          </a:xfrm>
          <a:prstGeom prst="line">
            <a:avLst/>
          </a:prstGeom>
          <a:noFill/>
          <a:ln w="9525">
            <a:solidFill>
              <a:srgbClr val="3A4152"/>
            </a:solidFill>
            <a:prstDash val="solid"/>
          </a:ln>
        </p:spPr>
      </p:sp>
      <p:sp>
        <p:nvSpPr>
          <p:cNvPr id="21" name="Text 19"/>
          <p:cNvSpPr txBox="1"/>
          <p:nvPr/>
        </p:nvSpPr>
        <p:spPr>
          <a:xfrm>
            <a:off x="888998" y="4394189"/>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8 beldagen of meer</a:t>
            </a:r>
            <a:endParaRPr lang="en-US" sz="1250" dirty="0"/>
          </a:p>
        </p:txBody>
      </p:sp>
      <p:sp>
        <p:nvSpPr>
          <p:cNvPr id="22" name="Text 20"/>
          <p:cNvSpPr txBox="1"/>
          <p:nvPr/>
        </p:nvSpPr>
        <p:spPr>
          <a:xfrm>
            <a:off x="3886190" y="4394189"/>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€ 500</a:t>
            </a:r>
            <a:endParaRPr lang="en-US" sz="1250" dirty="0"/>
          </a:p>
        </p:txBody>
      </p:sp>
      <p:sp>
        <p:nvSpPr>
          <p:cNvPr id="23" name="Text 21"/>
          <p:cNvSpPr txBox="1"/>
          <p:nvPr/>
        </p:nvSpPr>
        <p:spPr>
          <a:xfrm>
            <a:off x="6324584" y="4394189"/>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vanaf € 4.000</a:t>
            </a:r>
            <a:endParaRPr lang="en-US" sz="1250" dirty="0"/>
          </a:p>
        </p:txBody>
      </p:sp>
      <p:sp>
        <p:nvSpPr>
          <p:cNvPr id="24" name="Shape 22"/>
          <p:cNvSpPr/>
          <p:nvPr/>
        </p:nvSpPr>
        <p:spPr>
          <a:xfrm>
            <a:off x="609598" y="5854685"/>
            <a:ext cx="76200" cy="76200"/>
          </a:xfrm>
          <a:prstGeom prst="ellipse">
            <a:avLst/>
          </a:prstGeom>
          <a:solidFill>
            <a:srgbClr val="38B6FF"/>
          </a:solidFill>
          <a:ln/>
        </p:spPr>
      </p:sp>
      <p:sp>
        <p:nvSpPr>
          <p:cNvPr id="25" name="Text 23"/>
          <p:cNvSpPr txBox="1"/>
          <p:nvPr/>
        </p:nvSpPr>
        <p:spPr>
          <a:xfrm>
            <a:off x="800098" y="5651486"/>
            <a:ext cx="9905975" cy="482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Minimaal twee beldagen per periode van vier weken, speciaal voor het partnership. Normaal ligt onze ondergrens op vier. Vooraf gefactureerd, prijzen excl. btw, de staffel telt per klant.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CENTREBLOCK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Leads met context,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per klant</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de klant en degene die de afspraken gaat voeren. Kees of een collega sluit aan.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Leads met context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lead plus wat jullie erover weten: het bedrijf, de campagne en waar de interesse vandaan komt. In welk formaat dan ook, wij sluiten aan.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Eén aanspreekpunt</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CentreBlock voor de afstemming, en per klant iemand die de afspraken voert.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10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Geen pilot vooraf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Normaal starten we met een pilot van € 4.950. Voor klanten van CentreBlock vervalt die, tegen een opstart van € 695.</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Maand opzegtermijn</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met een maand opzegtermijn. Geen jaarcontract.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Vanaf 2 beldagen per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Onze ondergrens is normaal vier. Voor dit partnership twee. Vooraf gefactureerd.</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de klant</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voor de klant en voor CentreBlock.</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Hun naam, onze uitvoering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de stijl van de klant, wij voeren uit.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 per klant.</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 met CentreBlock.</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11 / 11</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Dan starten we met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eerste klant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Kees geeft akkoord op de samenwerking en de tarieven.</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Eerste klant</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kiezen samen de klant waar we mee beginnen en plannen de kick-off.</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voorstel CentreBlock</dc:title>
  <dc:subject>PptxGenJS Presentation</dc:subject>
  <dc:creator>LINK.</dc:creator>
  <cp:lastModifiedBy>LINK.</cp:lastModifiedBy>
  <cp:revision>1</cp:revision>
  <dcterms:created xsi:type="dcterms:W3CDTF">2026-10-12T13:29:16Z</dcterms:created>
  <dcterms:modified xsi:type="dcterms:W3CDTF">2026-10-12T13:29:16Z</dcterms:modified>
</cp:coreProperties>
</file>