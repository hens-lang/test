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15</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JAAP · GROWON AGENCY · EVALUATIE 16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pilot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Twaalf weken bellen zit erop. In deze presentatie staat wat het heeft opgeleverd, wat we onderweg hebben geleerd en hoe we het vanaf november willen inrichten.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GrowOn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retailers en webshops met een draaiende shop, lopende advertenties en budget. Die filtering hebben we onderweg flink aangescherpt.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gefilterd op draaiende webshop en lopende advertenties,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In retail zijn dat maandag en dinsdag, vrijdag juist niet.</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een draaiende webshop of winkel met advertentiebudget, precies het profiel waar de afspraken tot nu toe uit kwamen.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een concrete aanleiding: ontevreden over het huidige bureau, een contract dat afloopt, of advertenties die stilliggen terwijl het budget er wel is.</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 eigenaar of de marketingverantwoordelijke. In retail is dat vaak dezelfde persoon.</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Ontevredenheid over de huidige partner is veruit de sterkste ingang. Bij de start van werkperiode 4 scherpen we deze drie eisen samen aan op wat de pilot heeft laten zien, zodat we allebei hetzelfde bedoelen met een goede afspraak.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Negen belweken,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geen gevoel maar 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1.213</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Over negen gebelde weken, van week 32 tot en met week 41.</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722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leverden de juiste persoon aan de lijn op.</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TERUGBELAFSPRAKEN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Concrete vervolgmomenten die we hebben vastgelegd en opvolgen.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Eenentwintig staan er, drie komen er nog bij voor 25 oktober. Gemiddeld een op de 51 pogingen.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 cijfers komen uit de wekelijkse rapportages die je elke week hebt ontvangen. Niets opgehoogd, niets weggelaten.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VERLOOP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Hoe langer we bellen,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hoe meer er uit komt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WERKPERIODE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 · week 32 t/m 35</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604</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17</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 week 36 t/m 39</a:t>
            </a:r>
            <a:pPr indent="0" marL="0">
              <a:buNone/>
            </a:pPr>
            <a:r>
              <a:rPr lang="en-US" sz="1000" i="1" dirty="0">
                <a:solidFill>
                  <a:srgbClr val="38B6FF"/>
                </a:solidFill>
                <a:latin typeface="Georgia" pitchFamily="34" charset="0"/>
                <a:ea typeface="Georgia" pitchFamily="34" charset="-122"/>
                <a:cs typeface="Georgia" pitchFamily="34" charset="-120"/>
              </a:rPr>
              <a:t>   vakantie</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379</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16</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 week 40 t/m 43</a:t>
            </a:r>
            <a:pPr indent="0" marL="0">
              <a:buNone/>
            </a:pPr>
            <a:r>
              <a:rPr lang="en-US" sz="1000" i="1" dirty="0">
                <a:solidFill>
                  <a:srgbClr val="38B6FF"/>
                </a:solidFill>
                <a:latin typeface="Georgia" pitchFamily="34" charset="0"/>
                <a:ea typeface="Georgia" pitchFamily="34" charset="-122"/>
                <a:cs typeface="Georgia" pitchFamily="34" charset="-120"/>
              </a:rPr>
              <a:t>   loopt nog</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230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Werkperiode 3 levert per duizend pogingen twee keer zoveel op als de eerste. Dat komt door de lijst met 290 terugbelafspraken die we onderweg hebben opgebouwd. Die lijst is nu het meest waardevolle dat er ligt.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Voorbereiding, notities en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Vijfentwintig pogingen per uur. Dat is het tempo dat onze bellers nu draaien, gemeten in de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leveren de juiste persoon aan de lijn op.</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2,5</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De ene dag twee, de andere vier. Over de pilot gemeten komt het op 3 per beldag uit, wij leggen ons vast op 2,5.</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Deze aantallen komen uit onze eigen urenregistratie en uit jullie pilot.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AFSPRAKEN DIE WE MET ELKAAR MAKEN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cijfers waar je ons op mag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afrekenen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793993"/>
          </a:xfrm>
          <a:prstGeom prst="roundRect">
            <a:avLst>
              <a:gd name="adj" fmla="val 3636"/>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WAT WE LEVEREN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BELDAGEN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8 BELDAGEN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Contactpogingen</a:t>
            </a:r>
            <a:endParaRPr lang="en-US" sz="1250" dirty="0"/>
          </a:p>
        </p:txBody>
      </p:sp>
      <p:sp>
        <p:nvSpPr>
          <p:cNvPr id="14" name="Text 12"/>
          <p:cNvSpPr txBox="1"/>
          <p:nvPr/>
        </p:nvSpPr>
        <p:spPr>
          <a:xfrm>
            <a:off x="3886190" y="3136892"/>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150</a:t>
            </a:r>
            <a:endParaRPr lang="en-US" sz="1250" dirty="0"/>
          </a:p>
        </p:txBody>
      </p:sp>
      <p:sp>
        <p:nvSpPr>
          <p:cNvPr id="15" name="Text 13"/>
          <p:cNvSpPr txBox="1"/>
          <p:nvPr/>
        </p:nvSpPr>
        <p:spPr>
          <a:xfrm>
            <a:off x="6324584" y="3136892"/>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600</a:t>
            </a:r>
            <a:endParaRPr lang="en-US" sz="1250" dirty="0"/>
          </a:p>
        </p:txBody>
      </p:sp>
      <p:sp>
        <p:nvSpPr>
          <p:cNvPr id="16" name="Text 14"/>
          <p:cNvSpPr txBox="1"/>
          <p:nvPr/>
        </p:nvSpPr>
        <p:spPr>
          <a:xfrm>
            <a:off x="8737578" y="3136892"/>
            <a:ext cx="25399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1.200</a:t>
            </a:r>
            <a:endParaRPr lang="en-US" sz="1250" dirty="0"/>
          </a:p>
        </p:txBody>
      </p:sp>
      <p:sp>
        <p:nvSpPr>
          <p:cNvPr id="17" name="Shape 15"/>
          <p:cNvSpPr/>
          <p:nvPr/>
        </p:nvSpPr>
        <p:spPr>
          <a:xfrm>
            <a:off x="609598" y="3717916"/>
            <a:ext cx="10972773" cy="0"/>
          </a:xfrm>
          <a:prstGeom prst="line">
            <a:avLst/>
          </a:prstGeom>
          <a:noFill/>
          <a:ln w="9525">
            <a:solidFill>
              <a:srgbClr val="3A4152"/>
            </a:solidFill>
            <a:prstDash val="solid"/>
          </a:ln>
        </p:spPr>
      </p:sp>
      <p:sp>
        <p:nvSpPr>
          <p:cNvPr id="18" name="Text 16"/>
          <p:cNvSpPr txBox="1"/>
          <p:nvPr/>
        </p:nvSpPr>
        <p:spPr>
          <a:xfrm>
            <a:off x="888998" y="3717916"/>
            <a:ext cx="2920993"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Bedrijven gesproken</a:t>
            </a:r>
            <a:endParaRPr lang="en-US" sz="1250" dirty="0"/>
          </a:p>
        </p:txBody>
      </p:sp>
      <p:sp>
        <p:nvSpPr>
          <p:cNvPr id="19" name="Text 17"/>
          <p:cNvSpPr txBox="1"/>
          <p:nvPr/>
        </p:nvSpPr>
        <p:spPr>
          <a:xfrm>
            <a:off x="3886190" y="3717916"/>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90</a:t>
            </a:r>
            <a:endParaRPr lang="en-US" sz="1250" dirty="0"/>
          </a:p>
        </p:txBody>
      </p:sp>
      <p:sp>
        <p:nvSpPr>
          <p:cNvPr id="20" name="Text 18"/>
          <p:cNvSpPr txBox="1"/>
          <p:nvPr/>
        </p:nvSpPr>
        <p:spPr>
          <a:xfrm>
            <a:off x="6324584" y="3717916"/>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360</a:t>
            </a:r>
            <a:endParaRPr lang="en-US" sz="1250" dirty="0"/>
          </a:p>
        </p:txBody>
      </p:sp>
      <p:sp>
        <p:nvSpPr>
          <p:cNvPr id="21" name="Text 19"/>
          <p:cNvSpPr txBox="1"/>
          <p:nvPr/>
        </p:nvSpPr>
        <p:spPr>
          <a:xfrm>
            <a:off x="8737578" y="3717916"/>
            <a:ext cx="25399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720</a:t>
            </a:r>
            <a:endParaRPr lang="en-US" sz="1250" dirty="0"/>
          </a:p>
        </p:txBody>
      </p:sp>
      <p:sp>
        <p:nvSpPr>
          <p:cNvPr id="22" name="Shape 20"/>
          <p:cNvSpPr/>
          <p:nvPr/>
        </p:nvSpPr>
        <p:spPr>
          <a:xfrm>
            <a:off x="609598" y="4298939"/>
            <a:ext cx="10972773" cy="0"/>
          </a:xfrm>
          <a:prstGeom prst="line">
            <a:avLst/>
          </a:prstGeom>
          <a:noFill/>
          <a:ln w="9525">
            <a:solidFill>
              <a:srgbClr val="3A4152"/>
            </a:solidFill>
            <a:prstDash val="solid"/>
          </a:ln>
        </p:spPr>
      </p:sp>
      <p:sp>
        <p:nvSpPr>
          <p:cNvPr id="23" name="Text 21"/>
          <p:cNvSpPr txBox="1"/>
          <p:nvPr/>
        </p:nvSpPr>
        <p:spPr>
          <a:xfrm>
            <a:off x="888998" y="4298939"/>
            <a:ext cx="2920993"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Terugbelafspraken</a:t>
            </a:r>
            <a:endParaRPr lang="en-US" sz="1250" dirty="0"/>
          </a:p>
        </p:txBody>
      </p:sp>
      <p:sp>
        <p:nvSpPr>
          <p:cNvPr id="24" name="Text 22"/>
          <p:cNvSpPr txBox="1"/>
          <p:nvPr/>
        </p:nvSpPr>
        <p:spPr>
          <a:xfrm>
            <a:off x="3886190" y="4298939"/>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35</a:t>
            </a:r>
            <a:endParaRPr lang="en-US" sz="1250" dirty="0"/>
          </a:p>
        </p:txBody>
      </p:sp>
      <p:sp>
        <p:nvSpPr>
          <p:cNvPr id="25" name="Text 23"/>
          <p:cNvSpPr txBox="1"/>
          <p:nvPr/>
        </p:nvSpPr>
        <p:spPr>
          <a:xfrm>
            <a:off x="6324584" y="4298939"/>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140</a:t>
            </a:r>
            <a:endParaRPr lang="en-US" sz="1250" dirty="0"/>
          </a:p>
        </p:txBody>
      </p:sp>
      <p:sp>
        <p:nvSpPr>
          <p:cNvPr id="26" name="Text 24"/>
          <p:cNvSpPr txBox="1"/>
          <p:nvPr/>
        </p:nvSpPr>
        <p:spPr>
          <a:xfrm>
            <a:off x="8737578" y="4298939"/>
            <a:ext cx="25399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280</a:t>
            </a:r>
            <a:endParaRPr lang="en-US" sz="1250" dirty="0"/>
          </a:p>
        </p:txBody>
      </p:sp>
      <p:sp>
        <p:nvSpPr>
          <p:cNvPr id="27" name="Shape 25"/>
          <p:cNvSpPr/>
          <p:nvPr/>
        </p:nvSpPr>
        <p:spPr>
          <a:xfrm>
            <a:off x="615948" y="4879963"/>
            <a:ext cx="10960073" cy="581024"/>
          </a:xfrm>
          <a:prstGeom prst="rect">
            <a:avLst/>
          </a:prstGeom>
          <a:solidFill>
            <a:srgbClr val="38B6FF">
              <a:alpha val="11000"/>
            </a:srgbClr>
          </a:solidFill>
          <a:ln/>
        </p:spPr>
      </p:sp>
      <p:sp>
        <p:nvSpPr>
          <p:cNvPr id="28" name="Shape 26"/>
          <p:cNvSpPr/>
          <p:nvPr/>
        </p:nvSpPr>
        <p:spPr>
          <a:xfrm>
            <a:off x="609598" y="4879963"/>
            <a:ext cx="10972773" cy="0"/>
          </a:xfrm>
          <a:prstGeom prst="line">
            <a:avLst/>
          </a:prstGeom>
          <a:noFill/>
          <a:ln w="9525">
            <a:solidFill>
              <a:srgbClr val="3A4152"/>
            </a:solidFill>
            <a:prstDash val="solid"/>
          </a:ln>
        </p:spPr>
      </p:sp>
      <p:sp>
        <p:nvSpPr>
          <p:cNvPr id="29" name="Text 27"/>
          <p:cNvSpPr txBox="1"/>
          <p:nvPr/>
        </p:nvSpPr>
        <p:spPr>
          <a:xfrm>
            <a:off x="888998" y="4879963"/>
            <a:ext cx="2920993"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Gekwalificeerde afspraken</a:t>
            </a:r>
            <a:endParaRPr lang="en-US" sz="1250" dirty="0"/>
          </a:p>
        </p:txBody>
      </p:sp>
      <p:sp>
        <p:nvSpPr>
          <p:cNvPr id="30" name="Text 28"/>
          <p:cNvSpPr txBox="1"/>
          <p:nvPr/>
        </p:nvSpPr>
        <p:spPr>
          <a:xfrm>
            <a:off x="3886190" y="4879963"/>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2,5</a:t>
            </a:r>
            <a:endParaRPr lang="en-US" sz="1250" dirty="0"/>
          </a:p>
        </p:txBody>
      </p:sp>
      <p:sp>
        <p:nvSpPr>
          <p:cNvPr id="31" name="Text 29"/>
          <p:cNvSpPr txBox="1"/>
          <p:nvPr/>
        </p:nvSpPr>
        <p:spPr>
          <a:xfrm>
            <a:off x="6324584" y="4879963"/>
            <a:ext cx="23494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32" name="Text 30"/>
          <p:cNvSpPr txBox="1"/>
          <p:nvPr/>
        </p:nvSpPr>
        <p:spPr>
          <a:xfrm>
            <a:off x="8737578" y="4879963"/>
            <a:ext cx="2539994" cy="581024"/>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20</a:t>
            </a:r>
            <a:endParaRPr lang="en-US" sz="1250" dirty="0"/>
          </a:p>
        </p:txBody>
      </p:sp>
      <p:sp>
        <p:nvSpPr>
          <p:cNvPr id="33" name="Shape 31"/>
          <p:cNvSpPr/>
          <p:nvPr/>
        </p:nvSpPr>
        <p:spPr>
          <a:xfrm>
            <a:off x="609598" y="5854685"/>
            <a:ext cx="76200" cy="76200"/>
          </a:xfrm>
          <a:prstGeom prst="ellipse">
            <a:avLst/>
          </a:prstGeom>
          <a:solidFill>
            <a:srgbClr val="38B6FF"/>
          </a:solidFill>
          <a:ln/>
        </p:spPr>
      </p:sp>
      <p:sp>
        <p:nvSpPr>
          <p:cNvPr id="34" name="Text 32"/>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zes uur bellen maken we altijd vol, dus de bovenste drie liggen vast. Halen we de afspraken niet, dan bellen we door tot het aantal er staat, zonder dat daar een factuur tegenover staat.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AFSPRAKEN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10</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€ 575</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€ 2.875 tot € 4.025</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13 tot 18</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 of meer</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€ 4.400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20</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gaan uit van honderdvijftig contactpogingen en 2,5 gekwalificeerde afspraken per beldag. In jullie pilot lag dat rendement op 3 per beldag, dus we rekenen met een marge. Minimaal vier beldagen per periode, prijzen excl. btw.</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AFREKENEN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betaalt per beldag, vooraf gefactureerd per werkperiode. Geen nacalculatie, geen kosten per afspraak en geen succesfee meer.</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Vier harde KPI's</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Contactpogingen, gesproken bedrijven, terugbelafspraken en gekwalificeerde afspraken. Vastgelegd per beldag en zichtbaar in elke rapportage.</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dan bellen we door</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Blijft een werkperiode onder de KPI's, dan bellen we in de volgende periode door tot het aantal er staat. Zonder extra factuur.</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Goedkoper naarmate je langer blijft</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dagprijs zakt van 600 naar 550 euro bij acht beldagen. Daarmee gaat de prijs per afspraak van 240 naar 220 euro, met twee keer zoveel afspraken.</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8 beldagen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2,5 gekwalificeerde afspraken per beldag</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Niet gehaald is doorbellen zonder factuur</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Prijs staat vast tot en met 2027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OPSCHALEN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Hetzelfde ritme, of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twee keer zoveel</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€ 1.600 per werkperiode</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2,7</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400</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beldag</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€ 590</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afspraak</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€ 200</a:t>
            </a:r>
            <a:endParaRPr lang="en-US" sz="1150" dirty="0"/>
          </a:p>
        </p:txBody>
      </p:sp>
      <p:sp>
        <p:nvSpPr>
          <p:cNvPr id="24" name="Shape 22"/>
          <p:cNvSpPr/>
          <p:nvPr/>
        </p:nvSpPr>
        <p:spPr>
          <a:xfrm>
            <a:off x="4317989" y="2489194"/>
            <a:ext cx="3555991" cy="2768593"/>
          </a:xfrm>
          <a:prstGeom prst="roundRect">
            <a:avLst>
              <a:gd name="adj" fmla="val 3670"/>
            </a:avLst>
          </a:prstGeom>
          <a:solidFill>
            <a:srgbClr val="F8F4EB"/>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4 beldagen per werkperiode</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4</a:t>
            </a:r>
            <a:endParaRPr lang="en-US" sz="1150" dirty="0"/>
          </a:p>
        </p:txBody>
      </p:sp>
      <p:sp>
        <p:nvSpPr>
          <p:cNvPr id="29" name="Shape 27"/>
          <p:cNvSpPr/>
          <p:nvPr/>
        </p:nvSpPr>
        <p:spPr>
          <a:xfrm>
            <a:off x="4533889" y="3728711"/>
            <a:ext cx="3124192" cy="0"/>
          </a:xfrm>
          <a:prstGeom prst="line">
            <a:avLst/>
          </a:prstGeom>
          <a:noFill/>
          <a:ln w="9525">
            <a:solidFill>
              <a:srgbClr val="D8D2C4"/>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600</a:t>
            </a:r>
            <a:endParaRPr lang="en-US" sz="1150" dirty="0"/>
          </a:p>
        </p:txBody>
      </p:sp>
      <p:sp>
        <p:nvSpPr>
          <p:cNvPr id="32" name="Shape 30"/>
          <p:cNvSpPr/>
          <p:nvPr/>
        </p:nvSpPr>
        <p:spPr>
          <a:xfrm>
            <a:off x="4533889" y="4079230"/>
            <a:ext cx="3124192" cy="0"/>
          </a:xfrm>
          <a:prstGeom prst="line">
            <a:avLst/>
          </a:prstGeom>
          <a:noFill/>
          <a:ln w="9525">
            <a:solidFill>
              <a:srgbClr val="D8D2C4"/>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10</a:t>
            </a:r>
            <a:endParaRPr lang="en-US" sz="1150" dirty="0"/>
          </a:p>
        </p:txBody>
      </p:sp>
      <p:sp>
        <p:nvSpPr>
          <p:cNvPr id="35" name="Shape 33"/>
          <p:cNvSpPr/>
          <p:nvPr/>
        </p:nvSpPr>
        <p:spPr>
          <a:xfrm>
            <a:off x="4533889" y="4429749"/>
            <a:ext cx="3124192" cy="0"/>
          </a:xfrm>
          <a:prstGeom prst="line">
            <a:avLst/>
          </a:prstGeom>
          <a:noFill/>
          <a:ln w="9525">
            <a:solidFill>
              <a:srgbClr val="D8D2C4"/>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beldag</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€ 600</a:t>
            </a:r>
            <a:endParaRPr lang="en-US" sz="1150" dirty="0"/>
          </a:p>
        </p:txBody>
      </p:sp>
      <p:sp>
        <p:nvSpPr>
          <p:cNvPr id="38" name="Shape 36"/>
          <p:cNvSpPr/>
          <p:nvPr/>
        </p:nvSpPr>
        <p:spPr>
          <a:xfrm>
            <a:off x="4533889" y="4780268"/>
            <a:ext cx="3124192" cy="0"/>
          </a:xfrm>
          <a:prstGeom prst="line">
            <a:avLst/>
          </a:prstGeom>
          <a:noFill/>
          <a:ln w="9525">
            <a:solidFill>
              <a:srgbClr val="D8D2C4"/>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afspraak</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€ 240</a:t>
            </a:r>
            <a:endParaRPr lang="en-US" sz="1150" dirty="0"/>
          </a:p>
        </p:txBody>
      </p:sp>
      <p:sp>
        <p:nvSpPr>
          <p:cNvPr id="41" name="Shape 39"/>
          <p:cNvSpPr/>
          <p:nvPr/>
        </p:nvSpPr>
        <p:spPr>
          <a:xfrm>
            <a:off x="8026380" y="2489194"/>
            <a:ext cx="3555991" cy="2768593"/>
          </a:xfrm>
          <a:prstGeom prst="roundRect">
            <a:avLst>
              <a:gd name="adj" fmla="val 3670"/>
            </a:avLst>
          </a:prstGeom>
          <a:solidFill>
            <a:srgbClr val="000000"/>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OPSCHALEN</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8 beldagen per werkperiode</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Beldagen</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8</a:t>
            </a:r>
            <a:endParaRPr lang="en-US" sz="1150" dirty="0"/>
          </a:p>
        </p:txBody>
      </p:sp>
      <p:sp>
        <p:nvSpPr>
          <p:cNvPr id="46" name="Shape 44"/>
          <p:cNvSpPr/>
          <p:nvPr/>
        </p:nvSpPr>
        <p:spPr>
          <a:xfrm>
            <a:off x="8242279" y="3728711"/>
            <a:ext cx="3124192" cy="0"/>
          </a:xfrm>
          <a:prstGeom prst="line">
            <a:avLst/>
          </a:prstGeom>
          <a:noFill/>
          <a:ln w="9525">
            <a:solidFill>
              <a:srgbClr val="3A4152"/>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Contactpogingen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1.200</a:t>
            </a:r>
            <a:endParaRPr lang="en-US" sz="1150" dirty="0"/>
          </a:p>
        </p:txBody>
      </p:sp>
      <p:sp>
        <p:nvSpPr>
          <p:cNvPr id="49" name="Shape 47"/>
          <p:cNvSpPr/>
          <p:nvPr/>
        </p:nvSpPr>
        <p:spPr>
          <a:xfrm>
            <a:off x="8242279" y="4079230"/>
            <a:ext cx="3124192" cy="0"/>
          </a:xfrm>
          <a:prstGeom prst="line">
            <a:avLst/>
          </a:prstGeom>
          <a:noFill/>
          <a:ln w="9525">
            <a:solidFill>
              <a:srgbClr val="3A4152"/>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Afspraken</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20</a:t>
            </a:r>
            <a:endParaRPr lang="en-US" sz="1150" dirty="0"/>
          </a:p>
        </p:txBody>
      </p:sp>
      <p:sp>
        <p:nvSpPr>
          <p:cNvPr id="52" name="Shape 50"/>
          <p:cNvSpPr/>
          <p:nvPr/>
        </p:nvSpPr>
        <p:spPr>
          <a:xfrm>
            <a:off x="8242279" y="4429749"/>
            <a:ext cx="3124192" cy="0"/>
          </a:xfrm>
          <a:prstGeom prst="line">
            <a:avLst/>
          </a:prstGeom>
          <a:noFill/>
          <a:ln w="9525">
            <a:solidFill>
              <a:srgbClr val="3A4152"/>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beldag</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€ 550</a:t>
            </a:r>
            <a:endParaRPr lang="en-US" sz="1150" dirty="0"/>
          </a:p>
        </p:txBody>
      </p:sp>
      <p:sp>
        <p:nvSpPr>
          <p:cNvPr id="55" name="Shape 53"/>
          <p:cNvSpPr/>
          <p:nvPr/>
        </p:nvSpPr>
        <p:spPr>
          <a:xfrm>
            <a:off x="8242279" y="4780268"/>
            <a:ext cx="3124192" cy="0"/>
          </a:xfrm>
          <a:prstGeom prst="line">
            <a:avLst/>
          </a:prstGeom>
          <a:noFill/>
          <a:ln w="9525">
            <a:solidFill>
              <a:srgbClr val="3A4152"/>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afspraak</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€ 220</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Je betaalt nu al bijna zeshonderd euro per beldag, alleen koop je er maar bijna drie per periode. Bij acht beldagen zakt de dagprijs naar 550 euro en de prijs per afspraak naar 220, met twee keer zoveel afspraken.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GROWON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Weinig, want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draait al</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Scherper profiel</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halfuur om de doelgroep verder aan te scherpen op wat in de pilot het beste werkte: draaiende webshop, lopende advertenties en budget.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al klant zijn of waar Jaap zelf al in gesprek is.</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afspraak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GrowOn die de afspraken voert. Tot nu toe is dat Jaap zelf.</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Vier KPI's in de overeenkomst</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Pogingen, gesproken bedrijven, terugbelafspraken en gekwalificeerde afspraken, per beldag vastgelegd.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 gehaald is doorbellen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bellen door tot het aantal er staat, zonder extra factuur.</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Kwalificatie-eisen samen vastgesteld</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Per werkperiode bepalen jullie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Prijs vast tot en met 2027</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dagprijs en de staffel blijven ongewijzigd. Geen jaarlijkse indexatie.</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Maand opzegtermijn</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Geen jaarcontract en geen opstartkosten meer.</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Jaap geeft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Vastleggen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een korte aanvulling op de samenwerkingsovereenkomst.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GrowOn Agency</dc:title>
  <dc:subject>PptxGenJS Presentation</dc:subject>
  <dc:creator>LINK.</dc:creator>
  <cp:lastModifiedBy>LINK.</cp:lastModifiedBy>
  <cp:revision>1</cp:revision>
  <dcterms:created xsi:type="dcterms:W3CDTF">2026-10-11T17:17:08Z</dcterms:created>
  <dcterms:modified xsi:type="dcterms:W3CDTF">2026-10-11T17:17:08Z</dcterms:modified>
</cp:coreProperties>
</file>