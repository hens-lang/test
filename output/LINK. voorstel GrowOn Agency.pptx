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Er verandert weinig. Zelfde team, zelfde bellijst en dezelfde wekelijkse rapportage. Vanaf werkperiode 4 rekenen we in beldagen, met harde aantallen en een scherpere afspraak over wat een afspraak is.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Vijfentwintig pogingen per uur. Dat is het tempo dat onze bellers nu draaien, gemeten in de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De ene dag twee, de andere vier. Over de pilot gemeten komt het op 3 per beldag uit, wij leggen ons vast op 2,5.</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onze eigen urenregistratie en uit jullie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Eén belofte: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tien 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per werkperiode.</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WAT WE LEVEREN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6 BELDAGEN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Contactpogingen</a:t>
            </a:r>
            <a:pPr indent="0" marL="0">
              <a:buNone/>
            </a:pPr>
            <a:r>
              <a:rPr lang="en-US" sz="1000" i="1" dirty="0">
                <a:solidFill>
                  <a:srgbClr val="38B6FF"/>
                </a:solidFill>
                <a:latin typeface="Georgia" pitchFamily="34" charset="0"/>
                <a:ea typeface="Georgia" pitchFamily="34" charset="-122"/>
                <a:cs typeface="Georgia" pitchFamily="34" charset="-120"/>
              </a:rPr>
              <a:t>   vast</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900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Bedrijven gesproken</a:t>
            </a:r>
            <a:pPr indent="0" marL="0">
              <a:buNone/>
            </a:pPr>
            <a:r>
              <a:rPr lang="en-US" sz="1000" i="1" dirty="0">
                <a:solidFill>
                  <a:srgbClr val="38B6FF"/>
                </a:solidFill>
                <a:latin typeface="Georgia" pitchFamily="34" charset="0"/>
                <a:ea typeface="Georgia" pitchFamily="34" charset="-122"/>
                <a:cs typeface="Georgia" pitchFamily="34" charset="-120"/>
              </a:rPr>
              <a:t>   verwachting</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360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540</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Afspraken</a:t>
            </a:r>
            <a:pPr indent="0" marL="0">
              <a:buNone/>
            </a:pPr>
            <a:r>
              <a:rPr lang="en-US" sz="1000" i="1" dirty="0">
                <a:solidFill>
                  <a:srgbClr val="38B6FF"/>
                </a:solidFill>
                <a:latin typeface="Georgia" pitchFamily="34" charset="0"/>
                <a:ea typeface="Georgia" pitchFamily="34" charset="-122"/>
                <a:cs typeface="Georgia" pitchFamily="34" charset="-120"/>
              </a:rPr>
              <a:t>   gegarandeerd</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2,5</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honderdvijftig pogingen per beldag staan vast. Hoeveel bedrijven we spreken hangt af van de bereikbaarheid. Garanderen doen we alleen de tien afspraken, en halen we die niet, dan krijgen jullie een beldag cadeau.</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€ 575</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€ 2.875 tot € 4.025</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13 tot 18</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€ 4.400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gaan uit van honderdvijftig contactpogingen en 2,5 gekwalificeerde afspraken per beldag. In jullie pilot lag dat rendement op 3 per beldag, dus we rekenen met een marge.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en geen kosten per afspraak.</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afspraken per periode</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Dat is de afspraak waar je ons aan mag houden. Het aantal pogingen en gesprekken laten we zien in de rapportage, maar de tien afspraken zijn wat we garanderen.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Komt een werkperiode onder de tien afspraken, dan bellen we de volgende periode een dag extra die niet op de rekening komt.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van 5 procent</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Over de omzet die een klant uit onze afspraken jullie in het eerste jaar oplevert. Zo blijven wij sturen op afspraken die ook echt klant worden, niet op aantallen.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10 gekwalificeerde afspraken per periode</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VERANDERT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werk, nu met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harde aantallen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2657468" cy="2768593"/>
          </a:xfrm>
          <a:prstGeom prst="roundRect">
            <a:avLst>
              <a:gd name="adj" fmla="val 3823"/>
            </a:avLst>
          </a:prstGeom>
          <a:solidFill>
            <a:srgbClr val="F8F4EB"/>
          </a:solidFill>
          <a:ln/>
        </p:spPr>
      </p:sp>
      <p:sp>
        <p:nvSpPr>
          <p:cNvPr id="8" name="Text 6"/>
          <p:cNvSpPr txBox="1"/>
          <p:nvPr/>
        </p:nvSpPr>
        <p:spPr>
          <a:xfrm>
            <a:off x="774698"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774698"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Zoals het nu loopt</a:t>
            </a:r>
            <a:endParaRPr lang="en-US" sz="1050" dirty="0"/>
          </a:p>
        </p:txBody>
      </p:sp>
      <p:sp>
        <p:nvSpPr>
          <p:cNvPr id="10" name="Text 8"/>
          <p:cNvSpPr txBox="1"/>
          <p:nvPr/>
        </p:nvSpPr>
        <p:spPr>
          <a:xfrm>
            <a:off x="774698"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2276469"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2,7</a:t>
            </a:r>
            <a:endParaRPr lang="en-US" sz="1000" dirty="0"/>
          </a:p>
        </p:txBody>
      </p:sp>
      <p:sp>
        <p:nvSpPr>
          <p:cNvPr id="12" name="Shape 10"/>
          <p:cNvSpPr/>
          <p:nvPr/>
        </p:nvSpPr>
        <p:spPr>
          <a:xfrm>
            <a:off x="774698" y="3728711"/>
            <a:ext cx="2327269" cy="0"/>
          </a:xfrm>
          <a:prstGeom prst="line">
            <a:avLst/>
          </a:prstGeom>
          <a:noFill/>
          <a:ln w="9525">
            <a:solidFill>
              <a:srgbClr val="D8D2C4"/>
            </a:solidFill>
            <a:prstDash val="solid"/>
          </a:ln>
        </p:spPr>
      </p:sp>
      <p:sp>
        <p:nvSpPr>
          <p:cNvPr id="13" name="Text 11"/>
          <p:cNvSpPr txBox="1"/>
          <p:nvPr/>
        </p:nvSpPr>
        <p:spPr>
          <a:xfrm>
            <a:off x="774698"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14" name="Text 12"/>
          <p:cNvSpPr txBox="1"/>
          <p:nvPr/>
        </p:nvSpPr>
        <p:spPr>
          <a:xfrm>
            <a:off x="2276469"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400</a:t>
            </a:r>
            <a:endParaRPr lang="en-US" sz="1000" dirty="0"/>
          </a:p>
        </p:txBody>
      </p:sp>
      <p:sp>
        <p:nvSpPr>
          <p:cNvPr id="15" name="Shape 13"/>
          <p:cNvSpPr/>
          <p:nvPr/>
        </p:nvSpPr>
        <p:spPr>
          <a:xfrm>
            <a:off x="774698" y="4079230"/>
            <a:ext cx="2327269" cy="0"/>
          </a:xfrm>
          <a:prstGeom prst="line">
            <a:avLst/>
          </a:prstGeom>
          <a:noFill/>
          <a:ln w="9525">
            <a:solidFill>
              <a:srgbClr val="D8D2C4"/>
            </a:solidFill>
            <a:prstDash val="solid"/>
          </a:ln>
        </p:spPr>
      </p:sp>
      <p:sp>
        <p:nvSpPr>
          <p:cNvPr id="16" name="Text 14"/>
          <p:cNvSpPr txBox="1"/>
          <p:nvPr/>
        </p:nvSpPr>
        <p:spPr>
          <a:xfrm>
            <a:off x="774698"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17" name="Text 15"/>
          <p:cNvSpPr txBox="1"/>
          <p:nvPr/>
        </p:nvSpPr>
        <p:spPr>
          <a:xfrm>
            <a:off x="2276469"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8</a:t>
            </a:r>
            <a:endParaRPr lang="en-US" sz="1000" dirty="0"/>
          </a:p>
        </p:txBody>
      </p:sp>
      <p:sp>
        <p:nvSpPr>
          <p:cNvPr id="18" name="Shape 16"/>
          <p:cNvSpPr/>
          <p:nvPr/>
        </p:nvSpPr>
        <p:spPr>
          <a:xfrm>
            <a:off x="774698" y="4429749"/>
            <a:ext cx="2327269" cy="0"/>
          </a:xfrm>
          <a:prstGeom prst="line">
            <a:avLst/>
          </a:prstGeom>
          <a:noFill/>
          <a:ln w="9525">
            <a:solidFill>
              <a:srgbClr val="D8D2C4"/>
            </a:solidFill>
            <a:prstDash val="solid"/>
          </a:ln>
        </p:spPr>
      </p:sp>
      <p:sp>
        <p:nvSpPr>
          <p:cNvPr id="19" name="Text 17"/>
          <p:cNvSpPr txBox="1"/>
          <p:nvPr/>
        </p:nvSpPr>
        <p:spPr>
          <a:xfrm>
            <a:off x="774698"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20" name="Text 18"/>
          <p:cNvSpPr txBox="1"/>
          <p:nvPr/>
        </p:nvSpPr>
        <p:spPr>
          <a:xfrm>
            <a:off x="2276469"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€ 593</a:t>
            </a:r>
            <a:endParaRPr lang="en-US" sz="1000" dirty="0"/>
          </a:p>
        </p:txBody>
      </p:sp>
      <p:sp>
        <p:nvSpPr>
          <p:cNvPr id="21" name="Shape 19"/>
          <p:cNvSpPr/>
          <p:nvPr/>
        </p:nvSpPr>
        <p:spPr>
          <a:xfrm>
            <a:off x="774698" y="4780268"/>
            <a:ext cx="2327269" cy="0"/>
          </a:xfrm>
          <a:prstGeom prst="line">
            <a:avLst/>
          </a:prstGeom>
          <a:noFill/>
          <a:ln w="9525">
            <a:solidFill>
              <a:srgbClr val="D8D2C4"/>
            </a:solidFill>
            <a:prstDash val="solid"/>
          </a:ln>
        </p:spPr>
      </p:sp>
      <p:sp>
        <p:nvSpPr>
          <p:cNvPr id="22" name="Text 20"/>
          <p:cNvSpPr txBox="1"/>
          <p:nvPr/>
        </p:nvSpPr>
        <p:spPr>
          <a:xfrm>
            <a:off x="774698"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23" name="Text 21"/>
          <p:cNvSpPr txBox="1"/>
          <p:nvPr/>
        </p:nvSpPr>
        <p:spPr>
          <a:xfrm>
            <a:off x="2276469"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€ 1.600</a:t>
            </a:r>
            <a:endParaRPr lang="en-US" sz="1000" dirty="0"/>
          </a:p>
        </p:txBody>
      </p:sp>
      <p:sp>
        <p:nvSpPr>
          <p:cNvPr id="24" name="Shape 22"/>
          <p:cNvSpPr/>
          <p:nvPr/>
        </p:nvSpPr>
        <p:spPr>
          <a:xfrm>
            <a:off x="3381367" y="2489194"/>
            <a:ext cx="2657468" cy="2768593"/>
          </a:xfrm>
          <a:prstGeom prst="roundRect">
            <a:avLst>
              <a:gd name="adj" fmla="val 3823"/>
            </a:avLst>
          </a:prstGeom>
          <a:solidFill>
            <a:srgbClr val="000000"/>
          </a:solidFill>
          <a:ln/>
        </p:spPr>
      </p:sp>
      <p:sp>
        <p:nvSpPr>
          <p:cNvPr id="25" name="Text 23"/>
          <p:cNvSpPr txBox="1"/>
          <p:nvPr/>
        </p:nvSpPr>
        <p:spPr>
          <a:xfrm>
            <a:off x="3546466" y="2743193"/>
            <a:ext cx="2327269"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3546466"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F2EFE6"/>
                </a:solidFill>
                <a:latin typeface="Arial" pitchFamily="34" charset="0"/>
                <a:ea typeface="Arial" pitchFamily="34" charset="-122"/>
                <a:cs typeface="Arial" pitchFamily="34" charset="-120"/>
              </a:rPr>
              <a:t>Vier beldagen</a:t>
            </a:r>
            <a:endParaRPr lang="en-US" sz="1050" dirty="0"/>
          </a:p>
        </p:txBody>
      </p:sp>
      <p:sp>
        <p:nvSpPr>
          <p:cNvPr id="27" name="Text 25"/>
          <p:cNvSpPr txBox="1"/>
          <p:nvPr/>
        </p:nvSpPr>
        <p:spPr>
          <a:xfrm>
            <a:off x="3546466" y="3378192"/>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Beldagen</a:t>
            </a:r>
            <a:endParaRPr lang="en-US" sz="800" dirty="0"/>
          </a:p>
        </p:txBody>
      </p:sp>
      <p:sp>
        <p:nvSpPr>
          <p:cNvPr id="28" name="Text 26"/>
          <p:cNvSpPr txBox="1"/>
          <p:nvPr/>
        </p:nvSpPr>
        <p:spPr>
          <a:xfrm>
            <a:off x="5048237" y="3378192"/>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9" name="Shape 27"/>
          <p:cNvSpPr/>
          <p:nvPr/>
        </p:nvSpPr>
        <p:spPr>
          <a:xfrm>
            <a:off x="3546466" y="3728711"/>
            <a:ext cx="2327269" cy="0"/>
          </a:xfrm>
          <a:prstGeom prst="line">
            <a:avLst/>
          </a:prstGeom>
          <a:noFill/>
          <a:ln w="9525">
            <a:solidFill>
              <a:srgbClr val="3A4152"/>
            </a:solidFill>
            <a:prstDash val="solid"/>
          </a:ln>
        </p:spPr>
      </p:sp>
      <p:sp>
        <p:nvSpPr>
          <p:cNvPr id="30" name="Text 28"/>
          <p:cNvSpPr txBox="1"/>
          <p:nvPr/>
        </p:nvSpPr>
        <p:spPr>
          <a:xfrm>
            <a:off x="3546466" y="3728711"/>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Contactpogingen</a:t>
            </a:r>
            <a:endParaRPr lang="en-US" sz="800" dirty="0"/>
          </a:p>
        </p:txBody>
      </p:sp>
      <p:sp>
        <p:nvSpPr>
          <p:cNvPr id="31" name="Text 29"/>
          <p:cNvSpPr txBox="1"/>
          <p:nvPr/>
        </p:nvSpPr>
        <p:spPr>
          <a:xfrm>
            <a:off x="5048237" y="3728711"/>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600</a:t>
            </a:r>
            <a:endParaRPr lang="en-US" sz="1000" dirty="0"/>
          </a:p>
        </p:txBody>
      </p:sp>
      <p:sp>
        <p:nvSpPr>
          <p:cNvPr id="32" name="Shape 30"/>
          <p:cNvSpPr/>
          <p:nvPr/>
        </p:nvSpPr>
        <p:spPr>
          <a:xfrm>
            <a:off x="3546466" y="4079230"/>
            <a:ext cx="2327269" cy="0"/>
          </a:xfrm>
          <a:prstGeom prst="line">
            <a:avLst/>
          </a:prstGeom>
          <a:noFill/>
          <a:ln w="9525">
            <a:solidFill>
              <a:srgbClr val="3A4152"/>
            </a:solidFill>
            <a:prstDash val="solid"/>
          </a:ln>
        </p:spPr>
      </p:sp>
      <p:sp>
        <p:nvSpPr>
          <p:cNvPr id="33" name="Text 31"/>
          <p:cNvSpPr txBox="1"/>
          <p:nvPr/>
        </p:nvSpPr>
        <p:spPr>
          <a:xfrm>
            <a:off x="3546466" y="4079230"/>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Afspraken</a:t>
            </a:r>
            <a:endParaRPr lang="en-US" sz="800" dirty="0"/>
          </a:p>
        </p:txBody>
      </p:sp>
      <p:sp>
        <p:nvSpPr>
          <p:cNvPr id="34" name="Text 32"/>
          <p:cNvSpPr txBox="1"/>
          <p:nvPr/>
        </p:nvSpPr>
        <p:spPr>
          <a:xfrm>
            <a:off x="5048237" y="4079230"/>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10</a:t>
            </a:r>
            <a:endParaRPr lang="en-US" sz="1000" dirty="0"/>
          </a:p>
        </p:txBody>
      </p:sp>
      <p:sp>
        <p:nvSpPr>
          <p:cNvPr id="35" name="Shape 33"/>
          <p:cNvSpPr/>
          <p:nvPr/>
        </p:nvSpPr>
        <p:spPr>
          <a:xfrm>
            <a:off x="3546466" y="4429749"/>
            <a:ext cx="2327269" cy="0"/>
          </a:xfrm>
          <a:prstGeom prst="line">
            <a:avLst/>
          </a:prstGeom>
          <a:noFill/>
          <a:ln w="9525">
            <a:solidFill>
              <a:srgbClr val="3A4152"/>
            </a:solidFill>
            <a:prstDash val="solid"/>
          </a:ln>
        </p:spPr>
      </p:sp>
      <p:sp>
        <p:nvSpPr>
          <p:cNvPr id="36" name="Text 34"/>
          <p:cNvSpPr txBox="1"/>
          <p:nvPr/>
        </p:nvSpPr>
        <p:spPr>
          <a:xfrm>
            <a:off x="3546466" y="4429749"/>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beldag</a:t>
            </a:r>
            <a:endParaRPr lang="en-US" sz="800" dirty="0"/>
          </a:p>
        </p:txBody>
      </p:sp>
      <p:sp>
        <p:nvSpPr>
          <p:cNvPr id="37" name="Text 35"/>
          <p:cNvSpPr txBox="1"/>
          <p:nvPr/>
        </p:nvSpPr>
        <p:spPr>
          <a:xfrm>
            <a:off x="5048237" y="4429749"/>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€ 600</a:t>
            </a:r>
            <a:endParaRPr lang="en-US" sz="1000" dirty="0"/>
          </a:p>
        </p:txBody>
      </p:sp>
      <p:sp>
        <p:nvSpPr>
          <p:cNvPr id="38" name="Shape 36"/>
          <p:cNvSpPr/>
          <p:nvPr/>
        </p:nvSpPr>
        <p:spPr>
          <a:xfrm>
            <a:off x="3546466" y="4780268"/>
            <a:ext cx="2327269" cy="0"/>
          </a:xfrm>
          <a:prstGeom prst="line">
            <a:avLst/>
          </a:prstGeom>
          <a:noFill/>
          <a:ln w="9525">
            <a:solidFill>
              <a:srgbClr val="3A4152"/>
            </a:solidFill>
            <a:prstDash val="solid"/>
          </a:ln>
        </p:spPr>
      </p:sp>
      <p:sp>
        <p:nvSpPr>
          <p:cNvPr id="39" name="Text 37"/>
          <p:cNvSpPr txBox="1"/>
          <p:nvPr/>
        </p:nvSpPr>
        <p:spPr>
          <a:xfrm>
            <a:off x="3546466" y="4780268"/>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werkperiode</a:t>
            </a:r>
            <a:endParaRPr lang="en-US" sz="800" dirty="0"/>
          </a:p>
        </p:txBody>
      </p:sp>
      <p:sp>
        <p:nvSpPr>
          <p:cNvPr id="40" name="Text 38"/>
          <p:cNvSpPr txBox="1"/>
          <p:nvPr/>
        </p:nvSpPr>
        <p:spPr>
          <a:xfrm>
            <a:off x="5048237" y="4780268"/>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€ 2.400</a:t>
            </a:r>
            <a:endParaRPr lang="en-US" sz="1000" dirty="0"/>
          </a:p>
        </p:txBody>
      </p:sp>
      <p:sp>
        <p:nvSpPr>
          <p:cNvPr id="41" name="Shape 39"/>
          <p:cNvSpPr/>
          <p:nvPr/>
        </p:nvSpPr>
        <p:spPr>
          <a:xfrm>
            <a:off x="6153135" y="2489194"/>
            <a:ext cx="2657468" cy="2768593"/>
          </a:xfrm>
          <a:prstGeom prst="roundRect">
            <a:avLst>
              <a:gd name="adj" fmla="val 3823"/>
            </a:avLst>
          </a:prstGeom>
          <a:solidFill>
            <a:srgbClr val="F8F4EB"/>
          </a:solidFill>
          <a:ln/>
        </p:spPr>
      </p:sp>
      <p:sp>
        <p:nvSpPr>
          <p:cNvPr id="42" name="Text 40"/>
          <p:cNvSpPr txBox="1"/>
          <p:nvPr/>
        </p:nvSpPr>
        <p:spPr>
          <a:xfrm>
            <a:off x="6318234"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6318234"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Zes beldagen</a:t>
            </a:r>
            <a:endParaRPr lang="en-US" sz="1050" dirty="0"/>
          </a:p>
        </p:txBody>
      </p:sp>
      <p:sp>
        <p:nvSpPr>
          <p:cNvPr id="44" name="Text 42"/>
          <p:cNvSpPr txBox="1"/>
          <p:nvPr/>
        </p:nvSpPr>
        <p:spPr>
          <a:xfrm>
            <a:off x="6318234"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45" name="Text 43"/>
          <p:cNvSpPr txBox="1"/>
          <p:nvPr/>
        </p:nvSpPr>
        <p:spPr>
          <a:xfrm>
            <a:off x="7820005"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6</a:t>
            </a:r>
            <a:endParaRPr lang="en-US" sz="1000" dirty="0"/>
          </a:p>
        </p:txBody>
      </p:sp>
      <p:sp>
        <p:nvSpPr>
          <p:cNvPr id="46" name="Shape 44"/>
          <p:cNvSpPr/>
          <p:nvPr/>
        </p:nvSpPr>
        <p:spPr>
          <a:xfrm>
            <a:off x="6318234" y="3728711"/>
            <a:ext cx="2327269" cy="0"/>
          </a:xfrm>
          <a:prstGeom prst="line">
            <a:avLst/>
          </a:prstGeom>
          <a:noFill/>
          <a:ln w="9525">
            <a:solidFill>
              <a:srgbClr val="D8D2C4"/>
            </a:solidFill>
            <a:prstDash val="solid"/>
          </a:ln>
        </p:spPr>
      </p:sp>
      <p:sp>
        <p:nvSpPr>
          <p:cNvPr id="47" name="Text 45"/>
          <p:cNvSpPr txBox="1"/>
          <p:nvPr/>
        </p:nvSpPr>
        <p:spPr>
          <a:xfrm>
            <a:off x="6318234"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48" name="Text 46"/>
          <p:cNvSpPr txBox="1"/>
          <p:nvPr/>
        </p:nvSpPr>
        <p:spPr>
          <a:xfrm>
            <a:off x="7820005"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900</a:t>
            </a:r>
            <a:endParaRPr lang="en-US" sz="1000" dirty="0"/>
          </a:p>
        </p:txBody>
      </p:sp>
      <p:sp>
        <p:nvSpPr>
          <p:cNvPr id="49" name="Shape 47"/>
          <p:cNvSpPr/>
          <p:nvPr/>
        </p:nvSpPr>
        <p:spPr>
          <a:xfrm>
            <a:off x="6318234" y="4079230"/>
            <a:ext cx="2327269" cy="0"/>
          </a:xfrm>
          <a:prstGeom prst="line">
            <a:avLst/>
          </a:prstGeom>
          <a:noFill/>
          <a:ln w="9525">
            <a:solidFill>
              <a:srgbClr val="D8D2C4"/>
            </a:solidFill>
            <a:prstDash val="solid"/>
          </a:ln>
        </p:spPr>
      </p:sp>
      <p:sp>
        <p:nvSpPr>
          <p:cNvPr id="50" name="Text 48"/>
          <p:cNvSpPr txBox="1"/>
          <p:nvPr/>
        </p:nvSpPr>
        <p:spPr>
          <a:xfrm>
            <a:off x="6318234"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51" name="Text 49"/>
          <p:cNvSpPr txBox="1"/>
          <p:nvPr/>
        </p:nvSpPr>
        <p:spPr>
          <a:xfrm>
            <a:off x="7820005"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15</a:t>
            </a:r>
            <a:endParaRPr lang="en-US" sz="1000" dirty="0"/>
          </a:p>
        </p:txBody>
      </p:sp>
      <p:sp>
        <p:nvSpPr>
          <p:cNvPr id="52" name="Shape 50"/>
          <p:cNvSpPr/>
          <p:nvPr/>
        </p:nvSpPr>
        <p:spPr>
          <a:xfrm>
            <a:off x="6318234" y="4429749"/>
            <a:ext cx="2327269" cy="0"/>
          </a:xfrm>
          <a:prstGeom prst="line">
            <a:avLst/>
          </a:prstGeom>
          <a:noFill/>
          <a:ln w="9525">
            <a:solidFill>
              <a:srgbClr val="D8D2C4"/>
            </a:solidFill>
            <a:prstDash val="solid"/>
          </a:ln>
        </p:spPr>
      </p:sp>
      <p:sp>
        <p:nvSpPr>
          <p:cNvPr id="53" name="Text 51"/>
          <p:cNvSpPr txBox="1"/>
          <p:nvPr/>
        </p:nvSpPr>
        <p:spPr>
          <a:xfrm>
            <a:off x="6318234"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54" name="Text 52"/>
          <p:cNvSpPr txBox="1"/>
          <p:nvPr/>
        </p:nvSpPr>
        <p:spPr>
          <a:xfrm>
            <a:off x="7820005"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€ 575</a:t>
            </a:r>
            <a:endParaRPr lang="en-US" sz="1000" dirty="0"/>
          </a:p>
        </p:txBody>
      </p:sp>
      <p:sp>
        <p:nvSpPr>
          <p:cNvPr id="55" name="Shape 53"/>
          <p:cNvSpPr/>
          <p:nvPr/>
        </p:nvSpPr>
        <p:spPr>
          <a:xfrm>
            <a:off x="6318234" y="4780268"/>
            <a:ext cx="2327269" cy="0"/>
          </a:xfrm>
          <a:prstGeom prst="line">
            <a:avLst/>
          </a:prstGeom>
          <a:noFill/>
          <a:ln w="9525">
            <a:solidFill>
              <a:srgbClr val="D8D2C4"/>
            </a:solidFill>
            <a:prstDash val="solid"/>
          </a:ln>
        </p:spPr>
      </p:sp>
      <p:sp>
        <p:nvSpPr>
          <p:cNvPr id="56" name="Text 54"/>
          <p:cNvSpPr txBox="1"/>
          <p:nvPr/>
        </p:nvSpPr>
        <p:spPr>
          <a:xfrm>
            <a:off x="6318234"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57" name="Text 55"/>
          <p:cNvSpPr txBox="1"/>
          <p:nvPr/>
        </p:nvSpPr>
        <p:spPr>
          <a:xfrm>
            <a:off x="7820005"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€ 3.450</a:t>
            </a:r>
            <a:endParaRPr lang="en-US" sz="1000" dirty="0"/>
          </a:p>
        </p:txBody>
      </p:sp>
      <p:sp>
        <p:nvSpPr>
          <p:cNvPr id="58" name="Shape 56"/>
          <p:cNvSpPr/>
          <p:nvPr/>
        </p:nvSpPr>
        <p:spPr>
          <a:xfrm>
            <a:off x="8924903" y="2489194"/>
            <a:ext cx="2657468" cy="2768593"/>
          </a:xfrm>
          <a:prstGeom prst="roundRect">
            <a:avLst>
              <a:gd name="adj" fmla="val 3823"/>
            </a:avLst>
          </a:prstGeom>
          <a:solidFill>
            <a:srgbClr val="F8F4EB"/>
          </a:solidFill>
          <a:ln/>
        </p:spPr>
      </p:sp>
      <p:sp>
        <p:nvSpPr>
          <p:cNvPr id="59" name="Text 57"/>
          <p:cNvSpPr txBox="1"/>
          <p:nvPr/>
        </p:nvSpPr>
        <p:spPr>
          <a:xfrm>
            <a:off x="9090002"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60" name="Text 58"/>
          <p:cNvSpPr txBox="1"/>
          <p:nvPr/>
        </p:nvSpPr>
        <p:spPr>
          <a:xfrm>
            <a:off x="9090002"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Acht beldagen</a:t>
            </a:r>
            <a:endParaRPr lang="en-US" sz="1050" dirty="0"/>
          </a:p>
        </p:txBody>
      </p:sp>
      <p:sp>
        <p:nvSpPr>
          <p:cNvPr id="61" name="Text 59"/>
          <p:cNvSpPr txBox="1"/>
          <p:nvPr/>
        </p:nvSpPr>
        <p:spPr>
          <a:xfrm>
            <a:off x="9090002"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62" name="Text 60"/>
          <p:cNvSpPr txBox="1"/>
          <p:nvPr/>
        </p:nvSpPr>
        <p:spPr>
          <a:xfrm>
            <a:off x="10591774"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8</a:t>
            </a:r>
            <a:endParaRPr lang="en-US" sz="1000" dirty="0"/>
          </a:p>
        </p:txBody>
      </p:sp>
      <p:sp>
        <p:nvSpPr>
          <p:cNvPr id="63" name="Shape 61"/>
          <p:cNvSpPr/>
          <p:nvPr/>
        </p:nvSpPr>
        <p:spPr>
          <a:xfrm>
            <a:off x="9090002" y="3728711"/>
            <a:ext cx="2327269" cy="0"/>
          </a:xfrm>
          <a:prstGeom prst="line">
            <a:avLst/>
          </a:prstGeom>
          <a:noFill/>
          <a:ln w="9525">
            <a:solidFill>
              <a:srgbClr val="D8D2C4"/>
            </a:solidFill>
            <a:prstDash val="solid"/>
          </a:ln>
        </p:spPr>
      </p:sp>
      <p:sp>
        <p:nvSpPr>
          <p:cNvPr id="64" name="Text 62"/>
          <p:cNvSpPr txBox="1"/>
          <p:nvPr/>
        </p:nvSpPr>
        <p:spPr>
          <a:xfrm>
            <a:off x="9090002"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65" name="Text 63"/>
          <p:cNvSpPr txBox="1"/>
          <p:nvPr/>
        </p:nvSpPr>
        <p:spPr>
          <a:xfrm>
            <a:off x="10591774"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1.200</a:t>
            </a:r>
            <a:endParaRPr lang="en-US" sz="1000" dirty="0"/>
          </a:p>
        </p:txBody>
      </p:sp>
      <p:sp>
        <p:nvSpPr>
          <p:cNvPr id="66" name="Shape 64"/>
          <p:cNvSpPr/>
          <p:nvPr/>
        </p:nvSpPr>
        <p:spPr>
          <a:xfrm>
            <a:off x="9090002" y="4079230"/>
            <a:ext cx="2327269" cy="0"/>
          </a:xfrm>
          <a:prstGeom prst="line">
            <a:avLst/>
          </a:prstGeom>
          <a:noFill/>
          <a:ln w="9525">
            <a:solidFill>
              <a:srgbClr val="D8D2C4"/>
            </a:solidFill>
            <a:prstDash val="solid"/>
          </a:ln>
        </p:spPr>
      </p:sp>
      <p:sp>
        <p:nvSpPr>
          <p:cNvPr id="67" name="Text 65"/>
          <p:cNvSpPr txBox="1"/>
          <p:nvPr/>
        </p:nvSpPr>
        <p:spPr>
          <a:xfrm>
            <a:off x="9090002"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68" name="Text 66"/>
          <p:cNvSpPr txBox="1"/>
          <p:nvPr/>
        </p:nvSpPr>
        <p:spPr>
          <a:xfrm>
            <a:off x="10591774"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20</a:t>
            </a:r>
            <a:endParaRPr lang="en-US" sz="1000" dirty="0"/>
          </a:p>
        </p:txBody>
      </p:sp>
      <p:sp>
        <p:nvSpPr>
          <p:cNvPr id="69" name="Shape 67"/>
          <p:cNvSpPr/>
          <p:nvPr/>
        </p:nvSpPr>
        <p:spPr>
          <a:xfrm>
            <a:off x="9090002" y="4429749"/>
            <a:ext cx="2327269" cy="0"/>
          </a:xfrm>
          <a:prstGeom prst="line">
            <a:avLst/>
          </a:prstGeom>
          <a:noFill/>
          <a:ln w="9525">
            <a:solidFill>
              <a:srgbClr val="D8D2C4"/>
            </a:solidFill>
            <a:prstDash val="solid"/>
          </a:ln>
        </p:spPr>
      </p:sp>
      <p:sp>
        <p:nvSpPr>
          <p:cNvPr id="70" name="Text 68"/>
          <p:cNvSpPr txBox="1"/>
          <p:nvPr/>
        </p:nvSpPr>
        <p:spPr>
          <a:xfrm>
            <a:off x="9090002"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71" name="Text 69"/>
          <p:cNvSpPr txBox="1"/>
          <p:nvPr/>
        </p:nvSpPr>
        <p:spPr>
          <a:xfrm>
            <a:off x="10591774"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€ 550</a:t>
            </a:r>
            <a:endParaRPr lang="en-US" sz="1000" dirty="0"/>
          </a:p>
        </p:txBody>
      </p:sp>
      <p:sp>
        <p:nvSpPr>
          <p:cNvPr id="72" name="Shape 70"/>
          <p:cNvSpPr/>
          <p:nvPr/>
        </p:nvSpPr>
        <p:spPr>
          <a:xfrm>
            <a:off x="9090002" y="4780268"/>
            <a:ext cx="2327269" cy="0"/>
          </a:xfrm>
          <a:prstGeom prst="line">
            <a:avLst/>
          </a:prstGeom>
          <a:noFill/>
          <a:ln w="9525">
            <a:solidFill>
              <a:srgbClr val="D8D2C4"/>
            </a:solidFill>
            <a:prstDash val="solid"/>
          </a:ln>
        </p:spPr>
      </p:sp>
      <p:sp>
        <p:nvSpPr>
          <p:cNvPr id="73" name="Text 71"/>
          <p:cNvSpPr txBox="1"/>
          <p:nvPr/>
        </p:nvSpPr>
        <p:spPr>
          <a:xfrm>
            <a:off x="9090002"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74" name="Text 72"/>
          <p:cNvSpPr txBox="1"/>
          <p:nvPr/>
        </p:nvSpPr>
        <p:spPr>
          <a:xfrm>
            <a:off x="10591774"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€ 4.400</a:t>
            </a:r>
            <a:endParaRPr lang="en-US" sz="1000" dirty="0"/>
          </a:p>
        </p:txBody>
      </p:sp>
      <p:sp>
        <p:nvSpPr>
          <p:cNvPr id="75" name="Shape 73"/>
          <p:cNvSpPr/>
          <p:nvPr/>
        </p:nvSpPr>
        <p:spPr>
          <a:xfrm>
            <a:off x="609598" y="5854685"/>
            <a:ext cx="76200" cy="76200"/>
          </a:xfrm>
          <a:prstGeom prst="ellipse">
            <a:avLst/>
          </a:prstGeom>
          <a:solidFill>
            <a:srgbClr val="38B6FF"/>
          </a:solidFill>
          <a:ln/>
        </p:spPr>
      </p:sp>
      <p:sp>
        <p:nvSpPr>
          <p:cNvPr id="76" name="Text 7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dagprijs blijft gelijk aan wat je nu per beldag betaalt. Neem je er meer af, dan zakt die naar 575 of 550 euro per beldag.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 per werkperiode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Dat is wat we garanderen bij vier beldagen. Alles eromheen laten we zien in de wekelijkse rapportage.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Onder de tien afspraken in een werkperiode, dan bellen we de volgende periode een dag extra zonder factuur.</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Kwalificatie-eisen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ten opzichte van nu. Over het eerste jaar omzet uit een klant die uit onze afspraken komt.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en geen opstartkosten meer.</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2026-10-11T17:33:18Z</dcterms:created>
  <dcterms:modified xsi:type="dcterms:W3CDTF">2026-10-11T17:33:18Z</dcterms:modified>
</cp:coreProperties>
</file>