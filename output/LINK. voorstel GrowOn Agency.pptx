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JAAP · GROWON AGENCY · EVALUATIE 16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pilot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Twaalf weken bellen zit erop. In deze presentatie staat wat het heeft opgeleverd, wat we onderweg hebben geleerd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GrowOn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werken voor bedrijven met een sterke B2B-propositie, van een fairchain koffieleverancier tot een AI-consultancy.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retailers en webshops met een draaiende shop, lopende advertenties en budget. Die filtering hebben we onderweg flink aangescherpt.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gefilterd op draaiende webshop en lopende advertenties,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op de dagen en dagdelen die in onze data het beste werken. In retail zijn dat maandag en dinsdag, vrijdag juist niet.</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een draaiende webshop of winkel met advertentiebudget, precies het profiel waar de afspraken tot nu toe uit kwamen.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Er is een concrete aanleiding: ontevreden over het huidige bureau, een contract dat afloopt, of advertenties die stilliggen terwijl het budget er wel is.</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de eigenaar of de marketingverantwoordelijke. In retail is dat vaak dezelfde persoon.</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Ontevredenheid over de huidige partner is veruit de sterkste ingang. Dat kwam in bijna elke week terug en levert de beste afspraken op.</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Negen belweken,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geen gevoel maar 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1.213</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Over negen gebelde weken, van week 32 tot en met week 41.</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722</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leverden de juiste persoon aan de lijn op.</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290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vervolgmomenten die we hebben vastgelegd en opvolgen.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Eenentwintig staan er, drie komen er nog bij voor 25 oktober. Gemiddeld een op de 51 pogingen.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 cijfers komen uit de wekelijkse rapportages die je elke week hebt ontvangen. Niets opgehoogd, niets weggelaten.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VERLOOP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Hoe langer we bellen,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hoe meer er uit komt</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WERKPERIODE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CONTACTPOGINGEN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AFSPRAKEN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1.000 POGINGEN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 · week 32 t/m 35</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604</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17</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 · week 36 t/m 39</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379</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6</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 · week 40 t/m 43</a:t>
            </a:r>
            <a:pPr indent="0" marL="0">
              <a:buNone/>
            </a:pPr>
            <a:r>
              <a:rPr lang="en-US" sz="1000" i="1" dirty="0">
                <a:solidFill>
                  <a:srgbClr val="38B6FF"/>
                </a:solidFill>
                <a:latin typeface="Georgia" pitchFamily="34" charset="0"/>
                <a:ea typeface="Georgia" pitchFamily="34" charset="-122"/>
                <a:cs typeface="Georgia" pitchFamily="34" charset="-120"/>
              </a:rPr>
              <a:t>   loopt nog</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230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Werkperiode 3 levert per duizend pogingen twee keer zoveel op als de eerste. Dat komt door de lijst met 290 terugbelafspraken die we onderweg hebben opgebouwd. Die lijst is nu het meest waardevolle dat er ligt.</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Voorbereiding, notities en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120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Onze bellers draaien twintig tot zevenentwintig pogingen per uur. Gemeten in onze eigen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70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Zes van de tien pogingen leveren de juiste persoon aan de lijn op.</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 2</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Met het rendement uit jullie pilot komt een beldag op 2,4 uit. Wij rekenen bewust met twee.</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Deze aantallen komen uit onze eigen urenregistratie en uit jullie pilot.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AFSPRAKEN</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8</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10 tot 14</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beldagen of meer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vanaf € 4.000</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16</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verwachte aantallen gaan uit van honderdtwintig contactpogingen en twee gekwalificeerde afspraken per beldag. In jullie pilot lag dat rendement op 2,4 per beldag, dus we rekenen met een marge. Minimaal vier beldagen per periode, prijzen excl. btw.</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WE AFREKENEN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betaalt per beldag, vooraf gefactureerd per werkperiode. Geen nacalculatie, geen rekening per afspraak en geen succesfee meer.</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Target van twee per beldag</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Twee gekwalificeerde afspraken per beldag, het gemiddelde uit jullie eigen pilot. We meten per werkperiode, want de ene dag is de andere niet.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Inhaaldag als vangnet</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Blijft een werkperiode onder target, dan bellen we de volgende periode een dag extra die niet op de rekening komt. Maximaal één per 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Elke periode opnieuw kiezen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Jullie bepalen per werkperiode het aantal beldagen, vanaf vier. Een maand opzegtermijn, geen jaarcontract.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8 beldagen € 500,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Target van 2 afspraken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Inhaaldag als we eronder blijven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belsysteem en nummer inbegrepen</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Wekelijkse rapportage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Hetzelfde ritme, of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twee keer zoveel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€ 1.600 per werkperiode</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3,5</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beldag</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€ 460</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afspraak</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4 beldagen per werkperiode</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D8D2C4"/>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480</a:t>
            </a:r>
            <a:endParaRPr lang="en-US" sz="1150" dirty="0"/>
          </a:p>
        </p:txBody>
      </p:sp>
      <p:sp>
        <p:nvSpPr>
          <p:cNvPr id="32" name="Shape 30"/>
          <p:cNvSpPr/>
          <p:nvPr/>
        </p:nvSpPr>
        <p:spPr>
          <a:xfrm>
            <a:off x="4533889" y="4079230"/>
            <a:ext cx="3124192" cy="0"/>
          </a:xfrm>
          <a:prstGeom prst="line">
            <a:avLst/>
          </a:prstGeom>
          <a:noFill/>
          <a:ln w="9525">
            <a:solidFill>
              <a:srgbClr val="D8D2C4"/>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a:t>
            </a:r>
            <a:endParaRPr lang="en-US" sz="1150" dirty="0"/>
          </a:p>
        </p:txBody>
      </p:sp>
      <p:sp>
        <p:nvSpPr>
          <p:cNvPr id="35" name="Shape 33"/>
          <p:cNvSpPr/>
          <p:nvPr/>
        </p:nvSpPr>
        <p:spPr>
          <a:xfrm>
            <a:off x="4533889" y="4429749"/>
            <a:ext cx="3124192" cy="0"/>
          </a:xfrm>
          <a:prstGeom prst="line">
            <a:avLst/>
          </a:prstGeom>
          <a:noFill/>
          <a:ln w="9525">
            <a:solidFill>
              <a:srgbClr val="D8D2C4"/>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beldag</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€ 600</a:t>
            </a:r>
            <a:endParaRPr lang="en-US" sz="1150" dirty="0"/>
          </a:p>
        </p:txBody>
      </p:sp>
      <p:sp>
        <p:nvSpPr>
          <p:cNvPr id="38" name="Shape 36"/>
          <p:cNvSpPr/>
          <p:nvPr/>
        </p:nvSpPr>
        <p:spPr>
          <a:xfrm>
            <a:off x="4533889" y="4780268"/>
            <a:ext cx="3124192" cy="0"/>
          </a:xfrm>
          <a:prstGeom prst="line">
            <a:avLst/>
          </a:prstGeom>
          <a:noFill/>
          <a:ln w="9525">
            <a:solidFill>
              <a:srgbClr val="D8D2C4"/>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afspraak</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€ 300</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OPSCHALEN</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8 beldagen per werkperiode</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8</a:t>
            </a:r>
            <a:endParaRPr lang="en-US" sz="1150" dirty="0"/>
          </a:p>
        </p:txBody>
      </p:sp>
      <p:sp>
        <p:nvSpPr>
          <p:cNvPr id="46" name="Shape 44"/>
          <p:cNvSpPr/>
          <p:nvPr/>
        </p:nvSpPr>
        <p:spPr>
          <a:xfrm>
            <a:off x="8242279" y="3728711"/>
            <a:ext cx="3124192" cy="0"/>
          </a:xfrm>
          <a:prstGeom prst="line">
            <a:avLst/>
          </a:prstGeom>
          <a:noFill/>
          <a:ln w="9525">
            <a:solidFill>
              <a:srgbClr val="3A4152"/>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960</a:t>
            </a:r>
            <a:endParaRPr lang="en-US" sz="1150" dirty="0"/>
          </a:p>
        </p:txBody>
      </p:sp>
      <p:sp>
        <p:nvSpPr>
          <p:cNvPr id="49" name="Shape 47"/>
          <p:cNvSpPr/>
          <p:nvPr/>
        </p:nvSpPr>
        <p:spPr>
          <a:xfrm>
            <a:off x="8242279" y="4079230"/>
            <a:ext cx="3124192" cy="0"/>
          </a:xfrm>
          <a:prstGeom prst="line">
            <a:avLst/>
          </a:prstGeom>
          <a:noFill/>
          <a:ln w="9525">
            <a:solidFill>
              <a:srgbClr val="3A4152"/>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16</a:t>
            </a:r>
            <a:endParaRPr lang="en-US" sz="1150" dirty="0"/>
          </a:p>
        </p:txBody>
      </p:sp>
      <p:sp>
        <p:nvSpPr>
          <p:cNvPr id="52" name="Shape 50"/>
          <p:cNvSpPr/>
          <p:nvPr/>
        </p:nvSpPr>
        <p:spPr>
          <a:xfrm>
            <a:off x="8242279" y="4429749"/>
            <a:ext cx="3124192" cy="0"/>
          </a:xfrm>
          <a:prstGeom prst="line">
            <a:avLst/>
          </a:prstGeom>
          <a:noFill/>
          <a:ln w="9525">
            <a:solidFill>
              <a:srgbClr val="3A4152"/>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beldag</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€ 500</a:t>
            </a:r>
            <a:endParaRPr lang="en-US" sz="1150" dirty="0"/>
          </a:p>
        </p:txBody>
      </p:sp>
      <p:sp>
        <p:nvSpPr>
          <p:cNvPr id="55" name="Shape 53"/>
          <p:cNvSpPr/>
          <p:nvPr/>
        </p:nvSpPr>
        <p:spPr>
          <a:xfrm>
            <a:off x="8242279" y="4780268"/>
            <a:ext cx="3124192" cy="0"/>
          </a:xfrm>
          <a:prstGeom prst="line">
            <a:avLst/>
          </a:prstGeom>
          <a:noFill/>
          <a:ln w="9525">
            <a:solidFill>
              <a:srgbClr val="3A4152"/>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afspraak</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€ 250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Je koopt nu ongeveer drieënhalve beldag per werkperiode. Vanaf vier beldagen gaat het volume met twintig procent omhoog, bij acht beldagen verdubbelt het en zakt de dagprijs naar vijfhonderd euro.</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GROWON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Weinig, want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draait al</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Scherper profiel</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halfuur om de doelgroep verder aan te scherpen op wat in de pilot het beste werkte: draaiende webshop, lopende advertenties en budget.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al klant zijn of waar Jaap zelf al in gesprek is.</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afspraak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GrowOn die de afspraken voert. Tot nu toe is dat Jaap zelf.</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Target van 2 afspraken per beldag</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getal uit jullie eigen pilot. Daar sturen wij op en daar belonen wij onze bellers op.</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Inhaaldag als we eronder blijven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extra beldag per werkperiode, zonder dat die op de rekening komt.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Per werkperiode bepalen jullie het aantal beldagen, vanaf vier.</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Maand opzegtermijn</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met een maand opzegtermijn. Geen jaarcontract.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Geen opstartkosten meer</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inrichting staat. Die fee is eenmalig geweest.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de verwerkersovereenkomst, met een korte aanvulling op de samenwerkingsovereenkomst.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GrowOn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Jaap geeft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Vastleggen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een korte aanvulling op de samenwerkingsovereenkomst.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GrowOn Agency</dc:title>
  <dc:subject>PptxGenJS Presentation</dc:subject>
  <dc:creator>LINK.</dc:creator>
  <cp:lastModifiedBy>LINK.</cp:lastModifiedBy>
  <cp:revision>1</cp:revision>
  <dcterms:created xsi:type="dcterms:W3CDTF">2026-10-11T17:04:51Z</dcterms:created>
  <dcterms:modified xsi:type="dcterms:W3CDTF">2026-10-11T17:04:51Z</dcterms:modified>
</cp:coreProperties>
</file>