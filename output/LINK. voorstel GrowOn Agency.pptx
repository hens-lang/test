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slideLayout" Target="../slideLayouts/slideLayout1.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GrowOn Agency</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15</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JAAP · GROWON AGENCY · EVALUATIE 16 OKTOBER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Van pilot naar een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vast ritme</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Twaalf weken bellen zit erop. In deze presentatie staat wat het heeft opgeleverd, wat we onderweg hebben geleerd en hoe we het vanaf november willen inrichten.</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sp>
        <p:nvSpPr>
          <p:cNvPr id="32" name="Shape 30"/>
          <p:cNvSpPr/>
          <p:nvPr/>
        </p:nvSpPr>
        <p:spPr>
          <a:xfrm>
            <a:off x="1854195" y="5714986"/>
            <a:ext cx="1396997" cy="406399"/>
          </a:xfrm>
          <a:prstGeom prst="roundRect">
            <a:avLst>
              <a:gd name="adj" fmla="val 21875"/>
            </a:avLst>
          </a:prstGeom>
          <a:solidFill>
            <a:srgbClr val="F8F4EB"/>
          </a:solidFill>
          <a:ln/>
        </p:spPr>
      </p:sp>
      <p:sp>
        <p:nvSpPr>
          <p:cNvPr id="33" name="Text 31"/>
          <p:cNvSpPr txBox="1"/>
          <p:nvPr/>
        </p:nvSpPr>
        <p:spPr>
          <a:xfrm>
            <a:off x="1854195" y="5714986"/>
            <a:ext cx="1396997" cy="406399"/>
          </a:xfrm>
          <a:prstGeom prst="rect">
            <a:avLst/>
          </a:prstGeom>
          <a:noFill/>
          <a:ln/>
        </p:spPr>
        <p:txBody>
          <a:bodyPr wrap="square" lIns="0" tIns="0" rIns="0" bIns="0" rtlCol="0" anchor="ctr"/>
          <a:lstStyle/>
          <a:p>
            <a:pPr algn="ctr" indent="0" marL="0">
              <a:buNone/>
            </a:pPr>
            <a:r>
              <a:rPr lang="en-US" sz="1500" b="1" dirty="0">
                <a:solidFill>
                  <a:srgbClr val="1C2230"/>
                </a:solidFill>
                <a:latin typeface="Arial" pitchFamily="34" charset="0"/>
                <a:ea typeface="Arial" pitchFamily="34" charset="-122"/>
                <a:cs typeface="Arial" pitchFamily="34" charset="-120"/>
              </a:rPr>
              <a:t>GrowOn Agency</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afspraken op. Geen lijstjes met namen, maar gesprekken in jullie agenda met een beslisser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We werken voor bedrijven met een sterke B2B-propositie, van een fairchain koffieleverancier tot een AI-consultancy. Geen bureau op afstand, maar een partner die elke week met je schakelt.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afspraken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regionaal telefoonnummer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jullie ideale klant: retailers en webshops met een draaiende shop, lopende advertenties en budget. Die filtering hebben we onderweg flink aangescherpt.</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en warme leads dragen we direct aan jullie over, met de reden en de context erbij.</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de interesse echt is en de juiste persoon aan tafel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WERKPERIODE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Vier weken, van bellijst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Lijst klaarzetten</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We zetten de lijst voor de periode klaar, gefilterd op draaiende webshop en lopende advertenties, met de terugbelafspraken uit de vorige periode bovenaan.</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Bellen</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We bellen op de dagen en dagdelen die in onze data het beste werken. In retail zijn dat maandag en dinsdag, vrijdag juist niet.</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het rapport dat je nu ook krijgt: pogingen, gesproken bedrijven, warme uitkomsten, afspraken en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Na elke periode kijken we samen naar de cijfers en bepalen we het aantal beldagen voor de volgende.</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een draaiende webshop of winkel met advertentiebudget, precies het profiel waar de afspraken tot nu toe uit kwamen.</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Er is een concrete aanleiding: ontevreden over het huidige bureau, een contract dat afloopt, of advertenties die stilliggen terwijl het budget er wel is.</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afspraak staat met de eigenaar of de marketingverantwoordelijke. In retail is dat vaak dezelfde persoon.</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Ontevredenheid over de huidige partner is veruit de sterkste ingang. Bij de start van werkperiode 4 scherpen we deze drie eisen samen aan op wat de pilot heeft laten zien, zodat we allebei hetzelfde bedoelen met een goede afspraak.</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6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DE PILOT HEEFT OPGELEVERD</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Negen belweken,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geen gevoel maar gemeten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30493"/>
            <a:ext cx="2628893" cy="2222494"/>
          </a:xfrm>
          <a:prstGeom prst="roundRect">
            <a:avLst>
              <a:gd name="adj" fmla="val 4571"/>
            </a:avLst>
          </a:prstGeom>
          <a:solidFill>
            <a:srgbClr val="F8F4EB"/>
          </a:solidFill>
          <a:ln/>
        </p:spPr>
      </p:sp>
      <p:sp>
        <p:nvSpPr>
          <p:cNvPr id="8" name="Text 6"/>
          <p:cNvSpPr txBox="1"/>
          <p:nvPr/>
        </p:nvSpPr>
        <p:spPr>
          <a:xfrm>
            <a:off x="850898"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1.213</a:t>
            </a:r>
            <a:endParaRPr lang="en-US" sz="3600" dirty="0"/>
          </a:p>
        </p:txBody>
      </p:sp>
      <p:sp>
        <p:nvSpPr>
          <p:cNvPr id="9" name="Text 7"/>
          <p:cNvSpPr txBox="1"/>
          <p:nvPr/>
        </p:nvSpPr>
        <p:spPr>
          <a:xfrm>
            <a:off x="850898"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CONTACTPOGINGEN</a:t>
            </a:r>
            <a:endParaRPr lang="en-US" sz="900" dirty="0"/>
          </a:p>
        </p:txBody>
      </p:sp>
      <p:sp>
        <p:nvSpPr>
          <p:cNvPr id="10" name="Text 8"/>
          <p:cNvSpPr txBox="1"/>
          <p:nvPr/>
        </p:nvSpPr>
        <p:spPr>
          <a:xfrm>
            <a:off x="850898"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Over negen gebelde weken, van week 32 tot en met week 41.</a:t>
            </a:r>
            <a:endParaRPr lang="en-US" sz="950" dirty="0"/>
          </a:p>
        </p:txBody>
      </p:sp>
      <p:sp>
        <p:nvSpPr>
          <p:cNvPr id="11" name="Shape 9"/>
          <p:cNvSpPr/>
          <p:nvPr/>
        </p:nvSpPr>
        <p:spPr>
          <a:xfrm>
            <a:off x="3390892" y="2730493"/>
            <a:ext cx="2628893" cy="2222494"/>
          </a:xfrm>
          <a:prstGeom prst="roundRect">
            <a:avLst>
              <a:gd name="adj" fmla="val 4571"/>
            </a:avLst>
          </a:prstGeom>
          <a:solidFill>
            <a:srgbClr val="F8F4EB"/>
          </a:solidFill>
          <a:ln/>
        </p:spPr>
      </p:sp>
      <p:sp>
        <p:nvSpPr>
          <p:cNvPr id="12" name="Text 10"/>
          <p:cNvSpPr txBox="1"/>
          <p:nvPr/>
        </p:nvSpPr>
        <p:spPr>
          <a:xfrm>
            <a:off x="3632191"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722</a:t>
            </a:r>
            <a:endParaRPr lang="en-US" sz="3600" dirty="0"/>
          </a:p>
        </p:txBody>
      </p:sp>
      <p:sp>
        <p:nvSpPr>
          <p:cNvPr id="13" name="Text 11"/>
          <p:cNvSpPr txBox="1"/>
          <p:nvPr/>
        </p:nvSpPr>
        <p:spPr>
          <a:xfrm>
            <a:off x="3632191"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BEDRIJVEN GESPROKEN</a:t>
            </a:r>
            <a:endParaRPr lang="en-US" sz="900" dirty="0"/>
          </a:p>
        </p:txBody>
      </p:sp>
      <p:sp>
        <p:nvSpPr>
          <p:cNvPr id="14" name="Text 12"/>
          <p:cNvSpPr txBox="1"/>
          <p:nvPr/>
        </p:nvSpPr>
        <p:spPr>
          <a:xfrm>
            <a:off x="3632191"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Zes van de tien pogingen leverden de juiste persoon aan de lijn op.</a:t>
            </a:r>
            <a:endParaRPr lang="en-US" sz="950" dirty="0"/>
          </a:p>
        </p:txBody>
      </p:sp>
      <p:sp>
        <p:nvSpPr>
          <p:cNvPr id="15" name="Shape 13"/>
          <p:cNvSpPr/>
          <p:nvPr/>
        </p:nvSpPr>
        <p:spPr>
          <a:xfrm>
            <a:off x="6172185" y="2730493"/>
            <a:ext cx="2628893" cy="2222494"/>
          </a:xfrm>
          <a:prstGeom prst="roundRect">
            <a:avLst>
              <a:gd name="adj" fmla="val 4571"/>
            </a:avLst>
          </a:prstGeom>
          <a:solidFill>
            <a:srgbClr val="F8F4EB"/>
          </a:solidFill>
          <a:ln/>
        </p:spPr>
      </p:sp>
      <p:sp>
        <p:nvSpPr>
          <p:cNvPr id="16" name="Text 14"/>
          <p:cNvSpPr txBox="1"/>
          <p:nvPr/>
        </p:nvSpPr>
        <p:spPr>
          <a:xfrm>
            <a:off x="6413484"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290</a:t>
            </a:r>
            <a:endParaRPr lang="en-US" sz="3600" dirty="0"/>
          </a:p>
        </p:txBody>
      </p:sp>
      <p:sp>
        <p:nvSpPr>
          <p:cNvPr id="17" name="Text 15"/>
          <p:cNvSpPr txBox="1"/>
          <p:nvPr/>
        </p:nvSpPr>
        <p:spPr>
          <a:xfrm>
            <a:off x="6413484"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TERUGBELAFSPRAKEN</a:t>
            </a:r>
            <a:endParaRPr lang="en-US" sz="900" dirty="0"/>
          </a:p>
        </p:txBody>
      </p:sp>
      <p:sp>
        <p:nvSpPr>
          <p:cNvPr id="18" name="Text 16"/>
          <p:cNvSpPr txBox="1"/>
          <p:nvPr/>
        </p:nvSpPr>
        <p:spPr>
          <a:xfrm>
            <a:off x="6413484"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Concrete vervolgmomenten die we hebben vastgelegd en opvolgen.</a:t>
            </a:r>
            <a:endParaRPr lang="en-US" sz="950" dirty="0"/>
          </a:p>
        </p:txBody>
      </p:sp>
      <p:sp>
        <p:nvSpPr>
          <p:cNvPr id="19" name="Shape 17"/>
          <p:cNvSpPr/>
          <p:nvPr/>
        </p:nvSpPr>
        <p:spPr>
          <a:xfrm>
            <a:off x="8953478" y="2730493"/>
            <a:ext cx="2628893" cy="2222494"/>
          </a:xfrm>
          <a:prstGeom prst="roundRect">
            <a:avLst>
              <a:gd name="adj" fmla="val 4571"/>
            </a:avLst>
          </a:prstGeom>
          <a:solidFill>
            <a:srgbClr val="000000"/>
          </a:solidFill>
          <a:ln/>
        </p:spPr>
      </p:sp>
      <p:sp>
        <p:nvSpPr>
          <p:cNvPr id="20" name="Text 18"/>
          <p:cNvSpPr txBox="1"/>
          <p:nvPr/>
        </p:nvSpPr>
        <p:spPr>
          <a:xfrm>
            <a:off x="9194777" y="2997193"/>
            <a:ext cx="2146295" cy="507999"/>
          </a:xfrm>
          <a:prstGeom prst="rect">
            <a:avLst/>
          </a:prstGeom>
          <a:noFill/>
          <a:ln/>
        </p:spPr>
        <p:txBody>
          <a:bodyPr wrap="square" lIns="0" tIns="0" rIns="0" bIns="0" rtlCol="0" anchor="ctr"/>
          <a:lstStyle/>
          <a:p>
            <a:pPr indent="0" marL="0">
              <a:buNone/>
            </a:pPr>
            <a:r>
              <a:rPr lang="en-US" sz="3600" b="1" dirty="0">
                <a:solidFill>
                  <a:srgbClr val="38B6FF"/>
                </a:solidFill>
                <a:latin typeface="Arial" pitchFamily="34" charset="0"/>
                <a:ea typeface="Arial" pitchFamily="34" charset="-122"/>
                <a:cs typeface="Arial" pitchFamily="34" charset="-120"/>
              </a:rPr>
              <a:t>24</a:t>
            </a:r>
            <a:endParaRPr lang="en-US" sz="3600" dirty="0"/>
          </a:p>
        </p:txBody>
      </p:sp>
      <p:sp>
        <p:nvSpPr>
          <p:cNvPr id="21" name="Text 19"/>
          <p:cNvSpPr txBox="1"/>
          <p:nvPr/>
        </p:nvSpPr>
        <p:spPr>
          <a:xfrm>
            <a:off x="9194777"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AFSPRAKEN EN OVERDRACHTEN</a:t>
            </a:r>
            <a:endParaRPr lang="en-US" sz="900" dirty="0"/>
          </a:p>
        </p:txBody>
      </p:sp>
      <p:sp>
        <p:nvSpPr>
          <p:cNvPr id="22" name="Text 20"/>
          <p:cNvSpPr txBox="1"/>
          <p:nvPr/>
        </p:nvSpPr>
        <p:spPr>
          <a:xfrm>
            <a:off x="9194777"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Eenentwintig staan er, drie komen er nog bij voor 25 oktober. Gemiddeld een op de 51 pogingen.</a:t>
            </a:r>
            <a:endParaRPr lang="en-US" sz="950" dirty="0"/>
          </a:p>
        </p:txBody>
      </p:sp>
      <p:sp>
        <p:nvSpPr>
          <p:cNvPr id="23" name="Shape 21"/>
          <p:cNvSpPr/>
          <p:nvPr/>
        </p:nvSpPr>
        <p:spPr>
          <a:xfrm>
            <a:off x="609598" y="5854685"/>
            <a:ext cx="76200" cy="76200"/>
          </a:xfrm>
          <a:prstGeom prst="ellipse">
            <a:avLst/>
          </a:prstGeom>
          <a:solidFill>
            <a:srgbClr val="38B6FF"/>
          </a:solidFill>
          <a:ln/>
        </p:spPr>
      </p:sp>
      <p:sp>
        <p:nvSpPr>
          <p:cNvPr id="24" name="Text 22"/>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Alle cijfers komen uit de wekelijkse rapportages die je elke week hebt ontvangen. Niets opgehoogd, niets weggelaten.</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7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HET VERLOOP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Hoe langer we bellen,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hoe meer er uit komt</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666993"/>
            <a:ext cx="10972773" cy="2355844"/>
          </a:xfrm>
          <a:prstGeom prst="roundRect">
            <a:avLst>
              <a:gd name="adj" fmla="val 4313"/>
            </a:avLst>
          </a:prstGeom>
          <a:ln w="9525">
            <a:solidFill>
              <a:srgbClr val="3A4152"/>
            </a:solidFill>
            <a:prstDash val="solid"/>
          </a:ln>
        </p:spPr>
      </p:sp>
      <p:sp>
        <p:nvSpPr>
          <p:cNvPr id="8" name="Text 6"/>
          <p:cNvSpPr txBox="1"/>
          <p:nvPr/>
        </p:nvSpPr>
        <p:spPr>
          <a:xfrm>
            <a:off x="888998" y="2666993"/>
            <a:ext cx="2920993"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WERKPERIODE</a:t>
            </a:r>
            <a:endParaRPr lang="en-US" sz="800" dirty="0"/>
          </a:p>
        </p:txBody>
      </p:sp>
      <p:sp>
        <p:nvSpPr>
          <p:cNvPr id="9" name="Text 7"/>
          <p:cNvSpPr txBox="1"/>
          <p:nvPr/>
        </p:nvSpPr>
        <p:spPr>
          <a:xfrm>
            <a:off x="3886190"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CONTACTPOGINGEN</a:t>
            </a:r>
            <a:endParaRPr lang="en-US" sz="800" dirty="0"/>
          </a:p>
        </p:txBody>
      </p:sp>
      <p:sp>
        <p:nvSpPr>
          <p:cNvPr id="10" name="Text 8"/>
          <p:cNvSpPr txBox="1"/>
          <p:nvPr/>
        </p:nvSpPr>
        <p:spPr>
          <a:xfrm>
            <a:off x="6324584"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AFSPRAKEN</a:t>
            </a:r>
            <a:endParaRPr lang="en-US" sz="800" dirty="0"/>
          </a:p>
        </p:txBody>
      </p:sp>
      <p:sp>
        <p:nvSpPr>
          <p:cNvPr id="11" name="Text 9"/>
          <p:cNvSpPr txBox="1"/>
          <p:nvPr/>
        </p:nvSpPr>
        <p:spPr>
          <a:xfrm>
            <a:off x="8737578" y="2666993"/>
            <a:ext cx="25399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PER 1.000 POGINGEN</a:t>
            </a:r>
            <a:endParaRPr lang="en-US" sz="800" dirty="0"/>
          </a:p>
        </p:txBody>
      </p:sp>
      <p:sp>
        <p:nvSpPr>
          <p:cNvPr id="12" name="Shape 10"/>
          <p:cNvSpPr/>
          <p:nvPr/>
        </p:nvSpPr>
        <p:spPr>
          <a:xfrm>
            <a:off x="609598" y="3136892"/>
            <a:ext cx="10972773" cy="0"/>
          </a:xfrm>
          <a:prstGeom prst="line">
            <a:avLst/>
          </a:prstGeom>
          <a:noFill/>
          <a:ln w="9525">
            <a:solidFill>
              <a:srgbClr val="3A4152"/>
            </a:solidFill>
            <a:prstDash val="solid"/>
          </a:ln>
        </p:spPr>
      </p:sp>
      <p:sp>
        <p:nvSpPr>
          <p:cNvPr id="13" name="Text 11"/>
          <p:cNvSpPr txBox="1"/>
          <p:nvPr/>
        </p:nvSpPr>
        <p:spPr>
          <a:xfrm>
            <a:off x="888998" y="3136892"/>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 · week 32 t/m 35</a:t>
            </a:r>
            <a:endParaRPr lang="en-US" sz="1250" dirty="0"/>
          </a:p>
        </p:txBody>
      </p:sp>
      <p:sp>
        <p:nvSpPr>
          <p:cNvPr id="14" name="Text 12"/>
          <p:cNvSpPr txBox="1"/>
          <p:nvPr/>
        </p:nvSpPr>
        <p:spPr>
          <a:xfrm>
            <a:off x="3886190"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604</a:t>
            </a:r>
            <a:endParaRPr lang="en-US" sz="1250" dirty="0"/>
          </a:p>
        </p:txBody>
      </p:sp>
      <p:sp>
        <p:nvSpPr>
          <p:cNvPr id="15" name="Text 13"/>
          <p:cNvSpPr txBox="1"/>
          <p:nvPr/>
        </p:nvSpPr>
        <p:spPr>
          <a:xfrm>
            <a:off x="6324584"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10</a:t>
            </a:r>
            <a:endParaRPr lang="en-US" sz="1250" dirty="0"/>
          </a:p>
        </p:txBody>
      </p:sp>
      <p:sp>
        <p:nvSpPr>
          <p:cNvPr id="16" name="Text 14"/>
          <p:cNvSpPr txBox="1"/>
          <p:nvPr/>
        </p:nvSpPr>
        <p:spPr>
          <a:xfrm>
            <a:off x="8737578" y="3136892"/>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17</a:t>
            </a:r>
            <a:endParaRPr lang="en-US" sz="1250" dirty="0"/>
          </a:p>
        </p:txBody>
      </p:sp>
      <p:sp>
        <p:nvSpPr>
          <p:cNvPr id="17" name="Shape 15"/>
          <p:cNvSpPr/>
          <p:nvPr/>
        </p:nvSpPr>
        <p:spPr>
          <a:xfrm>
            <a:off x="609598" y="3765541"/>
            <a:ext cx="10972773" cy="0"/>
          </a:xfrm>
          <a:prstGeom prst="line">
            <a:avLst/>
          </a:prstGeom>
          <a:noFill/>
          <a:ln w="9525">
            <a:solidFill>
              <a:srgbClr val="3A4152"/>
            </a:solidFill>
            <a:prstDash val="solid"/>
          </a:ln>
        </p:spPr>
      </p:sp>
      <p:sp>
        <p:nvSpPr>
          <p:cNvPr id="18" name="Text 16"/>
          <p:cNvSpPr txBox="1"/>
          <p:nvPr/>
        </p:nvSpPr>
        <p:spPr>
          <a:xfrm>
            <a:off x="888998" y="3765541"/>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2 · week 36 t/m 39</a:t>
            </a:r>
            <a:pPr indent="0" marL="0">
              <a:buNone/>
            </a:pPr>
            <a:r>
              <a:rPr lang="en-US" sz="1000" i="1" dirty="0">
                <a:solidFill>
                  <a:srgbClr val="38B6FF"/>
                </a:solidFill>
                <a:latin typeface="Georgia" pitchFamily="34" charset="0"/>
                <a:ea typeface="Georgia" pitchFamily="34" charset="-122"/>
                <a:cs typeface="Georgia" pitchFamily="34" charset="-120"/>
              </a:rPr>
              <a:t>   vakantie</a:t>
            </a:r>
            <a:endParaRPr lang="en-US" sz="1250" dirty="0"/>
          </a:p>
        </p:txBody>
      </p:sp>
      <p:sp>
        <p:nvSpPr>
          <p:cNvPr id="19" name="Text 17"/>
          <p:cNvSpPr txBox="1"/>
          <p:nvPr/>
        </p:nvSpPr>
        <p:spPr>
          <a:xfrm>
            <a:off x="3886190"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379</a:t>
            </a:r>
            <a:endParaRPr lang="en-US" sz="1250" dirty="0"/>
          </a:p>
        </p:txBody>
      </p:sp>
      <p:sp>
        <p:nvSpPr>
          <p:cNvPr id="20" name="Text 18"/>
          <p:cNvSpPr txBox="1"/>
          <p:nvPr/>
        </p:nvSpPr>
        <p:spPr>
          <a:xfrm>
            <a:off x="6324584"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6</a:t>
            </a:r>
            <a:endParaRPr lang="en-US" sz="1250" dirty="0"/>
          </a:p>
        </p:txBody>
      </p:sp>
      <p:sp>
        <p:nvSpPr>
          <p:cNvPr id="21" name="Text 19"/>
          <p:cNvSpPr txBox="1"/>
          <p:nvPr/>
        </p:nvSpPr>
        <p:spPr>
          <a:xfrm>
            <a:off x="8737578" y="3765541"/>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16</a:t>
            </a:r>
            <a:endParaRPr lang="en-US" sz="1250" dirty="0"/>
          </a:p>
        </p:txBody>
      </p:sp>
      <p:sp>
        <p:nvSpPr>
          <p:cNvPr id="22" name="Shape 20"/>
          <p:cNvSpPr/>
          <p:nvPr/>
        </p:nvSpPr>
        <p:spPr>
          <a:xfrm>
            <a:off x="615948" y="4394189"/>
            <a:ext cx="10960073" cy="628648"/>
          </a:xfrm>
          <a:prstGeom prst="rect">
            <a:avLst/>
          </a:prstGeom>
          <a:solidFill>
            <a:srgbClr val="38B6FF">
              <a:alpha val="11000"/>
            </a:srgbClr>
          </a:solidFill>
          <a:ln/>
        </p:spPr>
      </p:sp>
      <p:sp>
        <p:nvSpPr>
          <p:cNvPr id="23" name="Shape 21"/>
          <p:cNvSpPr/>
          <p:nvPr/>
        </p:nvSpPr>
        <p:spPr>
          <a:xfrm>
            <a:off x="609598" y="4394189"/>
            <a:ext cx="10972773" cy="0"/>
          </a:xfrm>
          <a:prstGeom prst="line">
            <a:avLst/>
          </a:prstGeom>
          <a:noFill/>
          <a:ln w="9525">
            <a:solidFill>
              <a:srgbClr val="3A4152"/>
            </a:solidFill>
            <a:prstDash val="solid"/>
          </a:ln>
        </p:spPr>
      </p:sp>
      <p:sp>
        <p:nvSpPr>
          <p:cNvPr id="24" name="Text 22"/>
          <p:cNvSpPr txBox="1"/>
          <p:nvPr/>
        </p:nvSpPr>
        <p:spPr>
          <a:xfrm>
            <a:off x="888998" y="4394189"/>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3 · week 40 t/m 43</a:t>
            </a:r>
            <a:pPr indent="0" marL="0">
              <a:buNone/>
            </a:pPr>
            <a:r>
              <a:rPr lang="en-US" sz="1000" i="1" dirty="0">
                <a:solidFill>
                  <a:srgbClr val="38B6FF"/>
                </a:solidFill>
                <a:latin typeface="Georgia" pitchFamily="34" charset="0"/>
                <a:ea typeface="Georgia" pitchFamily="34" charset="-122"/>
                <a:cs typeface="Georgia" pitchFamily="34" charset="-120"/>
              </a:rPr>
              <a:t>   loopt nog</a:t>
            </a:r>
            <a:endParaRPr lang="en-US" sz="1250" dirty="0"/>
          </a:p>
        </p:txBody>
      </p:sp>
      <p:sp>
        <p:nvSpPr>
          <p:cNvPr id="25" name="Text 23"/>
          <p:cNvSpPr txBox="1"/>
          <p:nvPr/>
        </p:nvSpPr>
        <p:spPr>
          <a:xfrm>
            <a:off x="3886190"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230</a:t>
            </a:r>
            <a:endParaRPr lang="en-US" sz="1250" dirty="0"/>
          </a:p>
        </p:txBody>
      </p:sp>
      <p:sp>
        <p:nvSpPr>
          <p:cNvPr id="26" name="Text 24"/>
          <p:cNvSpPr txBox="1"/>
          <p:nvPr/>
        </p:nvSpPr>
        <p:spPr>
          <a:xfrm>
            <a:off x="6324584"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8</a:t>
            </a:r>
            <a:endParaRPr lang="en-US" sz="1250" dirty="0"/>
          </a:p>
        </p:txBody>
      </p:sp>
      <p:sp>
        <p:nvSpPr>
          <p:cNvPr id="27" name="Text 25"/>
          <p:cNvSpPr txBox="1"/>
          <p:nvPr/>
        </p:nvSpPr>
        <p:spPr>
          <a:xfrm>
            <a:off x="8737578" y="4394189"/>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35</a:t>
            </a:r>
            <a:endParaRPr lang="en-US" sz="1250" dirty="0"/>
          </a:p>
        </p:txBody>
      </p:sp>
      <p:sp>
        <p:nvSpPr>
          <p:cNvPr id="28" name="Shape 26"/>
          <p:cNvSpPr/>
          <p:nvPr/>
        </p:nvSpPr>
        <p:spPr>
          <a:xfrm>
            <a:off x="609598" y="5854685"/>
            <a:ext cx="76200" cy="76200"/>
          </a:xfrm>
          <a:prstGeom prst="ellipse">
            <a:avLst/>
          </a:prstGeom>
          <a:solidFill>
            <a:srgbClr val="38B6FF"/>
          </a:solidFill>
          <a:ln/>
        </p:spPr>
      </p:sp>
      <p:sp>
        <p:nvSpPr>
          <p:cNvPr id="29" name="Text 27"/>
          <p:cNvSpPr txBox="1"/>
          <p:nvPr/>
        </p:nvSpPr>
        <p:spPr>
          <a:xfrm>
            <a:off x="800098" y="5651486"/>
            <a:ext cx="9905975" cy="482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Werkperiode 3 levert per duizend pogingen twee keer zoveel op als de eerste. Dat komt door de lijst met 290 terugbelafspraken die we onderweg hebben opgebouwd. Die lijst is nu het meest waardevolle dat er ligt.</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EENHEID WAARIN WE REKENEN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Een beldag is geen dag, maar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vaste hoeveelheid werk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30493"/>
            <a:ext cx="2628893" cy="2222494"/>
          </a:xfrm>
          <a:prstGeom prst="roundRect">
            <a:avLst>
              <a:gd name="adj" fmla="val 4571"/>
            </a:avLst>
          </a:prstGeom>
          <a:solidFill>
            <a:srgbClr val="F8F4EB"/>
          </a:solidFill>
          <a:ln/>
        </p:spPr>
      </p:sp>
      <p:sp>
        <p:nvSpPr>
          <p:cNvPr id="8" name="Text 6"/>
          <p:cNvSpPr txBox="1"/>
          <p:nvPr/>
        </p:nvSpPr>
        <p:spPr>
          <a:xfrm>
            <a:off x="850898"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6</a:t>
            </a:r>
            <a:endParaRPr lang="en-US" sz="3600" dirty="0"/>
          </a:p>
        </p:txBody>
      </p:sp>
      <p:sp>
        <p:nvSpPr>
          <p:cNvPr id="9" name="Text 7"/>
          <p:cNvSpPr txBox="1"/>
          <p:nvPr/>
        </p:nvSpPr>
        <p:spPr>
          <a:xfrm>
            <a:off x="850898"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UUR BELLEN</a:t>
            </a:r>
            <a:endParaRPr lang="en-US" sz="900" dirty="0"/>
          </a:p>
        </p:txBody>
      </p:sp>
      <p:sp>
        <p:nvSpPr>
          <p:cNvPr id="10" name="Text 8"/>
          <p:cNvSpPr txBox="1"/>
          <p:nvPr/>
        </p:nvSpPr>
        <p:spPr>
          <a:xfrm>
            <a:off x="850898"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Netto aan de telefoon. Voorbereiding, notities en rapportage zitten daarbuiten en zijn inbegrepen.</a:t>
            </a:r>
            <a:endParaRPr lang="en-US" sz="950" dirty="0"/>
          </a:p>
        </p:txBody>
      </p:sp>
      <p:sp>
        <p:nvSpPr>
          <p:cNvPr id="11" name="Shape 9"/>
          <p:cNvSpPr/>
          <p:nvPr/>
        </p:nvSpPr>
        <p:spPr>
          <a:xfrm>
            <a:off x="3390892" y="2730493"/>
            <a:ext cx="2628893" cy="2222494"/>
          </a:xfrm>
          <a:prstGeom prst="roundRect">
            <a:avLst>
              <a:gd name="adj" fmla="val 4571"/>
            </a:avLst>
          </a:prstGeom>
          <a:solidFill>
            <a:srgbClr val="F8F4EB"/>
          </a:solidFill>
          <a:ln/>
        </p:spPr>
      </p:sp>
      <p:sp>
        <p:nvSpPr>
          <p:cNvPr id="12" name="Text 10"/>
          <p:cNvSpPr txBox="1"/>
          <p:nvPr/>
        </p:nvSpPr>
        <p:spPr>
          <a:xfrm>
            <a:off x="3632191"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150</a:t>
            </a:r>
            <a:endParaRPr lang="en-US" sz="3600" dirty="0"/>
          </a:p>
        </p:txBody>
      </p:sp>
      <p:sp>
        <p:nvSpPr>
          <p:cNvPr id="13" name="Text 11"/>
          <p:cNvSpPr txBox="1"/>
          <p:nvPr/>
        </p:nvSpPr>
        <p:spPr>
          <a:xfrm>
            <a:off x="3632191"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CONTACTPOGINGEN</a:t>
            </a:r>
            <a:endParaRPr lang="en-US" sz="900" dirty="0"/>
          </a:p>
        </p:txBody>
      </p:sp>
      <p:sp>
        <p:nvSpPr>
          <p:cNvPr id="14" name="Text 12"/>
          <p:cNvSpPr txBox="1"/>
          <p:nvPr/>
        </p:nvSpPr>
        <p:spPr>
          <a:xfrm>
            <a:off x="3632191"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Vijfentwintig pogingen per uur. Dat is het tempo dat onze bellers nu draaien, gemeten in de urenregistratie.</a:t>
            </a:r>
            <a:endParaRPr lang="en-US" sz="950" dirty="0"/>
          </a:p>
        </p:txBody>
      </p:sp>
      <p:sp>
        <p:nvSpPr>
          <p:cNvPr id="15" name="Shape 13"/>
          <p:cNvSpPr/>
          <p:nvPr/>
        </p:nvSpPr>
        <p:spPr>
          <a:xfrm>
            <a:off x="6172185" y="2730493"/>
            <a:ext cx="2628893" cy="2222494"/>
          </a:xfrm>
          <a:prstGeom prst="roundRect">
            <a:avLst>
              <a:gd name="adj" fmla="val 4571"/>
            </a:avLst>
          </a:prstGeom>
          <a:solidFill>
            <a:srgbClr val="F8F4EB"/>
          </a:solidFill>
          <a:ln/>
        </p:spPr>
      </p:sp>
      <p:sp>
        <p:nvSpPr>
          <p:cNvPr id="16" name="Text 14"/>
          <p:cNvSpPr txBox="1"/>
          <p:nvPr/>
        </p:nvSpPr>
        <p:spPr>
          <a:xfrm>
            <a:off x="6413484"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 90</a:t>
            </a:r>
            <a:endParaRPr lang="en-US" sz="3600" dirty="0"/>
          </a:p>
        </p:txBody>
      </p:sp>
      <p:sp>
        <p:nvSpPr>
          <p:cNvPr id="17" name="Text 15"/>
          <p:cNvSpPr txBox="1"/>
          <p:nvPr/>
        </p:nvSpPr>
        <p:spPr>
          <a:xfrm>
            <a:off x="6413484"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BEDRIJVEN GESPROKEN</a:t>
            </a:r>
            <a:endParaRPr lang="en-US" sz="900" dirty="0"/>
          </a:p>
        </p:txBody>
      </p:sp>
      <p:sp>
        <p:nvSpPr>
          <p:cNvPr id="18" name="Text 16"/>
          <p:cNvSpPr txBox="1"/>
          <p:nvPr/>
        </p:nvSpPr>
        <p:spPr>
          <a:xfrm>
            <a:off x="6413484"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Zes van de tien pogingen leveren de juiste persoon aan de lijn op.</a:t>
            </a:r>
            <a:endParaRPr lang="en-US" sz="950" dirty="0"/>
          </a:p>
        </p:txBody>
      </p:sp>
      <p:sp>
        <p:nvSpPr>
          <p:cNvPr id="19" name="Shape 17"/>
          <p:cNvSpPr/>
          <p:nvPr/>
        </p:nvSpPr>
        <p:spPr>
          <a:xfrm>
            <a:off x="8953478" y="2730493"/>
            <a:ext cx="2628893" cy="2222494"/>
          </a:xfrm>
          <a:prstGeom prst="roundRect">
            <a:avLst>
              <a:gd name="adj" fmla="val 4571"/>
            </a:avLst>
          </a:prstGeom>
          <a:solidFill>
            <a:srgbClr val="000000"/>
          </a:solidFill>
          <a:ln/>
        </p:spPr>
      </p:sp>
      <p:sp>
        <p:nvSpPr>
          <p:cNvPr id="20" name="Text 18"/>
          <p:cNvSpPr txBox="1"/>
          <p:nvPr/>
        </p:nvSpPr>
        <p:spPr>
          <a:xfrm>
            <a:off x="9194777" y="2997193"/>
            <a:ext cx="2146295" cy="507999"/>
          </a:xfrm>
          <a:prstGeom prst="rect">
            <a:avLst/>
          </a:prstGeom>
          <a:noFill/>
          <a:ln/>
        </p:spPr>
        <p:txBody>
          <a:bodyPr wrap="square" lIns="0" tIns="0" rIns="0" bIns="0" rtlCol="0" anchor="ctr"/>
          <a:lstStyle/>
          <a:p>
            <a:pPr indent="0" marL="0">
              <a:buNone/>
            </a:pPr>
            <a:r>
              <a:rPr lang="en-US" sz="3600" b="1" dirty="0">
                <a:solidFill>
                  <a:srgbClr val="38B6FF"/>
                </a:solidFill>
                <a:latin typeface="Arial" pitchFamily="34" charset="0"/>
                <a:ea typeface="Arial" pitchFamily="34" charset="-122"/>
                <a:cs typeface="Arial" pitchFamily="34" charset="-120"/>
              </a:rPr>
              <a:t>2,5</a:t>
            </a:r>
            <a:endParaRPr lang="en-US" sz="3600" dirty="0"/>
          </a:p>
        </p:txBody>
      </p:sp>
      <p:sp>
        <p:nvSpPr>
          <p:cNvPr id="21" name="Text 19"/>
          <p:cNvSpPr txBox="1"/>
          <p:nvPr/>
        </p:nvSpPr>
        <p:spPr>
          <a:xfrm>
            <a:off x="9194777"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GEKWALIFICEERDE AFSPRAKEN</a:t>
            </a:r>
            <a:endParaRPr lang="en-US" sz="900" dirty="0"/>
          </a:p>
        </p:txBody>
      </p:sp>
      <p:sp>
        <p:nvSpPr>
          <p:cNvPr id="22" name="Text 20"/>
          <p:cNvSpPr txBox="1"/>
          <p:nvPr/>
        </p:nvSpPr>
        <p:spPr>
          <a:xfrm>
            <a:off x="9194777"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De ene dag twee, de andere vier. Over de pilot gemeten komt het op 3 per beldag uit, wij leggen ons vast op 2,5.</a:t>
            </a:r>
            <a:endParaRPr lang="en-US" sz="950" dirty="0"/>
          </a:p>
        </p:txBody>
      </p:sp>
      <p:sp>
        <p:nvSpPr>
          <p:cNvPr id="23" name="Shape 21"/>
          <p:cNvSpPr/>
          <p:nvPr/>
        </p:nvSpPr>
        <p:spPr>
          <a:xfrm>
            <a:off x="609598" y="5854685"/>
            <a:ext cx="76200" cy="76200"/>
          </a:xfrm>
          <a:prstGeom prst="ellipse">
            <a:avLst/>
          </a:prstGeom>
          <a:solidFill>
            <a:srgbClr val="38B6FF"/>
          </a:solidFill>
          <a:ln/>
        </p:spPr>
      </p:sp>
      <p:sp>
        <p:nvSpPr>
          <p:cNvPr id="24" name="Text 22"/>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Wij rekenen in beldagen en niet in uren, omdat een uur niets zegt over wat eruit komt. Deze aantallen komen uit onze eigen urenregistratie en uit jullie pilot.</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9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AFSPRAKEN DIE WE MET ELKAAR MAKEN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Vier cijfers waar je ons op mag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afrekenen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666993"/>
            <a:ext cx="10972773" cy="2793993"/>
          </a:xfrm>
          <a:prstGeom prst="roundRect">
            <a:avLst>
              <a:gd name="adj" fmla="val 3636"/>
            </a:avLst>
          </a:prstGeom>
          <a:ln w="9525">
            <a:solidFill>
              <a:srgbClr val="3A4152"/>
            </a:solidFill>
            <a:prstDash val="solid"/>
          </a:ln>
        </p:spPr>
      </p:sp>
      <p:sp>
        <p:nvSpPr>
          <p:cNvPr id="8" name="Text 6"/>
          <p:cNvSpPr txBox="1"/>
          <p:nvPr/>
        </p:nvSpPr>
        <p:spPr>
          <a:xfrm>
            <a:off x="888998" y="2666993"/>
            <a:ext cx="2920993"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WAT WE LEVEREN</a:t>
            </a:r>
            <a:endParaRPr lang="en-US" sz="800" dirty="0"/>
          </a:p>
        </p:txBody>
      </p:sp>
      <p:sp>
        <p:nvSpPr>
          <p:cNvPr id="9" name="Text 7"/>
          <p:cNvSpPr txBox="1"/>
          <p:nvPr/>
        </p:nvSpPr>
        <p:spPr>
          <a:xfrm>
            <a:off x="3886190"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PER BELDAG</a:t>
            </a:r>
            <a:endParaRPr lang="en-US" sz="800" dirty="0"/>
          </a:p>
        </p:txBody>
      </p:sp>
      <p:sp>
        <p:nvSpPr>
          <p:cNvPr id="10" name="Text 8"/>
          <p:cNvSpPr txBox="1"/>
          <p:nvPr/>
        </p:nvSpPr>
        <p:spPr>
          <a:xfrm>
            <a:off x="6324584"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PER 4 BELDAGEN</a:t>
            </a:r>
            <a:endParaRPr lang="en-US" sz="800" dirty="0"/>
          </a:p>
        </p:txBody>
      </p:sp>
      <p:sp>
        <p:nvSpPr>
          <p:cNvPr id="11" name="Text 9"/>
          <p:cNvSpPr txBox="1"/>
          <p:nvPr/>
        </p:nvSpPr>
        <p:spPr>
          <a:xfrm>
            <a:off x="8737578" y="2666993"/>
            <a:ext cx="25399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PER 8 BELDAGEN</a:t>
            </a:r>
            <a:endParaRPr lang="en-US" sz="800" dirty="0"/>
          </a:p>
        </p:txBody>
      </p:sp>
      <p:sp>
        <p:nvSpPr>
          <p:cNvPr id="12" name="Shape 10"/>
          <p:cNvSpPr/>
          <p:nvPr/>
        </p:nvSpPr>
        <p:spPr>
          <a:xfrm>
            <a:off x="609598" y="3136892"/>
            <a:ext cx="10972773" cy="0"/>
          </a:xfrm>
          <a:prstGeom prst="line">
            <a:avLst/>
          </a:prstGeom>
          <a:noFill/>
          <a:ln w="9525">
            <a:solidFill>
              <a:srgbClr val="3A4152"/>
            </a:solidFill>
            <a:prstDash val="solid"/>
          </a:ln>
        </p:spPr>
      </p:sp>
      <p:sp>
        <p:nvSpPr>
          <p:cNvPr id="13" name="Text 11"/>
          <p:cNvSpPr txBox="1"/>
          <p:nvPr/>
        </p:nvSpPr>
        <p:spPr>
          <a:xfrm>
            <a:off x="888998" y="3136892"/>
            <a:ext cx="2920993" cy="581024"/>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Contactpogingen</a:t>
            </a:r>
            <a:endParaRPr lang="en-US" sz="1250" dirty="0"/>
          </a:p>
        </p:txBody>
      </p:sp>
      <p:sp>
        <p:nvSpPr>
          <p:cNvPr id="14" name="Text 12"/>
          <p:cNvSpPr txBox="1"/>
          <p:nvPr/>
        </p:nvSpPr>
        <p:spPr>
          <a:xfrm>
            <a:off x="3886190" y="3136892"/>
            <a:ext cx="2349494" cy="581024"/>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150</a:t>
            </a:r>
            <a:endParaRPr lang="en-US" sz="1250" dirty="0"/>
          </a:p>
        </p:txBody>
      </p:sp>
      <p:sp>
        <p:nvSpPr>
          <p:cNvPr id="15" name="Text 13"/>
          <p:cNvSpPr txBox="1"/>
          <p:nvPr/>
        </p:nvSpPr>
        <p:spPr>
          <a:xfrm>
            <a:off x="6324584" y="3136892"/>
            <a:ext cx="2349494" cy="581024"/>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600</a:t>
            </a:r>
            <a:endParaRPr lang="en-US" sz="1250" dirty="0"/>
          </a:p>
        </p:txBody>
      </p:sp>
      <p:sp>
        <p:nvSpPr>
          <p:cNvPr id="16" name="Text 14"/>
          <p:cNvSpPr txBox="1"/>
          <p:nvPr/>
        </p:nvSpPr>
        <p:spPr>
          <a:xfrm>
            <a:off x="8737578" y="3136892"/>
            <a:ext cx="2539994" cy="581024"/>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1.200</a:t>
            </a:r>
            <a:endParaRPr lang="en-US" sz="1250" dirty="0"/>
          </a:p>
        </p:txBody>
      </p:sp>
      <p:sp>
        <p:nvSpPr>
          <p:cNvPr id="17" name="Shape 15"/>
          <p:cNvSpPr/>
          <p:nvPr/>
        </p:nvSpPr>
        <p:spPr>
          <a:xfrm>
            <a:off x="609598" y="3717916"/>
            <a:ext cx="10972773" cy="0"/>
          </a:xfrm>
          <a:prstGeom prst="line">
            <a:avLst/>
          </a:prstGeom>
          <a:noFill/>
          <a:ln w="9525">
            <a:solidFill>
              <a:srgbClr val="3A4152"/>
            </a:solidFill>
            <a:prstDash val="solid"/>
          </a:ln>
        </p:spPr>
      </p:sp>
      <p:sp>
        <p:nvSpPr>
          <p:cNvPr id="18" name="Text 16"/>
          <p:cNvSpPr txBox="1"/>
          <p:nvPr/>
        </p:nvSpPr>
        <p:spPr>
          <a:xfrm>
            <a:off x="888998" y="3717916"/>
            <a:ext cx="2920993" cy="581024"/>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Bedrijven gesproken</a:t>
            </a:r>
            <a:endParaRPr lang="en-US" sz="1250" dirty="0"/>
          </a:p>
        </p:txBody>
      </p:sp>
      <p:sp>
        <p:nvSpPr>
          <p:cNvPr id="19" name="Text 17"/>
          <p:cNvSpPr txBox="1"/>
          <p:nvPr/>
        </p:nvSpPr>
        <p:spPr>
          <a:xfrm>
            <a:off x="3886190" y="3717916"/>
            <a:ext cx="2349494" cy="581024"/>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90</a:t>
            </a:r>
            <a:endParaRPr lang="en-US" sz="1250" dirty="0"/>
          </a:p>
        </p:txBody>
      </p:sp>
      <p:sp>
        <p:nvSpPr>
          <p:cNvPr id="20" name="Text 18"/>
          <p:cNvSpPr txBox="1"/>
          <p:nvPr/>
        </p:nvSpPr>
        <p:spPr>
          <a:xfrm>
            <a:off x="6324584" y="3717916"/>
            <a:ext cx="2349494" cy="581024"/>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360</a:t>
            </a:r>
            <a:endParaRPr lang="en-US" sz="1250" dirty="0"/>
          </a:p>
        </p:txBody>
      </p:sp>
      <p:sp>
        <p:nvSpPr>
          <p:cNvPr id="21" name="Text 19"/>
          <p:cNvSpPr txBox="1"/>
          <p:nvPr/>
        </p:nvSpPr>
        <p:spPr>
          <a:xfrm>
            <a:off x="8737578" y="3717916"/>
            <a:ext cx="2539994" cy="581024"/>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720</a:t>
            </a:r>
            <a:endParaRPr lang="en-US" sz="1250" dirty="0"/>
          </a:p>
        </p:txBody>
      </p:sp>
      <p:sp>
        <p:nvSpPr>
          <p:cNvPr id="22" name="Shape 20"/>
          <p:cNvSpPr/>
          <p:nvPr/>
        </p:nvSpPr>
        <p:spPr>
          <a:xfrm>
            <a:off x="609598" y="4298939"/>
            <a:ext cx="10972773" cy="0"/>
          </a:xfrm>
          <a:prstGeom prst="line">
            <a:avLst/>
          </a:prstGeom>
          <a:noFill/>
          <a:ln w="9525">
            <a:solidFill>
              <a:srgbClr val="3A4152"/>
            </a:solidFill>
            <a:prstDash val="solid"/>
          </a:ln>
        </p:spPr>
      </p:sp>
      <p:sp>
        <p:nvSpPr>
          <p:cNvPr id="23" name="Text 21"/>
          <p:cNvSpPr txBox="1"/>
          <p:nvPr/>
        </p:nvSpPr>
        <p:spPr>
          <a:xfrm>
            <a:off x="888998" y="4298939"/>
            <a:ext cx="2920993" cy="581024"/>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Terugbelafspraken</a:t>
            </a:r>
            <a:endParaRPr lang="en-US" sz="1250" dirty="0"/>
          </a:p>
        </p:txBody>
      </p:sp>
      <p:sp>
        <p:nvSpPr>
          <p:cNvPr id="24" name="Text 22"/>
          <p:cNvSpPr txBox="1"/>
          <p:nvPr/>
        </p:nvSpPr>
        <p:spPr>
          <a:xfrm>
            <a:off x="3886190" y="4298939"/>
            <a:ext cx="2349494" cy="581024"/>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35</a:t>
            </a:r>
            <a:endParaRPr lang="en-US" sz="1250" dirty="0"/>
          </a:p>
        </p:txBody>
      </p:sp>
      <p:sp>
        <p:nvSpPr>
          <p:cNvPr id="25" name="Text 23"/>
          <p:cNvSpPr txBox="1"/>
          <p:nvPr/>
        </p:nvSpPr>
        <p:spPr>
          <a:xfrm>
            <a:off x="6324584" y="4298939"/>
            <a:ext cx="2349494" cy="581024"/>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140</a:t>
            </a:r>
            <a:endParaRPr lang="en-US" sz="1250" dirty="0"/>
          </a:p>
        </p:txBody>
      </p:sp>
      <p:sp>
        <p:nvSpPr>
          <p:cNvPr id="26" name="Text 24"/>
          <p:cNvSpPr txBox="1"/>
          <p:nvPr/>
        </p:nvSpPr>
        <p:spPr>
          <a:xfrm>
            <a:off x="8737578" y="4298939"/>
            <a:ext cx="2539994" cy="581024"/>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280</a:t>
            </a:r>
            <a:endParaRPr lang="en-US" sz="1250" dirty="0"/>
          </a:p>
        </p:txBody>
      </p:sp>
      <p:sp>
        <p:nvSpPr>
          <p:cNvPr id="27" name="Shape 25"/>
          <p:cNvSpPr/>
          <p:nvPr/>
        </p:nvSpPr>
        <p:spPr>
          <a:xfrm>
            <a:off x="615948" y="4879963"/>
            <a:ext cx="10960073" cy="581024"/>
          </a:xfrm>
          <a:prstGeom prst="rect">
            <a:avLst/>
          </a:prstGeom>
          <a:solidFill>
            <a:srgbClr val="38B6FF">
              <a:alpha val="11000"/>
            </a:srgbClr>
          </a:solidFill>
          <a:ln/>
        </p:spPr>
      </p:sp>
      <p:sp>
        <p:nvSpPr>
          <p:cNvPr id="28" name="Shape 26"/>
          <p:cNvSpPr/>
          <p:nvPr/>
        </p:nvSpPr>
        <p:spPr>
          <a:xfrm>
            <a:off x="609598" y="4879963"/>
            <a:ext cx="10972773" cy="0"/>
          </a:xfrm>
          <a:prstGeom prst="line">
            <a:avLst/>
          </a:prstGeom>
          <a:noFill/>
          <a:ln w="9525">
            <a:solidFill>
              <a:srgbClr val="3A4152"/>
            </a:solidFill>
            <a:prstDash val="solid"/>
          </a:ln>
        </p:spPr>
      </p:sp>
      <p:sp>
        <p:nvSpPr>
          <p:cNvPr id="29" name="Text 27"/>
          <p:cNvSpPr txBox="1"/>
          <p:nvPr/>
        </p:nvSpPr>
        <p:spPr>
          <a:xfrm>
            <a:off x="888998" y="4879963"/>
            <a:ext cx="2920993" cy="581024"/>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Gekwalificeerde afspraken</a:t>
            </a:r>
            <a:endParaRPr lang="en-US" sz="1250" dirty="0"/>
          </a:p>
        </p:txBody>
      </p:sp>
      <p:sp>
        <p:nvSpPr>
          <p:cNvPr id="30" name="Text 28"/>
          <p:cNvSpPr txBox="1"/>
          <p:nvPr/>
        </p:nvSpPr>
        <p:spPr>
          <a:xfrm>
            <a:off x="3886190" y="4879963"/>
            <a:ext cx="2349494" cy="581024"/>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2,5</a:t>
            </a:r>
            <a:endParaRPr lang="en-US" sz="1250" dirty="0"/>
          </a:p>
        </p:txBody>
      </p:sp>
      <p:sp>
        <p:nvSpPr>
          <p:cNvPr id="31" name="Text 29"/>
          <p:cNvSpPr txBox="1"/>
          <p:nvPr/>
        </p:nvSpPr>
        <p:spPr>
          <a:xfrm>
            <a:off x="6324584" y="4879963"/>
            <a:ext cx="2349494" cy="581024"/>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10</a:t>
            </a:r>
            <a:endParaRPr lang="en-US" sz="1250" dirty="0"/>
          </a:p>
        </p:txBody>
      </p:sp>
      <p:sp>
        <p:nvSpPr>
          <p:cNvPr id="32" name="Text 30"/>
          <p:cNvSpPr txBox="1"/>
          <p:nvPr/>
        </p:nvSpPr>
        <p:spPr>
          <a:xfrm>
            <a:off x="8737578" y="4879963"/>
            <a:ext cx="2539994" cy="581024"/>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20</a:t>
            </a:r>
            <a:endParaRPr lang="en-US" sz="1250" dirty="0"/>
          </a:p>
        </p:txBody>
      </p:sp>
      <p:sp>
        <p:nvSpPr>
          <p:cNvPr id="33" name="Shape 31"/>
          <p:cNvSpPr/>
          <p:nvPr/>
        </p:nvSpPr>
        <p:spPr>
          <a:xfrm>
            <a:off x="609598" y="5854685"/>
            <a:ext cx="76200" cy="76200"/>
          </a:xfrm>
          <a:prstGeom prst="ellipse">
            <a:avLst/>
          </a:prstGeom>
          <a:solidFill>
            <a:srgbClr val="38B6FF"/>
          </a:solidFill>
          <a:ln/>
        </p:spPr>
      </p:sp>
      <p:sp>
        <p:nvSpPr>
          <p:cNvPr id="34" name="Text 32"/>
          <p:cNvSpPr txBox="1"/>
          <p:nvPr/>
        </p:nvSpPr>
        <p:spPr>
          <a:xfrm>
            <a:off x="800098" y="5651486"/>
            <a:ext cx="9905975" cy="482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De zes uur bellen maken we altijd vol, dus de bovenste drie liggen vast. Halen we de afspraken niet, dan bellen we door tot het aantal er staat, zonder dat daar een factuur tegenover staat.</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10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HET VOORSTEL</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Vaste beldagen per vier weken,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één dagprijs</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666993"/>
            <a:ext cx="10972773" cy="2355844"/>
          </a:xfrm>
          <a:prstGeom prst="roundRect">
            <a:avLst>
              <a:gd name="adj" fmla="val 4313"/>
            </a:avLst>
          </a:prstGeom>
          <a:ln w="9525">
            <a:solidFill>
              <a:srgbClr val="3A4152"/>
            </a:solidFill>
            <a:prstDash val="solid"/>
          </a:ln>
        </p:spPr>
      </p:sp>
      <p:sp>
        <p:nvSpPr>
          <p:cNvPr id="8" name="Text 6"/>
          <p:cNvSpPr txBox="1"/>
          <p:nvPr/>
        </p:nvSpPr>
        <p:spPr>
          <a:xfrm>
            <a:off x="888998" y="2666993"/>
            <a:ext cx="2920993"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BELDAGEN PER 4 WEKEN</a:t>
            </a:r>
            <a:endParaRPr lang="en-US" sz="800" dirty="0"/>
          </a:p>
        </p:txBody>
      </p:sp>
      <p:sp>
        <p:nvSpPr>
          <p:cNvPr id="9" name="Text 7"/>
          <p:cNvSpPr txBox="1"/>
          <p:nvPr/>
        </p:nvSpPr>
        <p:spPr>
          <a:xfrm>
            <a:off x="3886190"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PRIJS PER BELDAG</a:t>
            </a:r>
            <a:endParaRPr lang="en-US" sz="800" dirty="0"/>
          </a:p>
        </p:txBody>
      </p:sp>
      <p:sp>
        <p:nvSpPr>
          <p:cNvPr id="10" name="Text 8"/>
          <p:cNvSpPr txBox="1"/>
          <p:nvPr/>
        </p:nvSpPr>
        <p:spPr>
          <a:xfrm>
            <a:off x="6324584"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PER 4 WEKEN</a:t>
            </a:r>
            <a:endParaRPr lang="en-US" sz="800" dirty="0"/>
          </a:p>
        </p:txBody>
      </p:sp>
      <p:sp>
        <p:nvSpPr>
          <p:cNvPr id="11" name="Text 9"/>
          <p:cNvSpPr txBox="1"/>
          <p:nvPr/>
        </p:nvSpPr>
        <p:spPr>
          <a:xfrm>
            <a:off x="8737578" y="2666993"/>
            <a:ext cx="25399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VERWACHTE AFSPRAKEN</a:t>
            </a:r>
            <a:endParaRPr lang="en-US" sz="800" dirty="0"/>
          </a:p>
        </p:txBody>
      </p:sp>
      <p:sp>
        <p:nvSpPr>
          <p:cNvPr id="12" name="Shape 10"/>
          <p:cNvSpPr/>
          <p:nvPr/>
        </p:nvSpPr>
        <p:spPr>
          <a:xfrm>
            <a:off x="609598" y="3136892"/>
            <a:ext cx="10972773" cy="0"/>
          </a:xfrm>
          <a:prstGeom prst="line">
            <a:avLst/>
          </a:prstGeom>
          <a:noFill/>
          <a:ln w="9525">
            <a:solidFill>
              <a:srgbClr val="3A4152"/>
            </a:solidFill>
            <a:prstDash val="solid"/>
          </a:ln>
        </p:spPr>
      </p:sp>
      <p:sp>
        <p:nvSpPr>
          <p:cNvPr id="13" name="Text 11"/>
          <p:cNvSpPr txBox="1"/>
          <p:nvPr/>
        </p:nvSpPr>
        <p:spPr>
          <a:xfrm>
            <a:off x="888998" y="3136892"/>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4 beldagen</a:t>
            </a:r>
            <a:endParaRPr lang="en-US" sz="1250" dirty="0"/>
          </a:p>
        </p:txBody>
      </p:sp>
      <p:sp>
        <p:nvSpPr>
          <p:cNvPr id="14" name="Text 12"/>
          <p:cNvSpPr txBox="1"/>
          <p:nvPr/>
        </p:nvSpPr>
        <p:spPr>
          <a:xfrm>
            <a:off x="3886190"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€ 600</a:t>
            </a:r>
            <a:endParaRPr lang="en-US" sz="1250" dirty="0"/>
          </a:p>
        </p:txBody>
      </p:sp>
      <p:sp>
        <p:nvSpPr>
          <p:cNvPr id="15" name="Text 13"/>
          <p:cNvSpPr txBox="1"/>
          <p:nvPr/>
        </p:nvSpPr>
        <p:spPr>
          <a:xfrm>
            <a:off x="6324584"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€ 2.400</a:t>
            </a:r>
            <a:endParaRPr lang="en-US" sz="1250" dirty="0"/>
          </a:p>
        </p:txBody>
      </p:sp>
      <p:sp>
        <p:nvSpPr>
          <p:cNvPr id="16" name="Text 14"/>
          <p:cNvSpPr txBox="1"/>
          <p:nvPr/>
        </p:nvSpPr>
        <p:spPr>
          <a:xfrm>
            <a:off x="8737578" y="3136892"/>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10</a:t>
            </a:r>
            <a:endParaRPr lang="en-US" sz="1250" dirty="0"/>
          </a:p>
        </p:txBody>
      </p:sp>
      <p:sp>
        <p:nvSpPr>
          <p:cNvPr id="17" name="Shape 15"/>
          <p:cNvSpPr/>
          <p:nvPr/>
        </p:nvSpPr>
        <p:spPr>
          <a:xfrm>
            <a:off x="609598" y="3765541"/>
            <a:ext cx="10972773" cy="0"/>
          </a:xfrm>
          <a:prstGeom prst="line">
            <a:avLst/>
          </a:prstGeom>
          <a:noFill/>
          <a:ln w="9525">
            <a:solidFill>
              <a:srgbClr val="3A4152"/>
            </a:solidFill>
            <a:prstDash val="solid"/>
          </a:ln>
        </p:spPr>
      </p:sp>
      <p:sp>
        <p:nvSpPr>
          <p:cNvPr id="18" name="Text 16"/>
          <p:cNvSpPr txBox="1"/>
          <p:nvPr/>
        </p:nvSpPr>
        <p:spPr>
          <a:xfrm>
            <a:off x="888998" y="3765541"/>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5 tot 7 beldagen</a:t>
            </a:r>
            <a:endParaRPr lang="en-US" sz="1250" dirty="0"/>
          </a:p>
        </p:txBody>
      </p:sp>
      <p:sp>
        <p:nvSpPr>
          <p:cNvPr id="19" name="Text 17"/>
          <p:cNvSpPr txBox="1"/>
          <p:nvPr/>
        </p:nvSpPr>
        <p:spPr>
          <a:xfrm>
            <a:off x="3886190"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€ 550</a:t>
            </a:r>
            <a:endParaRPr lang="en-US" sz="1250" dirty="0"/>
          </a:p>
        </p:txBody>
      </p:sp>
      <p:sp>
        <p:nvSpPr>
          <p:cNvPr id="20" name="Text 18"/>
          <p:cNvSpPr txBox="1"/>
          <p:nvPr/>
        </p:nvSpPr>
        <p:spPr>
          <a:xfrm>
            <a:off x="6324584"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€ 2.750 tot € 3.850</a:t>
            </a:r>
            <a:endParaRPr lang="en-US" sz="1250" dirty="0"/>
          </a:p>
        </p:txBody>
      </p:sp>
      <p:sp>
        <p:nvSpPr>
          <p:cNvPr id="21" name="Text 19"/>
          <p:cNvSpPr txBox="1"/>
          <p:nvPr/>
        </p:nvSpPr>
        <p:spPr>
          <a:xfrm>
            <a:off x="8737578" y="3765541"/>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13 tot 18</a:t>
            </a:r>
            <a:endParaRPr lang="en-US" sz="1250" dirty="0"/>
          </a:p>
        </p:txBody>
      </p:sp>
      <p:sp>
        <p:nvSpPr>
          <p:cNvPr id="22" name="Shape 20"/>
          <p:cNvSpPr/>
          <p:nvPr/>
        </p:nvSpPr>
        <p:spPr>
          <a:xfrm>
            <a:off x="615948" y="4394189"/>
            <a:ext cx="10960073" cy="628648"/>
          </a:xfrm>
          <a:prstGeom prst="rect">
            <a:avLst/>
          </a:prstGeom>
          <a:solidFill>
            <a:srgbClr val="38B6FF">
              <a:alpha val="11000"/>
            </a:srgbClr>
          </a:solidFill>
          <a:ln/>
        </p:spPr>
      </p:sp>
      <p:sp>
        <p:nvSpPr>
          <p:cNvPr id="23" name="Shape 21"/>
          <p:cNvSpPr/>
          <p:nvPr/>
        </p:nvSpPr>
        <p:spPr>
          <a:xfrm>
            <a:off x="609598" y="4394189"/>
            <a:ext cx="10972773" cy="0"/>
          </a:xfrm>
          <a:prstGeom prst="line">
            <a:avLst/>
          </a:prstGeom>
          <a:noFill/>
          <a:ln w="9525">
            <a:solidFill>
              <a:srgbClr val="3A4152"/>
            </a:solidFill>
            <a:prstDash val="solid"/>
          </a:ln>
        </p:spPr>
      </p:sp>
      <p:sp>
        <p:nvSpPr>
          <p:cNvPr id="24" name="Text 22"/>
          <p:cNvSpPr txBox="1"/>
          <p:nvPr/>
        </p:nvSpPr>
        <p:spPr>
          <a:xfrm>
            <a:off x="888998" y="4394189"/>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8 beldagen of meer</a:t>
            </a:r>
            <a:endParaRPr lang="en-US" sz="1250" dirty="0"/>
          </a:p>
        </p:txBody>
      </p:sp>
      <p:sp>
        <p:nvSpPr>
          <p:cNvPr id="25" name="Text 23"/>
          <p:cNvSpPr txBox="1"/>
          <p:nvPr/>
        </p:nvSpPr>
        <p:spPr>
          <a:xfrm>
            <a:off x="3886190"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€ 500</a:t>
            </a:r>
            <a:endParaRPr lang="en-US" sz="1250" dirty="0"/>
          </a:p>
        </p:txBody>
      </p:sp>
      <p:sp>
        <p:nvSpPr>
          <p:cNvPr id="26" name="Text 24"/>
          <p:cNvSpPr txBox="1"/>
          <p:nvPr/>
        </p:nvSpPr>
        <p:spPr>
          <a:xfrm>
            <a:off x="6324584"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vanaf € 4.000</a:t>
            </a:r>
            <a:endParaRPr lang="en-US" sz="1250" dirty="0"/>
          </a:p>
        </p:txBody>
      </p:sp>
      <p:sp>
        <p:nvSpPr>
          <p:cNvPr id="27" name="Text 25"/>
          <p:cNvSpPr txBox="1"/>
          <p:nvPr/>
        </p:nvSpPr>
        <p:spPr>
          <a:xfrm>
            <a:off x="8737578" y="4394189"/>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20</a:t>
            </a:r>
            <a:endParaRPr lang="en-US" sz="1250" dirty="0"/>
          </a:p>
        </p:txBody>
      </p:sp>
      <p:sp>
        <p:nvSpPr>
          <p:cNvPr id="28" name="Shape 26"/>
          <p:cNvSpPr/>
          <p:nvPr/>
        </p:nvSpPr>
        <p:spPr>
          <a:xfrm>
            <a:off x="609598" y="5854685"/>
            <a:ext cx="76200" cy="76200"/>
          </a:xfrm>
          <a:prstGeom prst="ellipse">
            <a:avLst/>
          </a:prstGeom>
          <a:solidFill>
            <a:srgbClr val="38B6FF"/>
          </a:solidFill>
          <a:ln/>
        </p:spPr>
      </p:sp>
      <p:sp>
        <p:nvSpPr>
          <p:cNvPr id="29" name="Text 27"/>
          <p:cNvSpPr txBox="1"/>
          <p:nvPr/>
        </p:nvSpPr>
        <p:spPr>
          <a:xfrm>
            <a:off x="800098" y="5651486"/>
            <a:ext cx="9905975" cy="482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De aantallen gaan uit van honderdvijftig contactpogingen en 2,5 gekwalificeerde afspraken per beldag. In jullie pilot lag dat rendement op 3 per beldag, dus we rekenen met een marge. Minimaal vier beldagen per periode, prijzen excl. btw.</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11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WE AFREKENEN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Vooraf een vaste prijs, achteraf geen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verrassingen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Vaste prijs per beldag</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Je betaalt per beldag, vooraf gefactureerd per werkperiode. Geen nacalculatie, geen kosten per afspraak en geen succesfee meer.</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Vier harde KPI's</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Contactpogingen, gesproken bedrijven, terugbelafspraken en gekwalificeerde afspraken. Vastgelegd per beldag en zichtbaar in elke rapportage.</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Niet gehaald, dan bellen we door</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Blijft een werkperiode onder de KPI's, dan bellen we in de volgende periode door tot het aantal er staat. Zonder extra factuur.</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Goedkoper naarmate je langer blijft</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De dagprijs zakt van 600 naar 500 euro bij acht beldagen. Daarmee kom je op dezelfde prijs per afspraak als in de pilot, met tweeënhalf keer zoveel afspraken.</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PRIJS PER BELDAG</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€ 600</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vanaf 8 beldagen € 500, excl. btw</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Vooraf gefactureerd per werkperiode</a:t>
            </a:r>
            <a:endParaRPr lang="en-US" sz="900" dirty="0"/>
          </a:p>
        </p:txBody>
      </p:sp>
      <p:pic>
        <p:nvPicPr>
          <p:cNvPr id="34" name="Image 1" descr="preencoded.png">    </p:cNvPr>
          <p:cNvPicPr>
            <a:picLocks noChangeAspect="1"/>
          </p:cNvPicPr>
          <p:nvPr/>
        </p:nvPicPr>
        <p:blipFill>
          <a:blip r:embed="rId2"/>
          <a:stretch>
            <a:fillRect/>
          </a:stretch>
        </p:blipFill>
        <p:spPr>
          <a:xfrm>
            <a:off x="7340582" y="5276837"/>
            <a:ext cx="127000" cy="127000"/>
          </a:xfrm>
          <a:prstGeom prst="rect">
            <a:avLst/>
          </a:prstGeom>
        </p:spPr>
      </p:pic>
      <p:sp>
        <p:nvSpPr>
          <p:cNvPr id="35" name="Text 31"/>
          <p:cNvSpPr txBox="1"/>
          <p:nvPr/>
        </p:nvSpPr>
        <p:spPr>
          <a:xfrm>
            <a:off x="754378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Geen kosten per afspraak</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150 contactpogingen per beldag</a:t>
            </a:r>
            <a:endParaRPr lang="en-US" sz="900" dirty="0"/>
          </a:p>
        </p:txBody>
      </p:sp>
      <p:pic>
        <p:nvPicPr>
          <p:cNvPr id="38" name="Image 3" descr="preencoded.png">    </p:cNvPr>
          <p:cNvPicPr>
            <a:picLocks noChangeAspect="1"/>
          </p:cNvPicPr>
          <p:nvPr/>
        </p:nvPicPr>
        <p:blipFill>
          <a:blip r:embed="rId4"/>
          <a:stretch>
            <a:fillRect/>
          </a:stretch>
        </p:blipFill>
        <p:spPr>
          <a:xfrm>
            <a:off x="7340582" y="5530836"/>
            <a:ext cx="127000" cy="127000"/>
          </a:xfrm>
          <a:prstGeom prst="rect">
            <a:avLst/>
          </a:prstGeom>
        </p:spPr>
      </p:pic>
      <p:sp>
        <p:nvSpPr>
          <p:cNvPr id="39" name="Text 33"/>
          <p:cNvSpPr txBox="1"/>
          <p:nvPr/>
        </p:nvSpPr>
        <p:spPr>
          <a:xfrm>
            <a:off x="754378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2,5 gekwalificeerde afspraken per beldag</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Niet gehaald is doorbellen zonder factuur</a:t>
            </a:r>
            <a:endParaRPr lang="en-US" sz="900" dirty="0"/>
          </a:p>
        </p:txBody>
      </p:sp>
      <p:pic>
        <p:nvPicPr>
          <p:cNvPr id="42" name="Image 5" descr="preencoded.png">    </p:cNvPr>
          <p:cNvPicPr>
            <a:picLocks noChangeAspect="1"/>
          </p:cNvPicPr>
          <p:nvPr/>
        </p:nvPicPr>
        <p:blipFill>
          <a:blip r:embed="rId6"/>
          <a:stretch>
            <a:fillRect/>
          </a:stretch>
        </p:blipFill>
        <p:spPr>
          <a:xfrm>
            <a:off x="7340582" y="5784836"/>
            <a:ext cx="127000" cy="127000"/>
          </a:xfrm>
          <a:prstGeom prst="rect">
            <a:avLst/>
          </a:prstGeom>
        </p:spPr>
      </p:pic>
      <p:sp>
        <p:nvSpPr>
          <p:cNvPr id="43" name="Text 35"/>
          <p:cNvSpPr txBox="1"/>
          <p:nvPr/>
        </p:nvSpPr>
        <p:spPr>
          <a:xfrm>
            <a:off x="754378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Prijs staat vast tot en met 2027</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12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OPSCHALEN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Hetzelfde ritme, of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twee keer zoveel</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89194"/>
            <a:ext cx="3555991" cy="2768593"/>
          </a:xfrm>
          <a:prstGeom prst="roundRect">
            <a:avLst>
              <a:gd name="adj" fmla="val 3670"/>
            </a:avLst>
          </a:prstGeom>
          <a:solidFill>
            <a:srgbClr val="F8F4EB"/>
          </a:solidFill>
          <a:ln/>
        </p:spPr>
      </p:sp>
      <p:sp>
        <p:nvSpPr>
          <p:cNvPr id="8" name="Text 6"/>
          <p:cNvSpPr txBox="1"/>
          <p:nvPr/>
        </p:nvSpPr>
        <p:spPr>
          <a:xfrm>
            <a:off x="825498" y="2743193"/>
            <a:ext cx="3124192" cy="190500"/>
          </a:xfrm>
          <a:prstGeom prst="rect">
            <a:avLst/>
          </a:prstGeom>
          <a:noFill/>
          <a:ln/>
        </p:spPr>
        <p:txBody>
          <a:bodyPr wrap="square" lIns="0" tIns="0" rIns="0" bIns="0" rtlCol="0" anchor="ctr"/>
          <a:lstStyle/>
          <a:p>
            <a:pPr indent="0" marL="0">
              <a:buNone/>
            </a:pPr>
            <a:r>
              <a:rPr lang="en-US" sz="800" b="1" spc="180" kern="0" dirty="0">
                <a:solidFill>
                  <a:srgbClr val="6F6A5C"/>
                </a:solidFill>
                <a:latin typeface="Arial" pitchFamily="34" charset="0"/>
                <a:ea typeface="Arial" pitchFamily="34" charset="-122"/>
                <a:cs typeface="Arial" pitchFamily="34" charset="-120"/>
              </a:rPr>
              <a:t>NU</a:t>
            </a:r>
            <a:endParaRPr lang="en-US" sz="800" dirty="0"/>
          </a:p>
        </p:txBody>
      </p:sp>
      <p:sp>
        <p:nvSpPr>
          <p:cNvPr id="9" name="Text 7"/>
          <p:cNvSpPr txBox="1"/>
          <p:nvPr/>
        </p:nvSpPr>
        <p:spPr>
          <a:xfrm>
            <a:off x="825498" y="2959093"/>
            <a:ext cx="3124192" cy="355599"/>
          </a:xfrm>
          <a:prstGeom prst="rect">
            <a:avLst/>
          </a:prstGeom>
          <a:noFill/>
          <a:ln/>
        </p:spPr>
        <p:txBody>
          <a:bodyPr wrap="square" lIns="0" tIns="0" rIns="0" bIns="0" rtlCol="0" anchor="ctr"/>
          <a:lstStyle/>
          <a:p>
            <a:pPr indent="0" marL="0">
              <a:lnSpc>
                <a:spcPct val="115000"/>
              </a:lnSpc>
              <a:buNone/>
            </a:pPr>
            <a:r>
              <a:rPr lang="en-US" sz="1250" b="1" dirty="0">
                <a:solidFill>
                  <a:srgbClr val="1C2230"/>
                </a:solidFill>
                <a:latin typeface="Arial" pitchFamily="34" charset="0"/>
                <a:ea typeface="Arial" pitchFamily="34" charset="-122"/>
                <a:cs typeface="Arial" pitchFamily="34" charset="-120"/>
              </a:rPr>
              <a:t>€ 1.600 per werkperiode</a:t>
            </a:r>
            <a:endParaRPr lang="en-US" sz="1250" dirty="0"/>
          </a:p>
        </p:txBody>
      </p:sp>
      <p:sp>
        <p:nvSpPr>
          <p:cNvPr id="10" name="Text 8"/>
          <p:cNvSpPr txBox="1"/>
          <p:nvPr/>
        </p:nvSpPr>
        <p:spPr>
          <a:xfrm>
            <a:off x="825498" y="3378192"/>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Beldagen</a:t>
            </a:r>
            <a:endParaRPr lang="en-US" sz="950" dirty="0"/>
          </a:p>
        </p:txBody>
      </p:sp>
      <p:sp>
        <p:nvSpPr>
          <p:cNvPr id="11" name="Text 9"/>
          <p:cNvSpPr txBox="1"/>
          <p:nvPr/>
        </p:nvSpPr>
        <p:spPr>
          <a:xfrm>
            <a:off x="3124192" y="3378192"/>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2,7</a:t>
            </a:r>
            <a:endParaRPr lang="en-US" sz="1150" dirty="0"/>
          </a:p>
        </p:txBody>
      </p:sp>
      <p:sp>
        <p:nvSpPr>
          <p:cNvPr id="12" name="Shape 10"/>
          <p:cNvSpPr/>
          <p:nvPr/>
        </p:nvSpPr>
        <p:spPr>
          <a:xfrm>
            <a:off x="825498" y="3728711"/>
            <a:ext cx="3124192" cy="0"/>
          </a:xfrm>
          <a:prstGeom prst="line">
            <a:avLst/>
          </a:prstGeom>
          <a:noFill/>
          <a:ln w="9525">
            <a:solidFill>
              <a:srgbClr val="D8D2C4"/>
            </a:solidFill>
            <a:prstDash val="solid"/>
          </a:ln>
        </p:spPr>
      </p:sp>
      <p:sp>
        <p:nvSpPr>
          <p:cNvPr id="13" name="Text 11"/>
          <p:cNvSpPr txBox="1"/>
          <p:nvPr/>
        </p:nvSpPr>
        <p:spPr>
          <a:xfrm>
            <a:off x="825498" y="3728711"/>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Contactpogingen</a:t>
            </a:r>
            <a:endParaRPr lang="en-US" sz="950" dirty="0"/>
          </a:p>
        </p:txBody>
      </p:sp>
      <p:sp>
        <p:nvSpPr>
          <p:cNvPr id="14" name="Text 12"/>
          <p:cNvSpPr txBox="1"/>
          <p:nvPr/>
        </p:nvSpPr>
        <p:spPr>
          <a:xfrm>
            <a:off x="3124192" y="3728711"/>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400</a:t>
            </a:r>
            <a:endParaRPr lang="en-US" sz="1150" dirty="0"/>
          </a:p>
        </p:txBody>
      </p:sp>
      <p:sp>
        <p:nvSpPr>
          <p:cNvPr id="15" name="Shape 13"/>
          <p:cNvSpPr/>
          <p:nvPr/>
        </p:nvSpPr>
        <p:spPr>
          <a:xfrm>
            <a:off x="825498" y="4079230"/>
            <a:ext cx="3124192" cy="0"/>
          </a:xfrm>
          <a:prstGeom prst="line">
            <a:avLst/>
          </a:prstGeom>
          <a:noFill/>
          <a:ln w="9525">
            <a:solidFill>
              <a:srgbClr val="D8D2C4"/>
            </a:solidFill>
            <a:prstDash val="solid"/>
          </a:ln>
        </p:spPr>
      </p:sp>
      <p:sp>
        <p:nvSpPr>
          <p:cNvPr id="16" name="Text 14"/>
          <p:cNvSpPr txBox="1"/>
          <p:nvPr/>
        </p:nvSpPr>
        <p:spPr>
          <a:xfrm>
            <a:off x="825498" y="4079230"/>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Afspraken</a:t>
            </a:r>
            <a:endParaRPr lang="en-US" sz="950" dirty="0"/>
          </a:p>
        </p:txBody>
      </p:sp>
      <p:sp>
        <p:nvSpPr>
          <p:cNvPr id="17" name="Text 15"/>
          <p:cNvSpPr txBox="1"/>
          <p:nvPr/>
        </p:nvSpPr>
        <p:spPr>
          <a:xfrm>
            <a:off x="3124192" y="4079230"/>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8</a:t>
            </a:r>
            <a:endParaRPr lang="en-US" sz="1150" dirty="0"/>
          </a:p>
        </p:txBody>
      </p:sp>
      <p:sp>
        <p:nvSpPr>
          <p:cNvPr id="18" name="Shape 16"/>
          <p:cNvSpPr/>
          <p:nvPr/>
        </p:nvSpPr>
        <p:spPr>
          <a:xfrm>
            <a:off x="825498" y="4429749"/>
            <a:ext cx="3124192" cy="0"/>
          </a:xfrm>
          <a:prstGeom prst="line">
            <a:avLst/>
          </a:prstGeom>
          <a:noFill/>
          <a:ln w="9525">
            <a:solidFill>
              <a:srgbClr val="D8D2C4"/>
            </a:solidFill>
            <a:prstDash val="solid"/>
          </a:ln>
        </p:spPr>
      </p:sp>
      <p:sp>
        <p:nvSpPr>
          <p:cNvPr id="19" name="Text 17"/>
          <p:cNvSpPr txBox="1"/>
          <p:nvPr/>
        </p:nvSpPr>
        <p:spPr>
          <a:xfrm>
            <a:off x="825498" y="4429749"/>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Prijs per beldag</a:t>
            </a:r>
            <a:endParaRPr lang="en-US" sz="950" dirty="0"/>
          </a:p>
        </p:txBody>
      </p:sp>
      <p:sp>
        <p:nvSpPr>
          <p:cNvPr id="20" name="Text 18"/>
          <p:cNvSpPr txBox="1"/>
          <p:nvPr/>
        </p:nvSpPr>
        <p:spPr>
          <a:xfrm>
            <a:off x="3124192" y="4429749"/>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€ 590</a:t>
            </a:r>
            <a:endParaRPr lang="en-US" sz="1150" dirty="0"/>
          </a:p>
        </p:txBody>
      </p:sp>
      <p:sp>
        <p:nvSpPr>
          <p:cNvPr id="21" name="Shape 19"/>
          <p:cNvSpPr/>
          <p:nvPr/>
        </p:nvSpPr>
        <p:spPr>
          <a:xfrm>
            <a:off x="825498" y="4780268"/>
            <a:ext cx="3124192" cy="0"/>
          </a:xfrm>
          <a:prstGeom prst="line">
            <a:avLst/>
          </a:prstGeom>
          <a:noFill/>
          <a:ln w="9525">
            <a:solidFill>
              <a:srgbClr val="D8D2C4"/>
            </a:solidFill>
            <a:prstDash val="solid"/>
          </a:ln>
        </p:spPr>
      </p:sp>
      <p:sp>
        <p:nvSpPr>
          <p:cNvPr id="22" name="Text 20"/>
          <p:cNvSpPr txBox="1"/>
          <p:nvPr/>
        </p:nvSpPr>
        <p:spPr>
          <a:xfrm>
            <a:off x="825498" y="4780268"/>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Prijs per afspraak</a:t>
            </a:r>
            <a:endParaRPr lang="en-US" sz="950" dirty="0"/>
          </a:p>
        </p:txBody>
      </p:sp>
      <p:sp>
        <p:nvSpPr>
          <p:cNvPr id="23" name="Text 21"/>
          <p:cNvSpPr txBox="1"/>
          <p:nvPr/>
        </p:nvSpPr>
        <p:spPr>
          <a:xfrm>
            <a:off x="3124192" y="4780268"/>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€ 200</a:t>
            </a:r>
            <a:endParaRPr lang="en-US" sz="1150" dirty="0"/>
          </a:p>
        </p:txBody>
      </p:sp>
      <p:sp>
        <p:nvSpPr>
          <p:cNvPr id="24" name="Shape 22"/>
          <p:cNvSpPr/>
          <p:nvPr/>
        </p:nvSpPr>
        <p:spPr>
          <a:xfrm>
            <a:off x="4317989" y="2489194"/>
            <a:ext cx="3555991" cy="2768593"/>
          </a:xfrm>
          <a:prstGeom prst="roundRect">
            <a:avLst>
              <a:gd name="adj" fmla="val 3670"/>
            </a:avLst>
          </a:prstGeom>
          <a:solidFill>
            <a:srgbClr val="F8F4EB"/>
          </a:solidFill>
          <a:ln/>
        </p:spPr>
      </p:sp>
      <p:sp>
        <p:nvSpPr>
          <p:cNvPr id="25" name="Text 23"/>
          <p:cNvSpPr txBox="1"/>
          <p:nvPr/>
        </p:nvSpPr>
        <p:spPr>
          <a:xfrm>
            <a:off x="4533889" y="2743193"/>
            <a:ext cx="3124192" cy="190500"/>
          </a:xfrm>
          <a:prstGeom prst="rect">
            <a:avLst/>
          </a:prstGeom>
          <a:noFill/>
          <a:ln/>
        </p:spPr>
        <p:txBody>
          <a:bodyPr wrap="square" lIns="0" tIns="0" rIns="0" bIns="0" rtlCol="0" anchor="ctr"/>
          <a:lstStyle/>
          <a:p>
            <a:pPr indent="0" marL="0">
              <a:buNone/>
            </a:pPr>
            <a:r>
              <a:rPr lang="en-US" sz="800" b="1" spc="180" kern="0" dirty="0">
                <a:solidFill>
                  <a:srgbClr val="6F6A5C"/>
                </a:solidFill>
                <a:latin typeface="Arial" pitchFamily="34" charset="0"/>
                <a:ea typeface="Arial" pitchFamily="34" charset="-122"/>
                <a:cs typeface="Arial" pitchFamily="34" charset="-120"/>
              </a:rPr>
              <a:t>VOORSTEL</a:t>
            </a:r>
            <a:endParaRPr lang="en-US" sz="800" dirty="0"/>
          </a:p>
        </p:txBody>
      </p:sp>
      <p:sp>
        <p:nvSpPr>
          <p:cNvPr id="26" name="Text 24"/>
          <p:cNvSpPr txBox="1"/>
          <p:nvPr/>
        </p:nvSpPr>
        <p:spPr>
          <a:xfrm>
            <a:off x="4533889" y="2959093"/>
            <a:ext cx="3124192" cy="355599"/>
          </a:xfrm>
          <a:prstGeom prst="rect">
            <a:avLst/>
          </a:prstGeom>
          <a:noFill/>
          <a:ln/>
        </p:spPr>
        <p:txBody>
          <a:bodyPr wrap="square" lIns="0" tIns="0" rIns="0" bIns="0" rtlCol="0" anchor="ctr"/>
          <a:lstStyle/>
          <a:p>
            <a:pPr indent="0" marL="0">
              <a:lnSpc>
                <a:spcPct val="115000"/>
              </a:lnSpc>
              <a:buNone/>
            </a:pPr>
            <a:r>
              <a:rPr lang="en-US" sz="1250" b="1" dirty="0">
                <a:solidFill>
                  <a:srgbClr val="1C2230"/>
                </a:solidFill>
                <a:latin typeface="Arial" pitchFamily="34" charset="0"/>
                <a:ea typeface="Arial" pitchFamily="34" charset="-122"/>
                <a:cs typeface="Arial" pitchFamily="34" charset="-120"/>
              </a:rPr>
              <a:t>4 beldagen per werkperiode</a:t>
            </a:r>
            <a:endParaRPr lang="en-US" sz="1250" dirty="0"/>
          </a:p>
        </p:txBody>
      </p:sp>
      <p:sp>
        <p:nvSpPr>
          <p:cNvPr id="27" name="Text 25"/>
          <p:cNvSpPr txBox="1"/>
          <p:nvPr/>
        </p:nvSpPr>
        <p:spPr>
          <a:xfrm>
            <a:off x="4533889" y="3378192"/>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Beldagen</a:t>
            </a:r>
            <a:endParaRPr lang="en-US" sz="950" dirty="0"/>
          </a:p>
        </p:txBody>
      </p:sp>
      <p:sp>
        <p:nvSpPr>
          <p:cNvPr id="28" name="Text 26"/>
          <p:cNvSpPr txBox="1"/>
          <p:nvPr/>
        </p:nvSpPr>
        <p:spPr>
          <a:xfrm>
            <a:off x="6832583" y="3378192"/>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4</a:t>
            </a:r>
            <a:endParaRPr lang="en-US" sz="1150" dirty="0"/>
          </a:p>
        </p:txBody>
      </p:sp>
      <p:sp>
        <p:nvSpPr>
          <p:cNvPr id="29" name="Shape 27"/>
          <p:cNvSpPr/>
          <p:nvPr/>
        </p:nvSpPr>
        <p:spPr>
          <a:xfrm>
            <a:off x="4533889" y="3728711"/>
            <a:ext cx="3124192" cy="0"/>
          </a:xfrm>
          <a:prstGeom prst="line">
            <a:avLst/>
          </a:prstGeom>
          <a:noFill/>
          <a:ln w="9525">
            <a:solidFill>
              <a:srgbClr val="D8D2C4"/>
            </a:solidFill>
            <a:prstDash val="solid"/>
          </a:ln>
        </p:spPr>
      </p:sp>
      <p:sp>
        <p:nvSpPr>
          <p:cNvPr id="30" name="Text 28"/>
          <p:cNvSpPr txBox="1"/>
          <p:nvPr/>
        </p:nvSpPr>
        <p:spPr>
          <a:xfrm>
            <a:off x="4533889" y="3728711"/>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Contactpogingen</a:t>
            </a:r>
            <a:endParaRPr lang="en-US" sz="950" dirty="0"/>
          </a:p>
        </p:txBody>
      </p:sp>
      <p:sp>
        <p:nvSpPr>
          <p:cNvPr id="31" name="Text 29"/>
          <p:cNvSpPr txBox="1"/>
          <p:nvPr/>
        </p:nvSpPr>
        <p:spPr>
          <a:xfrm>
            <a:off x="6832583" y="3728711"/>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600</a:t>
            </a:r>
            <a:endParaRPr lang="en-US" sz="1150" dirty="0"/>
          </a:p>
        </p:txBody>
      </p:sp>
      <p:sp>
        <p:nvSpPr>
          <p:cNvPr id="32" name="Shape 30"/>
          <p:cNvSpPr/>
          <p:nvPr/>
        </p:nvSpPr>
        <p:spPr>
          <a:xfrm>
            <a:off x="4533889" y="4079230"/>
            <a:ext cx="3124192" cy="0"/>
          </a:xfrm>
          <a:prstGeom prst="line">
            <a:avLst/>
          </a:prstGeom>
          <a:noFill/>
          <a:ln w="9525">
            <a:solidFill>
              <a:srgbClr val="D8D2C4"/>
            </a:solidFill>
            <a:prstDash val="solid"/>
          </a:ln>
        </p:spPr>
      </p:sp>
      <p:sp>
        <p:nvSpPr>
          <p:cNvPr id="33" name="Text 31"/>
          <p:cNvSpPr txBox="1"/>
          <p:nvPr/>
        </p:nvSpPr>
        <p:spPr>
          <a:xfrm>
            <a:off x="4533889" y="4079230"/>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Afspraken</a:t>
            </a:r>
            <a:endParaRPr lang="en-US" sz="950" dirty="0"/>
          </a:p>
        </p:txBody>
      </p:sp>
      <p:sp>
        <p:nvSpPr>
          <p:cNvPr id="34" name="Text 32"/>
          <p:cNvSpPr txBox="1"/>
          <p:nvPr/>
        </p:nvSpPr>
        <p:spPr>
          <a:xfrm>
            <a:off x="6832583" y="4079230"/>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10</a:t>
            </a:r>
            <a:endParaRPr lang="en-US" sz="1150" dirty="0"/>
          </a:p>
        </p:txBody>
      </p:sp>
      <p:sp>
        <p:nvSpPr>
          <p:cNvPr id="35" name="Shape 33"/>
          <p:cNvSpPr/>
          <p:nvPr/>
        </p:nvSpPr>
        <p:spPr>
          <a:xfrm>
            <a:off x="4533889" y="4429749"/>
            <a:ext cx="3124192" cy="0"/>
          </a:xfrm>
          <a:prstGeom prst="line">
            <a:avLst/>
          </a:prstGeom>
          <a:noFill/>
          <a:ln w="9525">
            <a:solidFill>
              <a:srgbClr val="D8D2C4"/>
            </a:solidFill>
            <a:prstDash val="solid"/>
          </a:ln>
        </p:spPr>
      </p:sp>
      <p:sp>
        <p:nvSpPr>
          <p:cNvPr id="36" name="Text 34"/>
          <p:cNvSpPr txBox="1"/>
          <p:nvPr/>
        </p:nvSpPr>
        <p:spPr>
          <a:xfrm>
            <a:off x="4533889" y="4429749"/>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Prijs per beldag</a:t>
            </a:r>
            <a:endParaRPr lang="en-US" sz="950" dirty="0"/>
          </a:p>
        </p:txBody>
      </p:sp>
      <p:sp>
        <p:nvSpPr>
          <p:cNvPr id="37" name="Text 35"/>
          <p:cNvSpPr txBox="1"/>
          <p:nvPr/>
        </p:nvSpPr>
        <p:spPr>
          <a:xfrm>
            <a:off x="6832583" y="4429749"/>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€ 600</a:t>
            </a:r>
            <a:endParaRPr lang="en-US" sz="1150" dirty="0"/>
          </a:p>
        </p:txBody>
      </p:sp>
      <p:sp>
        <p:nvSpPr>
          <p:cNvPr id="38" name="Shape 36"/>
          <p:cNvSpPr/>
          <p:nvPr/>
        </p:nvSpPr>
        <p:spPr>
          <a:xfrm>
            <a:off x="4533889" y="4780268"/>
            <a:ext cx="3124192" cy="0"/>
          </a:xfrm>
          <a:prstGeom prst="line">
            <a:avLst/>
          </a:prstGeom>
          <a:noFill/>
          <a:ln w="9525">
            <a:solidFill>
              <a:srgbClr val="D8D2C4"/>
            </a:solidFill>
            <a:prstDash val="solid"/>
          </a:ln>
        </p:spPr>
      </p:sp>
      <p:sp>
        <p:nvSpPr>
          <p:cNvPr id="39" name="Text 37"/>
          <p:cNvSpPr txBox="1"/>
          <p:nvPr/>
        </p:nvSpPr>
        <p:spPr>
          <a:xfrm>
            <a:off x="4533889" y="4780268"/>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Prijs per afspraak</a:t>
            </a:r>
            <a:endParaRPr lang="en-US" sz="950" dirty="0"/>
          </a:p>
        </p:txBody>
      </p:sp>
      <p:sp>
        <p:nvSpPr>
          <p:cNvPr id="40" name="Text 38"/>
          <p:cNvSpPr txBox="1"/>
          <p:nvPr/>
        </p:nvSpPr>
        <p:spPr>
          <a:xfrm>
            <a:off x="6832583" y="4780268"/>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€ 240</a:t>
            </a:r>
            <a:endParaRPr lang="en-US" sz="1150" dirty="0"/>
          </a:p>
        </p:txBody>
      </p:sp>
      <p:sp>
        <p:nvSpPr>
          <p:cNvPr id="41" name="Shape 39"/>
          <p:cNvSpPr/>
          <p:nvPr/>
        </p:nvSpPr>
        <p:spPr>
          <a:xfrm>
            <a:off x="8026380" y="2489194"/>
            <a:ext cx="3555991" cy="2768593"/>
          </a:xfrm>
          <a:prstGeom prst="roundRect">
            <a:avLst>
              <a:gd name="adj" fmla="val 3670"/>
            </a:avLst>
          </a:prstGeom>
          <a:solidFill>
            <a:srgbClr val="000000"/>
          </a:solidFill>
          <a:ln/>
        </p:spPr>
      </p:sp>
      <p:sp>
        <p:nvSpPr>
          <p:cNvPr id="42" name="Text 40"/>
          <p:cNvSpPr txBox="1"/>
          <p:nvPr/>
        </p:nvSpPr>
        <p:spPr>
          <a:xfrm>
            <a:off x="8242279" y="2743193"/>
            <a:ext cx="3124192" cy="190500"/>
          </a:xfrm>
          <a:prstGeom prst="rect">
            <a:avLst/>
          </a:prstGeom>
          <a:noFill/>
          <a:ln/>
        </p:spPr>
        <p:txBody>
          <a:bodyPr wrap="square" lIns="0" tIns="0" rIns="0" bIns="0" rtlCol="0" anchor="ctr"/>
          <a:lstStyle/>
          <a:p>
            <a:pPr indent="0" marL="0">
              <a:buNone/>
            </a:pPr>
            <a:r>
              <a:rPr lang="en-US" sz="800" b="1" spc="180" kern="0" dirty="0">
                <a:solidFill>
                  <a:srgbClr val="38B6FF"/>
                </a:solidFill>
                <a:latin typeface="Arial" pitchFamily="34" charset="0"/>
                <a:ea typeface="Arial" pitchFamily="34" charset="-122"/>
                <a:cs typeface="Arial" pitchFamily="34" charset="-120"/>
              </a:rPr>
              <a:t>OPSCHALEN</a:t>
            </a:r>
            <a:endParaRPr lang="en-US" sz="800" dirty="0"/>
          </a:p>
        </p:txBody>
      </p:sp>
      <p:sp>
        <p:nvSpPr>
          <p:cNvPr id="43" name="Text 41"/>
          <p:cNvSpPr txBox="1"/>
          <p:nvPr/>
        </p:nvSpPr>
        <p:spPr>
          <a:xfrm>
            <a:off x="8242279" y="2959093"/>
            <a:ext cx="3124192" cy="355599"/>
          </a:xfrm>
          <a:prstGeom prst="rect">
            <a:avLst/>
          </a:prstGeom>
          <a:noFill/>
          <a:ln/>
        </p:spPr>
        <p:txBody>
          <a:bodyPr wrap="square" lIns="0" tIns="0" rIns="0" bIns="0" rtlCol="0" anchor="ctr"/>
          <a:lstStyle/>
          <a:p>
            <a:pPr indent="0" marL="0">
              <a:lnSpc>
                <a:spcPct val="115000"/>
              </a:lnSpc>
              <a:buNone/>
            </a:pPr>
            <a:r>
              <a:rPr lang="en-US" sz="1250" b="1" dirty="0">
                <a:solidFill>
                  <a:srgbClr val="F2EFE6"/>
                </a:solidFill>
                <a:latin typeface="Arial" pitchFamily="34" charset="0"/>
                <a:ea typeface="Arial" pitchFamily="34" charset="-122"/>
                <a:cs typeface="Arial" pitchFamily="34" charset="-120"/>
              </a:rPr>
              <a:t>8 beldagen per werkperiode</a:t>
            </a:r>
            <a:endParaRPr lang="en-US" sz="1250" dirty="0"/>
          </a:p>
        </p:txBody>
      </p:sp>
      <p:sp>
        <p:nvSpPr>
          <p:cNvPr id="44" name="Text 42"/>
          <p:cNvSpPr txBox="1"/>
          <p:nvPr/>
        </p:nvSpPr>
        <p:spPr>
          <a:xfrm>
            <a:off x="8242279" y="3378192"/>
            <a:ext cx="2578094" cy="35051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Beldagen</a:t>
            </a:r>
            <a:endParaRPr lang="en-US" sz="950" dirty="0"/>
          </a:p>
        </p:txBody>
      </p:sp>
      <p:sp>
        <p:nvSpPr>
          <p:cNvPr id="45" name="Text 43"/>
          <p:cNvSpPr txBox="1"/>
          <p:nvPr/>
        </p:nvSpPr>
        <p:spPr>
          <a:xfrm>
            <a:off x="10540974" y="3378192"/>
            <a:ext cx="825498" cy="35051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8</a:t>
            </a:r>
            <a:endParaRPr lang="en-US" sz="1150" dirty="0"/>
          </a:p>
        </p:txBody>
      </p:sp>
      <p:sp>
        <p:nvSpPr>
          <p:cNvPr id="46" name="Shape 44"/>
          <p:cNvSpPr/>
          <p:nvPr/>
        </p:nvSpPr>
        <p:spPr>
          <a:xfrm>
            <a:off x="8242279" y="3728711"/>
            <a:ext cx="3124192" cy="0"/>
          </a:xfrm>
          <a:prstGeom prst="line">
            <a:avLst/>
          </a:prstGeom>
          <a:noFill/>
          <a:ln w="9525">
            <a:solidFill>
              <a:srgbClr val="3A4152"/>
            </a:solidFill>
            <a:prstDash val="solid"/>
          </a:ln>
        </p:spPr>
      </p:sp>
      <p:sp>
        <p:nvSpPr>
          <p:cNvPr id="47" name="Text 45"/>
          <p:cNvSpPr txBox="1"/>
          <p:nvPr/>
        </p:nvSpPr>
        <p:spPr>
          <a:xfrm>
            <a:off x="8242279" y="3728711"/>
            <a:ext cx="2578094" cy="35051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Contactpogingen</a:t>
            </a:r>
            <a:endParaRPr lang="en-US" sz="950" dirty="0"/>
          </a:p>
        </p:txBody>
      </p:sp>
      <p:sp>
        <p:nvSpPr>
          <p:cNvPr id="48" name="Text 46"/>
          <p:cNvSpPr txBox="1"/>
          <p:nvPr/>
        </p:nvSpPr>
        <p:spPr>
          <a:xfrm>
            <a:off x="10540974" y="3728711"/>
            <a:ext cx="825498" cy="35051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1.200</a:t>
            </a:r>
            <a:endParaRPr lang="en-US" sz="1150" dirty="0"/>
          </a:p>
        </p:txBody>
      </p:sp>
      <p:sp>
        <p:nvSpPr>
          <p:cNvPr id="49" name="Shape 47"/>
          <p:cNvSpPr/>
          <p:nvPr/>
        </p:nvSpPr>
        <p:spPr>
          <a:xfrm>
            <a:off x="8242279" y="4079230"/>
            <a:ext cx="3124192" cy="0"/>
          </a:xfrm>
          <a:prstGeom prst="line">
            <a:avLst/>
          </a:prstGeom>
          <a:noFill/>
          <a:ln w="9525">
            <a:solidFill>
              <a:srgbClr val="3A4152"/>
            </a:solidFill>
            <a:prstDash val="solid"/>
          </a:ln>
        </p:spPr>
      </p:sp>
      <p:sp>
        <p:nvSpPr>
          <p:cNvPr id="50" name="Text 48"/>
          <p:cNvSpPr txBox="1"/>
          <p:nvPr/>
        </p:nvSpPr>
        <p:spPr>
          <a:xfrm>
            <a:off x="8242279" y="4079230"/>
            <a:ext cx="2578094" cy="35051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Afspraken</a:t>
            </a:r>
            <a:endParaRPr lang="en-US" sz="950" dirty="0"/>
          </a:p>
        </p:txBody>
      </p:sp>
      <p:sp>
        <p:nvSpPr>
          <p:cNvPr id="51" name="Text 49"/>
          <p:cNvSpPr txBox="1"/>
          <p:nvPr/>
        </p:nvSpPr>
        <p:spPr>
          <a:xfrm>
            <a:off x="10540974" y="4079230"/>
            <a:ext cx="825498" cy="35051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 20</a:t>
            </a:r>
            <a:endParaRPr lang="en-US" sz="1150" dirty="0"/>
          </a:p>
        </p:txBody>
      </p:sp>
      <p:sp>
        <p:nvSpPr>
          <p:cNvPr id="52" name="Shape 50"/>
          <p:cNvSpPr/>
          <p:nvPr/>
        </p:nvSpPr>
        <p:spPr>
          <a:xfrm>
            <a:off x="8242279" y="4429749"/>
            <a:ext cx="3124192" cy="0"/>
          </a:xfrm>
          <a:prstGeom prst="line">
            <a:avLst/>
          </a:prstGeom>
          <a:noFill/>
          <a:ln w="9525">
            <a:solidFill>
              <a:srgbClr val="3A4152"/>
            </a:solidFill>
            <a:prstDash val="solid"/>
          </a:ln>
        </p:spPr>
      </p:sp>
      <p:sp>
        <p:nvSpPr>
          <p:cNvPr id="53" name="Text 51"/>
          <p:cNvSpPr txBox="1"/>
          <p:nvPr/>
        </p:nvSpPr>
        <p:spPr>
          <a:xfrm>
            <a:off x="8242279" y="4429749"/>
            <a:ext cx="2578094" cy="35051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Prijs per beldag</a:t>
            </a:r>
            <a:endParaRPr lang="en-US" sz="950" dirty="0"/>
          </a:p>
        </p:txBody>
      </p:sp>
      <p:sp>
        <p:nvSpPr>
          <p:cNvPr id="54" name="Text 52"/>
          <p:cNvSpPr txBox="1"/>
          <p:nvPr/>
        </p:nvSpPr>
        <p:spPr>
          <a:xfrm>
            <a:off x="10540974" y="4429749"/>
            <a:ext cx="825498" cy="35051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€ 500</a:t>
            </a:r>
            <a:endParaRPr lang="en-US" sz="1150" dirty="0"/>
          </a:p>
        </p:txBody>
      </p:sp>
      <p:sp>
        <p:nvSpPr>
          <p:cNvPr id="55" name="Shape 53"/>
          <p:cNvSpPr/>
          <p:nvPr/>
        </p:nvSpPr>
        <p:spPr>
          <a:xfrm>
            <a:off x="8242279" y="4780268"/>
            <a:ext cx="3124192" cy="0"/>
          </a:xfrm>
          <a:prstGeom prst="line">
            <a:avLst/>
          </a:prstGeom>
          <a:noFill/>
          <a:ln w="9525">
            <a:solidFill>
              <a:srgbClr val="3A4152"/>
            </a:solidFill>
            <a:prstDash val="solid"/>
          </a:ln>
        </p:spPr>
      </p:sp>
      <p:sp>
        <p:nvSpPr>
          <p:cNvPr id="56" name="Text 54"/>
          <p:cNvSpPr txBox="1"/>
          <p:nvPr/>
        </p:nvSpPr>
        <p:spPr>
          <a:xfrm>
            <a:off x="8242279" y="4780268"/>
            <a:ext cx="2578094" cy="35051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Prijs per afspraak</a:t>
            </a:r>
            <a:endParaRPr lang="en-US" sz="950" dirty="0"/>
          </a:p>
        </p:txBody>
      </p:sp>
      <p:sp>
        <p:nvSpPr>
          <p:cNvPr id="57" name="Text 55"/>
          <p:cNvSpPr txBox="1"/>
          <p:nvPr/>
        </p:nvSpPr>
        <p:spPr>
          <a:xfrm>
            <a:off x="10540974" y="4780268"/>
            <a:ext cx="825498" cy="35051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 € 200</a:t>
            </a:r>
            <a:endParaRPr lang="en-US" sz="1150" dirty="0"/>
          </a:p>
        </p:txBody>
      </p:sp>
      <p:sp>
        <p:nvSpPr>
          <p:cNvPr id="58" name="Shape 56"/>
          <p:cNvSpPr/>
          <p:nvPr/>
        </p:nvSpPr>
        <p:spPr>
          <a:xfrm>
            <a:off x="609598" y="5854685"/>
            <a:ext cx="76200" cy="76200"/>
          </a:xfrm>
          <a:prstGeom prst="ellipse">
            <a:avLst/>
          </a:prstGeom>
          <a:solidFill>
            <a:srgbClr val="38B6FF"/>
          </a:solidFill>
          <a:ln/>
        </p:spPr>
      </p:sp>
      <p:sp>
        <p:nvSpPr>
          <p:cNvPr id="59" name="Text 57"/>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Je betaalt nu al bijna zeshonderd euro per beldag, alleen koop je er maar bijna drie per periode. Bij acht beldagen betaal je dezelfde prijs per afspraak als nu, met tweeënhalf keer zoveel afspraken.</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13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GROWON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Weinig, want het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draait al</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Scherper profiel</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Een halfuur om de doelgroep verder aan te scherpen op wat in de pilot het beste werkte: draaiende webshop, lopende advertenties en budget.</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Bedrijven die al klant zijn of waar Jaap zelf al in gesprek is.</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Terugkoppeling op afspraken</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Kort laten weten hoe een afspraak verliep, zodat we de kwalificatie blijven bijstellen.</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Opvolging van afspraken</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Eén vaste persoon bij GrowOn die de afspraken voert. Tot nu toe is dat Jaap zelf.</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14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 Geen nacalculatie achteraf.</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Vier KPI's in de overeenkomst</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Pogingen, gesproken bedrijven, terugbelafspraken en gekwalificeerde afspraken, per beldag vastgelegd.</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Niet gehaald is doorbellen</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We bellen door tot het aantal er staat, zonder extra factuur.</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Kwalificatie-eisen samen vastgesteld</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de start van werkperiode 4 leggen we samen vast wanneer een afspraak meetelt.</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Op- en afschalen</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Per werkperiode bepalen jullie het aantal beldagen, vanaf vier.</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Prijs vast tot en met 2027</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De dagprijs en de staffel blijven ongewijzigd. Geen jaarlijkse indexatie.</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Maand opzegtermijn</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Geen jaarcontract en geen opstartkosten meer.</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15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het ritme? Dan loopt het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gewoon door</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Jaap geeft akkoord op het aantal beldagen per werkperiode.</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Vastleggen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LINK. stuurt een korte aanvulling op de samenwerkingsovereenkomst.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Doorbellen</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Werkperiode 4 start aansluitend, zonder onderbreking.</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voorstel GrowOn Agency</dc:title>
  <dc:subject>PptxGenJS Presentation</dc:subject>
  <dc:creator>LINK.</dc:creator>
  <cp:lastModifiedBy>LINK.</cp:lastModifiedBy>
  <cp:revision>1</cp:revision>
  <dcterms:created xsi:type="dcterms:W3CDTF">2026-10-11T17:10:47Z</dcterms:created>
  <dcterms:modified xsi:type="dcterms:W3CDTF">2026-10-11T17:10:47Z</dcterms:modified>
</cp:coreProperties>
</file>