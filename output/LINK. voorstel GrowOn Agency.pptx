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15</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JAAP · GROWON AGENCY · EVALUATIE 16 OKTOBER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Van pilot naar een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vast ritme</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Er verandert weinig. Zelfde team, zelfde bellijst en dezelfde wekelijkse rapportage. Vanaf werkperiode 4 rekenen we in beldagen, met harde aantallen en een scherpere afspraak over wat een afspraak is.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396997" cy="406399"/>
          </a:xfrm>
          <a:prstGeom prst="roundRect">
            <a:avLst>
              <a:gd name="adj" fmla="val 21875"/>
            </a:avLst>
          </a:prstGeom>
          <a:solidFill>
            <a:srgbClr val="F8F4EB"/>
          </a:solidFill>
          <a:ln/>
        </p:spPr>
      </p:sp>
      <p:sp>
        <p:nvSpPr>
          <p:cNvPr id="33" name="Text 31"/>
          <p:cNvSpPr txBox="1"/>
          <p:nvPr/>
        </p:nvSpPr>
        <p:spPr>
          <a:xfrm>
            <a:off x="1854195" y="5714986"/>
            <a:ext cx="1396997" cy="406399"/>
          </a:xfrm>
          <a:prstGeom prst="rect">
            <a:avLst/>
          </a:prstGeom>
          <a:noFill/>
          <a:ln/>
        </p:spPr>
        <p:txBody>
          <a:bodyPr wrap="square" lIns="0" tIns="0" rIns="0" bIns="0" rtlCol="0" anchor="ctr"/>
          <a:lstStyle/>
          <a:p>
            <a:pPr algn="ctr" indent="0" marL="0">
              <a:buNone/>
            </a:pPr>
            <a:r>
              <a:rPr lang="en-US" sz="1500" b="1" dirty="0">
                <a:solidFill>
                  <a:srgbClr val="1C2230"/>
                </a:solidFill>
                <a:latin typeface="Arial" pitchFamily="34" charset="0"/>
                <a:ea typeface="Arial" pitchFamily="34" charset="-122"/>
                <a:cs typeface="Arial" pitchFamily="34" charset="-120"/>
              </a:rPr>
              <a:t>GrowOn Agency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van een fairchain koffieleverancier tot een AI-consultancy.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retailers en webshops met een draaiende shop, lopende advertenties en budget. Die filtering hebben we onderweg flink aangescherpt.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Lijst klaarzetten</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zetten de lijst voor de periode klaar, gefilterd op draaiende webshop en lopende advertenties, met de terugbelafspraken uit de vorige periode bovenaan.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bellen op de dagen en dagdelen die in onze data het beste werken. In retail zijn dat maandag en dinsdag, vrijdag juist niet.</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het rapport dat je nu ook krijgt: pogingen, gesproken bedrijven, warme uitkomsten, afspraken en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Na elke periode kijken we samen naar de cijfers en bepalen we het aantal beldagen voor de volgende.</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een draaiende webshop of winkel met advertentiebudget, precies het profiel waar de afspraken tot nu toe uit kwamen.</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Er is een concrete aanleiding: ontevreden over het huidige bureau, een contract dat afloopt, of advertenties die stilliggen terwijl het budget er wel is.</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de eigenaar of de marketingverantwoordelijke. In retail is dat vaak dezelfde persoon.</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Ontevredenheid over de huidige partner is veruit de sterkste ingang. Bij de start van werkperiode 4 scherpen we deze drie eisen samen aan op wat de pilot heeft laten zien, zodat we allebei hetzelfde bedoelen met een goede afspraak.</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DE PILOT HEEFT OPGELEVERD</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Negen belweken,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geen gevoel maar gemeten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1.213</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Over negen gebelde weken, van week 32 tot en met week 41.</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722</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Zes van de tien pogingen leverden de juiste persoon aan de lijn op.</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290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TERUGBELAFSPRAKEN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Concrete vervolgmomenten die we hebben vastgelegd en opvolgen.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24</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AFSPRAKEN EN OVERDRACHTEN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Eenentwintig staan er, drie komen er nog bij voor 25 oktober. Gemiddeld een op de 51 pogingen.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 cijfers komen uit de wekelijkse rapportages die je elke week hebt ontvangen. Niets opgehoogd, niets weggelaten.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VERLOOP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Hoe langer we bellen,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hoe meer er uit komt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WERKPERIODE</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CONTACTPOGINGEN</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AFSPRAKEN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1.000 POGINGEN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 · week 32 t/m 35</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604</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17</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 · week 36 t/m 39</a:t>
            </a:r>
            <a:pPr indent="0" marL="0">
              <a:buNone/>
            </a:pPr>
            <a:r>
              <a:rPr lang="en-US" sz="1000" i="1" dirty="0">
                <a:solidFill>
                  <a:srgbClr val="38B6FF"/>
                </a:solidFill>
                <a:latin typeface="Georgia" pitchFamily="34" charset="0"/>
                <a:ea typeface="Georgia" pitchFamily="34" charset="-122"/>
                <a:cs typeface="Georgia" pitchFamily="34" charset="-120"/>
              </a:rPr>
              <a:t>   vakantie</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379</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16</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 · week 40 t/m 43</a:t>
            </a:r>
            <a:pPr indent="0" marL="0">
              <a:buNone/>
            </a:pPr>
            <a:r>
              <a:rPr lang="en-US" sz="1000" i="1" dirty="0">
                <a:solidFill>
                  <a:srgbClr val="38B6FF"/>
                </a:solidFill>
                <a:latin typeface="Georgia" pitchFamily="34" charset="0"/>
                <a:ea typeface="Georgia" pitchFamily="34" charset="-122"/>
                <a:cs typeface="Georgia" pitchFamily="34" charset="-120"/>
              </a:rPr>
              <a:t>   loopt nog</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230</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35</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Werkperiode 3 levert per duizend pogingen twee keer zoveel op als de eerste. Dat komt door de lijst met 290 terugbelafspraken die we onderweg hebben opgebouwd. Die lijst is nu het meest waardevolle dat er ligt.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EENHEID WAARIN WE REKENEN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beldag is geen dag, maar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vaste hoeveelheid werk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UUR BELLEN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Netto aan de telefoon. Voorbereiding, notities en rapportage zitten daarbuiten en zijn inbegrepen.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150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Vijfentwintig pogingen per uur. Dat is het tempo dat onze bellers nu draaien, gemeten in de urenregistratie.</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90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Zes van de tien pogingen leveren de juiste persoon aan de lijn op.</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2,5</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AFSPRAKEN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De ene dag twee, de andere vier. Over de pilot gemeten komt het op 3 per beldag uit, wij leggen ons vast op 2,5.</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Wij rekenen in beldagen en niet in uren, omdat een uur niets zegt over wat eruit komt. Deze aantallen komen uit onze eigen urenregistratie en uit jullie pilot.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9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JE KRIJGT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Eén belofte: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tien 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per werkperiode.</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WAT WE LEVEREN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BELDAGEN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6 BELDAGEN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Contactpogingen</a:t>
            </a:r>
            <a:pPr indent="0" marL="0">
              <a:buNone/>
            </a:pPr>
            <a:r>
              <a:rPr lang="en-US" sz="1000" i="1" dirty="0">
                <a:solidFill>
                  <a:srgbClr val="38B6FF"/>
                </a:solidFill>
                <a:latin typeface="Georgia" pitchFamily="34" charset="0"/>
                <a:ea typeface="Georgia" pitchFamily="34" charset="-122"/>
                <a:cs typeface="Georgia" pitchFamily="34" charset="-120"/>
              </a:rPr>
              <a:t>   vast</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150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600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900</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Bedrijven gesproken</a:t>
            </a:r>
            <a:pPr indent="0" marL="0">
              <a:buNone/>
            </a:pPr>
            <a:r>
              <a:rPr lang="en-US" sz="1000" i="1" dirty="0">
                <a:solidFill>
                  <a:srgbClr val="38B6FF"/>
                </a:solidFill>
                <a:latin typeface="Georgia" pitchFamily="34" charset="0"/>
                <a:ea typeface="Georgia" pitchFamily="34" charset="-122"/>
                <a:cs typeface="Georgia" pitchFamily="34" charset="-120"/>
              </a:rPr>
              <a:t>   verwachting</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90</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360</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540</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Afspraken</a:t>
            </a:r>
            <a:pPr indent="0" marL="0">
              <a:buNone/>
            </a:pPr>
            <a:r>
              <a:rPr lang="en-US" sz="1000" i="1" dirty="0">
                <a:solidFill>
                  <a:srgbClr val="38B6FF"/>
                </a:solidFill>
                <a:latin typeface="Georgia" pitchFamily="34" charset="0"/>
                <a:ea typeface="Georgia" pitchFamily="34" charset="-122"/>
                <a:cs typeface="Georgia" pitchFamily="34" charset="-120"/>
              </a:rPr>
              <a:t>   gegarandeerd</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2,5</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10</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15</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honderdvijftig pogingen per beldag staan vast. Hoeveel bedrijven we spreken hangt af van de bereikbaarheid. Garanderen doen we alleen de tien afspraken, en halen we die niet, dan krijgen jullie een beldag cadeau.</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VOORSTEL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Vaste beldagen per vier weken,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één dagprijs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 PER 4 WEKEN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PRIJS 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WEKEN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VERWACHTE AFSPRAKEN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 beldagen</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€ 600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€ 2.400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10</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 tot 7 beldagen</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€ 575</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€ 2.875 tot € 4.025</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13 tot 18</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 beldagen of meer</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€ 550</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vanaf € 4.400</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20</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aantallen gaan uit van honderdvijftig contactpogingen en 2,5 gekwalificeerde afspraken per beldag. In jullie pilot lag dat rendement op 3 per beldag, dus we rekenen met een marge. Minimaal vier beldagen per periode, prijzen excl. btw.</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11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AFREKENEN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Vooraf een vaste prijs, achteraf geen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verrassingen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Vaste prijs per beldag</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Je betaalt per beldag, vooraf gefactureerd per werkperiode. Geen nacalculatie, geen kosten per afspraak en geen succesfee meer.</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Tien afspraken per periode</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Dat is de afspraak waar je ons aan mag houden. Het aantal pogingen en gesprekken laten we zien in de rapportage, maar de tien afspraken zijn wat we garanderen.</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Niet gehaald is een gratis beldag</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Komt een werkperiode onder de tien afspraken, dan bellen we de volgende periode een dag extra die niet op de rekening komt.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Elke periode opnieuw kiezen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bepalen per werkperiode het aantal beldagen, vanaf vier. Een maand opzegtermijn, geen jaarcontract en geen opstartkosten meer.</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PRIJS PER BELDAG</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€ 600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vanaf 8 beldagen € 550, excl. btw</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Vooraf gefactureerd per werkperiode</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Geen kosten per afspraak</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150 contactpogingen per beldag</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10 gekwalificeerde afspraken per periode</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Niet gehaald is een gratis beldag</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Prijs staat vast tot en met 2027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VERANDERT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Hetzelfde werk, nu met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harde aantallen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89194"/>
            <a:ext cx="2657468" cy="2768593"/>
          </a:xfrm>
          <a:prstGeom prst="roundRect">
            <a:avLst>
              <a:gd name="adj" fmla="val 3823"/>
            </a:avLst>
          </a:prstGeom>
          <a:solidFill>
            <a:srgbClr val="F8F4EB"/>
          </a:solidFill>
          <a:ln/>
        </p:spPr>
      </p:sp>
      <p:sp>
        <p:nvSpPr>
          <p:cNvPr id="8" name="Text 6"/>
          <p:cNvSpPr txBox="1"/>
          <p:nvPr/>
        </p:nvSpPr>
        <p:spPr>
          <a:xfrm>
            <a:off x="774698" y="2743193"/>
            <a:ext cx="2327269"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774698" y="2959093"/>
            <a:ext cx="2327269" cy="355599"/>
          </a:xfrm>
          <a:prstGeom prst="rect">
            <a:avLst/>
          </a:prstGeom>
          <a:noFill/>
          <a:ln/>
        </p:spPr>
        <p:txBody>
          <a:bodyPr wrap="square" lIns="0" tIns="0" rIns="0" bIns="0" rtlCol="0" anchor="ctr"/>
          <a:lstStyle/>
          <a:p>
            <a:pPr indent="0" marL="0">
              <a:lnSpc>
                <a:spcPct val="115000"/>
              </a:lnSpc>
              <a:buNone/>
            </a:pPr>
            <a:r>
              <a:rPr lang="en-US" sz="1050" b="1" dirty="0">
                <a:solidFill>
                  <a:srgbClr val="1C2230"/>
                </a:solidFill>
                <a:latin typeface="Arial" pitchFamily="34" charset="0"/>
                <a:ea typeface="Arial" pitchFamily="34" charset="-122"/>
                <a:cs typeface="Arial" pitchFamily="34" charset="-120"/>
              </a:rPr>
              <a:t>Zoals het nu loopt</a:t>
            </a:r>
            <a:endParaRPr lang="en-US" sz="1050" dirty="0"/>
          </a:p>
        </p:txBody>
      </p:sp>
      <p:sp>
        <p:nvSpPr>
          <p:cNvPr id="10" name="Text 8"/>
          <p:cNvSpPr txBox="1"/>
          <p:nvPr/>
        </p:nvSpPr>
        <p:spPr>
          <a:xfrm>
            <a:off x="774698" y="3378192"/>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Beldagen</a:t>
            </a:r>
            <a:endParaRPr lang="en-US" sz="800" dirty="0"/>
          </a:p>
        </p:txBody>
      </p:sp>
      <p:sp>
        <p:nvSpPr>
          <p:cNvPr id="11" name="Text 9"/>
          <p:cNvSpPr txBox="1"/>
          <p:nvPr/>
        </p:nvSpPr>
        <p:spPr>
          <a:xfrm>
            <a:off x="2276469" y="3378192"/>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2,7</a:t>
            </a:r>
            <a:endParaRPr lang="en-US" sz="1000" dirty="0"/>
          </a:p>
        </p:txBody>
      </p:sp>
      <p:sp>
        <p:nvSpPr>
          <p:cNvPr id="12" name="Shape 10"/>
          <p:cNvSpPr/>
          <p:nvPr/>
        </p:nvSpPr>
        <p:spPr>
          <a:xfrm>
            <a:off x="774698" y="3728711"/>
            <a:ext cx="2327269" cy="0"/>
          </a:xfrm>
          <a:prstGeom prst="line">
            <a:avLst/>
          </a:prstGeom>
          <a:noFill/>
          <a:ln w="9525">
            <a:solidFill>
              <a:srgbClr val="D8D2C4"/>
            </a:solidFill>
            <a:prstDash val="solid"/>
          </a:ln>
        </p:spPr>
      </p:sp>
      <p:sp>
        <p:nvSpPr>
          <p:cNvPr id="13" name="Text 11"/>
          <p:cNvSpPr txBox="1"/>
          <p:nvPr/>
        </p:nvSpPr>
        <p:spPr>
          <a:xfrm>
            <a:off x="774698" y="3728711"/>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Contactpogingen</a:t>
            </a:r>
            <a:endParaRPr lang="en-US" sz="800" dirty="0"/>
          </a:p>
        </p:txBody>
      </p:sp>
      <p:sp>
        <p:nvSpPr>
          <p:cNvPr id="14" name="Text 12"/>
          <p:cNvSpPr txBox="1"/>
          <p:nvPr/>
        </p:nvSpPr>
        <p:spPr>
          <a:xfrm>
            <a:off x="2276469" y="3728711"/>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400</a:t>
            </a:r>
            <a:endParaRPr lang="en-US" sz="1000" dirty="0"/>
          </a:p>
        </p:txBody>
      </p:sp>
      <p:sp>
        <p:nvSpPr>
          <p:cNvPr id="15" name="Shape 13"/>
          <p:cNvSpPr/>
          <p:nvPr/>
        </p:nvSpPr>
        <p:spPr>
          <a:xfrm>
            <a:off x="774698" y="4079230"/>
            <a:ext cx="2327269" cy="0"/>
          </a:xfrm>
          <a:prstGeom prst="line">
            <a:avLst/>
          </a:prstGeom>
          <a:noFill/>
          <a:ln w="9525">
            <a:solidFill>
              <a:srgbClr val="D8D2C4"/>
            </a:solidFill>
            <a:prstDash val="solid"/>
          </a:ln>
        </p:spPr>
      </p:sp>
      <p:sp>
        <p:nvSpPr>
          <p:cNvPr id="16" name="Text 14"/>
          <p:cNvSpPr txBox="1"/>
          <p:nvPr/>
        </p:nvSpPr>
        <p:spPr>
          <a:xfrm>
            <a:off x="774698" y="4079230"/>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Afspraken</a:t>
            </a:r>
            <a:endParaRPr lang="en-US" sz="800" dirty="0"/>
          </a:p>
        </p:txBody>
      </p:sp>
      <p:sp>
        <p:nvSpPr>
          <p:cNvPr id="17" name="Text 15"/>
          <p:cNvSpPr txBox="1"/>
          <p:nvPr/>
        </p:nvSpPr>
        <p:spPr>
          <a:xfrm>
            <a:off x="2276469" y="4079230"/>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8</a:t>
            </a:r>
            <a:endParaRPr lang="en-US" sz="1000" dirty="0"/>
          </a:p>
        </p:txBody>
      </p:sp>
      <p:sp>
        <p:nvSpPr>
          <p:cNvPr id="18" name="Shape 16"/>
          <p:cNvSpPr/>
          <p:nvPr/>
        </p:nvSpPr>
        <p:spPr>
          <a:xfrm>
            <a:off x="774698" y="4429749"/>
            <a:ext cx="2327269" cy="0"/>
          </a:xfrm>
          <a:prstGeom prst="line">
            <a:avLst/>
          </a:prstGeom>
          <a:noFill/>
          <a:ln w="9525">
            <a:solidFill>
              <a:srgbClr val="D8D2C4"/>
            </a:solidFill>
            <a:prstDash val="solid"/>
          </a:ln>
        </p:spPr>
      </p:sp>
      <p:sp>
        <p:nvSpPr>
          <p:cNvPr id="19" name="Text 17"/>
          <p:cNvSpPr txBox="1"/>
          <p:nvPr/>
        </p:nvSpPr>
        <p:spPr>
          <a:xfrm>
            <a:off x="774698" y="4429749"/>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beldag</a:t>
            </a:r>
            <a:endParaRPr lang="en-US" sz="800" dirty="0"/>
          </a:p>
        </p:txBody>
      </p:sp>
      <p:sp>
        <p:nvSpPr>
          <p:cNvPr id="20" name="Text 18"/>
          <p:cNvSpPr txBox="1"/>
          <p:nvPr/>
        </p:nvSpPr>
        <p:spPr>
          <a:xfrm>
            <a:off x="2276469" y="4429749"/>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€ 593</a:t>
            </a:r>
            <a:endParaRPr lang="en-US" sz="1000" dirty="0"/>
          </a:p>
        </p:txBody>
      </p:sp>
      <p:sp>
        <p:nvSpPr>
          <p:cNvPr id="21" name="Shape 19"/>
          <p:cNvSpPr/>
          <p:nvPr/>
        </p:nvSpPr>
        <p:spPr>
          <a:xfrm>
            <a:off x="774698" y="4780268"/>
            <a:ext cx="2327269" cy="0"/>
          </a:xfrm>
          <a:prstGeom prst="line">
            <a:avLst/>
          </a:prstGeom>
          <a:noFill/>
          <a:ln w="9525">
            <a:solidFill>
              <a:srgbClr val="D8D2C4"/>
            </a:solidFill>
            <a:prstDash val="solid"/>
          </a:ln>
        </p:spPr>
      </p:sp>
      <p:sp>
        <p:nvSpPr>
          <p:cNvPr id="22" name="Text 20"/>
          <p:cNvSpPr txBox="1"/>
          <p:nvPr/>
        </p:nvSpPr>
        <p:spPr>
          <a:xfrm>
            <a:off x="774698" y="4780268"/>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werkperiode</a:t>
            </a:r>
            <a:endParaRPr lang="en-US" sz="800" dirty="0"/>
          </a:p>
        </p:txBody>
      </p:sp>
      <p:sp>
        <p:nvSpPr>
          <p:cNvPr id="23" name="Text 21"/>
          <p:cNvSpPr txBox="1"/>
          <p:nvPr/>
        </p:nvSpPr>
        <p:spPr>
          <a:xfrm>
            <a:off x="2276469" y="4780268"/>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€ 1.600</a:t>
            </a:r>
            <a:endParaRPr lang="en-US" sz="1000" dirty="0"/>
          </a:p>
        </p:txBody>
      </p:sp>
      <p:sp>
        <p:nvSpPr>
          <p:cNvPr id="24" name="Shape 22"/>
          <p:cNvSpPr/>
          <p:nvPr/>
        </p:nvSpPr>
        <p:spPr>
          <a:xfrm>
            <a:off x="3381367" y="2489194"/>
            <a:ext cx="2657468" cy="2768593"/>
          </a:xfrm>
          <a:prstGeom prst="roundRect">
            <a:avLst>
              <a:gd name="adj" fmla="val 3823"/>
            </a:avLst>
          </a:prstGeom>
          <a:solidFill>
            <a:srgbClr val="000000"/>
          </a:solidFill>
          <a:ln/>
        </p:spPr>
      </p:sp>
      <p:sp>
        <p:nvSpPr>
          <p:cNvPr id="25" name="Text 23"/>
          <p:cNvSpPr txBox="1"/>
          <p:nvPr/>
        </p:nvSpPr>
        <p:spPr>
          <a:xfrm>
            <a:off x="3546466" y="2743193"/>
            <a:ext cx="2327269"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VOORSTEL</a:t>
            </a:r>
            <a:endParaRPr lang="en-US" sz="800" dirty="0"/>
          </a:p>
        </p:txBody>
      </p:sp>
      <p:sp>
        <p:nvSpPr>
          <p:cNvPr id="26" name="Text 24"/>
          <p:cNvSpPr txBox="1"/>
          <p:nvPr/>
        </p:nvSpPr>
        <p:spPr>
          <a:xfrm>
            <a:off x="3546466" y="2959093"/>
            <a:ext cx="2327269" cy="355599"/>
          </a:xfrm>
          <a:prstGeom prst="rect">
            <a:avLst/>
          </a:prstGeom>
          <a:noFill/>
          <a:ln/>
        </p:spPr>
        <p:txBody>
          <a:bodyPr wrap="square" lIns="0" tIns="0" rIns="0" bIns="0" rtlCol="0" anchor="ctr"/>
          <a:lstStyle/>
          <a:p>
            <a:pPr indent="0" marL="0">
              <a:lnSpc>
                <a:spcPct val="115000"/>
              </a:lnSpc>
              <a:buNone/>
            </a:pPr>
            <a:r>
              <a:rPr lang="en-US" sz="1050" b="1" dirty="0">
                <a:solidFill>
                  <a:srgbClr val="F2EFE6"/>
                </a:solidFill>
                <a:latin typeface="Arial" pitchFamily="34" charset="0"/>
                <a:ea typeface="Arial" pitchFamily="34" charset="-122"/>
                <a:cs typeface="Arial" pitchFamily="34" charset="-120"/>
              </a:rPr>
              <a:t>Vier beldagen</a:t>
            </a:r>
            <a:endParaRPr lang="en-US" sz="1050" dirty="0"/>
          </a:p>
        </p:txBody>
      </p:sp>
      <p:sp>
        <p:nvSpPr>
          <p:cNvPr id="27" name="Text 25"/>
          <p:cNvSpPr txBox="1"/>
          <p:nvPr/>
        </p:nvSpPr>
        <p:spPr>
          <a:xfrm>
            <a:off x="3546466" y="3378192"/>
            <a:ext cx="1730371" cy="350519"/>
          </a:xfrm>
          <a:prstGeom prst="rect">
            <a:avLst/>
          </a:prstGeom>
          <a:noFill/>
          <a:ln/>
        </p:spPr>
        <p:txBody>
          <a:bodyPr wrap="square" lIns="0" tIns="0" rIns="0" bIns="0" rtlCol="0" anchor="ctr"/>
          <a:lstStyle/>
          <a:p>
            <a:pPr indent="0" marL="0">
              <a:buNone/>
            </a:pPr>
            <a:r>
              <a:rPr lang="en-US" sz="800" dirty="0">
                <a:solidFill>
                  <a:srgbClr val="C2C8D2"/>
                </a:solidFill>
                <a:latin typeface="Arial" pitchFamily="34" charset="0"/>
                <a:ea typeface="Arial" pitchFamily="34" charset="-122"/>
                <a:cs typeface="Arial" pitchFamily="34" charset="-120"/>
              </a:rPr>
              <a:t>Beldagen</a:t>
            </a:r>
            <a:endParaRPr lang="en-US" sz="800" dirty="0"/>
          </a:p>
        </p:txBody>
      </p:sp>
      <p:sp>
        <p:nvSpPr>
          <p:cNvPr id="28" name="Text 26"/>
          <p:cNvSpPr txBox="1"/>
          <p:nvPr/>
        </p:nvSpPr>
        <p:spPr>
          <a:xfrm>
            <a:off x="5048237" y="3378192"/>
            <a:ext cx="825498" cy="350519"/>
          </a:xfrm>
          <a:prstGeom prst="rect">
            <a:avLst/>
          </a:prstGeom>
          <a:noFill/>
          <a:ln/>
        </p:spPr>
        <p:txBody>
          <a:bodyPr wrap="square" lIns="0" tIns="0" rIns="0" bIns="0" rtlCol="0" anchor="ctr"/>
          <a:lstStyle/>
          <a:p>
            <a:pPr algn="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9" name="Shape 27"/>
          <p:cNvSpPr/>
          <p:nvPr/>
        </p:nvSpPr>
        <p:spPr>
          <a:xfrm>
            <a:off x="3546466" y="3728711"/>
            <a:ext cx="2327269" cy="0"/>
          </a:xfrm>
          <a:prstGeom prst="line">
            <a:avLst/>
          </a:prstGeom>
          <a:noFill/>
          <a:ln w="9525">
            <a:solidFill>
              <a:srgbClr val="3A4152"/>
            </a:solidFill>
            <a:prstDash val="solid"/>
          </a:ln>
        </p:spPr>
      </p:sp>
      <p:sp>
        <p:nvSpPr>
          <p:cNvPr id="30" name="Text 28"/>
          <p:cNvSpPr txBox="1"/>
          <p:nvPr/>
        </p:nvSpPr>
        <p:spPr>
          <a:xfrm>
            <a:off x="3546466" y="3728711"/>
            <a:ext cx="1730371" cy="350519"/>
          </a:xfrm>
          <a:prstGeom prst="rect">
            <a:avLst/>
          </a:prstGeom>
          <a:noFill/>
          <a:ln/>
        </p:spPr>
        <p:txBody>
          <a:bodyPr wrap="square" lIns="0" tIns="0" rIns="0" bIns="0" rtlCol="0" anchor="ctr"/>
          <a:lstStyle/>
          <a:p>
            <a:pPr indent="0" marL="0">
              <a:buNone/>
            </a:pPr>
            <a:r>
              <a:rPr lang="en-US" sz="800" dirty="0">
                <a:solidFill>
                  <a:srgbClr val="C2C8D2"/>
                </a:solidFill>
                <a:latin typeface="Arial" pitchFamily="34" charset="0"/>
                <a:ea typeface="Arial" pitchFamily="34" charset="-122"/>
                <a:cs typeface="Arial" pitchFamily="34" charset="-120"/>
              </a:rPr>
              <a:t>Contactpogingen</a:t>
            </a:r>
            <a:endParaRPr lang="en-US" sz="800" dirty="0"/>
          </a:p>
        </p:txBody>
      </p:sp>
      <p:sp>
        <p:nvSpPr>
          <p:cNvPr id="31" name="Text 29"/>
          <p:cNvSpPr txBox="1"/>
          <p:nvPr/>
        </p:nvSpPr>
        <p:spPr>
          <a:xfrm>
            <a:off x="5048237" y="3728711"/>
            <a:ext cx="825498" cy="350519"/>
          </a:xfrm>
          <a:prstGeom prst="rect">
            <a:avLst/>
          </a:prstGeom>
          <a:noFill/>
          <a:ln/>
        </p:spPr>
        <p:txBody>
          <a:bodyPr wrap="square" lIns="0" tIns="0" rIns="0" bIns="0" rtlCol="0" anchor="ctr"/>
          <a:lstStyle/>
          <a:p>
            <a:pPr algn="r" indent="0" marL="0">
              <a:buNone/>
            </a:pPr>
            <a:r>
              <a:rPr lang="en-US" sz="1000" b="1" dirty="0">
                <a:solidFill>
                  <a:srgbClr val="38B6FF"/>
                </a:solidFill>
                <a:latin typeface="Arial" pitchFamily="34" charset="0"/>
                <a:ea typeface="Arial" pitchFamily="34" charset="-122"/>
                <a:cs typeface="Arial" pitchFamily="34" charset="-120"/>
              </a:rPr>
              <a:t>600</a:t>
            </a:r>
            <a:endParaRPr lang="en-US" sz="1000" dirty="0"/>
          </a:p>
        </p:txBody>
      </p:sp>
      <p:sp>
        <p:nvSpPr>
          <p:cNvPr id="32" name="Shape 30"/>
          <p:cNvSpPr/>
          <p:nvPr/>
        </p:nvSpPr>
        <p:spPr>
          <a:xfrm>
            <a:off x="3546466" y="4079230"/>
            <a:ext cx="2327269" cy="0"/>
          </a:xfrm>
          <a:prstGeom prst="line">
            <a:avLst/>
          </a:prstGeom>
          <a:noFill/>
          <a:ln w="9525">
            <a:solidFill>
              <a:srgbClr val="3A4152"/>
            </a:solidFill>
            <a:prstDash val="solid"/>
          </a:ln>
        </p:spPr>
      </p:sp>
      <p:sp>
        <p:nvSpPr>
          <p:cNvPr id="33" name="Text 31"/>
          <p:cNvSpPr txBox="1"/>
          <p:nvPr/>
        </p:nvSpPr>
        <p:spPr>
          <a:xfrm>
            <a:off x="3546466" y="4079230"/>
            <a:ext cx="1730371" cy="350519"/>
          </a:xfrm>
          <a:prstGeom prst="rect">
            <a:avLst/>
          </a:prstGeom>
          <a:noFill/>
          <a:ln/>
        </p:spPr>
        <p:txBody>
          <a:bodyPr wrap="square" lIns="0" tIns="0" rIns="0" bIns="0" rtlCol="0" anchor="ctr"/>
          <a:lstStyle/>
          <a:p>
            <a:pPr indent="0" marL="0">
              <a:buNone/>
            </a:pPr>
            <a:r>
              <a:rPr lang="en-US" sz="800" dirty="0">
                <a:solidFill>
                  <a:srgbClr val="C2C8D2"/>
                </a:solidFill>
                <a:latin typeface="Arial" pitchFamily="34" charset="0"/>
                <a:ea typeface="Arial" pitchFamily="34" charset="-122"/>
                <a:cs typeface="Arial" pitchFamily="34" charset="-120"/>
              </a:rPr>
              <a:t>Afspraken</a:t>
            </a:r>
            <a:endParaRPr lang="en-US" sz="800" dirty="0"/>
          </a:p>
        </p:txBody>
      </p:sp>
      <p:sp>
        <p:nvSpPr>
          <p:cNvPr id="34" name="Text 32"/>
          <p:cNvSpPr txBox="1"/>
          <p:nvPr/>
        </p:nvSpPr>
        <p:spPr>
          <a:xfrm>
            <a:off x="5048237" y="4079230"/>
            <a:ext cx="825498" cy="350519"/>
          </a:xfrm>
          <a:prstGeom prst="rect">
            <a:avLst/>
          </a:prstGeom>
          <a:noFill/>
          <a:ln/>
        </p:spPr>
        <p:txBody>
          <a:bodyPr wrap="square" lIns="0" tIns="0" rIns="0" bIns="0" rtlCol="0" anchor="ctr"/>
          <a:lstStyle/>
          <a:p>
            <a:pPr algn="r" indent="0" marL="0">
              <a:buNone/>
            </a:pPr>
            <a:r>
              <a:rPr lang="en-US" sz="1000" b="1" dirty="0">
                <a:solidFill>
                  <a:srgbClr val="38B6FF"/>
                </a:solidFill>
                <a:latin typeface="Arial" pitchFamily="34" charset="0"/>
                <a:ea typeface="Arial" pitchFamily="34" charset="-122"/>
                <a:cs typeface="Arial" pitchFamily="34" charset="-120"/>
              </a:rPr>
              <a:t>10</a:t>
            </a:r>
            <a:endParaRPr lang="en-US" sz="1000" dirty="0"/>
          </a:p>
        </p:txBody>
      </p:sp>
      <p:sp>
        <p:nvSpPr>
          <p:cNvPr id="35" name="Shape 33"/>
          <p:cNvSpPr/>
          <p:nvPr/>
        </p:nvSpPr>
        <p:spPr>
          <a:xfrm>
            <a:off x="3546466" y="4429749"/>
            <a:ext cx="2327269" cy="0"/>
          </a:xfrm>
          <a:prstGeom prst="line">
            <a:avLst/>
          </a:prstGeom>
          <a:noFill/>
          <a:ln w="9525">
            <a:solidFill>
              <a:srgbClr val="3A4152"/>
            </a:solidFill>
            <a:prstDash val="solid"/>
          </a:ln>
        </p:spPr>
      </p:sp>
      <p:sp>
        <p:nvSpPr>
          <p:cNvPr id="36" name="Text 34"/>
          <p:cNvSpPr txBox="1"/>
          <p:nvPr/>
        </p:nvSpPr>
        <p:spPr>
          <a:xfrm>
            <a:off x="3546466" y="4429749"/>
            <a:ext cx="1730371" cy="350519"/>
          </a:xfrm>
          <a:prstGeom prst="rect">
            <a:avLst/>
          </a:prstGeom>
          <a:noFill/>
          <a:ln/>
        </p:spPr>
        <p:txBody>
          <a:bodyPr wrap="square" lIns="0" tIns="0" rIns="0" bIns="0" rtlCol="0" anchor="ctr"/>
          <a:lstStyle/>
          <a:p>
            <a:pPr indent="0" marL="0">
              <a:buNone/>
            </a:pPr>
            <a:r>
              <a:rPr lang="en-US" sz="800" dirty="0">
                <a:solidFill>
                  <a:srgbClr val="C2C8D2"/>
                </a:solidFill>
                <a:latin typeface="Arial" pitchFamily="34" charset="0"/>
                <a:ea typeface="Arial" pitchFamily="34" charset="-122"/>
                <a:cs typeface="Arial" pitchFamily="34" charset="-120"/>
              </a:rPr>
              <a:t>Per beldag</a:t>
            </a:r>
            <a:endParaRPr lang="en-US" sz="800" dirty="0"/>
          </a:p>
        </p:txBody>
      </p:sp>
      <p:sp>
        <p:nvSpPr>
          <p:cNvPr id="37" name="Text 35"/>
          <p:cNvSpPr txBox="1"/>
          <p:nvPr/>
        </p:nvSpPr>
        <p:spPr>
          <a:xfrm>
            <a:off x="5048237" y="4429749"/>
            <a:ext cx="825498" cy="350519"/>
          </a:xfrm>
          <a:prstGeom prst="rect">
            <a:avLst/>
          </a:prstGeom>
          <a:noFill/>
          <a:ln/>
        </p:spPr>
        <p:txBody>
          <a:bodyPr wrap="square" lIns="0" tIns="0" rIns="0" bIns="0" rtlCol="0" anchor="ctr"/>
          <a:lstStyle/>
          <a:p>
            <a:pPr algn="r" indent="0" marL="0">
              <a:buNone/>
            </a:pPr>
            <a:r>
              <a:rPr lang="en-US" sz="1000" b="1" dirty="0">
                <a:solidFill>
                  <a:srgbClr val="38B6FF"/>
                </a:solidFill>
                <a:latin typeface="Arial" pitchFamily="34" charset="0"/>
                <a:ea typeface="Arial" pitchFamily="34" charset="-122"/>
                <a:cs typeface="Arial" pitchFamily="34" charset="-120"/>
              </a:rPr>
              <a:t>€ 600</a:t>
            </a:r>
            <a:endParaRPr lang="en-US" sz="1000" dirty="0"/>
          </a:p>
        </p:txBody>
      </p:sp>
      <p:sp>
        <p:nvSpPr>
          <p:cNvPr id="38" name="Shape 36"/>
          <p:cNvSpPr/>
          <p:nvPr/>
        </p:nvSpPr>
        <p:spPr>
          <a:xfrm>
            <a:off x="3546466" y="4780268"/>
            <a:ext cx="2327269" cy="0"/>
          </a:xfrm>
          <a:prstGeom prst="line">
            <a:avLst/>
          </a:prstGeom>
          <a:noFill/>
          <a:ln w="9525">
            <a:solidFill>
              <a:srgbClr val="3A4152"/>
            </a:solidFill>
            <a:prstDash val="solid"/>
          </a:ln>
        </p:spPr>
      </p:sp>
      <p:sp>
        <p:nvSpPr>
          <p:cNvPr id="39" name="Text 37"/>
          <p:cNvSpPr txBox="1"/>
          <p:nvPr/>
        </p:nvSpPr>
        <p:spPr>
          <a:xfrm>
            <a:off x="3546466" y="4780268"/>
            <a:ext cx="1730371" cy="350519"/>
          </a:xfrm>
          <a:prstGeom prst="rect">
            <a:avLst/>
          </a:prstGeom>
          <a:noFill/>
          <a:ln/>
        </p:spPr>
        <p:txBody>
          <a:bodyPr wrap="square" lIns="0" tIns="0" rIns="0" bIns="0" rtlCol="0" anchor="ctr"/>
          <a:lstStyle/>
          <a:p>
            <a:pPr indent="0" marL="0">
              <a:buNone/>
            </a:pPr>
            <a:r>
              <a:rPr lang="en-US" sz="800" dirty="0">
                <a:solidFill>
                  <a:srgbClr val="C2C8D2"/>
                </a:solidFill>
                <a:latin typeface="Arial" pitchFamily="34" charset="0"/>
                <a:ea typeface="Arial" pitchFamily="34" charset="-122"/>
                <a:cs typeface="Arial" pitchFamily="34" charset="-120"/>
              </a:rPr>
              <a:t>Per werkperiode</a:t>
            </a:r>
            <a:endParaRPr lang="en-US" sz="800" dirty="0"/>
          </a:p>
        </p:txBody>
      </p:sp>
      <p:sp>
        <p:nvSpPr>
          <p:cNvPr id="40" name="Text 38"/>
          <p:cNvSpPr txBox="1"/>
          <p:nvPr/>
        </p:nvSpPr>
        <p:spPr>
          <a:xfrm>
            <a:off x="5048237" y="4780268"/>
            <a:ext cx="825498" cy="350519"/>
          </a:xfrm>
          <a:prstGeom prst="rect">
            <a:avLst/>
          </a:prstGeom>
          <a:noFill/>
          <a:ln/>
        </p:spPr>
        <p:txBody>
          <a:bodyPr wrap="square" lIns="0" tIns="0" rIns="0" bIns="0" rtlCol="0" anchor="ctr"/>
          <a:lstStyle/>
          <a:p>
            <a:pPr algn="r" indent="0" marL="0">
              <a:buNone/>
            </a:pPr>
            <a:r>
              <a:rPr lang="en-US" sz="1000" b="1" dirty="0">
                <a:solidFill>
                  <a:srgbClr val="38B6FF"/>
                </a:solidFill>
                <a:latin typeface="Arial" pitchFamily="34" charset="0"/>
                <a:ea typeface="Arial" pitchFamily="34" charset="-122"/>
                <a:cs typeface="Arial" pitchFamily="34" charset="-120"/>
              </a:rPr>
              <a:t>€ 2.400</a:t>
            </a:r>
            <a:endParaRPr lang="en-US" sz="1000" dirty="0"/>
          </a:p>
        </p:txBody>
      </p:sp>
      <p:sp>
        <p:nvSpPr>
          <p:cNvPr id="41" name="Shape 39"/>
          <p:cNvSpPr/>
          <p:nvPr/>
        </p:nvSpPr>
        <p:spPr>
          <a:xfrm>
            <a:off x="6153135" y="2489194"/>
            <a:ext cx="2657468" cy="2768593"/>
          </a:xfrm>
          <a:prstGeom prst="roundRect">
            <a:avLst>
              <a:gd name="adj" fmla="val 3823"/>
            </a:avLst>
          </a:prstGeom>
          <a:solidFill>
            <a:srgbClr val="F8F4EB"/>
          </a:solidFill>
          <a:ln/>
        </p:spPr>
      </p:sp>
      <p:sp>
        <p:nvSpPr>
          <p:cNvPr id="42" name="Text 40"/>
          <p:cNvSpPr txBox="1"/>
          <p:nvPr/>
        </p:nvSpPr>
        <p:spPr>
          <a:xfrm>
            <a:off x="6318234" y="2743193"/>
            <a:ext cx="2327269"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OF</a:t>
            </a:r>
            <a:endParaRPr lang="en-US" sz="800" dirty="0"/>
          </a:p>
        </p:txBody>
      </p:sp>
      <p:sp>
        <p:nvSpPr>
          <p:cNvPr id="43" name="Text 41"/>
          <p:cNvSpPr txBox="1"/>
          <p:nvPr/>
        </p:nvSpPr>
        <p:spPr>
          <a:xfrm>
            <a:off x="6318234" y="2959093"/>
            <a:ext cx="2327269" cy="355599"/>
          </a:xfrm>
          <a:prstGeom prst="rect">
            <a:avLst/>
          </a:prstGeom>
          <a:noFill/>
          <a:ln/>
        </p:spPr>
        <p:txBody>
          <a:bodyPr wrap="square" lIns="0" tIns="0" rIns="0" bIns="0" rtlCol="0" anchor="ctr"/>
          <a:lstStyle/>
          <a:p>
            <a:pPr indent="0" marL="0">
              <a:lnSpc>
                <a:spcPct val="115000"/>
              </a:lnSpc>
              <a:buNone/>
            </a:pPr>
            <a:r>
              <a:rPr lang="en-US" sz="1050" b="1" dirty="0">
                <a:solidFill>
                  <a:srgbClr val="1C2230"/>
                </a:solidFill>
                <a:latin typeface="Arial" pitchFamily="34" charset="0"/>
                <a:ea typeface="Arial" pitchFamily="34" charset="-122"/>
                <a:cs typeface="Arial" pitchFamily="34" charset="-120"/>
              </a:rPr>
              <a:t>Zes beldagen</a:t>
            </a:r>
            <a:endParaRPr lang="en-US" sz="1050" dirty="0"/>
          </a:p>
        </p:txBody>
      </p:sp>
      <p:sp>
        <p:nvSpPr>
          <p:cNvPr id="44" name="Text 42"/>
          <p:cNvSpPr txBox="1"/>
          <p:nvPr/>
        </p:nvSpPr>
        <p:spPr>
          <a:xfrm>
            <a:off x="6318234" y="3378192"/>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Beldagen</a:t>
            </a:r>
            <a:endParaRPr lang="en-US" sz="800" dirty="0"/>
          </a:p>
        </p:txBody>
      </p:sp>
      <p:sp>
        <p:nvSpPr>
          <p:cNvPr id="45" name="Text 43"/>
          <p:cNvSpPr txBox="1"/>
          <p:nvPr/>
        </p:nvSpPr>
        <p:spPr>
          <a:xfrm>
            <a:off x="7820005" y="3378192"/>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6</a:t>
            </a:r>
            <a:endParaRPr lang="en-US" sz="1000" dirty="0"/>
          </a:p>
        </p:txBody>
      </p:sp>
      <p:sp>
        <p:nvSpPr>
          <p:cNvPr id="46" name="Shape 44"/>
          <p:cNvSpPr/>
          <p:nvPr/>
        </p:nvSpPr>
        <p:spPr>
          <a:xfrm>
            <a:off x="6318234" y="3728711"/>
            <a:ext cx="2327269" cy="0"/>
          </a:xfrm>
          <a:prstGeom prst="line">
            <a:avLst/>
          </a:prstGeom>
          <a:noFill/>
          <a:ln w="9525">
            <a:solidFill>
              <a:srgbClr val="D8D2C4"/>
            </a:solidFill>
            <a:prstDash val="solid"/>
          </a:ln>
        </p:spPr>
      </p:sp>
      <p:sp>
        <p:nvSpPr>
          <p:cNvPr id="47" name="Text 45"/>
          <p:cNvSpPr txBox="1"/>
          <p:nvPr/>
        </p:nvSpPr>
        <p:spPr>
          <a:xfrm>
            <a:off x="6318234" y="3728711"/>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Contactpogingen</a:t>
            </a:r>
            <a:endParaRPr lang="en-US" sz="800" dirty="0"/>
          </a:p>
        </p:txBody>
      </p:sp>
      <p:sp>
        <p:nvSpPr>
          <p:cNvPr id="48" name="Text 46"/>
          <p:cNvSpPr txBox="1"/>
          <p:nvPr/>
        </p:nvSpPr>
        <p:spPr>
          <a:xfrm>
            <a:off x="7820005" y="3728711"/>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900</a:t>
            </a:r>
            <a:endParaRPr lang="en-US" sz="1000" dirty="0"/>
          </a:p>
        </p:txBody>
      </p:sp>
      <p:sp>
        <p:nvSpPr>
          <p:cNvPr id="49" name="Shape 47"/>
          <p:cNvSpPr/>
          <p:nvPr/>
        </p:nvSpPr>
        <p:spPr>
          <a:xfrm>
            <a:off x="6318234" y="4079230"/>
            <a:ext cx="2327269" cy="0"/>
          </a:xfrm>
          <a:prstGeom prst="line">
            <a:avLst/>
          </a:prstGeom>
          <a:noFill/>
          <a:ln w="9525">
            <a:solidFill>
              <a:srgbClr val="D8D2C4"/>
            </a:solidFill>
            <a:prstDash val="solid"/>
          </a:ln>
        </p:spPr>
      </p:sp>
      <p:sp>
        <p:nvSpPr>
          <p:cNvPr id="50" name="Text 48"/>
          <p:cNvSpPr txBox="1"/>
          <p:nvPr/>
        </p:nvSpPr>
        <p:spPr>
          <a:xfrm>
            <a:off x="6318234" y="4079230"/>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Afspraken</a:t>
            </a:r>
            <a:endParaRPr lang="en-US" sz="800" dirty="0"/>
          </a:p>
        </p:txBody>
      </p:sp>
      <p:sp>
        <p:nvSpPr>
          <p:cNvPr id="51" name="Text 49"/>
          <p:cNvSpPr txBox="1"/>
          <p:nvPr/>
        </p:nvSpPr>
        <p:spPr>
          <a:xfrm>
            <a:off x="7820005" y="4079230"/>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15</a:t>
            </a:r>
            <a:endParaRPr lang="en-US" sz="1000" dirty="0"/>
          </a:p>
        </p:txBody>
      </p:sp>
      <p:sp>
        <p:nvSpPr>
          <p:cNvPr id="52" name="Shape 50"/>
          <p:cNvSpPr/>
          <p:nvPr/>
        </p:nvSpPr>
        <p:spPr>
          <a:xfrm>
            <a:off x="6318234" y="4429749"/>
            <a:ext cx="2327269" cy="0"/>
          </a:xfrm>
          <a:prstGeom prst="line">
            <a:avLst/>
          </a:prstGeom>
          <a:noFill/>
          <a:ln w="9525">
            <a:solidFill>
              <a:srgbClr val="D8D2C4"/>
            </a:solidFill>
            <a:prstDash val="solid"/>
          </a:ln>
        </p:spPr>
      </p:sp>
      <p:sp>
        <p:nvSpPr>
          <p:cNvPr id="53" name="Text 51"/>
          <p:cNvSpPr txBox="1"/>
          <p:nvPr/>
        </p:nvSpPr>
        <p:spPr>
          <a:xfrm>
            <a:off x="6318234" y="4429749"/>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beldag</a:t>
            </a:r>
            <a:endParaRPr lang="en-US" sz="800" dirty="0"/>
          </a:p>
        </p:txBody>
      </p:sp>
      <p:sp>
        <p:nvSpPr>
          <p:cNvPr id="54" name="Text 52"/>
          <p:cNvSpPr txBox="1"/>
          <p:nvPr/>
        </p:nvSpPr>
        <p:spPr>
          <a:xfrm>
            <a:off x="7820005" y="4429749"/>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€ 575</a:t>
            </a:r>
            <a:endParaRPr lang="en-US" sz="1000" dirty="0"/>
          </a:p>
        </p:txBody>
      </p:sp>
      <p:sp>
        <p:nvSpPr>
          <p:cNvPr id="55" name="Shape 53"/>
          <p:cNvSpPr/>
          <p:nvPr/>
        </p:nvSpPr>
        <p:spPr>
          <a:xfrm>
            <a:off x="6318234" y="4780268"/>
            <a:ext cx="2327269" cy="0"/>
          </a:xfrm>
          <a:prstGeom prst="line">
            <a:avLst/>
          </a:prstGeom>
          <a:noFill/>
          <a:ln w="9525">
            <a:solidFill>
              <a:srgbClr val="D8D2C4"/>
            </a:solidFill>
            <a:prstDash val="solid"/>
          </a:ln>
        </p:spPr>
      </p:sp>
      <p:sp>
        <p:nvSpPr>
          <p:cNvPr id="56" name="Text 54"/>
          <p:cNvSpPr txBox="1"/>
          <p:nvPr/>
        </p:nvSpPr>
        <p:spPr>
          <a:xfrm>
            <a:off x="6318234" y="4780268"/>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werkperiode</a:t>
            </a:r>
            <a:endParaRPr lang="en-US" sz="800" dirty="0"/>
          </a:p>
        </p:txBody>
      </p:sp>
      <p:sp>
        <p:nvSpPr>
          <p:cNvPr id="57" name="Text 55"/>
          <p:cNvSpPr txBox="1"/>
          <p:nvPr/>
        </p:nvSpPr>
        <p:spPr>
          <a:xfrm>
            <a:off x="7820005" y="4780268"/>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€ 3.450</a:t>
            </a:r>
            <a:endParaRPr lang="en-US" sz="1000" dirty="0"/>
          </a:p>
        </p:txBody>
      </p:sp>
      <p:sp>
        <p:nvSpPr>
          <p:cNvPr id="58" name="Shape 56"/>
          <p:cNvSpPr/>
          <p:nvPr/>
        </p:nvSpPr>
        <p:spPr>
          <a:xfrm>
            <a:off x="8924903" y="2489194"/>
            <a:ext cx="2657468" cy="2768593"/>
          </a:xfrm>
          <a:prstGeom prst="roundRect">
            <a:avLst>
              <a:gd name="adj" fmla="val 3823"/>
            </a:avLst>
          </a:prstGeom>
          <a:solidFill>
            <a:srgbClr val="F8F4EB"/>
          </a:solidFill>
          <a:ln/>
        </p:spPr>
      </p:sp>
      <p:sp>
        <p:nvSpPr>
          <p:cNvPr id="59" name="Text 57"/>
          <p:cNvSpPr txBox="1"/>
          <p:nvPr/>
        </p:nvSpPr>
        <p:spPr>
          <a:xfrm>
            <a:off x="9090002" y="2743193"/>
            <a:ext cx="2327269"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OF</a:t>
            </a:r>
            <a:endParaRPr lang="en-US" sz="800" dirty="0"/>
          </a:p>
        </p:txBody>
      </p:sp>
      <p:sp>
        <p:nvSpPr>
          <p:cNvPr id="60" name="Text 58"/>
          <p:cNvSpPr txBox="1"/>
          <p:nvPr/>
        </p:nvSpPr>
        <p:spPr>
          <a:xfrm>
            <a:off x="9090002" y="2959093"/>
            <a:ext cx="2327269" cy="355599"/>
          </a:xfrm>
          <a:prstGeom prst="rect">
            <a:avLst/>
          </a:prstGeom>
          <a:noFill/>
          <a:ln/>
        </p:spPr>
        <p:txBody>
          <a:bodyPr wrap="square" lIns="0" tIns="0" rIns="0" bIns="0" rtlCol="0" anchor="ctr"/>
          <a:lstStyle/>
          <a:p>
            <a:pPr indent="0" marL="0">
              <a:lnSpc>
                <a:spcPct val="115000"/>
              </a:lnSpc>
              <a:buNone/>
            </a:pPr>
            <a:r>
              <a:rPr lang="en-US" sz="1050" b="1" dirty="0">
                <a:solidFill>
                  <a:srgbClr val="1C2230"/>
                </a:solidFill>
                <a:latin typeface="Arial" pitchFamily="34" charset="0"/>
                <a:ea typeface="Arial" pitchFamily="34" charset="-122"/>
                <a:cs typeface="Arial" pitchFamily="34" charset="-120"/>
              </a:rPr>
              <a:t>Acht beldagen</a:t>
            </a:r>
            <a:endParaRPr lang="en-US" sz="1050" dirty="0"/>
          </a:p>
        </p:txBody>
      </p:sp>
      <p:sp>
        <p:nvSpPr>
          <p:cNvPr id="61" name="Text 59"/>
          <p:cNvSpPr txBox="1"/>
          <p:nvPr/>
        </p:nvSpPr>
        <p:spPr>
          <a:xfrm>
            <a:off x="9090002" y="3378192"/>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Beldagen</a:t>
            </a:r>
            <a:endParaRPr lang="en-US" sz="800" dirty="0"/>
          </a:p>
        </p:txBody>
      </p:sp>
      <p:sp>
        <p:nvSpPr>
          <p:cNvPr id="62" name="Text 60"/>
          <p:cNvSpPr txBox="1"/>
          <p:nvPr/>
        </p:nvSpPr>
        <p:spPr>
          <a:xfrm>
            <a:off x="10591774" y="3378192"/>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8</a:t>
            </a:r>
            <a:endParaRPr lang="en-US" sz="1000" dirty="0"/>
          </a:p>
        </p:txBody>
      </p:sp>
      <p:sp>
        <p:nvSpPr>
          <p:cNvPr id="63" name="Shape 61"/>
          <p:cNvSpPr/>
          <p:nvPr/>
        </p:nvSpPr>
        <p:spPr>
          <a:xfrm>
            <a:off x="9090002" y="3728711"/>
            <a:ext cx="2327269" cy="0"/>
          </a:xfrm>
          <a:prstGeom prst="line">
            <a:avLst/>
          </a:prstGeom>
          <a:noFill/>
          <a:ln w="9525">
            <a:solidFill>
              <a:srgbClr val="D8D2C4"/>
            </a:solidFill>
            <a:prstDash val="solid"/>
          </a:ln>
        </p:spPr>
      </p:sp>
      <p:sp>
        <p:nvSpPr>
          <p:cNvPr id="64" name="Text 62"/>
          <p:cNvSpPr txBox="1"/>
          <p:nvPr/>
        </p:nvSpPr>
        <p:spPr>
          <a:xfrm>
            <a:off x="9090002" y="3728711"/>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Contactpogingen</a:t>
            </a:r>
            <a:endParaRPr lang="en-US" sz="800" dirty="0"/>
          </a:p>
        </p:txBody>
      </p:sp>
      <p:sp>
        <p:nvSpPr>
          <p:cNvPr id="65" name="Text 63"/>
          <p:cNvSpPr txBox="1"/>
          <p:nvPr/>
        </p:nvSpPr>
        <p:spPr>
          <a:xfrm>
            <a:off x="10591774" y="3728711"/>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1.200</a:t>
            </a:r>
            <a:endParaRPr lang="en-US" sz="1000" dirty="0"/>
          </a:p>
        </p:txBody>
      </p:sp>
      <p:sp>
        <p:nvSpPr>
          <p:cNvPr id="66" name="Shape 64"/>
          <p:cNvSpPr/>
          <p:nvPr/>
        </p:nvSpPr>
        <p:spPr>
          <a:xfrm>
            <a:off x="9090002" y="4079230"/>
            <a:ext cx="2327269" cy="0"/>
          </a:xfrm>
          <a:prstGeom prst="line">
            <a:avLst/>
          </a:prstGeom>
          <a:noFill/>
          <a:ln w="9525">
            <a:solidFill>
              <a:srgbClr val="D8D2C4"/>
            </a:solidFill>
            <a:prstDash val="solid"/>
          </a:ln>
        </p:spPr>
      </p:sp>
      <p:sp>
        <p:nvSpPr>
          <p:cNvPr id="67" name="Text 65"/>
          <p:cNvSpPr txBox="1"/>
          <p:nvPr/>
        </p:nvSpPr>
        <p:spPr>
          <a:xfrm>
            <a:off x="9090002" y="4079230"/>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Afspraken</a:t>
            </a:r>
            <a:endParaRPr lang="en-US" sz="800" dirty="0"/>
          </a:p>
        </p:txBody>
      </p:sp>
      <p:sp>
        <p:nvSpPr>
          <p:cNvPr id="68" name="Text 66"/>
          <p:cNvSpPr txBox="1"/>
          <p:nvPr/>
        </p:nvSpPr>
        <p:spPr>
          <a:xfrm>
            <a:off x="10591774" y="4079230"/>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20</a:t>
            </a:r>
            <a:endParaRPr lang="en-US" sz="1000" dirty="0"/>
          </a:p>
        </p:txBody>
      </p:sp>
      <p:sp>
        <p:nvSpPr>
          <p:cNvPr id="69" name="Shape 67"/>
          <p:cNvSpPr/>
          <p:nvPr/>
        </p:nvSpPr>
        <p:spPr>
          <a:xfrm>
            <a:off x="9090002" y="4429749"/>
            <a:ext cx="2327269" cy="0"/>
          </a:xfrm>
          <a:prstGeom prst="line">
            <a:avLst/>
          </a:prstGeom>
          <a:noFill/>
          <a:ln w="9525">
            <a:solidFill>
              <a:srgbClr val="D8D2C4"/>
            </a:solidFill>
            <a:prstDash val="solid"/>
          </a:ln>
        </p:spPr>
      </p:sp>
      <p:sp>
        <p:nvSpPr>
          <p:cNvPr id="70" name="Text 68"/>
          <p:cNvSpPr txBox="1"/>
          <p:nvPr/>
        </p:nvSpPr>
        <p:spPr>
          <a:xfrm>
            <a:off x="9090002" y="4429749"/>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beldag</a:t>
            </a:r>
            <a:endParaRPr lang="en-US" sz="800" dirty="0"/>
          </a:p>
        </p:txBody>
      </p:sp>
      <p:sp>
        <p:nvSpPr>
          <p:cNvPr id="71" name="Text 69"/>
          <p:cNvSpPr txBox="1"/>
          <p:nvPr/>
        </p:nvSpPr>
        <p:spPr>
          <a:xfrm>
            <a:off x="10591774" y="4429749"/>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€ 550</a:t>
            </a:r>
            <a:endParaRPr lang="en-US" sz="1000" dirty="0"/>
          </a:p>
        </p:txBody>
      </p:sp>
      <p:sp>
        <p:nvSpPr>
          <p:cNvPr id="72" name="Shape 70"/>
          <p:cNvSpPr/>
          <p:nvPr/>
        </p:nvSpPr>
        <p:spPr>
          <a:xfrm>
            <a:off x="9090002" y="4780268"/>
            <a:ext cx="2327269" cy="0"/>
          </a:xfrm>
          <a:prstGeom prst="line">
            <a:avLst/>
          </a:prstGeom>
          <a:noFill/>
          <a:ln w="9525">
            <a:solidFill>
              <a:srgbClr val="D8D2C4"/>
            </a:solidFill>
            <a:prstDash val="solid"/>
          </a:ln>
        </p:spPr>
      </p:sp>
      <p:sp>
        <p:nvSpPr>
          <p:cNvPr id="73" name="Text 71"/>
          <p:cNvSpPr txBox="1"/>
          <p:nvPr/>
        </p:nvSpPr>
        <p:spPr>
          <a:xfrm>
            <a:off x="9090002" y="4780268"/>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werkperiode</a:t>
            </a:r>
            <a:endParaRPr lang="en-US" sz="800" dirty="0"/>
          </a:p>
        </p:txBody>
      </p:sp>
      <p:sp>
        <p:nvSpPr>
          <p:cNvPr id="74" name="Text 72"/>
          <p:cNvSpPr txBox="1"/>
          <p:nvPr/>
        </p:nvSpPr>
        <p:spPr>
          <a:xfrm>
            <a:off x="10591774" y="4780268"/>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€ 4.400</a:t>
            </a:r>
            <a:endParaRPr lang="en-US" sz="1000" dirty="0"/>
          </a:p>
        </p:txBody>
      </p:sp>
      <p:sp>
        <p:nvSpPr>
          <p:cNvPr id="75" name="Shape 73"/>
          <p:cNvSpPr/>
          <p:nvPr/>
        </p:nvSpPr>
        <p:spPr>
          <a:xfrm>
            <a:off x="609598" y="5854685"/>
            <a:ext cx="76200" cy="76200"/>
          </a:xfrm>
          <a:prstGeom prst="ellipse">
            <a:avLst/>
          </a:prstGeom>
          <a:solidFill>
            <a:srgbClr val="38B6FF"/>
          </a:solidFill>
          <a:ln/>
        </p:spPr>
      </p:sp>
      <p:sp>
        <p:nvSpPr>
          <p:cNvPr id="76" name="Text 74"/>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 dagprijs blijft gelijk aan wat je nu per beldag betaalt. Neem je er meer af, dan zakt die naar 575 of 550 euro per beldag.</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13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GROWON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Weinig, want het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draait al</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Scherper profiel</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Een halfuur om de doelgroep verder aan te scherpen op wat in de pilot het beste werkte: draaiende webshop, lopende advertenties en budget.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Bedrijven die al klant zijn of waar Jaap zelf al in gesprek is.</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Terugkoppeling op afspraken</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Kort laten weten hoe een afspraak verliep, zodat we de kwalificatie blijven bijstellen.</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GrowOn die de afspraken voert. Tot nu toe is dat Jaap zelf.</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14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 Geen nacalculatie achteraf.</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Tien afspraken per werkperiode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Dat is wat we garanderen bij vier beldagen. Alles eromheen laten we zien in de wekelijkse rapportage.</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 gehaald is een gratis beldag</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Onder de tien afspraken in een werkperiode, dan bellen we de volgende periode een dag extra zonder factuur.</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Kwalificatie-eisen samen vastgesteld</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de start van werkperiode 4 leggen we samen vast wanneer een afspraak meetelt.</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 en afschalen</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Per werkperiode bepalen jullie het aantal beldagen, vanaf vier.</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Prijs vast tot en met 2027</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De dagprijs en de staffel blijven ongewijzigd. Geen jaarlijkse indexatie.</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Maand opzegtermijn</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Geen jaarcontract en geen opstartkosten meer.</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15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ritme? Dan loopt het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gewoon door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Jaap geeft akkoord op het aantal beldagen per werkperiode.</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Vastleggen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een korte aanvulling op de samenwerkingsovereenkomst.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Doorbellen</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Werkperiode 4 start aansluitend, zonder onderbreking.</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GrowOn Agency</dc:title>
  <dc:subject>PptxGenJS Presentation</dc:subject>
  <dc:creator>LINK.</dc:creator>
  <cp:lastModifiedBy>LINK.</cp:lastModifiedBy>
  <cp:revision>1</cp:revision>
  <dcterms:created xsi:type="dcterms:W3CDTF">2026-10-11T17:31:01Z</dcterms:created>
  <dcterms:modified xsi:type="dcterms:W3CDTF">2026-10-11T17:31:01Z</dcterms:modified>
</cp:coreProperties>
</file>