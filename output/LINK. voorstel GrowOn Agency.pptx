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Er verandert weinig. Zelfde team, zelfde bellijst en dezelfde wekelijkse rapportage. Vanaf werkperiode 4 rekenen we in beldagen, met harde aantallen en een scherpere afspraak over wat een afspraak is.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Vijfentwintig pogingen per uur. Dat is het tempo dat onze bellers nu draaien, gemeten in de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De ene dag twee, de andere vier. Over de pilot gemeten komt het op 3 per beldag uit, wij leggen ons vast op 2,5.</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onze eigen urenregistratie en uit jullie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AFSPRAKEN DIE WE MET ELKAAR MAKEN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cijfers waar je ons op mag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afrekenen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793993"/>
          </a:xfrm>
          <a:prstGeom prst="roundRect">
            <a:avLst>
              <a:gd name="adj" fmla="val 3636"/>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WAT WE LEVEREN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8 BELDAGEN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Contactpogingen</a:t>
            </a:r>
            <a:endParaRPr lang="en-US" sz="1250" dirty="0"/>
          </a:p>
        </p:txBody>
      </p:sp>
      <p:sp>
        <p:nvSpPr>
          <p:cNvPr id="14" name="Text 12"/>
          <p:cNvSpPr txBox="1"/>
          <p:nvPr/>
        </p:nvSpPr>
        <p:spPr>
          <a:xfrm>
            <a:off x="3886190" y="3136892"/>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150</a:t>
            </a:r>
            <a:endParaRPr lang="en-US" sz="1250" dirty="0"/>
          </a:p>
        </p:txBody>
      </p:sp>
      <p:sp>
        <p:nvSpPr>
          <p:cNvPr id="15" name="Text 13"/>
          <p:cNvSpPr txBox="1"/>
          <p:nvPr/>
        </p:nvSpPr>
        <p:spPr>
          <a:xfrm>
            <a:off x="6324584" y="3136892"/>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600</a:t>
            </a:r>
            <a:endParaRPr lang="en-US" sz="1250" dirty="0"/>
          </a:p>
        </p:txBody>
      </p:sp>
      <p:sp>
        <p:nvSpPr>
          <p:cNvPr id="16" name="Text 14"/>
          <p:cNvSpPr txBox="1"/>
          <p:nvPr/>
        </p:nvSpPr>
        <p:spPr>
          <a:xfrm>
            <a:off x="8737578" y="3136892"/>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1.200</a:t>
            </a:r>
            <a:endParaRPr lang="en-US" sz="1250" dirty="0"/>
          </a:p>
        </p:txBody>
      </p:sp>
      <p:sp>
        <p:nvSpPr>
          <p:cNvPr id="17" name="Shape 15"/>
          <p:cNvSpPr/>
          <p:nvPr/>
        </p:nvSpPr>
        <p:spPr>
          <a:xfrm>
            <a:off x="609598" y="3717916"/>
            <a:ext cx="10972773" cy="0"/>
          </a:xfrm>
          <a:prstGeom prst="line">
            <a:avLst/>
          </a:prstGeom>
          <a:noFill/>
          <a:ln w="9525">
            <a:solidFill>
              <a:srgbClr val="3A4152"/>
            </a:solidFill>
            <a:prstDash val="solid"/>
          </a:ln>
        </p:spPr>
      </p:sp>
      <p:sp>
        <p:nvSpPr>
          <p:cNvPr id="18" name="Text 16"/>
          <p:cNvSpPr txBox="1"/>
          <p:nvPr/>
        </p:nvSpPr>
        <p:spPr>
          <a:xfrm>
            <a:off x="888998" y="3717916"/>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Bedrijven gesproken</a:t>
            </a:r>
            <a:endParaRPr lang="en-US" sz="1250" dirty="0"/>
          </a:p>
        </p:txBody>
      </p:sp>
      <p:sp>
        <p:nvSpPr>
          <p:cNvPr id="19" name="Text 17"/>
          <p:cNvSpPr txBox="1"/>
          <p:nvPr/>
        </p:nvSpPr>
        <p:spPr>
          <a:xfrm>
            <a:off x="3886190" y="3717916"/>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90</a:t>
            </a:r>
            <a:endParaRPr lang="en-US" sz="1250" dirty="0"/>
          </a:p>
        </p:txBody>
      </p:sp>
      <p:sp>
        <p:nvSpPr>
          <p:cNvPr id="20" name="Text 18"/>
          <p:cNvSpPr txBox="1"/>
          <p:nvPr/>
        </p:nvSpPr>
        <p:spPr>
          <a:xfrm>
            <a:off x="6324584" y="3717916"/>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360</a:t>
            </a:r>
            <a:endParaRPr lang="en-US" sz="1250" dirty="0"/>
          </a:p>
        </p:txBody>
      </p:sp>
      <p:sp>
        <p:nvSpPr>
          <p:cNvPr id="21" name="Text 19"/>
          <p:cNvSpPr txBox="1"/>
          <p:nvPr/>
        </p:nvSpPr>
        <p:spPr>
          <a:xfrm>
            <a:off x="8737578" y="3717916"/>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720</a:t>
            </a:r>
            <a:endParaRPr lang="en-US" sz="1250" dirty="0"/>
          </a:p>
        </p:txBody>
      </p:sp>
      <p:sp>
        <p:nvSpPr>
          <p:cNvPr id="22" name="Shape 20"/>
          <p:cNvSpPr/>
          <p:nvPr/>
        </p:nvSpPr>
        <p:spPr>
          <a:xfrm>
            <a:off x="609598" y="4298939"/>
            <a:ext cx="10972773" cy="0"/>
          </a:xfrm>
          <a:prstGeom prst="line">
            <a:avLst/>
          </a:prstGeom>
          <a:noFill/>
          <a:ln w="9525">
            <a:solidFill>
              <a:srgbClr val="3A4152"/>
            </a:solidFill>
            <a:prstDash val="solid"/>
          </a:ln>
        </p:spPr>
      </p:sp>
      <p:sp>
        <p:nvSpPr>
          <p:cNvPr id="23" name="Text 21"/>
          <p:cNvSpPr txBox="1"/>
          <p:nvPr/>
        </p:nvSpPr>
        <p:spPr>
          <a:xfrm>
            <a:off x="888998" y="4298939"/>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Terugbelafspraken</a:t>
            </a:r>
            <a:endParaRPr lang="en-US" sz="1250" dirty="0"/>
          </a:p>
        </p:txBody>
      </p:sp>
      <p:sp>
        <p:nvSpPr>
          <p:cNvPr id="24" name="Text 22"/>
          <p:cNvSpPr txBox="1"/>
          <p:nvPr/>
        </p:nvSpPr>
        <p:spPr>
          <a:xfrm>
            <a:off x="3886190" y="4298939"/>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35</a:t>
            </a:r>
            <a:endParaRPr lang="en-US" sz="1250" dirty="0"/>
          </a:p>
        </p:txBody>
      </p:sp>
      <p:sp>
        <p:nvSpPr>
          <p:cNvPr id="25" name="Text 23"/>
          <p:cNvSpPr txBox="1"/>
          <p:nvPr/>
        </p:nvSpPr>
        <p:spPr>
          <a:xfrm>
            <a:off x="6324584" y="4298939"/>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140</a:t>
            </a:r>
            <a:endParaRPr lang="en-US" sz="1250" dirty="0"/>
          </a:p>
        </p:txBody>
      </p:sp>
      <p:sp>
        <p:nvSpPr>
          <p:cNvPr id="26" name="Text 24"/>
          <p:cNvSpPr txBox="1"/>
          <p:nvPr/>
        </p:nvSpPr>
        <p:spPr>
          <a:xfrm>
            <a:off x="8737578" y="4298939"/>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280</a:t>
            </a:r>
            <a:endParaRPr lang="en-US" sz="1250" dirty="0"/>
          </a:p>
        </p:txBody>
      </p:sp>
      <p:sp>
        <p:nvSpPr>
          <p:cNvPr id="27" name="Shape 25"/>
          <p:cNvSpPr/>
          <p:nvPr/>
        </p:nvSpPr>
        <p:spPr>
          <a:xfrm>
            <a:off x="615948" y="4879963"/>
            <a:ext cx="10960073" cy="581024"/>
          </a:xfrm>
          <a:prstGeom prst="rect">
            <a:avLst/>
          </a:prstGeom>
          <a:solidFill>
            <a:srgbClr val="38B6FF">
              <a:alpha val="11000"/>
            </a:srgbClr>
          </a:solidFill>
          <a:ln/>
        </p:spPr>
      </p:sp>
      <p:sp>
        <p:nvSpPr>
          <p:cNvPr id="28" name="Shape 26"/>
          <p:cNvSpPr/>
          <p:nvPr/>
        </p:nvSpPr>
        <p:spPr>
          <a:xfrm>
            <a:off x="609598" y="4879963"/>
            <a:ext cx="10972773" cy="0"/>
          </a:xfrm>
          <a:prstGeom prst="line">
            <a:avLst/>
          </a:prstGeom>
          <a:noFill/>
          <a:ln w="9525">
            <a:solidFill>
              <a:srgbClr val="3A4152"/>
            </a:solidFill>
            <a:prstDash val="solid"/>
          </a:ln>
        </p:spPr>
      </p:sp>
      <p:sp>
        <p:nvSpPr>
          <p:cNvPr id="29" name="Text 27"/>
          <p:cNvSpPr txBox="1"/>
          <p:nvPr/>
        </p:nvSpPr>
        <p:spPr>
          <a:xfrm>
            <a:off x="888998" y="4879963"/>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Gekwalificeerde afspraken</a:t>
            </a:r>
            <a:endParaRPr lang="en-US" sz="1250" dirty="0"/>
          </a:p>
        </p:txBody>
      </p:sp>
      <p:sp>
        <p:nvSpPr>
          <p:cNvPr id="30" name="Text 28"/>
          <p:cNvSpPr txBox="1"/>
          <p:nvPr/>
        </p:nvSpPr>
        <p:spPr>
          <a:xfrm>
            <a:off x="3886190" y="4879963"/>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2,5</a:t>
            </a:r>
            <a:endParaRPr lang="en-US" sz="1250" dirty="0"/>
          </a:p>
        </p:txBody>
      </p:sp>
      <p:sp>
        <p:nvSpPr>
          <p:cNvPr id="31" name="Text 29"/>
          <p:cNvSpPr txBox="1"/>
          <p:nvPr/>
        </p:nvSpPr>
        <p:spPr>
          <a:xfrm>
            <a:off x="6324584" y="4879963"/>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32" name="Text 30"/>
          <p:cNvSpPr txBox="1"/>
          <p:nvPr/>
        </p:nvSpPr>
        <p:spPr>
          <a:xfrm>
            <a:off x="8737578" y="4879963"/>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a:t>
            </a:r>
            <a:endParaRPr lang="en-US" sz="1250" dirty="0"/>
          </a:p>
        </p:txBody>
      </p:sp>
      <p:sp>
        <p:nvSpPr>
          <p:cNvPr id="33" name="Shape 31"/>
          <p:cNvSpPr/>
          <p:nvPr/>
        </p:nvSpPr>
        <p:spPr>
          <a:xfrm>
            <a:off x="609598" y="5854685"/>
            <a:ext cx="76200" cy="76200"/>
          </a:xfrm>
          <a:prstGeom prst="ellipse">
            <a:avLst/>
          </a:prstGeom>
          <a:solidFill>
            <a:srgbClr val="38B6FF"/>
          </a:solidFill>
          <a:ln/>
        </p:spPr>
      </p:sp>
      <p:sp>
        <p:nvSpPr>
          <p:cNvPr id="34" name="Text 32"/>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zes uur bellen maken we altijd vol, dus de bovenste drie liggen vast. Halen we de tien afspraken niet, dan krijgen jullie de volgende periode een beldag van ons cadeau.</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€ 575</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€ 2.875 tot € 4.025</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13 tot 18</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€ 4.400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gaan uit van honderdvijftig contactpogingen en 2,5 gekwalificeerde afspraken per beldag. In jullie pilot lag dat rendement op 3 per beldag, dus we rekenen met een marge.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geen kosten per afspraak en geen succesfee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Vier harde KPI's</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Contactpogingen, gesproken bedrijven, terugbelafspraken en gekwalificeerde afspraken. Vastgelegd per beldag en zichtbaar in elke rapportage.</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Komt een werkperiode onder de tien afspraken, dan bellen we de volgende periode een dag extra die niet op de rekening komt.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opnieuw kiezen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bepalen per werkperiode het aantal beldagen, vanaf vier. Een maand opzegtermijn, geen jaarcontract en geen opstartkosten meer.</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10 gekwalificeerde afspraken per periode</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Prijs staat vast tot en met 2027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VERANDERT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werk, nu met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harde aantallen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de afgelopen twaalf weken liep</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 per periode</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Gekwalificeerde 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€ 593</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€ 1.600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VANAF WERKPERIODE 4</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 per vier weken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 per periode</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Gekwalificeerde 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10</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 DUBBEL</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Acht beldagen per vier weken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 per periode</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8</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1.200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Gekwalificeerde 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20</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€ 550</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€ 4.400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dagprijs blijft gelijk aan wat je nu per beldag betaalt. Neem je het dubbele af, dan zakt die naar 550 euro per beldag en betaal je 220 euro per afspraak in plaats van 240.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Vier KPI's in de overeenkomst</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Pogingen, gesproken bedrijven, terugbelafspraken en gekwalificeerde afspraken, per beldag vastgelegd.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Onder de tien afspraken in een werkperiode, dan bellen we de volgende periode een dag extra zonder factuur.</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Kwalificatie-eisen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en geen opstartkosten meer.</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2026-10-11T17:27:32Z</dcterms:created>
  <dcterms:modified xsi:type="dcterms:W3CDTF">2026-10-11T17:27:32Z</dcterms:modified>
</cp:coreProperties>
</file>