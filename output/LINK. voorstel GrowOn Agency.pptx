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1970" cy="6858000"/>
  <p:notesSz cx="6858000" cy="1219197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slideLayout" Target="../slideLayouts/slideLayout1.xml"/><Relationship Id="rId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image" Target="../media/image-14-7.png"/><Relationship Id="rId8" Type="http://schemas.openxmlformats.org/officeDocument/2006/relationships/image" Target="../media/image-14-8.png"/><Relationship Id="rId9" Type="http://schemas.openxmlformats.org/officeDocument/2006/relationships/slideLayout" Target="../slideLayouts/slideLayout1.xml"/><Relationship Id="rId10"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70A10"/>
        </a:solidFill>
      </p:bgPr>
    </p:bg>
    <p:spTree>
      <p:nvGrpSpPr>
        <p:cNvPr id="1" name=""/>
        <p:cNvGrpSpPr/>
        <p:nvPr/>
      </p:nvGrpSpPr>
      <p:grpSpPr>
        <a:xfrm>
          <a:off x="0" y="0"/>
          <a:ext cx="0" cy="0"/>
          <a:chOff x="0" y="0"/>
          <a:chExt cx="0" cy="0"/>
        </a:xfrm>
      </p:grpSpPr>
      <p:sp>
        <p:nvSpPr>
          <p:cNvPr id="2" name="Shape 0"/>
          <p:cNvSpPr/>
          <p:nvPr/>
        </p:nvSpPr>
        <p:spPr>
          <a:xfrm flipH="1">
            <a:off x="8159730" y="3460741"/>
            <a:ext cx="1111247" cy="984248"/>
          </a:xfrm>
          <a:prstGeom prst="line">
            <a:avLst/>
          </a:prstGeom>
          <a:noFill/>
          <a:ln w="9525">
            <a:solidFill>
              <a:srgbClr val="38B6FF">
                <a:alpha val="30000"/>
              </a:srgbClr>
            </a:solidFill>
            <a:prstDash val="solid"/>
          </a:ln>
        </p:spPr>
      </p:sp>
      <p:sp>
        <p:nvSpPr>
          <p:cNvPr id="3" name="Shape 1"/>
          <p:cNvSpPr/>
          <p:nvPr/>
        </p:nvSpPr>
        <p:spPr>
          <a:xfrm>
            <a:off x="9270977" y="3460741"/>
            <a:ext cx="1301747" cy="476249"/>
          </a:xfrm>
          <a:prstGeom prst="line">
            <a:avLst/>
          </a:prstGeom>
          <a:noFill/>
          <a:ln w="9525">
            <a:solidFill>
              <a:srgbClr val="38B6FF">
                <a:alpha val="30000"/>
              </a:srgbClr>
            </a:solidFill>
            <a:prstDash val="solid"/>
          </a:ln>
        </p:spPr>
      </p:sp>
      <p:sp>
        <p:nvSpPr>
          <p:cNvPr id="4" name="Shape 2"/>
          <p:cNvSpPr/>
          <p:nvPr/>
        </p:nvSpPr>
        <p:spPr>
          <a:xfrm flipH="1">
            <a:off x="10159975" y="3936990"/>
            <a:ext cx="412749" cy="1206497"/>
          </a:xfrm>
          <a:prstGeom prst="line">
            <a:avLst/>
          </a:prstGeom>
          <a:noFill/>
          <a:ln w="9525">
            <a:solidFill>
              <a:srgbClr val="38B6FF">
                <a:alpha val="30000"/>
              </a:srgbClr>
            </a:solidFill>
            <a:prstDash val="solid"/>
          </a:ln>
        </p:spPr>
      </p:sp>
      <p:sp>
        <p:nvSpPr>
          <p:cNvPr id="5" name="Shape 3"/>
          <p:cNvSpPr/>
          <p:nvPr/>
        </p:nvSpPr>
        <p:spPr>
          <a:xfrm flipH="1">
            <a:off x="8889978" y="5143487"/>
            <a:ext cx="1269997" cy="444499"/>
          </a:xfrm>
          <a:prstGeom prst="line">
            <a:avLst/>
          </a:prstGeom>
          <a:noFill/>
          <a:ln w="9525">
            <a:solidFill>
              <a:srgbClr val="38B6FF">
                <a:alpha val="30000"/>
              </a:srgbClr>
            </a:solidFill>
            <a:prstDash val="solid"/>
          </a:ln>
        </p:spPr>
      </p:sp>
      <p:sp>
        <p:nvSpPr>
          <p:cNvPr id="6" name="Shape 4"/>
          <p:cNvSpPr/>
          <p:nvPr/>
        </p:nvSpPr>
        <p:spPr>
          <a:xfrm>
            <a:off x="8159730" y="4444989"/>
            <a:ext cx="730248" cy="1142997"/>
          </a:xfrm>
          <a:prstGeom prst="line">
            <a:avLst/>
          </a:prstGeom>
          <a:noFill/>
          <a:ln w="9525">
            <a:solidFill>
              <a:srgbClr val="38B6FF">
                <a:alpha val="30000"/>
              </a:srgbClr>
            </a:solidFill>
            <a:prstDash val="solid"/>
          </a:ln>
        </p:spPr>
      </p:sp>
      <p:sp>
        <p:nvSpPr>
          <p:cNvPr id="7" name="Shape 5"/>
          <p:cNvSpPr/>
          <p:nvPr/>
        </p:nvSpPr>
        <p:spPr>
          <a:xfrm flipH="1">
            <a:off x="9270977" y="2730493"/>
            <a:ext cx="1809745" cy="730248"/>
          </a:xfrm>
          <a:prstGeom prst="line">
            <a:avLst/>
          </a:prstGeom>
          <a:noFill/>
          <a:ln w="9525">
            <a:solidFill>
              <a:srgbClr val="38B6FF">
                <a:alpha val="30000"/>
              </a:srgbClr>
            </a:solidFill>
            <a:prstDash val="solid"/>
          </a:ln>
        </p:spPr>
      </p:sp>
      <p:sp>
        <p:nvSpPr>
          <p:cNvPr id="8" name="Shape 6"/>
          <p:cNvSpPr/>
          <p:nvPr/>
        </p:nvSpPr>
        <p:spPr>
          <a:xfrm flipH="1">
            <a:off x="10572724" y="2730493"/>
            <a:ext cx="507999" cy="1206497"/>
          </a:xfrm>
          <a:prstGeom prst="line">
            <a:avLst/>
          </a:prstGeom>
          <a:noFill/>
          <a:ln w="9525">
            <a:solidFill>
              <a:srgbClr val="38B6FF">
                <a:alpha val="30000"/>
              </a:srgbClr>
            </a:solidFill>
            <a:prstDash val="solid"/>
          </a:ln>
        </p:spPr>
      </p:sp>
      <p:sp>
        <p:nvSpPr>
          <p:cNvPr id="9" name="Shape 7"/>
          <p:cNvSpPr/>
          <p:nvPr/>
        </p:nvSpPr>
        <p:spPr>
          <a:xfrm>
            <a:off x="10572724" y="3936990"/>
            <a:ext cx="1047747" cy="761998"/>
          </a:xfrm>
          <a:prstGeom prst="line">
            <a:avLst/>
          </a:prstGeom>
          <a:noFill/>
          <a:ln w="9525">
            <a:solidFill>
              <a:srgbClr val="38B6FF">
                <a:alpha val="30000"/>
              </a:srgbClr>
            </a:solidFill>
            <a:prstDash val="solid"/>
          </a:ln>
        </p:spPr>
      </p:sp>
      <p:sp>
        <p:nvSpPr>
          <p:cNvPr id="10" name="Shape 8"/>
          <p:cNvSpPr/>
          <p:nvPr/>
        </p:nvSpPr>
        <p:spPr>
          <a:xfrm flipH="1">
            <a:off x="10159975" y="4698988"/>
            <a:ext cx="1460496" cy="444499"/>
          </a:xfrm>
          <a:prstGeom prst="line">
            <a:avLst/>
          </a:prstGeom>
          <a:noFill/>
          <a:ln w="9525">
            <a:solidFill>
              <a:srgbClr val="38B6FF">
                <a:alpha val="30000"/>
              </a:srgbClr>
            </a:solidFill>
            <a:prstDash val="solid"/>
          </a:ln>
        </p:spPr>
      </p:sp>
      <p:sp>
        <p:nvSpPr>
          <p:cNvPr id="11" name="Shape 9"/>
          <p:cNvSpPr/>
          <p:nvPr/>
        </p:nvSpPr>
        <p:spPr>
          <a:xfrm flipH="1">
            <a:off x="9905975" y="5143487"/>
            <a:ext cx="253999" cy="1111247"/>
          </a:xfrm>
          <a:prstGeom prst="line">
            <a:avLst/>
          </a:prstGeom>
          <a:noFill/>
          <a:ln w="9525">
            <a:solidFill>
              <a:srgbClr val="38B6FF">
                <a:alpha val="30000"/>
              </a:srgbClr>
            </a:solidFill>
            <a:prstDash val="solid"/>
          </a:ln>
        </p:spPr>
      </p:sp>
      <p:sp>
        <p:nvSpPr>
          <p:cNvPr id="12" name="Shape 10"/>
          <p:cNvSpPr/>
          <p:nvPr/>
        </p:nvSpPr>
        <p:spPr>
          <a:xfrm>
            <a:off x="8889978" y="5587986"/>
            <a:ext cx="1015997" cy="666748"/>
          </a:xfrm>
          <a:prstGeom prst="line">
            <a:avLst/>
          </a:prstGeom>
          <a:noFill/>
          <a:ln w="9525">
            <a:solidFill>
              <a:srgbClr val="38B6FF">
                <a:alpha val="30000"/>
              </a:srgbClr>
            </a:solidFill>
            <a:prstDash val="solid"/>
          </a:ln>
        </p:spPr>
      </p:sp>
      <p:sp>
        <p:nvSpPr>
          <p:cNvPr id="13" name="Shape 11"/>
          <p:cNvSpPr/>
          <p:nvPr/>
        </p:nvSpPr>
        <p:spPr>
          <a:xfrm>
            <a:off x="11620471" y="4698988"/>
            <a:ext cx="158750" cy="1206497"/>
          </a:xfrm>
          <a:prstGeom prst="line">
            <a:avLst/>
          </a:prstGeom>
          <a:noFill/>
          <a:ln w="9525">
            <a:solidFill>
              <a:srgbClr val="38B6FF">
                <a:alpha val="30000"/>
              </a:srgbClr>
            </a:solidFill>
            <a:prstDash val="solid"/>
          </a:ln>
        </p:spPr>
      </p:sp>
      <p:sp>
        <p:nvSpPr>
          <p:cNvPr id="14" name="Shape 12"/>
          <p:cNvSpPr/>
          <p:nvPr/>
        </p:nvSpPr>
        <p:spPr>
          <a:xfrm flipH="1">
            <a:off x="9905975" y="5905485"/>
            <a:ext cx="1873245" cy="349249"/>
          </a:xfrm>
          <a:prstGeom prst="line">
            <a:avLst/>
          </a:prstGeom>
          <a:noFill/>
          <a:ln w="9525">
            <a:solidFill>
              <a:srgbClr val="38B6FF">
                <a:alpha val="30000"/>
              </a:srgbClr>
            </a:solidFill>
            <a:prstDash val="solid"/>
          </a:ln>
        </p:spPr>
      </p:sp>
      <p:sp>
        <p:nvSpPr>
          <p:cNvPr id="15" name="Shape 13"/>
          <p:cNvSpPr/>
          <p:nvPr/>
        </p:nvSpPr>
        <p:spPr>
          <a:xfrm>
            <a:off x="8134330" y="4419589"/>
            <a:ext cx="50800" cy="50800"/>
          </a:xfrm>
          <a:prstGeom prst="ellipse">
            <a:avLst/>
          </a:prstGeom>
          <a:solidFill>
            <a:srgbClr val="141821"/>
          </a:solidFill>
          <a:ln w="9525">
            <a:solidFill>
              <a:srgbClr val="38B6FF">
                <a:alpha val="50000"/>
              </a:srgbClr>
            </a:solidFill>
            <a:prstDash val="solid"/>
          </a:ln>
        </p:spPr>
      </p:sp>
      <p:sp>
        <p:nvSpPr>
          <p:cNvPr id="16" name="Shape 14"/>
          <p:cNvSpPr/>
          <p:nvPr/>
        </p:nvSpPr>
        <p:spPr>
          <a:xfrm>
            <a:off x="9245577" y="3435341"/>
            <a:ext cx="50800" cy="50800"/>
          </a:xfrm>
          <a:prstGeom prst="ellipse">
            <a:avLst/>
          </a:prstGeom>
          <a:solidFill>
            <a:srgbClr val="141821"/>
          </a:solidFill>
          <a:ln w="9525">
            <a:solidFill>
              <a:srgbClr val="38B6FF">
                <a:alpha val="50000"/>
              </a:srgbClr>
            </a:solidFill>
            <a:prstDash val="solid"/>
          </a:ln>
        </p:spPr>
      </p:sp>
      <p:sp>
        <p:nvSpPr>
          <p:cNvPr id="17" name="Shape 15"/>
          <p:cNvSpPr/>
          <p:nvPr/>
        </p:nvSpPr>
        <p:spPr>
          <a:xfrm>
            <a:off x="10528274" y="3892540"/>
            <a:ext cx="88900" cy="88900"/>
          </a:xfrm>
          <a:prstGeom prst="ellipse">
            <a:avLst/>
          </a:prstGeom>
          <a:solidFill>
            <a:srgbClr val="38B6FF"/>
          </a:solidFill>
          <a:ln/>
        </p:spPr>
      </p:sp>
      <p:sp>
        <p:nvSpPr>
          <p:cNvPr id="18" name="Shape 16"/>
          <p:cNvSpPr/>
          <p:nvPr/>
        </p:nvSpPr>
        <p:spPr>
          <a:xfrm>
            <a:off x="10134575" y="5118087"/>
            <a:ext cx="50800" cy="50800"/>
          </a:xfrm>
          <a:prstGeom prst="ellipse">
            <a:avLst/>
          </a:prstGeom>
          <a:solidFill>
            <a:srgbClr val="141821"/>
          </a:solidFill>
          <a:ln w="9525">
            <a:solidFill>
              <a:srgbClr val="38B6FF">
                <a:alpha val="50000"/>
              </a:srgbClr>
            </a:solidFill>
            <a:prstDash val="solid"/>
          </a:ln>
        </p:spPr>
      </p:sp>
      <p:sp>
        <p:nvSpPr>
          <p:cNvPr id="19" name="Shape 17"/>
          <p:cNvSpPr/>
          <p:nvPr/>
        </p:nvSpPr>
        <p:spPr>
          <a:xfrm>
            <a:off x="8864578" y="5562586"/>
            <a:ext cx="50800" cy="50800"/>
          </a:xfrm>
          <a:prstGeom prst="ellipse">
            <a:avLst/>
          </a:prstGeom>
          <a:solidFill>
            <a:srgbClr val="141821"/>
          </a:solidFill>
          <a:ln w="9525">
            <a:solidFill>
              <a:srgbClr val="38B6FF">
                <a:alpha val="50000"/>
              </a:srgbClr>
            </a:solidFill>
            <a:prstDash val="solid"/>
          </a:ln>
        </p:spPr>
      </p:sp>
      <p:sp>
        <p:nvSpPr>
          <p:cNvPr id="20" name="Shape 18"/>
          <p:cNvSpPr/>
          <p:nvPr/>
        </p:nvSpPr>
        <p:spPr>
          <a:xfrm>
            <a:off x="11055322" y="2705093"/>
            <a:ext cx="50800" cy="50800"/>
          </a:xfrm>
          <a:prstGeom prst="ellipse">
            <a:avLst/>
          </a:prstGeom>
          <a:solidFill>
            <a:srgbClr val="141821"/>
          </a:solidFill>
          <a:ln w="9525">
            <a:solidFill>
              <a:srgbClr val="38B6FF">
                <a:alpha val="50000"/>
              </a:srgbClr>
            </a:solidFill>
            <a:prstDash val="solid"/>
          </a:ln>
        </p:spPr>
      </p:sp>
      <p:sp>
        <p:nvSpPr>
          <p:cNvPr id="21" name="Shape 19"/>
          <p:cNvSpPr/>
          <p:nvPr/>
        </p:nvSpPr>
        <p:spPr>
          <a:xfrm>
            <a:off x="11595071" y="4673588"/>
            <a:ext cx="50800" cy="50800"/>
          </a:xfrm>
          <a:prstGeom prst="ellipse">
            <a:avLst/>
          </a:prstGeom>
          <a:solidFill>
            <a:srgbClr val="141821"/>
          </a:solidFill>
          <a:ln w="9525">
            <a:solidFill>
              <a:srgbClr val="38B6FF">
                <a:alpha val="50000"/>
              </a:srgbClr>
            </a:solidFill>
            <a:prstDash val="solid"/>
          </a:ln>
        </p:spPr>
      </p:sp>
      <p:sp>
        <p:nvSpPr>
          <p:cNvPr id="22" name="Shape 20"/>
          <p:cNvSpPr/>
          <p:nvPr/>
        </p:nvSpPr>
        <p:spPr>
          <a:xfrm>
            <a:off x="9880575" y="6229334"/>
            <a:ext cx="50800" cy="50800"/>
          </a:xfrm>
          <a:prstGeom prst="ellipse">
            <a:avLst/>
          </a:prstGeom>
          <a:solidFill>
            <a:srgbClr val="141821"/>
          </a:solidFill>
          <a:ln w="9525">
            <a:solidFill>
              <a:srgbClr val="38B6FF">
                <a:alpha val="50000"/>
              </a:srgbClr>
            </a:solidFill>
            <a:prstDash val="solid"/>
          </a:ln>
        </p:spPr>
      </p:sp>
      <p:sp>
        <p:nvSpPr>
          <p:cNvPr id="23" name="Shape 21"/>
          <p:cNvSpPr/>
          <p:nvPr/>
        </p:nvSpPr>
        <p:spPr>
          <a:xfrm>
            <a:off x="11753821" y="5880085"/>
            <a:ext cx="50800" cy="50800"/>
          </a:xfrm>
          <a:prstGeom prst="ellipse">
            <a:avLst/>
          </a:prstGeom>
          <a:solidFill>
            <a:srgbClr val="141821"/>
          </a:solidFill>
          <a:ln w="9525">
            <a:solidFill>
              <a:srgbClr val="38B6FF">
                <a:alpha val="50000"/>
              </a:srgbClr>
            </a:solidFill>
            <a:prstDash val="solid"/>
          </a:ln>
        </p:spPr>
      </p:sp>
      <p:sp>
        <p:nvSpPr>
          <p:cNvPr id="24" name="Text 22"/>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25" name="Text 23"/>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Voorstel GrowOn Agency</a:t>
            </a:r>
            <a:endParaRPr lang="en-US" sz="750" dirty="0"/>
          </a:p>
        </p:txBody>
      </p:sp>
      <p:sp>
        <p:nvSpPr>
          <p:cNvPr id="26" name="Text 24"/>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1 / 15</a:t>
            </a:r>
            <a:endParaRPr lang="en-US" sz="750" dirty="0"/>
          </a:p>
        </p:txBody>
      </p:sp>
      <p:sp>
        <p:nvSpPr>
          <p:cNvPr id="27" name="Text 25"/>
          <p:cNvSpPr txBox="1"/>
          <p:nvPr/>
        </p:nvSpPr>
        <p:spPr>
          <a:xfrm>
            <a:off x="609598" y="2133595"/>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VOOR JAAP · GROWON AGENCY · EVALUATIE 16 OKTOBER 2026</a:t>
            </a:r>
            <a:endParaRPr lang="en-US" sz="950" dirty="0"/>
          </a:p>
        </p:txBody>
      </p:sp>
      <p:sp>
        <p:nvSpPr>
          <p:cNvPr id="28" name="Text 26"/>
          <p:cNvSpPr txBox="1"/>
          <p:nvPr/>
        </p:nvSpPr>
        <p:spPr>
          <a:xfrm>
            <a:off x="609598" y="2514594"/>
            <a:ext cx="8635978" cy="2031995"/>
          </a:xfrm>
          <a:prstGeom prst="rect">
            <a:avLst/>
          </a:prstGeom>
          <a:noFill/>
          <a:ln/>
        </p:spPr>
        <p:txBody>
          <a:bodyPr wrap="square" lIns="0" tIns="0" rIns="0" bIns="0" rtlCol="0" anchor="t"/>
          <a:lstStyle/>
          <a:p>
            <a:pPr algn="l" indent="0" marL="0">
              <a:lnSpc>
                <a:spcPct val="105000"/>
              </a:lnSpc>
              <a:buNone/>
            </a:pPr>
            <a:r>
              <a:rPr lang="en-US" sz="5200" b="1" dirty="0">
                <a:solidFill>
                  <a:srgbClr val="F2EFE6"/>
                </a:solidFill>
                <a:latin typeface="Arial" pitchFamily="34" charset="0"/>
                <a:ea typeface="Arial" pitchFamily="34" charset="-122"/>
                <a:cs typeface="Arial" pitchFamily="34" charset="-120"/>
              </a:rPr>
              <a:t>Van pilot naar een </a:t>
            </a:r>
            <a:pPr algn="l" indent="0" marL="0">
              <a:lnSpc>
                <a:spcPct val="105000"/>
              </a:lnSpc>
              <a:buNone/>
            </a:pPr>
            <a:r>
              <a:rPr lang="en-US" sz="5000" i="1" dirty="0">
                <a:solidFill>
                  <a:srgbClr val="F2EFE6"/>
                </a:solidFill>
                <a:latin typeface="Georgia" pitchFamily="34" charset="0"/>
                <a:ea typeface="Georgia" pitchFamily="34" charset="-122"/>
                <a:cs typeface="Georgia" pitchFamily="34" charset="-120"/>
              </a:rPr>
              <a:t>vast ritme</a:t>
            </a:r>
            <a:pPr algn="l" indent="0" marL="0">
              <a:lnSpc>
                <a:spcPct val="105000"/>
              </a:lnSpc>
              <a:buNone/>
            </a:pPr>
            <a:r>
              <a:rPr lang="en-US" sz="5200" b="1" dirty="0">
                <a:solidFill>
                  <a:srgbClr val="F2EFE6"/>
                </a:solidFill>
                <a:latin typeface="Arial" pitchFamily="34" charset="0"/>
                <a:ea typeface="Arial" pitchFamily="34" charset="-122"/>
                <a:cs typeface="Arial" pitchFamily="34" charset="-120"/>
              </a:rPr>
              <a:t>.</a:t>
            </a:r>
            <a:endParaRPr lang="en-US" sz="5200" dirty="0"/>
          </a:p>
        </p:txBody>
      </p:sp>
      <p:sp>
        <p:nvSpPr>
          <p:cNvPr id="29" name="Text 27"/>
          <p:cNvSpPr txBox="1"/>
          <p:nvPr/>
        </p:nvSpPr>
        <p:spPr>
          <a:xfrm>
            <a:off x="609598" y="4711688"/>
            <a:ext cx="6667483" cy="761998"/>
          </a:xfrm>
          <a:prstGeom prst="rect">
            <a:avLst/>
          </a:prstGeom>
          <a:noFill/>
          <a:ln/>
        </p:spPr>
        <p:txBody>
          <a:bodyPr wrap="square" lIns="0" tIns="0" rIns="0" bIns="0" rtlCol="0" anchor="t"/>
          <a:lstStyle/>
          <a:p>
            <a:pPr indent="0" marL="0">
              <a:lnSpc>
                <a:spcPct val="135000"/>
              </a:lnSpc>
              <a:buNone/>
            </a:pPr>
            <a:r>
              <a:rPr lang="en-US" sz="1400" dirty="0">
                <a:solidFill>
                  <a:srgbClr val="BDC3CE"/>
                </a:solidFill>
                <a:latin typeface="Arial" pitchFamily="34" charset="0"/>
                <a:ea typeface="Arial" pitchFamily="34" charset="-122"/>
                <a:cs typeface="Arial" pitchFamily="34" charset="-120"/>
              </a:rPr>
              <a:t>Er verandert weinig. Zelfde team, zelfde bellijst en dezelfde wekelijkse rapportage. Vanaf werkperiode 4 rekenen we in beldagen, met harde aantallen en een scherpere afspraak over wat een afspraak is.</a:t>
            </a:r>
            <a:endParaRPr lang="en-US" sz="1400" dirty="0"/>
          </a:p>
        </p:txBody>
      </p:sp>
      <p:sp>
        <p:nvSpPr>
          <p:cNvPr id="30" name="Text 28"/>
          <p:cNvSpPr txBox="1"/>
          <p:nvPr/>
        </p:nvSpPr>
        <p:spPr>
          <a:xfrm>
            <a:off x="609598" y="5714986"/>
            <a:ext cx="825498" cy="406399"/>
          </a:xfrm>
          <a:prstGeom prst="rect">
            <a:avLst/>
          </a:prstGeom>
          <a:noFill/>
          <a:ln/>
        </p:spPr>
        <p:txBody>
          <a:bodyPr wrap="square" lIns="0" tIns="0" rIns="0" bIns="0" rtlCol="0" anchor="ctr"/>
          <a:lstStyle/>
          <a:p>
            <a:pPr indent="0" marL="0">
              <a:buNone/>
            </a:pPr>
            <a:r>
              <a:rPr lang="en-US" sz="1700" b="1" dirty="0">
                <a:solidFill>
                  <a:srgbClr val="F2EFE6"/>
                </a:solidFill>
                <a:latin typeface="Arial" pitchFamily="34" charset="0"/>
                <a:ea typeface="Arial" pitchFamily="34" charset="-122"/>
                <a:cs typeface="Arial" pitchFamily="34" charset="-120"/>
              </a:rPr>
              <a:t>LINK</a:t>
            </a:r>
            <a:pPr indent="0" marL="0">
              <a:buNone/>
            </a:pPr>
            <a:r>
              <a:rPr lang="en-US" sz="1700" b="1" dirty="0">
                <a:solidFill>
                  <a:srgbClr val="38B6FF"/>
                </a:solidFill>
                <a:latin typeface="Arial" pitchFamily="34" charset="0"/>
                <a:ea typeface="Arial" pitchFamily="34" charset="-122"/>
                <a:cs typeface="Arial" pitchFamily="34" charset="-120"/>
              </a:rPr>
              <a:t>.</a:t>
            </a:r>
            <a:endParaRPr lang="en-US" sz="1700" dirty="0"/>
          </a:p>
        </p:txBody>
      </p:sp>
      <p:sp>
        <p:nvSpPr>
          <p:cNvPr id="31" name="Text 29"/>
          <p:cNvSpPr txBox="1"/>
          <p:nvPr/>
        </p:nvSpPr>
        <p:spPr>
          <a:xfrm>
            <a:off x="1473196" y="5714986"/>
            <a:ext cx="279399" cy="406399"/>
          </a:xfrm>
          <a:prstGeom prst="rect">
            <a:avLst/>
          </a:prstGeom>
          <a:noFill/>
          <a:ln/>
        </p:spPr>
        <p:txBody>
          <a:bodyPr wrap="square" lIns="0" tIns="0" rIns="0" bIns="0" rtlCol="0" anchor="ctr"/>
          <a:lstStyle/>
          <a:p>
            <a:pPr algn="ctr" indent="0" marL="0">
              <a:buNone/>
            </a:pPr>
            <a:r>
              <a:rPr lang="en-US" sz="1300" dirty="0">
                <a:solidFill>
                  <a:srgbClr val="8A90A0"/>
                </a:solidFill>
                <a:latin typeface="Arial" pitchFamily="34" charset="0"/>
                <a:ea typeface="Arial" pitchFamily="34" charset="-122"/>
                <a:cs typeface="Arial" pitchFamily="34" charset="-120"/>
              </a:rPr>
              <a:t>×</a:t>
            </a:r>
            <a:endParaRPr lang="en-US" sz="1300" dirty="0"/>
          </a:p>
        </p:txBody>
      </p:sp>
      <p:sp>
        <p:nvSpPr>
          <p:cNvPr id="32" name="Shape 30"/>
          <p:cNvSpPr/>
          <p:nvPr/>
        </p:nvSpPr>
        <p:spPr>
          <a:xfrm>
            <a:off x="1854195" y="5714986"/>
            <a:ext cx="1396997" cy="406399"/>
          </a:xfrm>
          <a:prstGeom prst="roundRect">
            <a:avLst>
              <a:gd name="adj" fmla="val 21875"/>
            </a:avLst>
          </a:prstGeom>
          <a:solidFill>
            <a:srgbClr val="F8F4EB"/>
          </a:solidFill>
          <a:ln/>
        </p:spPr>
      </p:sp>
      <p:sp>
        <p:nvSpPr>
          <p:cNvPr id="33" name="Text 31"/>
          <p:cNvSpPr txBox="1"/>
          <p:nvPr/>
        </p:nvSpPr>
        <p:spPr>
          <a:xfrm>
            <a:off x="1854195" y="5714986"/>
            <a:ext cx="1396997" cy="406399"/>
          </a:xfrm>
          <a:prstGeom prst="rect">
            <a:avLst/>
          </a:prstGeom>
          <a:noFill/>
          <a:ln/>
        </p:spPr>
        <p:txBody>
          <a:bodyPr wrap="square" lIns="0" tIns="0" rIns="0" bIns="0" rtlCol="0" anchor="ctr"/>
          <a:lstStyle/>
          <a:p>
            <a:pPr algn="ctr" indent="0" marL="0">
              <a:buNone/>
            </a:pPr>
            <a:r>
              <a:rPr lang="en-US" sz="1500" b="1" dirty="0">
                <a:solidFill>
                  <a:srgbClr val="1C2230"/>
                </a:solidFill>
                <a:latin typeface="Arial" pitchFamily="34" charset="0"/>
                <a:ea typeface="Arial" pitchFamily="34" charset="-122"/>
                <a:cs typeface="Arial" pitchFamily="34" charset="-120"/>
              </a:rPr>
              <a:t>GrowOn Agency</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Voorstel GrowOn Agency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2 / 15</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WIE WIJ ZIJN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Bellen is een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vak</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 Wij doen niets anders.</a:t>
            </a:r>
            <a:endParaRPr lang="en-US" sz="3200" dirty="0"/>
          </a:p>
        </p:txBody>
      </p:sp>
      <p:sp>
        <p:nvSpPr>
          <p:cNvPr id="7" name="Text 5"/>
          <p:cNvSpPr txBox="1"/>
          <p:nvPr/>
        </p:nvSpPr>
        <p:spPr>
          <a:xfrm>
            <a:off x="609598" y="2692393"/>
            <a:ext cx="6095985" cy="3174992"/>
          </a:xfrm>
          <a:prstGeom prst="rect">
            <a:avLst/>
          </a:prstGeom>
          <a:noFill/>
          <a:ln/>
        </p:spPr>
        <p:txBody>
          <a:bodyPr wrap="square" lIns="0" tIns="0" rIns="0" bIns="0" rtlCol="0" anchor="t"/>
          <a:lstStyle/>
          <a:p>
            <a:pPr indent="0" marL="0">
              <a:lnSpc>
                <a:spcPct val="142000"/>
              </a:lnSpc>
              <a:spcAft>
                <a:spcPts val="1800"/>
              </a:spcAft>
              <a:buNone/>
            </a:pPr>
            <a:r>
              <a:rPr lang="en-US" sz="1350" dirty="0">
                <a:solidFill>
                  <a:srgbClr val="1C2230"/>
                </a:solidFill>
                <a:latin typeface="Arial" pitchFamily="34" charset="0"/>
                <a:ea typeface="Arial" pitchFamily="34" charset="-122"/>
                <a:cs typeface="Arial" pitchFamily="34" charset="-120"/>
              </a:rPr>
              <a:t>LINK. is de vaste acquisitiepartner van B2B-bedrijven. Wij bellen dagelijks namens onze klanten en leveren gekwalificeerde afspraken op. Geen lijstjes met namen, maar gesprekken in jullie agenda met een beslisser die weet waarom hij aan tafel zit.</a:t>
            </a:r>
            <a:endParaRPr lang="en-US" sz="1350" dirty="0"/>
          </a:p>
          <a:p>
            <a:pPr indent="0" marL="0">
              <a:lnSpc>
                <a:spcPct val="142000"/>
              </a:lnSpc>
              <a:buNone/>
            </a:pPr>
            <a:r>
              <a:rPr lang="en-US" sz="1350" dirty="0">
                <a:solidFill>
                  <a:srgbClr val="1C2230"/>
                </a:solidFill>
                <a:latin typeface="Arial" pitchFamily="34" charset="0"/>
                <a:ea typeface="Arial" pitchFamily="34" charset="-122"/>
                <a:cs typeface="Arial" pitchFamily="34" charset="-120"/>
              </a:rPr>
              <a:t>We werken voor bedrijven met een sterke B2B-propositie, van een fairchain koffieleverancier tot een AI-consultancy. Geen bureau op afstand, maar een partner die elke week met je schakelt.</a:t>
            </a:r>
            <a:endParaRPr lang="en-US" sz="1350" dirty="0"/>
          </a:p>
        </p:txBody>
      </p:sp>
      <p:sp>
        <p:nvSpPr>
          <p:cNvPr id="8" name="Shape 6"/>
          <p:cNvSpPr/>
          <p:nvPr/>
        </p:nvSpPr>
        <p:spPr>
          <a:xfrm>
            <a:off x="7899380" y="2666993"/>
            <a:ext cx="3682991" cy="1549396"/>
          </a:xfrm>
          <a:prstGeom prst="roundRect">
            <a:avLst>
              <a:gd name="adj" fmla="val 6557"/>
            </a:avLst>
          </a:prstGeom>
          <a:solidFill>
            <a:srgbClr val="F8F4EB"/>
          </a:solidFill>
          <a:ln/>
        </p:spPr>
      </p:sp>
      <p:sp>
        <p:nvSpPr>
          <p:cNvPr id="9" name="Text 7"/>
          <p:cNvSpPr txBox="1"/>
          <p:nvPr/>
        </p:nvSpPr>
        <p:spPr>
          <a:xfrm>
            <a:off x="8178780" y="2857493"/>
            <a:ext cx="3124192" cy="469899"/>
          </a:xfrm>
          <a:prstGeom prst="rect">
            <a:avLst/>
          </a:prstGeom>
          <a:noFill/>
          <a:ln/>
        </p:spPr>
        <p:txBody>
          <a:bodyPr wrap="square" lIns="0" tIns="0" rIns="0" bIns="0" rtlCol="0" anchor="ctr"/>
          <a:lstStyle/>
          <a:p>
            <a:pPr indent="0" marL="0">
              <a:buNone/>
            </a:pPr>
            <a:r>
              <a:rPr lang="en-US" sz="3400" b="1" dirty="0">
                <a:solidFill>
                  <a:srgbClr val="38B6FF"/>
                </a:solidFill>
                <a:latin typeface="Arial" pitchFamily="34" charset="0"/>
                <a:ea typeface="Arial" pitchFamily="34" charset="-122"/>
                <a:cs typeface="Arial" pitchFamily="34" charset="-120"/>
              </a:rPr>
              <a:t>1</a:t>
            </a:r>
            <a:endParaRPr lang="en-US" sz="3400" dirty="0"/>
          </a:p>
        </p:txBody>
      </p:sp>
      <p:sp>
        <p:nvSpPr>
          <p:cNvPr id="10" name="Text 8"/>
          <p:cNvSpPr txBox="1"/>
          <p:nvPr/>
        </p:nvSpPr>
        <p:spPr>
          <a:xfrm>
            <a:off x="8178780" y="3352792"/>
            <a:ext cx="3124192" cy="241299"/>
          </a:xfrm>
          <a:prstGeom prst="rect">
            <a:avLst/>
          </a:prstGeom>
          <a:noFill/>
          <a:ln/>
        </p:spPr>
        <p:txBody>
          <a:bodyPr wrap="square" lIns="0" tIns="0" rIns="0" bIns="0" rtlCol="0" anchor="ctr"/>
          <a:lstStyle/>
          <a:p>
            <a:pPr indent="0" marL="0">
              <a:buNone/>
            </a:pPr>
            <a:r>
              <a:rPr lang="en-US" sz="1250" b="1" dirty="0">
                <a:solidFill>
                  <a:srgbClr val="1C2230"/>
                </a:solidFill>
                <a:latin typeface="Arial" pitchFamily="34" charset="0"/>
                <a:ea typeface="Arial" pitchFamily="34" charset="-122"/>
                <a:cs typeface="Arial" pitchFamily="34" charset="-120"/>
              </a:rPr>
              <a:t>vast aanspreekpunt</a:t>
            </a:r>
            <a:endParaRPr lang="en-US" sz="1250" dirty="0"/>
          </a:p>
        </p:txBody>
      </p:sp>
      <p:sp>
        <p:nvSpPr>
          <p:cNvPr id="11" name="Text 9"/>
          <p:cNvSpPr txBox="1"/>
          <p:nvPr/>
        </p:nvSpPr>
        <p:spPr>
          <a:xfrm>
            <a:off x="8178780" y="3619491"/>
            <a:ext cx="3124192" cy="5079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Eén persoon die jullie campagne kent, van script tot rapportage.</a:t>
            </a:r>
            <a:endParaRPr lang="en-US" sz="950" dirty="0"/>
          </a:p>
        </p:txBody>
      </p:sp>
      <p:sp>
        <p:nvSpPr>
          <p:cNvPr id="12" name="Shape 10"/>
          <p:cNvSpPr/>
          <p:nvPr/>
        </p:nvSpPr>
        <p:spPr>
          <a:xfrm>
            <a:off x="7899380" y="4368789"/>
            <a:ext cx="3682991" cy="1549396"/>
          </a:xfrm>
          <a:prstGeom prst="roundRect">
            <a:avLst>
              <a:gd name="adj" fmla="val 6557"/>
            </a:avLst>
          </a:prstGeom>
          <a:solidFill>
            <a:srgbClr val="F8F4EB"/>
          </a:solidFill>
          <a:ln/>
        </p:spPr>
      </p:sp>
      <p:sp>
        <p:nvSpPr>
          <p:cNvPr id="13" name="Text 11"/>
          <p:cNvSpPr txBox="1"/>
          <p:nvPr/>
        </p:nvSpPr>
        <p:spPr>
          <a:xfrm>
            <a:off x="8178780" y="4559289"/>
            <a:ext cx="3124192" cy="469899"/>
          </a:xfrm>
          <a:prstGeom prst="rect">
            <a:avLst/>
          </a:prstGeom>
          <a:noFill/>
          <a:ln/>
        </p:spPr>
        <p:txBody>
          <a:bodyPr wrap="square" lIns="0" tIns="0" rIns="0" bIns="0" rtlCol="0" anchor="ctr"/>
          <a:lstStyle/>
          <a:p>
            <a:pPr indent="0" marL="0">
              <a:buNone/>
            </a:pPr>
            <a:r>
              <a:rPr lang="en-US" sz="3400" b="1" dirty="0">
                <a:solidFill>
                  <a:srgbClr val="38B6FF"/>
                </a:solidFill>
                <a:latin typeface="Arial" pitchFamily="34" charset="0"/>
                <a:ea typeface="Arial" pitchFamily="34" charset="-122"/>
                <a:cs typeface="Arial" pitchFamily="34" charset="-120"/>
              </a:rPr>
              <a:t>4</a:t>
            </a:r>
            <a:endParaRPr lang="en-US" sz="3400" dirty="0"/>
          </a:p>
        </p:txBody>
      </p:sp>
      <p:sp>
        <p:nvSpPr>
          <p:cNvPr id="14" name="Text 12"/>
          <p:cNvSpPr txBox="1"/>
          <p:nvPr/>
        </p:nvSpPr>
        <p:spPr>
          <a:xfrm>
            <a:off x="8178780" y="5054587"/>
            <a:ext cx="3124192" cy="241299"/>
          </a:xfrm>
          <a:prstGeom prst="rect">
            <a:avLst/>
          </a:prstGeom>
          <a:noFill/>
          <a:ln/>
        </p:spPr>
        <p:txBody>
          <a:bodyPr wrap="square" lIns="0" tIns="0" rIns="0" bIns="0" rtlCol="0" anchor="ctr"/>
          <a:lstStyle/>
          <a:p>
            <a:pPr indent="0" marL="0">
              <a:buNone/>
            </a:pPr>
            <a:r>
              <a:rPr lang="en-US" sz="1250" b="1" dirty="0">
                <a:solidFill>
                  <a:srgbClr val="1C2230"/>
                </a:solidFill>
                <a:latin typeface="Arial" pitchFamily="34" charset="0"/>
                <a:ea typeface="Arial" pitchFamily="34" charset="-122"/>
                <a:cs typeface="Arial" pitchFamily="34" charset="-120"/>
              </a:rPr>
              <a:t>weken per werkperiode</a:t>
            </a:r>
            <a:endParaRPr lang="en-US" sz="1250" dirty="0"/>
          </a:p>
        </p:txBody>
      </p:sp>
      <p:sp>
        <p:nvSpPr>
          <p:cNvPr id="15" name="Text 13"/>
          <p:cNvSpPr txBox="1"/>
          <p:nvPr/>
        </p:nvSpPr>
        <p:spPr>
          <a:xfrm>
            <a:off x="8178780" y="5321287"/>
            <a:ext cx="3124192" cy="5079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Vaste rapportage en vaste evaluatiemomenten, elke werkperiode opnieuw.</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Voorstel GrowOn Agency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3 / 15</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WIJ DOEN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Eén team dat belt, opvolgt en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afspraken levert</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2628893" cy="3238492"/>
          </a:xfrm>
          <a:prstGeom prst="roundRect">
            <a:avLst>
              <a:gd name="adj" fmla="val 3865"/>
            </a:avLst>
          </a:prstGeom>
          <a:solidFill>
            <a:srgbClr val="F8F4EB"/>
          </a:solidFill>
          <a:ln/>
        </p:spPr>
      </p:sp>
      <p:sp>
        <p:nvSpPr>
          <p:cNvPr id="8" name="Shape 6"/>
          <p:cNvSpPr/>
          <p:nvPr/>
        </p:nvSpPr>
        <p:spPr>
          <a:xfrm>
            <a:off x="863598" y="30733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958848" y="3168642"/>
            <a:ext cx="190500" cy="190500"/>
          </a:xfrm>
          <a:prstGeom prst="rect">
            <a:avLst/>
          </a:prstGeom>
        </p:spPr>
      </p:pic>
      <p:sp>
        <p:nvSpPr>
          <p:cNvPr id="10" name="Text 7"/>
          <p:cNvSpPr txBox="1"/>
          <p:nvPr/>
        </p:nvSpPr>
        <p:spPr>
          <a:xfrm>
            <a:off x="863598"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Cold calling</a:t>
            </a:r>
            <a:endParaRPr lang="en-US" sz="1350" dirty="0"/>
          </a:p>
        </p:txBody>
      </p:sp>
      <p:sp>
        <p:nvSpPr>
          <p:cNvPr id="11" name="Text 8"/>
          <p:cNvSpPr txBox="1"/>
          <p:nvPr/>
        </p:nvSpPr>
        <p:spPr>
          <a:xfrm>
            <a:off x="863598"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Ervaren B2B-bellers die het gesprek voeren met de beslisser. Eigen belsysteem, een regionaal telefoonnummer op jullie naam en elk gesprek vastgelegd met notities.</a:t>
            </a:r>
            <a:endParaRPr lang="en-US" sz="950" dirty="0"/>
          </a:p>
        </p:txBody>
      </p:sp>
      <p:sp>
        <p:nvSpPr>
          <p:cNvPr id="12" name="Shape 9"/>
          <p:cNvSpPr/>
          <p:nvPr/>
        </p:nvSpPr>
        <p:spPr>
          <a:xfrm>
            <a:off x="3390892" y="2793993"/>
            <a:ext cx="2628893" cy="3238492"/>
          </a:xfrm>
          <a:prstGeom prst="roundRect">
            <a:avLst>
              <a:gd name="adj" fmla="val 3865"/>
            </a:avLst>
          </a:prstGeom>
          <a:solidFill>
            <a:srgbClr val="F8F4EB"/>
          </a:solidFill>
          <a:ln/>
        </p:spPr>
      </p:sp>
      <p:sp>
        <p:nvSpPr>
          <p:cNvPr id="13" name="Shape 10"/>
          <p:cNvSpPr/>
          <p:nvPr/>
        </p:nvSpPr>
        <p:spPr>
          <a:xfrm>
            <a:off x="3644891" y="30733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3740141" y="3168642"/>
            <a:ext cx="190500" cy="190500"/>
          </a:xfrm>
          <a:prstGeom prst="rect">
            <a:avLst/>
          </a:prstGeom>
        </p:spPr>
      </p:pic>
      <p:sp>
        <p:nvSpPr>
          <p:cNvPr id="15" name="Text 11"/>
          <p:cNvSpPr txBox="1"/>
          <p:nvPr/>
        </p:nvSpPr>
        <p:spPr>
          <a:xfrm>
            <a:off x="3644891"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Data en doelgroep</a:t>
            </a:r>
            <a:endParaRPr lang="en-US" sz="1350" dirty="0"/>
          </a:p>
        </p:txBody>
      </p:sp>
      <p:sp>
        <p:nvSpPr>
          <p:cNvPr id="16" name="Text 12"/>
          <p:cNvSpPr txBox="1"/>
          <p:nvPr/>
        </p:nvSpPr>
        <p:spPr>
          <a:xfrm>
            <a:off x="3644891"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Wij bouwen de bellijst op jullie ideale klant: retailers en webshops met een draaiende shop, lopende advertenties en budget. Die filtering hebben we onderweg flink aangescherpt.</a:t>
            </a:r>
            <a:endParaRPr lang="en-US" sz="950" dirty="0"/>
          </a:p>
        </p:txBody>
      </p:sp>
      <p:sp>
        <p:nvSpPr>
          <p:cNvPr id="17" name="Shape 13"/>
          <p:cNvSpPr/>
          <p:nvPr/>
        </p:nvSpPr>
        <p:spPr>
          <a:xfrm>
            <a:off x="6172185" y="2793993"/>
            <a:ext cx="2628893" cy="3238492"/>
          </a:xfrm>
          <a:prstGeom prst="roundRect">
            <a:avLst>
              <a:gd name="adj" fmla="val 3865"/>
            </a:avLst>
          </a:prstGeom>
          <a:solidFill>
            <a:srgbClr val="F8F4EB"/>
          </a:solidFill>
          <a:ln/>
        </p:spPr>
      </p:sp>
      <p:sp>
        <p:nvSpPr>
          <p:cNvPr id="18" name="Shape 14"/>
          <p:cNvSpPr/>
          <p:nvPr/>
        </p:nvSpPr>
        <p:spPr>
          <a:xfrm>
            <a:off x="6426184" y="3073392"/>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6521434" y="3168642"/>
            <a:ext cx="190500" cy="190500"/>
          </a:xfrm>
          <a:prstGeom prst="rect">
            <a:avLst/>
          </a:prstGeom>
        </p:spPr>
      </p:pic>
      <p:sp>
        <p:nvSpPr>
          <p:cNvPr id="20" name="Text 15"/>
          <p:cNvSpPr txBox="1"/>
          <p:nvPr/>
        </p:nvSpPr>
        <p:spPr>
          <a:xfrm>
            <a:off x="6426184"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Opvolging</a:t>
            </a:r>
            <a:endParaRPr lang="en-US" sz="1350" dirty="0"/>
          </a:p>
        </p:txBody>
      </p:sp>
      <p:sp>
        <p:nvSpPr>
          <p:cNvPr id="21" name="Text 16"/>
          <p:cNvSpPr txBox="1"/>
          <p:nvPr/>
        </p:nvSpPr>
        <p:spPr>
          <a:xfrm>
            <a:off x="6426184"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Terugbelafspraken komen echt terug in de bellijst en warme leads dragen we direct aan jullie over, met de reden en de context erbij.</a:t>
            </a:r>
            <a:endParaRPr lang="en-US" sz="950" dirty="0"/>
          </a:p>
        </p:txBody>
      </p:sp>
      <p:sp>
        <p:nvSpPr>
          <p:cNvPr id="22" name="Shape 17"/>
          <p:cNvSpPr/>
          <p:nvPr/>
        </p:nvSpPr>
        <p:spPr>
          <a:xfrm>
            <a:off x="8953478" y="2793993"/>
            <a:ext cx="2628893" cy="3238492"/>
          </a:xfrm>
          <a:prstGeom prst="roundRect">
            <a:avLst>
              <a:gd name="adj" fmla="val 3865"/>
            </a:avLst>
          </a:prstGeom>
          <a:solidFill>
            <a:srgbClr val="000000"/>
          </a:solidFill>
          <a:ln/>
        </p:spPr>
      </p:sp>
      <p:sp>
        <p:nvSpPr>
          <p:cNvPr id="23" name="Shape 18"/>
          <p:cNvSpPr/>
          <p:nvPr/>
        </p:nvSpPr>
        <p:spPr>
          <a:xfrm>
            <a:off x="9207477" y="3073392"/>
            <a:ext cx="380999" cy="380999"/>
          </a:xfrm>
          <a:prstGeom prst="roundRect">
            <a:avLst>
              <a:gd name="adj" fmla="val 23333"/>
            </a:avLst>
          </a:prstGeom>
          <a:solidFill>
            <a:srgbClr val="203C55"/>
          </a:solidFill>
          <a:ln/>
        </p:spPr>
      </p:sp>
      <p:pic>
        <p:nvPicPr>
          <p:cNvPr id="24" name="Image 3" descr="preencoded.png">    </p:cNvPr>
          <p:cNvPicPr>
            <a:picLocks noChangeAspect="1"/>
          </p:cNvPicPr>
          <p:nvPr/>
        </p:nvPicPr>
        <p:blipFill>
          <a:blip r:embed="rId4"/>
          <a:stretch>
            <a:fillRect/>
          </a:stretch>
        </p:blipFill>
        <p:spPr>
          <a:xfrm>
            <a:off x="9302727" y="3168642"/>
            <a:ext cx="190500" cy="190500"/>
          </a:xfrm>
          <a:prstGeom prst="rect">
            <a:avLst/>
          </a:prstGeom>
        </p:spPr>
      </p:pic>
      <p:sp>
        <p:nvSpPr>
          <p:cNvPr id="25" name="Text 19"/>
          <p:cNvSpPr txBox="1"/>
          <p:nvPr/>
        </p:nvSpPr>
        <p:spPr>
          <a:xfrm>
            <a:off x="9207477"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FFFFFF"/>
                </a:solidFill>
                <a:latin typeface="Arial" pitchFamily="34" charset="0"/>
                <a:ea typeface="Arial" pitchFamily="34" charset="-122"/>
                <a:cs typeface="Arial" pitchFamily="34" charset="-120"/>
              </a:rPr>
              <a:t>Gekwalificeerde afspraken</a:t>
            </a:r>
            <a:endParaRPr lang="en-US" sz="1350" dirty="0"/>
          </a:p>
        </p:txBody>
      </p:sp>
      <p:sp>
        <p:nvSpPr>
          <p:cNvPr id="26" name="Text 20"/>
          <p:cNvSpPr txBox="1"/>
          <p:nvPr/>
        </p:nvSpPr>
        <p:spPr>
          <a:xfrm>
            <a:off x="9207477"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C2C8D2"/>
                </a:solidFill>
                <a:latin typeface="Arial" pitchFamily="34" charset="0"/>
                <a:ea typeface="Arial" pitchFamily="34" charset="-122"/>
                <a:cs typeface="Arial" pitchFamily="34" charset="-120"/>
              </a:rPr>
              <a:t>Het resultaat waar we op sturen. Een afspraak staat pas als het bedrijf past, de interesse echt is en de juiste persoon aan tafel zit.</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Voorstel GrowOn Agency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4 / 15</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HOE EEN WERKPERIODE LOOPT</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Vier weken, van bellijst naar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afspraken</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 in de agenda.</a:t>
            </a:r>
            <a:endParaRPr lang="en-US" sz="3200" dirty="0"/>
          </a:p>
        </p:txBody>
      </p:sp>
      <p:sp>
        <p:nvSpPr>
          <p:cNvPr id="7" name="Shape 5"/>
          <p:cNvSpPr/>
          <p:nvPr/>
        </p:nvSpPr>
        <p:spPr>
          <a:xfrm>
            <a:off x="609598" y="2743193"/>
            <a:ext cx="304799" cy="304799"/>
          </a:xfrm>
          <a:prstGeom prst="ellipse">
            <a:avLst/>
          </a:prstGeom>
          <a:ln w="15240">
            <a:solidFill>
              <a:srgbClr val="38B6FF"/>
            </a:solidFill>
            <a:prstDash val="solid"/>
          </a:ln>
        </p:spPr>
      </p:sp>
      <p:sp>
        <p:nvSpPr>
          <p:cNvPr id="8" name="Text 6"/>
          <p:cNvSpPr txBox="1"/>
          <p:nvPr/>
        </p:nvSpPr>
        <p:spPr>
          <a:xfrm>
            <a:off x="609598"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1</a:t>
            </a:r>
            <a:endParaRPr lang="en-US" sz="1050" dirty="0"/>
          </a:p>
        </p:txBody>
      </p:sp>
      <p:sp>
        <p:nvSpPr>
          <p:cNvPr id="9" name="Shape 7"/>
          <p:cNvSpPr/>
          <p:nvPr/>
        </p:nvSpPr>
        <p:spPr>
          <a:xfrm>
            <a:off x="1015997" y="2895593"/>
            <a:ext cx="2349494" cy="0"/>
          </a:xfrm>
          <a:prstGeom prst="line">
            <a:avLst/>
          </a:prstGeom>
          <a:noFill/>
          <a:ln w="9525">
            <a:solidFill>
              <a:srgbClr val="38B6FF">
                <a:alpha val="40000"/>
              </a:srgbClr>
            </a:solidFill>
            <a:prstDash val="solid"/>
          </a:ln>
        </p:spPr>
      </p:sp>
      <p:sp>
        <p:nvSpPr>
          <p:cNvPr id="10" name="Text 8"/>
          <p:cNvSpPr txBox="1"/>
          <p:nvPr/>
        </p:nvSpPr>
        <p:spPr>
          <a:xfrm>
            <a:off x="609598"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Lijst klaarzetten</a:t>
            </a:r>
            <a:endParaRPr lang="en-US" sz="1250" dirty="0"/>
          </a:p>
        </p:txBody>
      </p:sp>
      <p:sp>
        <p:nvSpPr>
          <p:cNvPr id="11" name="Text 9"/>
          <p:cNvSpPr txBox="1"/>
          <p:nvPr/>
        </p:nvSpPr>
        <p:spPr>
          <a:xfrm>
            <a:off x="609598"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We zetten de lijst voor de periode klaar, gefilterd op draaiende webshop en lopende advertenties, met de terugbelafspraken uit de vorige periode bovenaan.</a:t>
            </a:r>
            <a:endParaRPr lang="en-US" sz="900" dirty="0"/>
          </a:p>
        </p:txBody>
      </p:sp>
      <p:sp>
        <p:nvSpPr>
          <p:cNvPr id="12" name="Shape 10"/>
          <p:cNvSpPr/>
          <p:nvPr/>
        </p:nvSpPr>
        <p:spPr>
          <a:xfrm>
            <a:off x="3416291" y="2743193"/>
            <a:ext cx="304799" cy="304799"/>
          </a:xfrm>
          <a:prstGeom prst="ellipse">
            <a:avLst/>
          </a:prstGeom>
          <a:ln w="15240">
            <a:solidFill>
              <a:srgbClr val="38B6FF"/>
            </a:solidFill>
            <a:prstDash val="solid"/>
          </a:ln>
        </p:spPr>
      </p:sp>
      <p:sp>
        <p:nvSpPr>
          <p:cNvPr id="13" name="Text 11"/>
          <p:cNvSpPr txBox="1"/>
          <p:nvPr/>
        </p:nvSpPr>
        <p:spPr>
          <a:xfrm>
            <a:off x="3416291"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2</a:t>
            </a:r>
            <a:endParaRPr lang="en-US" sz="1050" dirty="0"/>
          </a:p>
        </p:txBody>
      </p:sp>
      <p:sp>
        <p:nvSpPr>
          <p:cNvPr id="14" name="Shape 12"/>
          <p:cNvSpPr/>
          <p:nvPr/>
        </p:nvSpPr>
        <p:spPr>
          <a:xfrm>
            <a:off x="3822690" y="2895593"/>
            <a:ext cx="2349494" cy="0"/>
          </a:xfrm>
          <a:prstGeom prst="line">
            <a:avLst/>
          </a:prstGeom>
          <a:noFill/>
          <a:ln w="9525">
            <a:solidFill>
              <a:srgbClr val="38B6FF">
                <a:alpha val="40000"/>
              </a:srgbClr>
            </a:solidFill>
            <a:prstDash val="solid"/>
          </a:ln>
        </p:spPr>
      </p:sp>
      <p:sp>
        <p:nvSpPr>
          <p:cNvPr id="15" name="Text 13"/>
          <p:cNvSpPr txBox="1"/>
          <p:nvPr/>
        </p:nvSpPr>
        <p:spPr>
          <a:xfrm>
            <a:off x="3416291"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Bellen</a:t>
            </a:r>
            <a:endParaRPr lang="en-US" sz="1250" dirty="0"/>
          </a:p>
        </p:txBody>
      </p:sp>
      <p:sp>
        <p:nvSpPr>
          <p:cNvPr id="16" name="Text 14"/>
          <p:cNvSpPr txBox="1"/>
          <p:nvPr/>
        </p:nvSpPr>
        <p:spPr>
          <a:xfrm>
            <a:off x="3416291"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We bellen op de dagen en dagdelen die in onze data het beste werken. In retail zijn dat maandag en dinsdag, vrijdag juist niet.</a:t>
            </a:r>
            <a:endParaRPr lang="en-US" sz="900" dirty="0"/>
          </a:p>
        </p:txBody>
      </p:sp>
      <p:sp>
        <p:nvSpPr>
          <p:cNvPr id="17" name="Shape 15"/>
          <p:cNvSpPr/>
          <p:nvPr/>
        </p:nvSpPr>
        <p:spPr>
          <a:xfrm>
            <a:off x="6222984" y="2743193"/>
            <a:ext cx="304799" cy="304799"/>
          </a:xfrm>
          <a:prstGeom prst="ellipse">
            <a:avLst/>
          </a:prstGeom>
          <a:ln w="15240">
            <a:solidFill>
              <a:srgbClr val="38B6FF"/>
            </a:solidFill>
            <a:prstDash val="solid"/>
          </a:ln>
        </p:spPr>
      </p:sp>
      <p:sp>
        <p:nvSpPr>
          <p:cNvPr id="18" name="Text 16"/>
          <p:cNvSpPr txBox="1"/>
          <p:nvPr/>
        </p:nvSpPr>
        <p:spPr>
          <a:xfrm>
            <a:off x="6222984"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3</a:t>
            </a:r>
            <a:endParaRPr lang="en-US" sz="1050" dirty="0"/>
          </a:p>
        </p:txBody>
      </p:sp>
      <p:sp>
        <p:nvSpPr>
          <p:cNvPr id="19" name="Shape 17"/>
          <p:cNvSpPr/>
          <p:nvPr/>
        </p:nvSpPr>
        <p:spPr>
          <a:xfrm>
            <a:off x="6629383" y="2895593"/>
            <a:ext cx="2349494" cy="0"/>
          </a:xfrm>
          <a:prstGeom prst="line">
            <a:avLst/>
          </a:prstGeom>
          <a:noFill/>
          <a:ln w="9525">
            <a:solidFill>
              <a:srgbClr val="38B6FF">
                <a:alpha val="40000"/>
              </a:srgbClr>
            </a:solidFill>
            <a:prstDash val="solid"/>
          </a:ln>
        </p:spPr>
      </p:sp>
      <p:sp>
        <p:nvSpPr>
          <p:cNvPr id="20" name="Text 18"/>
          <p:cNvSpPr txBox="1"/>
          <p:nvPr/>
        </p:nvSpPr>
        <p:spPr>
          <a:xfrm>
            <a:off x="6222984"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Wekelijkse rapportage</a:t>
            </a:r>
            <a:endParaRPr lang="en-US" sz="1250" dirty="0"/>
          </a:p>
        </p:txBody>
      </p:sp>
      <p:sp>
        <p:nvSpPr>
          <p:cNvPr id="21" name="Text 19"/>
          <p:cNvSpPr txBox="1"/>
          <p:nvPr/>
        </p:nvSpPr>
        <p:spPr>
          <a:xfrm>
            <a:off x="6222984"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Elke week het rapport dat je nu ook krijgt: pogingen, gesproken bedrijven, warme uitkomsten, afspraken en wat we terughoren uit de markt.</a:t>
            </a:r>
            <a:endParaRPr lang="en-US" sz="900" dirty="0"/>
          </a:p>
        </p:txBody>
      </p:sp>
      <p:sp>
        <p:nvSpPr>
          <p:cNvPr id="22" name="Shape 20"/>
          <p:cNvSpPr/>
          <p:nvPr/>
        </p:nvSpPr>
        <p:spPr>
          <a:xfrm>
            <a:off x="9029677" y="2743193"/>
            <a:ext cx="304799" cy="304799"/>
          </a:xfrm>
          <a:prstGeom prst="ellipse">
            <a:avLst/>
          </a:prstGeom>
          <a:ln w="15240">
            <a:solidFill>
              <a:srgbClr val="38B6FF"/>
            </a:solidFill>
            <a:prstDash val="solid"/>
          </a:ln>
        </p:spPr>
      </p:sp>
      <p:sp>
        <p:nvSpPr>
          <p:cNvPr id="23" name="Text 21"/>
          <p:cNvSpPr txBox="1"/>
          <p:nvPr/>
        </p:nvSpPr>
        <p:spPr>
          <a:xfrm>
            <a:off x="9029677"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4</a:t>
            </a:r>
            <a:endParaRPr lang="en-US" sz="1050" dirty="0"/>
          </a:p>
        </p:txBody>
      </p:sp>
      <p:sp>
        <p:nvSpPr>
          <p:cNvPr id="24" name="Text 22"/>
          <p:cNvSpPr txBox="1"/>
          <p:nvPr/>
        </p:nvSpPr>
        <p:spPr>
          <a:xfrm>
            <a:off x="9029677"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Bijsturen</a:t>
            </a:r>
            <a:endParaRPr lang="en-US" sz="1250" dirty="0"/>
          </a:p>
        </p:txBody>
      </p:sp>
      <p:sp>
        <p:nvSpPr>
          <p:cNvPr id="25" name="Text 23"/>
          <p:cNvSpPr txBox="1"/>
          <p:nvPr/>
        </p:nvSpPr>
        <p:spPr>
          <a:xfrm>
            <a:off x="9029677"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Na elke periode kijken we samen naar de cijfers en bepalen we het aantal beldagen voor de volgende.</a:t>
            </a:r>
            <a:endParaRPr lang="en-US" sz="900" dirty="0"/>
          </a:p>
        </p:txBody>
      </p:sp>
      <p:sp>
        <p:nvSpPr>
          <p:cNvPr id="26" name="Shape 24"/>
          <p:cNvSpPr/>
          <p:nvPr/>
        </p:nvSpPr>
        <p:spPr>
          <a:xfrm>
            <a:off x="609598" y="4711688"/>
            <a:ext cx="10972773" cy="1320797"/>
          </a:xfrm>
          <a:prstGeom prst="roundRect">
            <a:avLst>
              <a:gd name="adj" fmla="val 7692"/>
            </a:avLst>
          </a:prstGeom>
          <a:solidFill>
            <a:srgbClr val="1B2130"/>
          </a:solidFill>
          <a:ln w="9525">
            <a:solidFill>
              <a:srgbClr val="3A4152"/>
            </a:solidFill>
            <a:prstDash val="solid"/>
          </a:ln>
        </p:spPr>
      </p:sp>
      <p:sp>
        <p:nvSpPr>
          <p:cNvPr id="27" name="Text 25"/>
          <p:cNvSpPr txBox="1"/>
          <p:nvPr/>
        </p:nvSpPr>
        <p:spPr>
          <a:xfrm>
            <a:off x="914398" y="4927588"/>
            <a:ext cx="5079987" cy="228599"/>
          </a:xfrm>
          <a:prstGeom prst="rect">
            <a:avLst/>
          </a:prstGeom>
          <a:noFill/>
          <a:ln/>
        </p:spPr>
        <p:txBody>
          <a:bodyPr wrap="square" lIns="0" tIns="0" rIns="0" bIns="0" rtlCol="0" anchor="ctr"/>
          <a:lstStyle/>
          <a:p>
            <a:pPr indent="0" marL="0">
              <a:buNone/>
            </a:pPr>
            <a:r>
              <a:rPr lang="en-US" sz="1150" b="1" dirty="0">
                <a:solidFill>
                  <a:srgbClr val="F2EFE6"/>
                </a:solidFill>
                <a:latin typeface="Arial" pitchFamily="34" charset="0"/>
                <a:ea typeface="Arial" pitchFamily="34" charset="-122"/>
                <a:cs typeface="Arial" pitchFamily="34" charset="-120"/>
              </a:rPr>
              <a:t>Wat jullie ontvangen</a:t>
            </a:r>
            <a:endParaRPr lang="en-US" sz="1150" dirty="0"/>
          </a:p>
        </p:txBody>
      </p:sp>
      <p:pic>
        <p:nvPicPr>
          <p:cNvPr id="28" name="Image 0" descr="preencoded.png">    </p:cNvPr>
          <p:cNvPicPr>
            <a:picLocks noChangeAspect="1"/>
          </p:cNvPicPr>
          <p:nvPr/>
        </p:nvPicPr>
        <p:blipFill>
          <a:blip r:embed="rId1"/>
          <a:stretch>
            <a:fillRect/>
          </a:stretch>
        </p:blipFill>
        <p:spPr>
          <a:xfrm>
            <a:off x="914398" y="5314937"/>
            <a:ext cx="139700" cy="139700"/>
          </a:xfrm>
          <a:prstGeom prst="rect">
            <a:avLst/>
          </a:prstGeom>
        </p:spPr>
      </p:pic>
      <p:sp>
        <p:nvSpPr>
          <p:cNvPr id="29" name="Text 26"/>
          <p:cNvSpPr txBox="1"/>
          <p:nvPr/>
        </p:nvSpPr>
        <p:spPr>
          <a:xfrm>
            <a:off x="1142997" y="5295887"/>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Afspraak in de agenda met bedrijfsinfo, contactpersoon en aanleiding</a:t>
            </a:r>
            <a:endParaRPr lang="en-US" sz="950" dirty="0"/>
          </a:p>
        </p:txBody>
      </p:sp>
      <p:pic>
        <p:nvPicPr>
          <p:cNvPr id="30" name="Image 1" descr="preencoded.png">    </p:cNvPr>
          <p:cNvPicPr>
            <a:picLocks noChangeAspect="1"/>
          </p:cNvPicPr>
          <p:nvPr/>
        </p:nvPicPr>
        <p:blipFill>
          <a:blip r:embed="rId2"/>
          <a:stretch>
            <a:fillRect/>
          </a:stretch>
        </p:blipFill>
        <p:spPr>
          <a:xfrm>
            <a:off x="6400784" y="5314937"/>
            <a:ext cx="139700" cy="139700"/>
          </a:xfrm>
          <a:prstGeom prst="rect">
            <a:avLst/>
          </a:prstGeom>
        </p:spPr>
      </p:pic>
      <p:sp>
        <p:nvSpPr>
          <p:cNvPr id="31" name="Text 27"/>
          <p:cNvSpPr txBox="1"/>
          <p:nvPr/>
        </p:nvSpPr>
        <p:spPr>
          <a:xfrm>
            <a:off x="6629383" y="5295887"/>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Bevestiging naar de prospect uit jullie naam</a:t>
            </a:r>
            <a:endParaRPr lang="en-US" sz="950" dirty="0"/>
          </a:p>
        </p:txBody>
      </p:sp>
      <p:pic>
        <p:nvPicPr>
          <p:cNvPr id="32" name="Image 2" descr="preencoded.png">    </p:cNvPr>
          <p:cNvPicPr>
            <a:picLocks noChangeAspect="1"/>
          </p:cNvPicPr>
          <p:nvPr/>
        </p:nvPicPr>
        <p:blipFill>
          <a:blip r:embed="rId3"/>
          <a:stretch>
            <a:fillRect/>
          </a:stretch>
        </p:blipFill>
        <p:spPr>
          <a:xfrm>
            <a:off x="914398" y="5619736"/>
            <a:ext cx="139700" cy="139700"/>
          </a:xfrm>
          <a:prstGeom prst="rect">
            <a:avLst/>
          </a:prstGeom>
        </p:spPr>
      </p:pic>
      <p:sp>
        <p:nvSpPr>
          <p:cNvPr id="33" name="Text 28"/>
          <p:cNvSpPr txBox="1"/>
          <p:nvPr/>
        </p:nvSpPr>
        <p:spPr>
          <a:xfrm>
            <a:off x="1142997" y="5600686"/>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Wekelijks rapport in PDF plus alle gespreksnotities</a:t>
            </a:r>
            <a:endParaRPr lang="en-US" sz="950" dirty="0"/>
          </a:p>
        </p:txBody>
      </p:sp>
      <p:pic>
        <p:nvPicPr>
          <p:cNvPr id="34" name="Image 3" descr="preencoded.png">    </p:cNvPr>
          <p:cNvPicPr>
            <a:picLocks noChangeAspect="1"/>
          </p:cNvPicPr>
          <p:nvPr/>
        </p:nvPicPr>
        <p:blipFill>
          <a:blip r:embed="rId4"/>
          <a:stretch>
            <a:fillRect/>
          </a:stretch>
        </p:blipFill>
        <p:spPr>
          <a:xfrm>
            <a:off x="6400784" y="5619736"/>
            <a:ext cx="139700" cy="139700"/>
          </a:xfrm>
          <a:prstGeom prst="rect">
            <a:avLst/>
          </a:prstGeom>
        </p:spPr>
      </p:pic>
      <p:sp>
        <p:nvSpPr>
          <p:cNvPr id="35" name="Text 29"/>
          <p:cNvSpPr txBox="1"/>
          <p:nvPr/>
        </p:nvSpPr>
        <p:spPr>
          <a:xfrm>
            <a:off x="6629383" y="5600686"/>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Een vast aanspreekpunt</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Voorstel GrowOn Agency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5 / 15</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WIJ EEN GEKWALIFICEERDE AFSPRAAK NOEMEN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Geen afspraak om de afspraak.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Drie eisen</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3536941" cy="2476494"/>
          </a:xfrm>
          <a:prstGeom prst="roundRect">
            <a:avLst>
              <a:gd name="adj" fmla="val 4103"/>
            </a:avLst>
          </a:prstGeom>
          <a:solidFill>
            <a:srgbClr val="F8F4EB"/>
          </a:solidFill>
          <a:ln/>
        </p:spPr>
      </p:sp>
      <p:sp>
        <p:nvSpPr>
          <p:cNvPr id="8" name="Shape 6"/>
          <p:cNvSpPr/>
          <p:nvPr/>
        </p:nvSpPr>
        <p:spPr>
          <a:xfrm>
            <a:off x="914398" y="31241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1009647" y="3219442"/>
            <a:ext cx="190500" cy="190500"/>
          </a:xfrm>
          <a:prstGeom prst="rect">
            <a:avLst/>
          </a:prstGeom>
        </p:spPr>
      </p:pic>
      <p:sp>
        <p:nvSpPr>
          <p:cNvPr id="10" name="Text 7"/>
          <p:cNvSpPr txBox="1"/>
          <p:nvPr/>
        </p:nvSpPr>
        <p:spPr>
          <a:xfrm>
            <a:off x="914398"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Fit</a:t>
            </a:r>
            <a:endParaRPr lang="en-US" sz="1600" dirty="0"/>
          </a:p>
        </p:txBody>
      </p:sp>
      <p:sp>
        <p:nvSpPr>
          <p:cNvPr id="11" name="Text 8"/>
          <p:cNvSpPr txBox="1"/>
          <p:nvPr/>
        </p:nvSpPr>
        <p:spPr>
          <a:xfrm>
            <a:off x="914398"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Het bedrijf past: een draaiende webshop of winkel met advertentiebudget, precies het profiel waar de afspraken tot nu toe uit kwamen.</a:t>
            </a:r>
            <a:endParaRPr lang="en-US" sz="1050" dirty="0"/>
          </a:p>
        </p:txBody>
      </p:sp>
      <p:sp>
        <p:nvSpPr>
          <p:cNvPr id="12" name="Shape 9"/>
          <p:cNvSpPr/>
          <p:nvPr/>
        </p:nvSpPr>
        <p:spPr>
          <a:xfrm>
            <a:off x="4324339" y="2793993"/>
            <a:ext cx="3536941" cy="2476494"/>
          </a:xfrm>
          <a:prstGeom prst="roundRect">
            <a:avLst>
              <a:gd name="adj" fmla="val 4103"/>
            </a:avLst>
          </a:prstGeom>
          <a:solidFill>
            <a:srgbClr val="F8F4EB"/>
          </a:solidFill>
          <a:ln/>
        </p:spPr>
      </p:sp>
      <p:sp>
        <p:nvSpPr>
          <p:cNvPr id="13" name="Shape 10"/>
          <p:cNvSpPr/>
          <p:nvPr/>
        </p:nvSpPr>
        <p:spPr>
          <a:xfrm>
            <a:off x="4629138" y="31241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4724388" y="3219442"/>
            <a:ext cx="190500" cy="190500"/>
          </a:xfrm>
          <a:prstGeom prst="rect">
            <a:avLst/>
          </a:prstGeom>
        </p:spPr>
      </p:pic>
      <p:sp>
        <p:nvSpPr>
          <p:cNvPr id="15" name="Text 11"/>
          <p:cNvSpPr txBox="1"/>
          <p:nvPr/>
        </p:nvSpPr>
        <p:spPr>
          <a:xfrm>
            <a:off x="4629138"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Interesse</a:t>
            </a:r>
            <a:endParaRPr lang="en-US" sz="1600" dirty="0"/>
          </a:p>
        </p:txBody>
      </p:sp>
      <p:sp>
        <p:nvSpPr>
          <p:cNvPr id="16" name="Text 12"/>
          <p:cNvSpPr txBox="1"/>
          <p:nvPr/>
        </p:nvSpPr>
        <p:spPr>
          <a:xfrm>
            <a:off x="4629138"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Er is een concrete aanleiding: ontevreden over het huidige bureau, een contract dat afloopt, of advertenties die stilliggen terwijl het budget er wel is.</a:t>
            </a:r>
            <a:endParaRPr lang="en-US" sz="1050" dirty="0"/>
          </a:p>
        </p:txBody>
      </p:sp>
      <p:sp>
        <p:nvSpPr>
          <p:cNvPr id="17" name="Shape 13"/>
          <p:cNvSpPr/>
          <p:nvPr/>
        </p:nvSpPr>
        <p:spPr>
          <a:xfrm>
            <a:off x="8039080" y="2793993"/>
            <a:ext cx="3536941" cy="2476494"/>
          </a:xfrm>
          <a:prstGeom prst="roundRect">
            <a:avLst>
              <a:gd name="adj" fmla="val 4103"/>
            </a:avLst>
          </a:prstGeom>
          <a:solidFill>
            <a:srgbClr val="F8F4EB"/>
          </a:solidFill>
          <a:ln/>
        </p:spPr>
      </p:sp>
      <p:sp>
        <p:nvSpPr>
          <p:cNvPr id="18" name="Shape 14"/>
          <p:cNvSpPr/>
          <p:nvPr/>
        </p:nvSpPr>
        <p:spPr>
          <a:xfrm>
            <a:off x="8343879" y="3124192"/>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8439129" y="3219442"/>
            <a:ext cx="190500" cy="190500"/>
          </a:xfrm>
          <a:prstGeom prst="rect">
            <a:avLst/>
          </a:prstGeom>
        </p:spPr>
      </p:pic>
      <p:sp>
        <p:nvSpPr>
          <p:cNvPr id="20" name="Text 15"/>
          <p:cNvSpPr txBox="1"/>
          <p:nvPr/>
        </p:nvSpPr>
        <p:spPr>
          <a:xfrm>
            <a:off x="8343879"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Beslisser</a:t>
            </a:r>
            <a:endParaRPr lang="en-US" sz="1600" dirty="0"/>
          </a:p>
        </p:txBody>
      </p:sp>
      <p:sp>
        <p:nvSpPr>
          <p:cNvPr id="21" name="Text 16"/>
          <p:cNvSpPr txBox="1"/>
          <p:nvPr/>
        </p:nvSpPr>
        <p:spPr>
          <a:xfrm>
            <a:off x="8343879"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De afspraak staat met de eigenaar of de marketingverantwoordelijke. In retail is dat vaak dezelfde persoon.</a:t>
            </a:r>
            <a:endParaRPr lang="en-US" sz="1050" dirty="0"/>
          </a:p>
        </p:txBody>
      </p:sp>
      <p:sp>
        <p:nvSpPr>
          <p:cNvPr id="22" name="Shape 17"/>
          <p:cNvSpPr/>
          <p:nvPr/>
        </p:nvSpPr>
        <p:spPr>
          <a:xfrm>
            <a:off x="609598" y="5854685"/>
            <a:ext cx="76200" cy="76200"/>
          </a:xfrm>
          <a:prstGeom prst="ellipse">
            <a:avLst/>
          </a:prstGeom>
          <a:solidFill>
            <a:srgbClr val="38B6FF"/>
          </a:solidFill>
          <a:ln/>
        </p:spPr>
      </p:sp>
      <p:sp>
        <p:nvSpPr>
          <p:cNvPr id="23" name="Text 18"/>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Ontevredenheid over de huidige partner is veruit de sterkste ingang. Bij de start van werkperiode 4 scherpen we deze drie eisen samen aan op wat de pilot heeft laten zien, zodat we allebei hetzelfde bedoelen met een goede afspraak.</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Voorstel GrowOn Agency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6 / 15</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DE PILOT HEEFT OPGELEVERD</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Negen belweken,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geen gevoel maar gemeten</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30493"/>
            <a:ext cx="2628893" cy="2222494"/>
          </a:xfrm>
          <a:prstGeom prst="roundRect">
            <a:avLst>
              <a:gd name="adj" fmla="val 4571"/>
            </a:avLst>
          </a:prstGeom>
          <a:solidFill>
            <a:srgbClr val="F8F4EB"/>
          </a:solidFill>
          <a:ln/>
        </p:spPr>
      </p:sp>
      <p:sp>
        <p:nvSpPr>
          <p:cNvPr id="8" name="Text 6"/>
          <p:cNvSpPr txBox="1"/>
          <p:nvPr/>
        </p:nvSpPr>
        <p:spPr>
          <a:xfrm>
            <a:off x="850898" y="2997193"/>
            <a:ext cx="2146295" cy="507999"/>
          </a:xfrm>
          <a:prstGeom prst="rect">
            <a:avLst/>
          </a:prstGeom>
          <a:noFill/>
          <a:ln/>
        </p:spPr>
        <p:txBody>
          <a:bodyPr wrap="square" lIns="0" tIns="0" rIns="0" bIns="0" rtlCol="0" anchor="ctr"/>
          <a:lstStyle/>
          <a:p>
            <a:pPr indent="0" marL="0">
              <a:buNone/>
            </a:pPr>
            <a:r>
              <a:rPr lang="en-US" sz="3600" b="1" dirty="0">
                <a:solidFill>
                  <a:srgbClr val="1C2230"/>
                </a:solidFill>
                <a:latin typeface="Arial" pitchFamily="34" charset="0"/>
                <a:ea typeface="Arial" pitchFamily="34" charset="-122"/>
                <a:cs typeface="Arial" pitchFamily="34" charset="-120"/>
              </a:rPr>
              <a:t>1.213</a:t>
            </a:r>
            <a:endParaRPr lang="en-US" sz="3600" dirty="0"/>
          </a:p>
        </p:txBody>
      </p:sp>
      <p:sp>
        <p:nvSpPr>
          <p:cNvPr id="9" name="Text 7"/>
          <p:cNvSpPr txBox="1"/>
          <p:nvPr/>
        </p:nvSpPr>
        <p:spPr>
          <a:xfrm>
            <a:off x="850898"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CONTACTPOGINGEN</a:t>
            </a:r>
            <a:endParaRPr lang="en-US" sz="900" dirty="0"/>
          </a:p>
        </p:txBody>
      </p:sp>
      <p:sp>
        <p:nvSpPr>
          <p:cNvPr id="10" name="Text 8"/>
          <p:cNvSpPr txBox="1"/>
          <p:nvPr/>
        </p:nvSpPr>
        <p:spPr>
          <a:xfrm>
            <a:off x="850898"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Over negen gebelde weken, van week 32 tot en met week 41.</a:t>
            </a:r>
            <a:endParaRPr lang="en-US" sz="950" dirty="0"/>
          </a:p>
        </p:txBody>
      </p:sp>
      <p:sp>
        <p:nvSpPr>
          <p:cNvPr id="11" name="Shape 9"/>
          <p:cNvSpPr/>
          <p:nvPr/>
        </p:nvSpPr>
        <p:spPr>
          <a:xfrm>
            <a:off x="3390892" y="2730493"/>
            <a:ext cx="2628893" cy="2222494"/>
          </a:xfrm>
          <a:prstGeom prst="roundRect">
            <a:avLst>
              <a:gd name="adj" fmla="val 4571"/>
            </a:avLst>
          </a:prstGeom>
          <a:solidFill>
            <a:srgbClr val="F8F4EB"/>
          </a:solidFill>
          <a:ln/>
        </p:spPr>
      </p:sp>
      <p:sp>
        <p:nvSpPr>
          <p:cNvPr id="12" name="Text 10"/>
          <p:cNvSpPr txBox="1"/>
          <p:nvPr/>
        </p:nvSpPr>
        <p:spPr>
          <a:xfrm>
            <a:off x="3632191" y="2997193"/>
            <a:ext cx="2146295" cy="507999"/>
          </a:xfrm>
          <a:prstGeom prst="rect">
            <a:avLst/>
          </a:prstGeom>
          <a:noFill/>
          <a:ln/>
        </p:spPr>
        <p:txBody>
          <a:bodyPr wrap="square" lIns="0" tIns="0" rIns="0" bIns="0" rtlCol="0" anchor="ctr"/>
          <a:lstStyle/>
          <a:p>
            <a:pPr indent="0" marL="0">
              <a:buNone/>
            </a:pPr>
            <a:r>
              <a:rPr lang="en-US" sz="3600" b="1" dirty="0">
                <a:solidFill>
                  <a:srgbClr val="1C2230"/>
                </a:solidFill>
                <a:latin typeface="Arial" pitchFamily="34" charset="0"/>
                <a:ea typeface="Arial" pitchFamily="34" charset="-122"/>
                <a:cs typeface="Arial" pitchFamily="34" charset="-120"/>
              </a:rPr>
              <a:t>722</a:t>
            </a:r>
            <a:endParaRPr lang="en-US" sz="3600" dirty="0"/>
          </a:p>
        </p:txBody>
      </p:sp>
      <p:sp>
        <p:nvSpPr>
          <p:cNvPr id="13" name="Text 11"/>
          <p:cNvSpPr txBox="1"/>
          <p:nvPr/>
        </p:nvSpPr>
        <p:spPr>
          <a:xfrm>
            <a:off x="3632191"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BEDRIJVEN GESPROKEN</a:t>
            </a:r>
            <a:endParaRPr lang="en-US" sz="900" dirty="0"/>
          </a:p>
        </p:txBody>
      </p:sp>
      <p:sp>
        <p:nvSpPr>
          <p:cNvPr id="14" name="Text 12"/>
          <p:cNvSpPr txBox="1"/>
          <p:nvPr/>
        </p:nvSpPr>
        <p:spPr>
          <a:xfrm>
            <a:off x="3632191"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Zes van de tien pogingen leverden de juiste persoon aan de lijn op.</a:t>
            </a:r>
            <a:endParaRPr lang="en-US" sz="950" dirty="0"/>
          </a:p>
        </p:txBody>
      </p:sp>
      <p:sp>
        <p:nvSpPr>
          <p:cNvPr id="15" name="Shape 13"/>
          <p:cNvSpPr/>
          <p:nvPr/>
        </p:nvSpPr>
        <p:spPr>
          <a:xfrm>
            <a:off x="6172185" y="2730493"/>
            <a:ext cx="2628893" cy="2222494"/>
          </a:xfrm>
          <a:prstGeom prst="roundRect">
            <a:avLst>
              <a:gd name="adj" fmla="val 4571"/>
            </a:avLst>
          </a:prstGeom>
          <a:solidFill>
            <a:srgbClr val="F8F4EB"/>
          </a:solidFill>
          <a:ln/>
        </p:spPr>
      </p:sp>
      <p:sp>
        <p:nvSpPr>
          <p:cNvPr id="16" name="Text 14"/>
          <p:cNvSpPr txBox="1"/>
          <p:nvPr/>
        </p:nvSpPr>
        <p:spPr>
          <a:xfrm>
            <a:off x="6413484" y="2997193"/>
            <a:ext cx="2146295" cy="507999"/>
          </a:xfrm>
          <a:prstGeom prst="rect">
            <a:avLst/>
          </a:prstGeom>
          <a:noFill/>
          <a:ln/>
        </p:spPr>
        <p:txBody>
          <a:bodyPr wrap="square" lIns="0" tIns="0" rIns="0" bIns="0" rtlCol="0" anchor="ctr"/>
          <a:lstStyle/>
          <a:p>
            <a:pPr indent="0" marL="0">
              <a:buNone/>
            </a:pPr>
            <a:r>
              <a:rPr lang="en-US" sz="3600" b="1" dirty="0">
                <a:solidFill>
                  <a:srgbClr val="1C2230"/>
                </a:solidFill>
                <a:latin typeface="Arial" pitchFamily="34" charset="0"/>
                <a:ea typeface="Arial" pitchFamily="34" charset="-122"/>
                <a:cs typeface="Arial" pitchFamily="34" charset="-120"/>
              </a:rPr>
              <a:t>290</a:t>
            </a:r>
            <a:endParaRPr lang="en-US" sz="3600" dirty="0"/>
          </a:p>
        </p:txBody>
      </p:sp>
      <p:sp>
        <p:nvSpPr>
          <p:cNvPr id="17" name="Text 15"/>
          <p:cNvSpPr txBox="1"/>
          <p:nvPr/>
        </p:nvSpPr>
        <p:spPr>
          <a:xfrm>
            <a:off x="6413484"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TERUGBELAFSPRAKEN</a:t>
            </a:r>
            <a:endParaRPr lang="en-US" sz="900" dirty="0"/>
          </a:p>
        </p:txBody>
      </p:sp>
      <p:sp>
        <p:nvSpPr>
          <p:cNvPr id="18" name="Text 16"/>
          <p:cNvSpPr txBox="1"/>
          <p:nvPr/>
        </p:nvSpPr>
        <p:spPr>
          <a:xfrm>
            <a:off x="6413484"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Concrete vervolgmomenten die we hebben vastgelegd en opvolgen.</a:t>
            </a:r>
            <a:endParaRPr lang="en-US" sz="950" dirty="0"/>
          </a:p>
        </p:txBody>
      </p:sp>
      <p:sp>
        <p:nvSpPr>
          <p:cNvPr id="19" name="Shape 17"/>
          <p:cNvSpPr/>
          <p:nvPr/>
        </p:nvSpPr>
        <p:spPr>
          <a:xfrm>
            <a:off x="8953478" y="2730493"/>
            <a:ext cx="2628893" cy="2222494"/>
          </a:xfrm>
          <a:prstGeom prst="roundRect">
            <a:avLst>
              <a:gd name="adj" fmla="val 4571"/>
            </a:avLst>
          </a:prstGeom>
          <a:solidFill>
            <a:srgbClr val="000000"/>
          </a:solidFill>
          <a:ln/>
        </p:spPr>
      </p:sp>
      <p:sp>
        <p:nvSpPr>
          <p:cNvPr id="20" name="Text 18"/>
          <p:cNvSpPr txBox="1"/>
          <p:nvPr/>
        </p:nvSpPr>
        <p:spPr>
          <a:xfrm>
            <a:off x="9194777" y="2997193"/>
            <a:ext cx="2146295" cy="507999"/>
          </a:xfrm>
          <a:prstGeom prst="rect">
            <a:avLst/>
          </a:prstGeom>
          <a:noFill/>
          <a:ln/>
        </p:spPr>
        <p:txBody>
          <a:bodyPr wrap="square" lIns="0" tIns="0" rIns="0" bIns="0" rtlCol="0" anchor="ctr"/>
          <a:lstStyle/>
          <a:p>
            <a:pPr indent="0" marL="0">
              <a:buNone/>
            </a:pPr>
            <a:r>
              <a:rPr lang="en-US" sz="3600" b="1" dirty="0">
                <a:solidFill>
                  <a:srgbClr val="38B6FF"/>
                </a:solidFill>
                <a:latin typeface="Arial" pitchFamily="34" charset="0"/>
                <a:ea typeface="Arial" pitchFamily="34" charset="-122"/>
                <a:cs typeface="Arial" pitchFamily="34" charset="-120"/>
              </a:rPr>
              <a:t>24</a:t>
            </a:r>
            <a:endParaRPr lang="en-US" sz="3600" dirty="0"/>
          </a:p>
        </p:txBody>
      </p:sp>
      <p:sp>
        <p:nvSpPr>
          <p:cNvPr id="21" name="Text 19"/>
          <p:cNvSpPr txBox="1"/>
          <p:nvPr/>
        </p:nvSpPr>
        <p:spPr>
          <a:xfrm>
            <a:off x="9194777"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AFSPRAKEN EN OVERDRACHTEN</a:t>
            </a:r>
            <a:endParaRPr lang="en-US" sz="900" dirty="0"/>
          </a:p>
        </p:txBody>
      </p:sp>
      <p:sp>
        <p:nvSpPr>
          <p:cNvPr id="22" name="Text 20"/>
          <p:cNvSpPr txBox="1"/>
          <p:nvPr/>
        </p:nvSpPr>
        <p:spPr>
          <a:xfrm>
            <a:off x="9194777"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C2C8D2"/>
                </a:solidFill>
                <a:latin typeface="Arial" pitchFamily="34" charset="0"/>
                <a:ea typeface="Arial" pitchFamily="34" charset="-122"/>
                <a:cs typeface="Arial" pitchFamily="34" charset="-120"/>
              </a:rPr>
              <a:t>Eenentwintig staan er, drie komen er nog bij voor 25 oktober. Gemiddeld een op de 51 pogingen.</a:t>
            </a:r>
            <a:endParaRPr lang="en-US" sz="950" dirty="0"/>
          </a:p>
        </p:txBody>
      </p:sp>
      <p:sp>
        <p:nvSpPr>
          <p:cNvPr id="23" name="Shape 21"/>
          <p:cNvSpPr/>
          <p:nvPr/>
        </p:nvSpPr>
        <p:spPr>
          <a:xfrm>
            <a:off x="609598" y="5854685"/>
            <a:ext cx="76200" cy="76200"/>
          </a:xfrm>
          <a:prstGeom prst="ellipse">
            <a:avLst/>
          </a:prstGeom>
          <a:solidFill>
            <a:srgbClr val="38B6FF"/>
          </a:solidFill>
          <a:ln/>
        </p:spPr>
      </p:sp>
      <p:sp>
        <p:nvSpPr>
          <p:cNvPr id="24" name="Text 22"/>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Alle cijfers komen uit de wekelijkse rapportages die je elke week hebt ontvangen. Niets opgehoogd, niets weggelaten.</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Voorstel GrowOn Agency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7 / 15</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HET VERLOOP</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Hoe langer we bellen,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hoe meer er uit komt</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666993"/>
            <a:ext cx="10972773" cy="2355844"/>
          </a:xfrm>
          <a:prstGeom prst="roundRect">
            <a:avLst>
              <a:gd name="adj" fmla="val 4313"/>
            </a:avLst>
          </a:prstGeom>
          <a:ln w="9525">
            <a:solidFill>
              <a:srgbClr val="3A4152"/>
            </a:solidFill>
            <a:prstDash val="solid"/>
          </a:ln>
        </p:spPr>
      </p:sp>
      <p:sp>
        <p:nvSpPr>
          <p:cNvPr id="8" name="Text 6"/>
          <p:cNvSpPr txBox="1"/>
          <p:nvPr/>
        </p:nvSpPr>
        <p:spPr>
          <a:xfrm>
            <a:off x="888998" y="2666993"/>
            <a:ext cx="2920993" cy="469899"/>
          </a:xfrm>
          <a:prstGeom prst="rect">
            <a:avLst/>
          </a:prstGeom>
          <a:noFill/>
          <a:ln/>
        </p:spPr>
        <p:txBody>
          <a:bodyPr wrap="square" lIns="0" tIns="0" rIns="0" bIns="0" rtlCol="0" anchor="ctr"/>
          <a:lstStyle/>
          <a:p>
            <a:pPr indent="0" marL="0">
              <a:buNone/>
            </a:pPr>
            <a:r>
              <a:rPr lang="en-US" sz="800" b="1" spc="160" kern="0" dirty="0">
                <a:solidFill>
                  <a:srgbClr val="C2C8D2"/>
                </a:solidFill>
                <a:latin typeface="Arial" pitchFamily="34" charset="0"/>
                <a:ea typeface="Arial" pitchFamily="34" charset="-122"/>
                <a:cs typeface="Arial" pitchFamily="34" charset="-120"/>
              </a:rPr>
              <a:t>WERKPERIODE</a:t>
            </a:r>
            <a:endParaRPr lang="en-US" sz="800" dirty="0"/>
          </a:p>
        </p:txBody>
      </p:sp>
      <p:sp>
        <p:nvSpPr>
          <p:cNvPr id="9" name="Text 7"/>
          <p:cNvSpPr txBox="1"/>
          <p:nvPr/>
        </p:nvSpPr>
        <p:spPr>
          <a:xfrm>
            <a:off x="3886190" y="2666993"/>
            <a:ext cx="2349494" cy="469899"/>
          </a:xfrm>
          <a:prstGeom prst="rect">
            <a:avLst/>
          </a:prstGeom>
          <a:noFill/>
          <a:ln/>
        </p:spPr>
        <p:txBody>
          <a:bodyPr wrap="square" lIns="0" tIns="0" rIns="0" bIns="0" rtlCol="0" anchor="ctr"/>
          <a:lstStyle/>
          <a:p>
            <a:pPr indent="0" marL="0">
              <a:buNone/>
            </a:pPr>
            <a:r>
              <a:rPr lang="en-US" sz="800" b="1" spc="160" kern="0" dirty="0">
                <a:solidFill>
                  <a:srgbClr val="C2C8D2"/>
                </a:solidFill>
                <a:latin typeface="Arial" pitchFamily="34" charset="0"/>
                <a:ea typeface="Arial" pitchFamily="34" charset="-122"/>
                <a:cs typeface="Arial" pitchFamily="34" charset="-120"/>
              </a:rPr>
              <a:t>CONTACTPOGINGEN</a:t>
            </a:r>
            <a:endParaRPr lang="en-US" sz="800" dirty="0"/>
          </a:p>
        </p:txBody>
      </p:sp>
      <p:sp>
        <p:nvSpPr>
          <p:cNvPr id="10" name="Text 8"/>
          <p:cNvSpPr txBox="1"/>
          <p:nvPr/>
        </p:nvSpPr>
        <p:spPr>
          <a:xfrm>
            <a:off x="6324584" y="2666993"/>
            <a:ext cx="2349494" cy="469899"/>
          </a:xfrm>
          <a:prstGeom prst="rect">
            <a:avLst/>
          </a:prstGeom>
          <a:noFill/>
          <a:ln/>
        </p:spPr>
        <p:txBody>
          <a:bodyPr wrap="square" lIns="0" tIns="0" rIns="0" bIns="0" rtlCol="0" anchor="ctr"/>
          <a:lstStyle/>
          <a:p>
            <a:pPr indent="0" marL="0">
              <a:buNone/>
            </a:pPr>
            <a:r>
              <a:rPr lang="en-US" sz="800" b="1" spc="160" kern="0" dirty="0">
                <a:solidFill>
                  <a:srgbClr val="C2C8D2"/>
                </a:solidFill>
                <a:latin typeface="Arial" pitchFamily="34" charset="0"/>
                <a:ea typeface="Arial" pitchFamily="34" charset="-122"/>
                <a:cs typeface="Arial" pitchFamily="34" charset="-120"/>
              </a:rPr>
              <a:t>AFSPRAKEN</a:t>
            </a:r>
            <a:endParaRPr lang="en-US" sz="800" dirty="0"/>
          </a:p>
        </p:txBody>
      </p:sp>
      <p:sp>
        <p:nvSpPr>
          <p:cNvPr id="11" name="Text 9"/>
          <p:cNvSpPr txBox="1"/>
          <p:nvPr/>
        </p:nvSpPr>
        <p:spPr>
          <a:xfrm>
            <a:off x="8737578" y="2666993"/>
            <a:ext cx="2539994" cy="469899"/>
          </a:xfrm>
          <a:prstGeom prst="rect">
            <a:avLst/>
          </a:prstGeom>
          <a:noFill/>
          <a:ln/>
        </p:spPr>
        <p:txBody>
          <a:bodyPr wrap="square" lIns="0" tIns="0" rIns="0" bIns="0" rtlCol="0" anchor="ctr"/>
          <a:lstStyle/>
          <a:p>
            <a:pPr indent="0" marL="0">
              <a:buNone/>
            </a:pPr>
            <a:r>
              <a:rPr lang="en-US" sz="800" b="1" spc="160" kern="0" dirty="0">
                <a:solidFill>
                  <a:srgbClr val="C2C8D2"/>
                </a:solidFill>
                <a:latin typeface="Arial" pitchFamily="34" charset="0"/>
                <a:ea typeface="Arial" pitchFamily="34" charset="-122"/>
                <a:cs typeface="Arial" pitchFamily="34" charset="-120"/>
              </a:rPr>
              <a:t>PER 1.000 POGINGEN</a:t>
            </a:r>
            <a:endParaRPr lang="en-US" sz="800" dirty="0"/>
          </a:p>
        </p:txBody>
      </p:sp>
      <p:sp>
        <p:nvSpPr>
          <p:cNvPr id="12" name="Shape 10"/>
          <p:cNvSpPr/>
          <p:nvPr/>
        </p:nvSpPr>
        <p:spPr>
          <a:xfrm>
            <a:off x="609598" y="3136892"/>
            <a:ext cx="10972773" cy="0"/>
          </a:xfrm>
          <a:prstGeom prst="line">
            <a:avLst/>
          </a:prstGeom>
          <a:noFill/>
          <a:ln w="9525">
            <a:solidFill>
              <a:srgbClr val="3A4152"/>
            </a:solidFill>
            <a:prstDash val="solid"/>
          </a:ln>
        </p:spPr>
      </p:sp>
      <p:sp>
        <p:nvSpPr>
          <p:cNvPr id="13" name="Text 11"/>
          <p:cNvSpPr txBox="1"/>
          <p:nvPr/>
        </p:nvSpPr>
        <p:spPr>
          <a:xfrm>
            <a:off x="888998" y="3136892"/>
            <a:ext cx="2920993"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1 · week 32 t/m 35</a:t>
            </a:r>
            <a:endParaRPr lang="en-US" sz="1250" dirty="0"/>
          </a:p>
        </p:txBody>
      </p:sp>
      <p:sp>
        <p:nvSpPr>
          <p:cNvPr id="14" name="Text 12"/>
          <p:cNvSpPr txBox="1"/>
          <p:nvPr/>
        </p:nvSpPr>
        <p:spPr>
          <a:xfrm>
            <a:off x="3886190" y="3136892"/>
            <a:ext cx="23494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604</a:t>
            </a:r>
            <a:endParaRPr lang="en-US" sz="1250" dirty="0"/>
          </a:p>
        </p:txBody>
      </p:sp>
      <p:sp>
        <p:nvSpPr>
          <p:cNvPr id="15" name="Text 13"/>
          <p:cNvSpPr txBox="1"/>
          <p:nvPr/>
        </p:nvSpPr>
        <p:spPr>
          <a:xfrm>
            <a:off x="6324584" y="3136892"/>
            <a:ext cx="23494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10</a:t>
            </a:r>
            <a:endParaRPr lang="en-US" sz="1250" dirty="0"/>
          </a:p>
        </p:txBody>
      </p:sp>
      <p:sp>
        <p:nvSpPr>
          <p:cNvPr id="16" name="Text 14"/>
          <p:cNvSpPr txBox="1"/>
          <p:nvPr/>
        </p:nvSpPr>
        <p:spPr>
          <a:xfrm>
            <a:off x="8737578" y="3136892"/>
            <a:ext cx="25399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17</a:t>
            </a:r>
            <a:endParaRPr lang="en-US" sz="1250" dirty="0"/>
          </a:p>
        </p:txBody>
      </p:sp>
      <p:sp>
        <p:nvSpPr>
          <p:cNvPr id="17" name="Shape 15"/>
          <p:cNvSpPr/>
          <p:nvPr/>
        </p:nvSpPr>
        <p:spPr>
          <a:xfrm>
            <a:off x="609598" y="3765541"/>
            <a:ext cx="10972773" cy="0"/>
          </a:xfrm>
          <a:prstGeom prst="line">
            <a:avLst/>
          </a:prstGeom>
          <a:noFill/>
          <a:ln w="9525">
            <a:solidFill>
              <a:srgbClr val="3A4152"/>
            </a:solidFill>
            <a:prstDash val="solid"/>
          </a:ln>
        </p:spPr>
      </p:sp>
      <p:sp>
        <p:nvSpPr>
          <p:cNvPr id="18" name="Text 16"/>
          <p:cNvSpPr txBox="1"/>
          <p:nvPr/>
        </p:nvSpPr>
        <p:spPr>
          <a:xfrm>
            <a:off x="888998" y="3765541"/>
            <a:ext cx="2920993"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2 · week 36 t/m 39</a:t>
            </a:r>
            <a:pPr indent="0" marL="0">
              <a:buNone/>
            </a:pPr>
            <a:r>
              <a:rPr lang="en-US" sz="1000" i="1" dirty="0">
                <a:solidFill>
                  <a:srgbClr val="38B6FF"/>
                </a:solidFill>
                <a:latin typeface="Georgia" pitchFamily="34" charset="0"/>
                <a:ea typeface="Georgia" pitchFamily="34" charset="-122"/>
                <a:cs typeface="Georgia" pitchFamily="34" charset="-120"/>
              </a:rPr>
              <a:t>   vakantie</a:t>
            </a:r>
            <a:endParaRPr lang="en-US" sz="1250" dirty="0"/>
          </a:p>
        </p:txBody>
      </p:sp>
      <p:sp>
        <p:nvSpPr>
          <p:cNvPr id="19" name="Text 17"/>
          <p:cNvSpPr txBox="1"/>
          <p:nvPr/>
        </p:nvSpPr>
        <p:spPr>
          <a:xfrm>
            <a:off x="3886190" y="3765541"/>
            <a:ext cx="23494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379</a:t>
            </a:r>
            <a:endParaRPr lang="en-US" sz="1250" dirty="0"/>
          </a:p>
        </p:txBody>
      </p:sp>
      <p:sp>
        <p:nvSpPr>
          <p:cNvPr id="20" name="Text 18"/>
          <p:cNvSpPr txBox="1"/>
          <p:nvPr/>
        </p:nvSpPr>
        <p:spPr>
          <a:xfrm>
            <a:off x="6324584" y="3765541"/>
            <a:ext cx="23494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6</a:t>
            </a:r>
            <a:endParaRPr lang="en-US" sz="1250" dirty="0"/>
          </a:p>
        </p:txBody>
      </p:sp>
      <p:sp>
        <p:nvSpPr>
          <p:cNvPr id="21" name="Text 19"/>
          <p:cNvSpPr txBox="1"/>
          <p:nvPr/>
        </p:nvSpPr>
        <p:spPr>
          <a:xfrm>
            <a:off x="8737578" y="3765541"/>
            <a:ext cx="25399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16</a:t>
            </a:r>
            <a:endParaRPr lang="en-US" sz="1250" dirty="0"/>
          </a:p>
        </p:txBody>
      </p:sp>
      <p:sp>
        <p:nvSpPr>
          <p:cNvPr id="22" name="Shape 20"/>
          <p:cNvSpPr/>
          <p:nvPr/>
        </p:nvSpPr>
        <p:spPr>
          <a:xfrm>
            <a:off x="615948" y="4394189"/>
            <a:ext cx="10960073" cy="628648"/>
          </a:xfrm>
          <a:prstGeom prst="rect">
            <a:avLst/>
          </a:prstGeom>
          <a:solidFill>
            <a:srgbClr val="38B6FF">
              <a:alpha val="11000"/>
            </a:srgbClr>
          </a:solidFill>
          <a:ln/>
        </p:spPr>
      </p:sp>
      <p:sp>
        <p:nvSpPr>
          <p:cNvPr id="23" name="Shape 21"/>
          <p:cNvSpPr/>
          <p:nvPr/>
        </p:nvSpPr>
        <p:spPr>
          <a:xfrm>
            <a:off x="609598" y="4394189"/>
            <a:ext cx="10972773" cy="0"/>
          </a:xfrm>
          <a:prstGeom prst="line">
            <a:avLst/>
          </a:prstGeom>
          <a:noFill/>
          <a:ln w="9525">
            <a:solidFill>
              <a:srgbClr val="3A4152"/>
            </a:solidFill>
            <a:prstDash val="solid"/>
          </a:ln>
        </p:spPr>
      </p:sp>
      <p:sp>
        <p:nvSpPr>
          <p:cNvPr id="24" name="Text 22"/>
          <p:cNvSpPr txBox="1"/>
          <p:nvPr/>
        </p:nvSpPr>
        <p:spPr>
          <a:xfrm>
            <a:off x="888998" y="4394189"/>
            <a:ext cx="2920993"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3 · week 40 t/m 43</a:t>
            </a:r>
            <a:pPr indent="0" marL="0">
              <a:buNone/>
            </a:pPr>
            <a:r>
              <a:rPr lang="en-US" sz="1000" i="1" dirty="0">
                <a:solidFill>
                  <a:srgbClr val="38B6FF"/>
                </a:solidFill>
                <a:latin typeface="Georgia" pitchFamily="34" charset="0"/>
                <a:ea typeface="Georgia" pitchFamily="34" charset="-122"/>
                <a:cs typeface="Georgia" pitchFamily="34" charset="-120"/>
              </a:rPr>
              <a:t>   loopt nog</a:t>
            </a:r>
            <a:endParaRPr lang="en-US" sz="1250" dirty="0"/>
          </a:p>
        </p:txBody>
      </p:sp>
      <p:sp>
        <p:nvSpPr>
          <p:cNvPr id="25" name="Text 23"/>
          <p:cNvSpPr txBox="1"/>
          <p:nvPr/>
        </p:nvSpPr>
        <p:spPr>
          <a:xfrm>
            <a:off x="3886190" y="4394189"/>
            <a:ext cx="23494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230</a:t>
            </a:r>
            <a:endParaRPr lang="en-US" sz="1250" dirty="0"/>
          </a:p>
        </p:txBody>
      </p:sp>
      <p:sp>
        <p:nvSpPr>
          <p:cNvPr id="26" name="Text 24"/>
          <p:cNvSpPr txBox="1"/>
          <p:nvPr/>
        </p:nvSpPr>
        <p:spPr>
          <a:xfrm>
            <a:off x="6324584" y="4394189"/>
            <a:ext cx="23494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8</a:t>
            </a:r>
            <a:endParaRPr lang="en-US" sz="1250" dirty="0"/>
          </a:p>
        </p:txBody>
      </p:sp>
      <p:sp>
        <p:nvSpPr>
          <p:cNvPr id="27" name="Text 25"/>
          <p:cNvSpPr txBox="1"/>
          <p:nvPr/>
        </p:nvSpPr>
        <p:spPr>
          <a:xfrm>
            <a:off x="8737578" y="4394189"/>
            <a:ext cx="25399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35</a:t>
            </a:r>
            <a:endParaRPr lang="en-US" sz="1250" dirty="0"/>
          </a:p>
        </p:txBody>
      </p:sp>
      <p:sp>
        <p:nvSpPr>
          <p:cNvPr id="28" name="Shape 26"/>
          <p:cNvSpPr/>
          <p:nvPr/>
        </p:nvSpPr>
        <p:spPr>
          <a:xfrm>
            <a:off x="609598" y="5854685"/>
            <a:ext cx="76200" cy="76200"/>
          </a:xfrm>
          <a:prstGeom prst="ellipse">
            <a:avLst/>
          </a:prstGeom>
          <a:solidFill>
            <a:srgbClr val="38B6FF"/>
          </a:solidFill>
          <a:ln/>
        </p:spPr>
      </p:sp>
      <p:sp>
        <p:nvSpPr>
          <p:cNvPr id="29" name="Text 27"/>
          <p:cNvSpPr txBox="1"/>
          <p:nvPr/>
        </p:nvSpPr>
        <p:spPr>
          <a:xfrm>
            <a:off x="800098" y="5651486"/>
            <a:ext cx="9905975" cy="482599"/>
          </a:xfrm>
          <a:prstGeom prst="rect">
            <a:avLst/>
          </a:prstGeom>
          <a:noFill/>
          <a:ln/>
        </p:spPr>
        <p:txBody>
          <a:bodyPr wrap="square" lIns="0" tIns="0" rIns="0" bIns="0" rtlCol="0" anchor="ctr"/>
          <a:lstStyle/>
          <a:p>
            <a:pPr indent="0" marL="0">
              <a:buNone/>
            </a:pPr>
            <a:r>
              <a:rPr lang="en-US" sz="1200" b="1" dirty="0">
                <a:solidFill>
                  <a:srgbClr val="F2EFE6"/>
                </a:solidFill>
                <a:latin typeface="Arial" pitchFamily="34" charset="0"/>
                <a:ea typeface="Arial" pitchFamily="34" charset="-122"/>
                <a:cs typeface="Arial" pitchFamily="34" charset="-120"/>
              </a:rPr>
              <a:t>Werkperiode 3 levert per duizend pogingen twee keer zoveel op als de eerste. Dat komt door de lijst met 290 terugbelafspraken die we onderweg hebben opgebouwd. Die lijst is nu het meest waardevolle dat er ligt.</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Voorstel GrowOn Agency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8 / 15</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DE EENHEID WAARIN WE REKENEN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Een beldag is geen dag, maar een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vaste hoeveelheid werk</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30493"/>
            <a:ext cx="2628893" cy="2222494"/>
          </a:xfrm>
          <a:prstGeom prst="roundRect">
            <a:avLst>
              <a:gd name="adj" fmla="val 4571"/>
            </a:avLst>
          </a:prstGeom>
          <a:solidFill>
            <a:srgbClr val="F8F4EB"/>
          </a:solidFill>
          <a:ln/>
        </p:spPr>
      </p:sp>
      <p:sp>
        <p:nvSpPr>
          <p:cNvPr id="8" name="Text 6"/>
          <p:cNvSpPr txBox="1"/>
          <p:nvPr/>
        </p:nvSpPr>
        <p:spPr>
          <a:xfrm>
            <a:off x="850898" y="2997193"/>
            <a:ext cx="2146295" cy="507999"/>
          </a:xfrm>
          <a:prstGeom prst="rect">
            <a:avLst/>
          </a:prstGeom>
          <a:noFill/>
          <a:ln/>
        </p:spPr>
        <p:txBody>
          <a:bodyPr wrap="square" lIns="0" tIns="0" rIns="0" bIns="0" rtlCol="0" anchor="ctr"/>
          <a:lstStyle/>
          <a:p>
            <a:pPr indent="0" marL="0">
              <a:buNone/>
            </a:pPr>
            <a:r>
              <a:rPr lang="en-US" sz="3600" b="1" dirty="0">
                <a:solidFill>
                  <a:srgbClr val="1C2230"/>
                </a:solidFill>
                <a:latin typeface="Arial" pitchFamily="34" charset="0"/>
                <a:ea typeface="Arial" pitchFamily="34" charset="-122"/>
                <a:cs typeface="Arial" pitchFamily="34" charset="-120"/>
              </a:rPr>
              <a:t>6</a:t>
            </a:r>
            <a:endParaRPr lang="en-US" sz="3600" dirty="0"/>
          </a:p>
        </p:txBody>
      </p:sp>
      <p:sp>
        <p:nvSpPr>
          <p:cNvPr id="9" name="Text 7"/>
          <p:cNvSpPr txBox="1"/>
          <p:nvPr/>
        </p:nvSpPr>
        <p:spPr>
          <a:xfrm>
            <a:off x="850898"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UUR BELLEN</a:t>
            </a:r>
            <a:endParaRPr lang="en-US" sz="900" dirty="0"/>
          </a:p>
        </p:txBody>
      </p:sp>
      <p:sp>
        <p:nvSpPr>
          <p:cNvPr id="10" name="Text 8"/>
          <p:cNvSpPr txBox="1"/>
          <p:nvPr/>
        </p:nvSpPr>
        <p:spPr>
          <a:xfrm>
            <a:off x="850898"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Netto aan de telefoon. Voorbereiding, notities en rapportage zitten daarbuiten en zijn inbegrepen.</a:t>
            </a:r>
            <a:endParaRPr lang="en-US" sz="950" dirty="0"/>
          </a:p>
        </p:txBody>
      </p:sp>
      <p:sp>
        <p:nvSpPr>
          <p:cNvPr id="11" name="Shape 9"/>
          <p:cNvSpPr/>
          <p:nvPr/>
        </p:nvSpPr>
        <p:spPr>
          <a:xfrm>
            <a:off x="3390892" y="2730493"/>
            <a:ext cx="2628893" cy="2222494"/>
          </a:xfrm>
          <a:prstGeom prst="roundRect">
            <a:avLst>
              <a:gd name="adj" fmla="val 4571"/>
            </a:avLst>
          </a:prstGeom>
          <a:solidFill>
            <a:srgbClr val="F8F4EB"/>
          </a:solidFill>
          <a:ln/>
        </p:spPr>
      </p:sp>
      <p:sp>
        <p:nvSpPr>
          <p:cNvPr id="12" name="Text 10"/>
          <p:cNvSpPr txBox="1"/>
          <p:nvPr/>
        </p:nvSpPr>
        <p:spPr>
          <a:xfrm>
            <a:off x="3632191" y="2997193"/>
            <a:ext cx="2146295" cy="507999"/>
          </a:xfrm>
          <a:prstGeom prst="rect">
            <a:avLst/>
          </a:prstGeom>
          <a:noFill/>
          <a:ln/>
        </p:spPr>
        <p:txBody>
          <a:bodyPr wrap="square" lIns="0" tIns="0" rIns="0" bIns="0" rtlCol="0" anchor="ctr"/>
          <a:lstStyle/>
          <a:p>
            <a:pPr indent="0" marL="0">
              <a:buNone/>
            </a:pPr>
            <a:r>
              <a:rPr lang="en-US" sz="3600" b="1" dirty="0">
                <a:solidFill>
                  <a:srgbClr val="1C2230"/>
                </a:solidFill>
                <a:latin typeface="Arial" pitchFamily="34" charset="0"/>
                <a:ea typeface="Arial" pitchFamily="34" charset="-122"/>
                <a:cs typeface="Arial" pitchFamily="34" charset="-120"/>
              </a:rPr>
              <a:t>150</a:t>
            </a:r>
            <a:endParaRPr lang="en-US" sz="3600" dirty="0"/>
          </a:p>
        </p:txBody>
      </p:sp>
      <p:sp>
        <p:nvSpPr>
          <p:cNvPr id="13" name="Text 11"/>
          <p:cNvSpPr txBox="1"/>
          <p:nvPr/>
        </p:nvSpPr>
        <p:spPr>
          <a:xfrm>
            <a:off x="3632191"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CONTACTPOGINGEN</a:t>
            </a:r>
            <a:endParaRPr lang="en-US" sz="900" dirty="0"/>
          </a:p>
        </p:txBody>
      </p:sp>
      <p:sp>
        <p:nvSpPr>
          <p:cNvPr id="14" name="Text 12"/>
          <p:cNvSpPr txBox="1"/>
          <p:nvPr/>
        </p:nvSpPr>
        <p:spPr>
          <a:xfrm>
            <a:off x="3632191"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Vijfentwintig pogingen per uur. Dat is het tempo dat onze bellers nu draaien, gemeten in de urenregistratie.</a:t>
            </a:r>
            <a:endParaRPr lang="en-US" sz="950" dirty="0"/>
          </a:p>
        </p:txBody>
      </p:sp>
      <p:sp>
        <p:nvSpPr>
          <p:cNvPr id="15" name="Shape 13"/>
          <p:cNvSpPr/>
          <p:nvPr/>
        </p:nvSpPr>
        <p:spPr>
          <a:xfrm>
            <a:off x="6172185" y="2730493"/>
            <a:ext cx="2628893" cy="2222494"/>
          </a:xfrm>
          <a:prstGeom prst="roundRect">
            <a:avLst>
              <a:gd name="adj" fmla="val 4571"/>
            </a:avLst>
          </a:prstGeom>
          <a:solidFill>
            <a:srgbClr val="F8F4EB"/>
          </a:solidFill>
          <a:ln/>
        </p:spPr>
      </p:sp>
      <p:sp>
        <p:nvSpPr>
          <p:cNvPr id="16" name="Text 14"/>
          <p:cNvSpPr txBox="1"/>
          <p:nvPr/>
        </p:nvSpPr>
        <p:spPr>
          <a:xfrm>
            <a:off x="6413484" y="2997193"/>
            <a:ext cx="2146295" cy="507999"/>
          </a:xfrm>
          <a:prstGeom prst="rect">
            <a:avLst/>
          </a:prstGeom>
          <a:noFill/>
          <a:ln/>
        </p:spPr>
        <p:txBody>
          <a:bodyPr wrap="square" lIns="0" tIns="0" rIns="0" bIns="0" rtlCol="0" anchor="ctr"/>
          <a:lstStyle/>
          <a:p>
            <a:pPr indent="0" marL="0">
              <a:buNone/>
            </a:pPr>
            <a:r>
              <a:rPr lang="en-US" sz="3600" b="1" dirty="0">
                <a:solidFill>
                  <a:srgbClr val="1C2230"/>
                </a:solidFill>
                <a:latin typeface="Arial" pitchFamily="34" charset="0"/>
                <a:ea typeface="Arial" pitchFamily="34" charset="-122"/>
                <a:cs typeface="Arial" pitchFamily="34" charset="-120"/>
              </a:rPr>
              <a:t>± 90</a:t>
            </a:r>
            <a:endParaRPr lang="en-US" sz="3600" dirty="0"/>
          </a:p>
        </p:txBody>
      </p:sp>
      <p:sp>
        <p:nvSpPr>
          <p:cNvPr id="17" name="Text 15"/>
          <p:cNvSpPr txBox="1"/>
          <p:nvPr/>
        </p:nvSpPr>
        <p:spPr>
          <a:xfrm>
            <a:off x="6413484"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BEDRIJVEN GESPROKEN</a:t>
            </a:r>
            <a:endParaRPr lang="en-US" sz="900" dirty="0"/>
          </a:p>
        </p:txBody>
      </p:sp>
      <p:sp>
        <p:nvSpPr>
          <p:cNvPr id="18" name="Text 16"/>
          <p:cNvSpPr txBox="1"/>
          <p:nvPr/>
        </p:nvSpPr>
        <p:spPr>
          <a:xfrm>
            <a:off x="6413484"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Zes van de tien pogingen leveren de juiste persoon aan de lijn op.</a:t>
            </a:r>
            <a:endParaRPr lang="en-US" sz="950" dirty="0"/>
          </a:p>
        </p:txBody>
      </p:sp>
      <p:sp>
        <p:nvSpPr>
          <p:cNvPr id="19" name="Shape 17"/>
          <p:cNvSpPr/>
          <p:nvPr/>
        </p:nvSpPr>
        <p:spPr>
          <a:xfrm>
            <a:off x="8953478" y="2730493"/>
            <a:ext cx="2628893" cy="2222494"/>
          </a:xfrm>
          <a:prstGeom prst="roundRect">
            <a:avLst>
              <a:gd name="adj" fmla="val 4571"/>
            </a:avLst>
          </a:prstGeom>
          <a:solidFill>
            <a:srgbClr val="000000"/>
          </a:solidFill>
          <a:ln/>
        </p:spPr>
      </p:sp>
      <p:sp>
        <p:nvSpPr>
          <p:cNvPr id="20" name="Text 18"/>
          <p:cNvSpPr txBox="1"/>
          <p:nvPr/>
        </p:nvSpPr>
        <p:spPr>
          <a:xfrm>
            <a:off x="9194777" y="2997193"/>
            <a:ext cx="2146295" cy="507999"/>
          </a:xfrm>
          <a:prstGeom prst="rect">
            <a:avLst/>
          </a:prstGeom>
          <a:noFill/>
          <a:ln/>
        </p:spPr>
        <p:txBody>
          <a:bodyPr wrap="square" lIns="0" tIns="0" rIns="0" bIns="0" rtlCol="0" anchor="ctr"/>
          <a:lstStyle/>
          <a:p>
            <a:pPr indent="0" marL="0">
              <a:buNone/>
            </a:pPr>
            <a:r>
              <a:rPr lang="en-US" sz="3600" b="1" dirty="0">
                <a:solidFill>
                  <a:srgbClr val="38B6FF"/>
                </a:solidFill>
                <a:latin typeface="Arial" pitchFamily="34" charset="0"/>
                <a:ea typeface="Arial" pitchFamily="34" charset="-122"/>
                <a:cs typeface="Arial" pitchFamily="34" charset="-120"/>
              </a:rPr>
              <a:t>2,5</a:t>
            </a:r>
            <a:endParaRPr lang="en-US" sz="3600" dirty="0"/>
          </a:p>
        </p:txBody>
      </p:sp>
      <p:sp>
        <p:nvSpPr>
          <p:cNvPr id="21" name="Text 19"/>
          <p:cNvSpPr txBox="1"/>
          <p:nvPr/>
        </p:nvSpPr>
        <p:spPr>
          <a:xfrm>
            <a:off x="9194777"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GEKWALIFICEERDE AFSPRAKEN</a:t>
            </a:r>
            <a:endParaRPr lang="en-US" sz="900" dirty="0"/>
          </a:p>
        </p:txBody>
      </p:sp>
      <p:sp>
        <p:nvSpPr>
          <p:cNvPr id="22" name="Text 20"/>
          <p:cNvSpPr txBox="1"/>
          <p:nvPr/>
        </p:nvSpPr>
        <p:spPr>
          <a:xfrm>
            <a:off x="9194777"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C2C8D2"/>
                </a:solidFill>
                <a:latin typeface="Arial" pitchFamily="34" charset="0"/>
                <a:ea typeface="Arial" pitchFamily="34" charset="-122"/>
                <a:cs typeface="Arial" pitchFamily="34" charset="-120"/>
              </a:rPr>
              <a:t>De ene dag twee, de andere vier. Over de pilot gemeten komt het op 3 per beldag uit, wij leggen ons vast op 2,5.</a:t>
            </a:r>
            <a:endParaRPr lang="en-US" sz="950" dirty="0"/>
          </a:p>
        </p:txBody>
      </p:sp>
      <p:sp>
        <p:nvSpPr>
          <p:cNvPr id="23" name="Shape 21"/>
          <p:cNvSpPr/>
          <p:nvPr/>
        </p:nvSpPr>
        <p:spPr>
          <a:xfrm>
            <a:off x="609598" y="5854685"/>
            <a:ext cx="76200" cy="76200"/>
          </a:xfrm>
          <a:prstGeom prst="ellipse">
            <a:avLst/>
          </a:prstGeom>
          <a:solidFill>
            <a:srgbClr val="38B6FF"/>
          </a:solidFill>
          <a:ln/>
        </p:spPr>
      </p:sp>
      <p:sp>
        <p:nvSpPr>
          <p:cNvPr id="24" name="Text 22"/>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Wij rekenen in beldagen en niet in uren, omdat een uur niets zegt over wat eruit komt. Deze aantallen komen uit onze eigen urenregistratie en uit jullie pilot.</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Voorstel GrowOn Agency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9 / 15</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JE KRIJGT</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Tien afspraken per werkperiode,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hoe dan ook</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666993"/>
            <a:ext cx="10972773" cy="2355844"/>
          </a:xfrm>
          <a:prstGeom prst="roundRect">
            <a:avLst>
              <a:gd name="adj" fmla="val 4313"/>
            </a:avLst>
          </a:prstGeom>
          <a:ln w="9525">
            <a:solidFill>
              <a:srgbClr val="3A4152"/>
            </a:solidFill>
            <a:prstDash val="solid"/>
          </a:ln>
        </p:spPr>
      </p:sp>
      <p:sp>
        <p:nvSpPr>
          <p:cNvPr id="8" name="Text 6"/>
          <p:cNvSpPr txBox="1"/>
          <p:nvPr/>
        </p:nvSpPr>
        <p:spPr>
          <a:xfrm>
            <a:off x="888998" y="2666993"/>
            <a:ext cx="2920993" cy="469899"/>
          </a:xfrm>
          <a:prstGeom prst="rect">
            <a:avLst/>
          </a:prstGeom>
          <a:noFill/>
          <a:ln/>
        </p:spPr>
        <p:txBody>
          <a:bodyPr wrap="square" lIns="0" tIns="0" rIns="0" bIns="0" rtlCol="0" anchor="ctr"/>
          <a:lstStyle/>
          <a:p>
            <a:pPr indent="0" marL="0">
              <a:buNone/>
            </a:pPr>
            <a:r>
              <a:rPr lang="en-US" sz="800" b="1" spc="160" kern="0" dirty="0">
                <a:solidFill>
                  <a:srgbClr val="C2C8D2"/>
                </a:solidFill>
                <a:latin typeface="Arial" pitchFamily="34" charset="0"/>
                <a:ea typeface="Arial" pitchFamily="34" charset="-122"/>
                <a:cs typeface="Arial" pitchFamily="34" charset="-120"/>
              </a:rPr>
              <a:t>WAT WE LEVEREN</a:t>
            </a:r>
            <a:endParaRPr lang="en-US" sz="800" dirty="0"/>
          </a:p>
        </p:txBody>
      </p:sp>
      <p:sp>
        <p:nvSpPr>
          <p:cNvPr id="9" name="Text 7"/>
          <p:cNvSpPr txBox="1"/>
          <p:nvPr/>
        </p:nvSpPr>
        <p:spPr>
          <a:xfrm>
            <a:off x="3886190" y="2666993"/>
            <a:ext cx="2349494" cy="469899"/>
          </a:xfrm>
          <a:prstGeom prst="rect">
            <a:avLst/>
          </a:prstGeom>
          <a:noFill/>
          <a:ln/>
        </p:spPr>
        <p:txBody>
          <a:bodyPr wrap="square" lIns="0" tIns="0" rIns="0" bIns="0" rtlCol="0" anchor="ctr"/>
          <a:lstStyle/>
          <a:p>
            <a:pPr indent="0" marL="0">
              <a:buNone/>
            </a:pPr>
            <a:r>
              <a:rPr lang="en-US" sz="800" b="1" spc="160" kern="0" dirty="0">
                <a:solidFill>
                  <a:srgbClr val="C2C8D2"/>
                </a:solidFill>
                <a:latin typeface="Arial" pitchFamily="34" charset="0"/>
                <a:ea typeface="Arial" pitchFamily="34" charset="-122"/>
                <a:cs typeface="Arial" pitchFamily="34" charset="-120"/>
              </a:rPr>
              <a:t>PER BELDAG</a:t>
            </a:r>
            <a:endParaRPr lang="en-US" sz="800" dirty="0"/>
          </a:p>
        </p:txBody>
      </p:sp>
      <p:sp>
        <p:nvSpPr>
          <p:cNvPr id="10" name="Text 8"/>
          <p:cNvSpPr txBox="1"/>
          <p:nvPr/>
        </p:nvSpPr>
        <p:spPr>
          <a:xfrm>
            <a:off x="6324584" y="2666993"/>
            <a:ext cx="2349494" cy="469899"/>
          </a:xfrm>
          <a:prstGeom prst="rect">
            <a:avLst/>
          </a:prstGeom>
          <a:noFill/>
          <a:ln/>
        </p:spPr>
        <p:txBody>
          <a:bodyPr wrap="square" lIns="0" tIns="0" rIns="0" bIns="0" rtlCol="0" anchor="ctr"/>
          <a:lstStyle/>
          <a:p>
            <a:pPr indent="0" marL="0">
              <a:buNone/>
            </a:pPr>
            <a:r>
              <a:rPr lang="en-US" sz="800" b="1" spc="160" kern="0" dirty="0">
                <a:solidFill>
                  <a:srgbClr val="C2C8D2"/>
                </a:solidFill>
                <a:latin typeface="Arial" pitchFamily="34" charset="0"/>
                <a:ea typeface="Arial" pitchFamily="34" charset="-122"/>
                <a:cs typeface="Arial" pitchFamily="34" charset="-120"/>
              </a:rPr>
              <a:t>PER 4 BELDAGEN</a:t>
            </a:r>
            <a:endParaRPr lang="en-US" sz="800" dirty="0"/>
          </a:p>
        </p:txBody>
      </p:sp>
      <p:sp>
        <p:nvSpPr>
          <p:cNvPr id="11" name="Text 9"/>
          <p:cNvSpPr txBox="1"/>
          <p:nvPr/>
        </p:nvSpPr>
        <p:spPr>
          <a:xfrm>
            <a:off x="8737578" y="2666993"/>
            <a:ext cx="2539994" cy="469899"/>
          </a:xfrm>
          <a:prstGeom prst="rect">
            <a:avLst/>
          </a:prstGeom>
          <a:noFill/>
          <a:ln/>
        </p:spPr>
        <p:txBody>
          <a:bodyPr wrap="square" lIns="0" tIns="0" rIns="0" bIns="0" rtlCol="0" anchor="ctr"/>
          <a:lstStyle/>
          <a:p>
            <a:pPr indent="0" marL="0">
              <a:buNone/>
            </a:pPr>
            <a:r>
              <a:rPr lang="en-US" sz="800" b="1" spc="160" kern="0" dirty="0">
                <a:solidFill>
                  <a:srgbClr val="C2C8D2"/>
                </a:solidFill>
                <a:latin typeface="Arial" pitchFamily="34" charset="0"/>
                <a:ea typeface="Arial" pitchFamily="34" charset="-122"/>
                <a:cs typeface="Arial" pitchFamily="34" charset="-120"/>
              </a:rPr>
              <a:t>PER 6 BELDAGEN</a:t>
            </a:r>
            <a:endParaRPr lang="en-US" sz="800" dirty="0"/>
          </a:p>
        </p:txBody>
      </p:sp>
      <p:sp>
        <p:nvSpPr>
          <p:cNvPr id="12" name="Shape 10"/>
          <p:cNvSpPr/>
          <p:nvPr/>
        </p:nvSpPr>
        <p:spPr>
          <a:xfrm>
            <a:off x="609598" y="3136892"/>
            <a:ext cx="10972773" cy="0"/>
          </a:xfrm>
          <a:prstGeom prst="line">
            <a:avLst/>
          </a:prstGeom>
          <a:noFill/>
          <a:ln w="9525">
            <a:solidFill>
              <a:srgbClr val="3A4152"/>
            </a:solidFill>
            <a:prstDash val="solid"/>
          </a:ln>
        </p:spPr>
      </p:sp>
      <p:sp>
        <p:nvSpPr>
          <p:cNvPr id="13" name="Text 11"/>
          <p:cNvSpPr txBox="1"/>
          <p:nvPr/>
        </p:nvSpPr>
        <p:spPr>
          <a:xfrm>
            <a:off x="888998" y="3136892"/>
            <a:ext cx="2920993"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Contactpogingen</a:t>
            </a:r>
            <a:pPr indent="0" marL="0">
              <a:buNone/>
            </a:pPr>
            <a:r>
              <a:rPr lang="en-US" sz="1000" i="1" dirty="0">
                <a:solidFill>
                  <a:srgbClr val="38B6FF"/>
                </a:solidFill>
                <a:latin typeface="Georgia" pitchFamily="34" charset="0"/>
                <a:ea typeface="Georgia" pitchFamily="34" charset="-122"/>
                <a:cs typeface="Georgia" pitchFamily="34" charset="-120"/>
              </a:rPr>
              <a:t>   ondergrens</a:t>
            </a:r>
            <a:endParaRPr lang="en-US" sz="1250" dirty="0"/>
          </a:p>
        </p:txBody>
      </p:sp>
      <p:sp>
        <p:nvSpPr>
          <p:cNvPr id="14" name="Text 12"/>
          <p:cNvSpPr txBox="1"/>
          <p:nvPr/>
        </p:nvSpPr>
        <p:spPr>
          <a:xfrm>
            <a:off x="3886190" y="3136892"/>
            <a:ext cx="23494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150</a:t>
            </a:r>
            <a:endParaRPr lang="en-US" sz="1250" dirty="0"/>
          </a:p>
        </p:txBody>
      </p:sp>
      <p:sp>
        <p:nvSpPr>
          <p:cNvPr id="15" name="Text 13"/>
          <p:cNvSpPr txBox="1"/>
          <p:nvPr/>
        </p:nvSpPr>
        <p:spPr>
          <a:xfrm>
            <a:off x="6324584" y="3136892"/>
            <a:ext cx="23494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600</a:t>
            </a:r>
            <a:endParaRPr lang="en-US" sz="1250" dirty="0"/>
          </a:p>
        </p:txBody>
      </p:sp>
      <p:sp>
        <p:nvSpPr>
          <p:cNvPr id="16" name="Text 14"/>
          <p:cNvSpPr txBox="1"/>
          <p:nvPr/>
        </p:nvSpPr>
        <p:spPr>
          <a:xfrm>
            <a:off x="8737578" y="3136892"/>
            <a:ext cx="25399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900</a:t>
            </a:r>
            <a:endParaRPr lang="en-US" sz="1250" dirty="0"/>
          </a:p>
        </p:txBody>
      </p:sp>
      <p:sp>
        <p:nvSpPr>
          <p:cNvPr id="17" name="Shape 15"/>
          <p:cNvSpPr/>
          <p:nvPr/>
        </p:nvSpPr>
        <p:spPr>
          <a:xfrm>
            <a:off x="609598" y="3765541"/>
            <a:ext cx="10972773" cy="0"/>
          </a:xfrm>
          <a:prstGeom prst="line">
            <a:avLst/>
          </a:prstGeom>
          <a:noFill/>
          <a:ln w="9525">
            <a:solidFill>
              <a:srgbClr val="3A4152"/>
            </a:solidFill>
            <a:prstDash val="solid"/>
          </a:ln>
        </p:spPr>
      </p:sp>
      <p:sp>
        <p:nvSpPr>
          <p:cNvPr id="18" name="Text 16"/>
          <p:cNvSpPr txBox="1"/>
          <p:nvPr/>
        </p:nvSpPr>
        <p:spPr>
          <a:xfrm>
            <a:off x="888998" y="3765541"/>
            <a:ext cx="2920993"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Bedrijven gesproken</a:t>
            </a:r>
            <a:pPr indent="0" marL="0">
              <a:buNone/>
            </a:pPr>
            <a:r>
              <a:rPr lang="en-US" sz="1000" i="1" dirty="0">
                <a:solidFill>
                  <a:srgbClr val="38B6FF"/>
                </a:solidFill>
                <a:latin typeface="Georgia" pitchFamily="34" charset="0"/>
                <a:ea typeface="Georgia" pitchFamily="34" charset="-122"/>
                <a:cs typeface="Georgia" pitchFamily="34" charset="-120"/>
              </a:rPr>
              <a:t>   verwachting</a:t>
            </a:r>
            <a:endParaRPr lang="en-US" sz="1250" dirty="0"/>
          </a:p>
        </p:txBody>
      </p:sp>
      <p:sp>
        <p:nvSpPr>
          <p:cNvPr id="19" name="Text 17"/>
          <p:cNvSpPr txBox="1"/>
          <p:nvPr/>
        </p:nvSpPr>
        <p:spPr>
          <a:xfrm>
            <a:off x="3886190" y="3765541"/>
            <a:ext cx="23494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 90</a:t>
            </a:r>
            <a:endParaRPr lang="en-US" sz="1250" dirty="0"/>
          </a:p>
        </p:txBody>
      </p:sp>
      <p:sp>
        <p:nvSpPr>
          <p:cNvPr id="20" name="Text 18"/>
          <p:cNvSpPr txBox="1"/>
          <p:nvPr/>
        </p:nvSpPr>
        <p:spPr>
          <a:xfrm>
            <a:off x="6324584" y="3765541"/>
            <a:ext cx="23494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 360</a:t>
            </a:r>
            <a:endParaRPr lang="en-US" sz="1250" dirty="0"/>
          </a:p>
        </p:txBody>
      </p:sp>
      <p:sp>
        <p:nvSpPr>
          <p:cNvPr id="21" name="Text 19"/>
          <p:cNvSpPr txBox="1"/>
          <p:nvPr/>
        </p:nvSpPr>
        <p:spPr>
          <a:xfrm>
            <a:off x="8737578" y="3765541"/>
            <a:ext cx="25399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 540</a:t>
            </a:r>
            <a:endParaRPr lang="en-US" sz="1250" dirty="0"/>
          </a:p>
        </p:txBody>
      </p:sp>
      <p:sp>
        <p:nvSpPr>
          <p:cNvPr id="22" name="Shape 20"/>
          <p:cNvSpPr/>
          <p:nvPr/>
        </p:nvSpPr>
        <p:spPr>
          <a:xfrm>
            <a:off x="615948" y="4394189"/>
            <a:ext cx="10960073" cy="628648"/>
          </a:xfrm>
          <a:prstGeom prst="rect">
            <a:avLst/>
          </a:prstGeom>
          <a:solidFill>
            <a:srgbClr val="38B6FF">
              <a:alpha val="11000"/>
            </a:srgbClr>
          </a:solidFill>
          <a:ln/>
        </p:spPr>
      </p:sp>
      <p:sp>
        <p:nvSpPr>
          <p:cNvPr id="23" name="Shape 21"/>
          <p:cNvSpPr/>
          <p:nvPr/>
        </p:nvSpPr>
        <p:spPr>
          <a:xfrm>
            <a:off x="609598" y="4394189"/>
            <a:ext cx="10972773" cy="0"/>
          </a:xfrm>
          <a:prstGeom prst="line">
            <a:avLst/>
          </a:prstGeom>
          <a:noFill/>
          <a:ln w="9525">
            <a:solidFill>
              <a:srgbClr val="3A4152"/>
            </a:solidFill>
            <a:prstDash val="solid"/>
          </a:ln>
        </p:spPr>
      </p:sp>
      <p:sp>
        <p:nvSpPr>
          <p:cNvPr id="24" name="Text 22"/>
          <p:cNvSpPr txBox="1"/>
          <p:nvPr/>
        </p:nvSpPr>
        <p:spPr>
          <a:xfrm>
            <a:off x="888998" y="4394189"/>
            <a:ext cx="2920993"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Afspraken</a:t>
            </a:r>
            <a:pPr indent="0" marL="0">
              <a:buNone/>
            </a:pPr>
            <a:r>
              <a:rPr lang="en-US" sz="1000" i="1" dirty="0">
                <a:solidFill>
                  <a:srgbClr val="38B6FF"/>
                </a:solidFill>
                <a:latin typeface="Georgia" pitchFamily="34" charset="0"/>
                <a:ea typeface="Georgia" pitchFamily="34" charset="-122"/>
                <a:cs typeface="Georgia" pitchFamily="34" charset="-120"/>
              </a:rPr>
              <a:t>   gegarandeerd</a:t>
            </a:r>
            <a:endParaRPr lang="en-US" sz="1250" dirty="0"/>
          </a:p>
        </p:txBody>
      </p:sp>
      <p:sp>
        <p:nvSpPr>
          <p:cNvPr id="25" name="Text 23"/>
          <p:cNvSpPr txBox="1"/>
          <p:nvPr/>
        </p:nvSpPr>
        <p:spPr>
          <a:xfrm>
            <a:off x="3886190" y="4394189"/>
            <a:ext cx="23494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2,5</a:t>
            </a:r>
            <a:endParaRPr lang="en-US" sz="1250" dirty="0"/>
          </a:p>
        </p:txBody>
      </p:sp>
      <p:sp>
        <p:nvSpPr>
          <p:cNvPr id="26" name="Text 24"/>
          <p:cNvSpPr txBox="1"/>
          <p:nvPr/>
        </p:nvSpPr>
        <p:spPr>
          <a:xfrm>
            <a:off x="6324584" y="4394189"/>
            <a:ext cx="23494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10</a:t>
            </a:r>
            <a:endParaRPr lang="en-US" sz="1250" dirty="0"/>
          </a:p>
        </p:txBody>
      </p:sp>
      <p:sp>
        <p:nvSpPr>
          <p:cNvPr id="27" name="Text 25"/>
          <p:cNvSpPr txBox="1"/>
          <p:nvPr/>
        </p:nvSpPr>
        <p:spPr>
          <a:xfrm>
            <a:off x="8737578" y="4394189"/>
            <a:ext cx="25399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15</a:t>
            </a:r>
            <a:endParaRPr lang="en-US" sz="1250" dirty="0"/>
          </a:p>
        </p:txBody>
      </p:sp>
      <p:sp>
        <p:nvSpPr>
          <p:cNvPr id="28" name="Shape 26"/>
          <p:cNvSpPr/>
          <p:nvPr/>
        </p:nvSpPr>
        <p:spPr>
          <a:xfrm>
            <a:off x="609598" y="5854685"/>
            <a:ext cx="76200" cy="76200"/>
          </a:xfrm>
          <a:prstGeom prst="ellipse">
            <a:avLst/>
          </a:prstGeom>
          <a:solidFill>
            <a:srgbClr val="38B6FF"/>
          </a:solidFill>
          <a:ln/>
        </p:spPr>
      </p:sp>
      <p:sp>
        <p:nvSpPr>
          <p:cNvPr id="29" name="Text 27"/>
          <p:cNvSpPr txBox="1"/>
          <p:nvPr/>
        </p:nvSpPr>
        <p:spPr>
          <a:xfrm>
            <a:off x="800098" y="5651486"/>
            <a:ext cx="9905975" cy="482599"/>
          </a:xfrm>
          <a:prstGeom prst="rect">
            <a:avLst/>
          </a:prstGeom>
          <a:noFill/>
          <a:ln/>
        </p:spPr>
        <p:txBody>
          <a:bodyPr wrap="square" lIns="0" tIns="0" rIns="0" bIns="0" rtlCol="0" anchor="ctr"/>
          <a:lstStyle/>
          <a:p>
            <a:pPr indent="0" marL="0">
              <a:buNone/>
            </a:pPr>
            <a:r>
              <a:rPr lang="en-US" sz="1200" b="1" dirty="0">
                <a:solidFill>
                  <a:srgbClr val="F2EFE6"/>
                </a:solidFill>
                <a:latin typeface="Arial" pitchFamily="34" charset="0"/>
                <a:ea typeface="Arial" pitchFamily="34" charset="-122"/>
                <a:cs typeface="Arial" pitchFamily="34" charset="-120"/>
              </a:rPr>
              <a:t>Staan de tien afspraken er eerder, dan gebruiken we de resterende tijd voor de bellijst en de terugbelafspraken van de volgende periode. Staan ze er na zeshonderd pogingen niet, dan bellen we een extra dag die niet op de rekening komt.</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Voorstel GrowOn Agency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10 / 15</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HET VOORSTEL</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Vaste beldagen per vier weken,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één dagprijs</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666993"/>
            <a:ext cx="10972773" cy="2355844"/>
          </a:xfrm>
          <a:prstGeom prst="roundRect">
            <a:avLst>
              <a:gd name="adj" fmla="val 4313"/>
            </a:avLst>
          </a:prstGeom>
          <a:ln w="9525">
            <a:solidFill>
              <a:srgbClr val="3A4152"/>
            </a:solidFill>
            <a:prstDash val="solid"/>
          </a:ln>
        </p:spPr>
      </p:sp>
      <p:sp>
        <p:nvSpPr>
          <p:cNvPr id="8" name="Text 6"/>
          <p:cNvSpPr txBox="1"/>
          <p:nvPr/>
        </p:nvSpPr>
        <p:spPr>
          <a:xfrm>
            <a:off x="888998" y="2666993"/>
            <a:ext cx="2920993" cy="469899"/>
          </a:xfrm>
          <a:prstGeom prst="rect">
            <a:avLst/>
          </a:prstGeom>
          <a:noFill/>
          <a:ln/>
        </p:spPr>
        <p:txBody>
          <a:bodyPr wrap="square" lIns="0" tIns="0" rIns="0" bIns="0" rtlCol="0" anchor="ctr"/>
          <a:lstStyle/>
          <a:p>
            <a:pPr indent="0" marL="0">
              <a:buNone/>
            </a:pPr>
            <a:r>
              <a:rPr lang="en-US" sz="800" b="1" spc="160" kern="0" dirty="0">
                <a:solidFill>
                  <a:srgbClr val="C2C8D2"/>
                </a:solidFill>
                <a:latin typeface="Arial" pitchFamily="34" charset="0"/>
                <a:ea typeface="Arial" pitchFamily="34" charset="-122"/>
                <a:cs typeface="Arial" pitchFamily="34" charset="-120"/>
              </a:rPr>
              <a:t>BELDAGEN PER 4 WEKEN</a:t>
            </a:r>
            <a:endParaRPr lang="en-US" sz="800" dirty="0"/>
          </a:p>
        </p:txBody>
      </p:sp>
      <p:sp>
        <p:nvSpPr>
          <p:cNvPr id="9" name="Text 7"/>
          <p:cNvSpPr txBox="1"/>
          <p:nvPr/>
        </p:nvSpPr>
        <p:spPr>
          <a:xfrm>
            <a:off x="3886190" y="2666993"/>
            <a:ext cx="2349494" cy="469899"/>
          </a:xfrm>
          <a:prstGeom prst="rect">
            <a:avLst/>
          </a:prstGeom>
          <a:noFill/>
          <a:ln/>
        </p:spPr>
        <p:txBody>
          <a:bodyPr wrap="square" lIns="0" tIns="0" rIns="0" bIns="0" rtlCol="0" anchor="ctr"/>
          <a:lstStyle/>
          <a:p>
            <a:pPr indent="0" marL="0">
              <a:buNone/>
            </a:pPr>
            <a:r>
              <a:rPr lang="en-US" sz="800" b="1" spc="160" kern="0" dirty="0">
                <a:solidFill>
                  <a:srgbClr val="C2C8D2"/>
                </a:solidFill>
                <a:latin typeface="Arial" pitchFamily="34" charset="0"/>
                <a:ea typeface="Arial" pitchFamily="34" charset="-122"/>
                <a:cs typeface="Arial" pitchFamily="34" charset="-120"/>
              </a:rPr>
              <a:t>PRIJS PER BELDAG</a:t>
            </a:r>
            <a:endParaRPr lang="en-US" sz="800" dirty="0"/>
          </a:p>
        </p:txBody>
      </p:sp>
      <p:sp>
        <p:nvSpPr>
          <p:cNvPr id="10" name="Text 8"/>
          <p:cNvSpPr txBox="1"/>
          <p:nvPr/>
        </p:nvSpPr>
        <p:spPr>
          <a:xfrm>
            <a:off x="6324584" y="2666993"/>
            <a:ext cx="2349494" cy="469899"/>
          </a:xfrm>
          <a:prstGeom prst="rect">
            <a:avLst/>
          </a:prstGeom>
          <a:noFill/>
          <a:ln/>
        </p:spPr>
        <p:txBody>
          <a:bodyPr wrap="square" lIns="0" tIns="0" rIns="0" bIns="0" rtlCol="0" anchor="ctr"/>
          <a:lstStyle/>
          <a:p>
            <a:pPr indent="0" marL="0">
              <a:buNone/>
            </a:pPr>
            <a:r>
              <a:rPr lang="en-US" sz="800" b="1" spc="160" kern="0" dirty="0">
                <a:solidFill>
                  <a:srgbClr val="C2C8D2"/>
                </a:solidFill>
                <a:latin typeface="Arial" pitchFamily="34" charset="0"/>
                <a:ea typeface="Arial" pitchFamily="34" charset="-122"/>
                <a:cs typeface="Arial" pitchFamily="34" charset="-120"/>
              </a:rPr>
              <a:t>PER 4 WEKEN</a:t>
            </a:r>
            <a:endParaRPr lang="en-US" sz="800" dirty="0"/>
          </a:p>
        </p:txBody>
      </p:sp>
      <p:sp>
        <p:nvSpPr>
          <p:cNvPr id="11" name="Text 9"/>
          <p:cNvSpPr txBox="1"/>
          <p:nvPr/>
        </p:nvSpPr>
        <p:spPr>
          <a:xfrm>
            <a:off x="8737578" y="2666993"/>
            <a:ext cx="2539994" cy="469899"/>
          </a:xfrm>
          <a:prstGeom prst="rect">
            <a:avLst/>
          </a:prstGeom>
          <a:noFill/>
          <a:ln/>
        </p:spPr>
        <p:txBody>
          <a:bodyPr wrap="square" lIns="0" tIns="0" rIns="0" bIns="0" rtlCol="0" anchor="ctr"/>
          <a:lstStyle/>
          <a:p>
            <a:pPr indent="0" marL="0">
              <a:buNone/>
            </a:pPr>
            <a:r>
              <a:rPr lang="en-US" sz="800" b="1" spc="160" kern="0" dirty="0">
                <a:solidFill>
                  <a:srgbClr val="C2C8D2"/>
                </a:solidFill>
                <a:latin typeface="Arial" pitchFamily="34" charset="0"/>
                <a:ea typeface="Arial" pitchFamily="34" charset="-122"/>
                <a:cs typeface="Arial" pitchFamily="34" charset="-120"/>
              </a:rPr>
              <a:t>VERWACHTE AFSPRAKEN</a:t>
            </a:r>
            <a:endParaRPr lang="en-US" sz="800" dirty="0"/>
          </a:p>
        </p:txBody>
      </p:sp>
      <p:sp>
        <p:nvSpPr>
          <p:cNvPr id="12" name="Shape 10"/>
          <p:cNvSpPr/>
          <p:nvPr/>
        </p:nvSpPr>
        <p:spPr>
          <a:xfrm>
            <a:off x="609598" y="3136892"/>
            <a:ext cx="10972773" cy="0"/>
          </a:xfrm>
          <a:prstGeom prst="line">
            <a:avLst/>
          </a:prstGeom>
          <a:noFill/>
          <a:ln w="9525">
            <a:solidFill>
              <a:srgbClr val="3A4152"/>
            </a:solidFill>
            <a:prstDash val="solid"/>
          </a:ln>
        </p:spPr>
      </p:sp>
      <p:sp>
        <p:nvSpPr>
          <p:cNvPr id="13" name="Text 11"/>
          <p:cNvSpPr txBox="1"/>
          <p:nvPr/>
        </p:nvSpPr>
        <p:spPr>
          <a:xfrm>
            <a:off x="888998" y="3136892"/>
            <a:ext cx="2920993"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4 beldagen</a:t>
            </a:r>
            <a:endParaRPr lang="en-US" sz="1250" dirty="0"/>
          </a:p>
        </p:txBody>
      </p:sp>
      <p:sp>
        <p:nvSpPr>
          <p:cNvPr id="14" name="Text 12"/>
          <p:cNvSpPr txBox="1"/>
          <p:nvPr/>
        </p:nvSpPr>
        <p:spPr>
          <a:xfrm>
            <a:off x="3886190" y="3136892"/>
            <a:ext cx="23494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€ 600</a:t>
            </a:r>
            <a:endParaRPr lang="en-US" sz="1250" dirty="0"/>
          </a:p>
        </p:txBody>
      </p:sp>
      <p:sp>
        <p:nvSpPr>
          <p:cNvPr id="15" name="Text 13"/>
          <p:cNvSpPr txBox="1"/>
          <p:nvPr/>
        </p:nvSpPr>
        <p:spPr>
          <a:xfrm>
            <a:off x="6324584" y="3136892"/>
            <a:ext cx="23494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€ 2.400</a:t>
            </a:r>
            <a:endParaRPr lang="en-US" sz="1250" dirty="0"/>
          </a:p>
        </p:txBody>
      </p:sp>
      <p:sp>
        <p:nvSpPr>
          <p:cNvPr id="16" name="Text 14"/>
          <p:cNvSpPr txBox="1"/>
          <p:nvPr/>
        </p:nvSpPr>
        <p:spPr>
          <a:xfrm>
            <a:off x="8737578" y="3136892"/>
            <a:ext cx="25399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 10</a:t>
            </a:r>
            <a:endParaRPr lang="en-US" sz="1250" dirty="0"/>
          </a:p>
        </p:txBody>
      </p:sp>
      <p:sp>
        <p:nvSpPr>
          <p:cNvPr id="17" name="Shape 15"/>
          <p:cNvSpPr/>
          <p:nvPr/>
        </p:nvSpPr>
        <p:spPr>
          <a:xfrm>
            <a:off x="609598" y="3765541"/>
            <a:ext cx="10972773" cy="0"/>
          </a:xfrm>
          <a:prstGeom prst="line">
            <a:avLst/>
          </a:prstGeom>
          <a:noFill/>
          <a:ln w="9525">
            <a:solidFill>
              <a:srgbClr val="3A4152"/>
            </a:solidFill>
            <a:prstDash val="solid"/>
          </a:ln>
        </p:spPr>
      </p:sp>
      <p:sp>
        <p:nvSpPr>
          <p:cNvPr id="18" name="Text 16"/>
          <p:cNvSpPr txBox="1"/>
          <p:nvPr/>
        </p:nvSpPr>
        <p:spPr>
          <a:xfrm>
            <a:off x="888998" y="3765541"/>
            <a:ext cx="2920993"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5 tot 7 beldagen</a:t>
            </a:r>
            <a:endParaRPr lang="en-US" sz="1250" dirty="0"/>
          </a:p>
        </p:txBody>
      </p:sp>
      <p:sp>
        <p:nvSpPr>
          <p:cNvPr id="19" name="Text 17"/>
          <p:cNvSpPr txBox="1"/>
          <p:nvPr/>
        </p:nvSpPr>
        <p:spPr>
          <a:xfrm>
            <a:off x="3886190" y="3765541"/>
            <a:ext cx="23494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€ 575</a:t>
            </a:r>
            <a:endParaRPr lang="en-US" sz="1250" dirty="0"/>
          </a:p>
        </p:txBody>
      </p:sp>
      <p:sp>
        <p:nvSpPr>
          <p:cNvPr id="20" name="Text 18"/>
          <p:cNvSpPr txBox="1"/>
          <p:nvPr/>
        </p:nvSpPr>
        <p:spPr>
          <a:xfrm>
            <a:off x="6324584" y="3765541"/>
            <a:ext cx="23494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€ 2.875 tot € 4.025</a:t>
            </a:r>
            <a:endParaRPr lang="en-US" sz="1250" dirty="0"/>
          </a:p>
        </p:txBody>
      </p:sp>
      <p:sp>
        <p:nvSpPr>
          <p:cNvPr id="21" name="Text 19"/>
          <p:cNvSpPr txBox="1"/>
          <p:nvPr/>
        </p:nvSpPr>
        <p:spPr>
          <a:xfrm>
            <a:off x="8737578" y="3765541"/>
            <a:ext cx="25399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 13 tot 18</a:t>
            </a:r>
            <a:endParaRPr lang="en-US" sz="1250" dirty="0"/>
          </a:p>
        </p:txBody>
      </p:sp>
      <p:sp>
        <p:nvSpPr>
          <p:cNvPr id="22" name="Shape 20"/>
          <p:cNvSpPr/>
          <p:nvPr/>
        </p:nvSpPr>
        <p:spPr>
          <a:xfrm>
            <a:off x="615948" y="4394189"/>
            <a:ext cx="10960073" cy="628648"/>
          </a:xfrm>
          <a:prstGeom prst="rect">
            <a:avLst/>
          </a:prstGeom>
          <a:solidFill>
            <a:srgbClr val="38B6FF">
              <a:alpha val="11000"/>
            </a:srgbClr>
          </a:solidFill>
          <a:ln/>
        </p:spPr>
      </p:sp>
      <p:sp>
        <p:nvSpPr>
          <p:cNvPr id="23" name="Shape 21"/>
          <p:cNvSpPr/>
          <p:nvPr/>
        </p:nvSpPr>
        <p:spPr>
          <a:xfrm>
            <a:off x="609598" y="4394189"/>
            <a:ext cx="10972773" cy="0"/>
          </a:xfrm>
          <a:prstGeom prst="line">
            <a:avLst/>
          </a:prstGeom>
          <a:noFill/>
          <a:ln w="9525">
            <a:solidFill>
              <a:srgbClr val="3A4152"/>
            </a:solidFill>
            <a:prstDash val="solid"/>
          </a:ln>
        </p:spPr>
      </p:sp>
      <p:sp>
        <p:nvSpPr>
          <p:cNvPr id="24" name="Text 22"/>
          <p:cNvSpPr txBox="1"/>
          <p:nvPr/>
        </p:nvSpPr>
        <p:spPr>
          <a:xfrm>
            <a:off x="888998" y="4394189"/>
            <a:ext cx="2920993"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8 beldagen of meer</a:t>
            </a:r>
            <a:endParaRPr lang="en-US" sz="1250" dirty="0"/>
          </a:p>
        </p:txBody>
      </p:sp>
      <p:sp>
        <p:nvSpPr>
          <p:cNvPr id="25" name="Text 23"/>
          <p:cNvSpPr txBox="1"/>
          <p:nvPr/>
        </p:nvSpPr>
        <p:spPr>
          <a:xfrm>
            <a:off x="3886190" y="4394189"/>
            <a:ext cx="23494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€ 550</a:t>
            </a:r>
            <a:endParaRPr lang="en-US" sz="1250" dirty="0"/>
          </a:p>
        </p:txBody>
      </p:sp>
      <p:sp>
        <p:nvSpPr>
          <p:cNvPr id="26" name="Text 24"/>
          <p:cNvSpPr txBox="1"/>
          <p:nvPr/>
        </p:nvSpPr>
        <p:spPr>
          <a:xfrm>
            <a:off x="6324584" y="4394189"/>
            <a:ext cx="23494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vanaf € 4.400</a:t>
            </a:r>
            <a:endParaRPr lang="en-US" sz="1250" dirty="0"/>
          </a:p>
        </p:txBody>
      </p:sp>
      <p:sp>
        <p:nvSpPr>
          <p:cNvPr id="27" name="Text 25"/>
          <p:cNvSpPr txBox="1"/>
          <p:nvPr/>
        </p:nvSpPr>
        <p:spPr>
          <a:xfrm>
            <a:off x="8737578" y="4394189"/>
            <a:ext cx="25399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 20</a:t>
            </a:r>
            <a:endParaRPr lang="en-US" sz="1250" dirty="0"/>
          </a:p>
        </p:txBody>
      </p:sp>
      <p:sp>
        <p:nvSpPr>
          <p:cNvPr id="28" name="Shape 26"/>
          <p:cNvSpPr/>
          <p:nvPr/>
        </p:nvSpPr>
        <p:spPr>
          <a:xfrm>
            <a:off x="609598" y="5854685"/>
            <a:ext cx="76200" cy="76200"/>
          </a:xfrm>
          <a:prstGeom prst="ellipse">
            <a:avLst/>
          </a:prstGeom>
          <a:solidFill>
            <a:srgbClr val="38B6FF"/>
          </a:solidFill>
          <a:ln/>
        </p:spPr>
      </p:sp>
      <p:sp>
        <p:nvSpPr>
          <p:cNvPr id="29" name="Text 27"/>
          <p:cNvSpPr txBox="1"/>
          <p:nvPr/>
        </p:nvSpPr>
        <p:spPr>
          <a:xfrm>
            <a:off x="800098" y="5651486"/>
            <a:ext cx="9905975" cy="482599"/>
          </a:xfrm>
          <a:prstGeom prst="rect">
            <a:avLst/>
          </a:prstGeom>
          <a:noFill/>
          <a:ln/>
        </p:spPr>
        <p:txBody>
          <a:bodyPr wrap="square" lIns="0" tIns="0" rIns="0" bIns="0" rtlCol="0" anchor="ctr"/>
          <a:lstStyle/>
          <a:p>
            <a:pPr indent="0" marL="0">
              <a:buNone/>
            </a:pPr>
            <a:r>
              <a:rPr lang="en-US" sz="1200" b="1" dirty="0">
                <a:solidFill>
                  <a:srgbClr val="F2EFE6"/>
                </a:solidFill>
                <a:latin typeface="Arial" pitchFamily="34" charset="0"/>
                <a:ea typeface="Arial" pitchFamily="34" charset="-122"/>
                <a:cs typeface="Arial" pitchFamily="34" charset="-120"/>
              </a:rPr>
              <a:t>De aantallen gaan uit van honderdvijftig contactpogingen en 2,5 gekwalificeerde afspraken per beldag. In jullie pilot lag dat rendement op 3 per beldag, dus we rekenen met een marge. Minimaal vier beldagen per periode, prijzen excl. btw.</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Voorstel GrowOn Agency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11 / 15</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HOE WE AFREKENEN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Vooraf een vaste prijs, achteraf geen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verrassingen</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463794"/>
            <a:ext cx="2628893" cy="2362194"/>
          </a:xfrm>
          <a:prstGeom prst="roundRect">
            <a:avLst>
              <a:gd name="adj" fmla="val 4301"/>
            </a:avLst>
          </a:prstGeom>
          <a:solidFill>
            <a:srgbClr val="1B2130"/>
          </a:solidFill>
          <a:ln w="9525">
            <a:solidFill>
              <a:srgbClr val="3A4152"/>
            </a:solidFill>
            <a:prstDash val="solid"/>
          </a:ln>
        </p:spPr>
      </p:sp>
      <p:sp>
        <p:nvSpPr>
          <p:cNvPr id="8" name="Shape 6"/>
          <p:cNvSpPr/>
          <p:nvPr/>
        </p:nvSpPr>
        <p:spPr>
          <a:xfrm>
            <a:off x="825498" y="2692393"/>
            <a:ext cx="292099" cy="292099"/>
          </a:xfrm>
          <a:prstGeom prst="ellipse">
            <a:avLst/>
          </a:prstGeom>
          <a:ln w="15240">
            <a:solidFill>
              <a:srgbClr val="38B6FF"/>
            </a:solidFill>
            <a:prstDash val="solid"/>
          </a:ln>
        </p:spPr>
      </p:sp>
      <p:sp>
        <p:nvSpPr>
          <p:cNvPr id="9" name="Text 7"/>
          <p:cNvSpPr txBox="1"/>
          <p:nvPr/>
        </p:nvSpPr>
        <p:spPr>
          <a:xfrm>
            <a:off x="825498"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1</a:t>
            </a:r>
            <a:endParaRPr lang="en-US" sz="1000" dirty="0"/>
          </a:p>
        </p:txBody>
      </p:sp>
      <p:sp>
        <p:nvSpPr>
          <p:cNvPr id="10" name="Text 8"/>
          <p:cNvSpPr txBox="1"/>
          <p:nvPr/>
        </p:nvSpPr>
        <p:spPr>
          <a:xfrm>
            <a:off x="825498"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Vaste prijs per beldag</a:t>
            </a:r>
            <a:endParaRPr lang="en-US" sz="1150" dirty="0"/>
          </a:p>
        </p:txBody>
      </p:sp>
      <p:sp>
        <p:nvSpPr>
          <p:cNvPr id="11" name="Text 9"/>
          <p:cNvSpPr txBox="1"/>
          <p:nvPr/>
        </p:nvSpPr>
        <p:spPr>
          <a:xfrm>
            <a:off x="825498"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Je betaalt per beldag, vooraf gefactureerd per werkperiode. Geen nacalculatie en geen kosten per afspraak.</a:t>
            </a:r>
            <a:endParaRPr lang="en-US" sz="875" dirty="0"/>
          </a:p>
        </p:txBody>
      </p:sp>
      <p:sp>
        <p:nvSpPr>
          <p:cNvPr id="12" name="Shape 10"/>
          <p:cNvSpPr/>
          <p:nvPr/>
        </p:nvSpPr>
        <p:spPr>
          <a:xfrm>
            <a:off x="3390892" y="2463794"/>
            <a:ext cx="2628893" cy="2362194"/>
          </a:xfrm>
          <a:prstGeom prst="roundRect">
            <a:avLst>
              <a:gd name="adj" fmla="val 4301"/>
            </a:avLst>
          </a:prstGeom>
          <a:solidFill>
            <a:srgbClr val="1B2130"/>
          </a:solidFill>
          <a:ln w="9525">
            <a:solidFill>
              <a:srgbClr val="3A4152"/>
            </a:solidFill>
            <a:prstDash val="solid"/>
          </a:ln>
        </p:spPr>
      </p:sp>
      <p:sp>
        <p:nvSpPr>
          <p:cNvPr id="13" name="Shape 11"/>
          <p:cNvSpPr/>
          <p:nvPr/>
        </p:nvSpPr>
        <p:spPr>
          <a:xfrm>
            <a:off x="3606791" y="2692393"/>
            <a:ext cx="292099" cy="292099"/>
          </a:xfrm>
          <a:prstGeom prst="ellipse">
            <a:avLst/>
          </a:prstGeom>
          <a:ln w="15240">
            <a:solidFill>
              <a:srgbClr val="38B6FF"/>
            </a:solidFill>
            <a:prstDash val="solid"/>
          </a:ln>
        </p:spPr>
      </p:sp>
      <p:sp>
        <p:nvSpPr>
          <p:cNvPr id="14" name="Text 12"/>
          <p:cNvSpPr txBox="1"/>
          <p:nvPr/>
        </p:nvSpPr>
        <p:spPr>
          <a:xfrm>
            <a:off x="3606791"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2</a:t>
            </a:r>
            <a:endParaRPr lang="en-US" sz="1000" dirty="0"/>
          </a:p>
        </p:txBody>
      </p:sp>
      <p:sp>
        <p:nvSpPr>
          <p:cNvPr id="15" name="Text 13"/>
          <p:cNvSpPr txBox="1"/>
          <p:nvPr/>
        </p:nvSpPr>
        <p:spPr>
          <a:xfrm>
            <a:off x="3606791"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Tien afspraken per periode</a:t>
            </a:r>
            <a:endParaRPr lang="en-US" sz="1150" dirty="0"/>
          </a:p>
        </p:txBody>
      </p:sp>
      <p:sp>
        <p:nvSpPr>
          <p:cNvPr id="16" name="Text 14"/>
          <p:cNvSpPr txBox="1"/>
          <p:nvPr/>
        </p:nvSpPr>
        <p:spPr>
          <a:xfrm>
            <a:off x="3606791"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Dat is de afspraak waar je ons aan mag houden. Het aantal pogingen en gesprekken laten we zien in de rapportage, maar de tien afspraken zijn wat we garanderen.</a:t>
            </a:r>
            <a:endParaRPr lang="en-US" sz="875" dirty="0"/>
          </a:p>
        </p:txBody>
      </p:sp>
      <p:sp>
        <p:nvSpPr>
          <p:cNvPr id="17" name="Shape 15"/>
          <p:cNvSpPr/>
          <p:nvPr/>
        </p:nvSpPr>
        <p:spPr>
          <a:xfrm>
            <a:off x="6172185" y="2463794"/>
            <a:ext cx="2628893" cy="2362194"/>
          </a:xfrm>
          <a:prstGeom prst="roundRect">
            <a:avLst>
              <a:gd name="adj" fmla="val 4301"/>
            </a:avLst>
          </a:prstGeom>
          <a:solidFill>
            <a:srgbClr val="1B2130"/>
          </a:solidFill>
          <a:ln w="9525">
            <a:solidFill>
              <a:srgbClr val="3A4152"/>
            </a:solidFill>
            <a:prstDash val="solid"/>
          </a:ln>
        </p:spPr>
      </p:sp>
      <p:sp>
        <p:nvSpPr>
          <p:cNvPr id="18" name="Shape 16"/>
          <p:cNvSpPr/>
          <p:nvPr/>
        </p:nvSpPr>
        <p:spPr>
          <a:xfrm>
            <a:off x="6388084" y="2692393"/>
            <a:ext cx="292099" cy="292099"/>
          </a:xfrm>
          <a:prstGeom prst="ellipse">
            <a:avLst/>
          </a:prstGeom>
          <a:ln w="15240">
            <a:solidFill>
              <a:srgbClr val="38B6FF"/>
            </a:solidFill>
            <a:prstDash val="solid"/>
          </a:ln>
        </p:spPr>
      </p:sp>
      <p:sp>
        <p:nvSpPr>
          <p:cNvPr id="19" name="Text 17"/>
          <p:cNvSpPr txBox="1"/>
          <p:nvPr/>
        </p:nvSpPr>
        <p:spPr>
          <a:xfrm>
            <a:off x="6388084"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3</a:t>
            </a:r>
            <a:endParaRPr lang="en-US" sz="1000" dirty="0"/>
          </a:p>
        </p:txBody>
      </p:sp>
      <p:sp>
        <p:nvSpPr>
          <p:cNvPr id="20" name="Text 18"/>
          <p:cNvSpPr txBox="1"/>
          <p:nvPr/>
        </p:nvSpPr>
        <p:spPr>
          <a:xfrm>
            <a:off x="6388084"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Niet gehaald is een gratis beldag</a:t>
            </a:r>
            <a:endParaRPr lang="en-US" sz="1150" dirty="0"/>
          </a:p>
        </p:txBody>
      </p:sp>
      <p:sp>
        <p:nvSpPr>
          <p:cNvPr id="21" name="Text 19"/>
          <p:cNvSpPr txBox="1"/>
          <p:nvPr/>
        </p:nvSpPr>
        <p:spPr>
          <a:xfrm>
            <a:off x="6388084"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Staan de tien afspraken er na zeshonderd pogingen niet, dan bellen we een dag extra die niet op de rekening komt. Maximaal een per werkperiode.</a:t>
            </a:r>
            <a:endParaRPr lang="en-US" sz="875" dirty="0"/>
          </a:p>
        </p:txBody>
      </p:sp>
      <p:sp>
        <p:nvSpPr>
          <p:cNvPr id="22" name="Shape 20"/>
          <p:cNvSpPr/>
          <p:nvPr/>
        </p:nvSpPr>
        <p:spPr>
          <a:xfrm>
            <a:off x="8953478" y="2463794"/>
            <a:ext cx="2628893" cy="2362194"/>
          </a:xfrm>
          <a:prstGeom prst="roundRect">
            <a:avLst>
              <a:gd name="adj" fmla="val 4301"/>
            </a:avLst>
          </a:prstGeom>
          <a:solidFill>
            <a:srgbClr val="1B2130"/>
          </a:solidFill>
          <a:ln w="15240">
            <a:solidFill>
              <a:srgbClr val="38B6FF"/>
            </a:solidFill>
            <a:prstDash val="solid"/>
          </a:ln>
        </p:spPr>
      </p:sp>
      <p:sp>
        <p:nvSpPr>
          <p:cNvPr id="23" name="Shape 21"/>
          <p:cNvSpPr/>
          <p:nvPr/>
        </p:nvSpPr>
        <p:spPr>
          <a:xfrm>
            <a:off x="9169377" y="2692393"/>
            <a:ext cx="292099" cy="292099"/>
          </a:xfrm>
          <a:prstGeom prst="ellipse">
            <a:avLst/>
          </a:prstGeom>
          <a:ln w="15240">
            <a:solidFill>
              <a:srgbClr val="38B6FF"/>
            </a:solidFill>
            <a:prstDash val="solid"/>
          </a:ln>
        </p:spPr>
      </p:sp>
      <p:sp>
        <p:nvSpPr>
          <p:cNvPr id="24" name="Text 22"/>
          <p:cNvSpPr txBox="1"/>
          <p:nvPr/>
        </p:nvSpPr>
        <p:spPr>
          <a:xfrm>
            <a:off x="9169377"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4</a:t>
            </a:r>
            <a:endParaRPr lang="en-US" sz="1000" dirty="0"/>
          </a:p>
        </p:txBody>
      </p:sp>
      <p:sp>
        <p:nvSpPr>
          <p:cNvPr id="25" name="Text 23"/>
          <p:cNvSpPr txBox="1"/>
          <p:nvPr/>
        </p:nvSpPr>
        <p:spPr>
          <a:xfrm>
            <a:off x="9169377"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38B6FF"/>
                </a:solidFill>
                <a:latin typeface="Arial" pitchFamily="34" charset="0"/>
                <a:ea typeface="Arial" pitchFamily="34" charset="-122"/>
                <a:cs typeface="Arial" pitchFamily="34" charset="-120"/>
              </a:rPr>
              <a:t>Succesfee van 5 procent</a:t>
            </a:r>
            <a:endParaRPr lang="en-US" sz="1150" dirty="0"/>
          </a:p>
        </p:txBody>
      </p:sp>
      <p:sp>
        <p:nvSpPr>
          <p:cNvPr id="26" name="Text 24"/>
          <p:cNvSpPr txBox="1"/>
          <p:nvPr/>
        </p:nvSpPr>
        <p:spPr>
          <a:xfrm>
            <a:off x="9169377"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Over de omzet die een klant uit onze afspraken jullie in het eerste jaar oplevert. Zo blijven wij sturen op afspraken die ook echt klant worden, niet op aantallen.</a:t>
            </a:r>
            <a:endParaRPr lang="en-US" sz="875" dirty="0"/>
          </a:p>
        </p:txBody>
      </p:sp>
      <p:sp>
        <p:nvSpPr>
          <p:cNvPr id="27" name="Shape 25"/>
          <p:cNvSpPr/>
          <p:nvPr/>
        </p:nvSpPr>
        <p:spPr>
          <a:xfrm>
            <a:off x="609598" y="5079987"/>
            <a:ext cx="10972773" cy="1028697"/>
          </a:xfrm>
          <a:prstGeom prst="roundRect">
            <a:avLst>
              <a:gd name="adj" fmla="val 9877"/>
            </a:avLst>
          </a:prstGeom>
          <a:solidFill>
            <a:srgbClr val="38B6FF"/>
          </a:solidFill>
          <a:ln/>
        </p:spPr>
      </p:sp>
      <p:sp>
        <p:nvSpPr>
          <p:cNvPr id="28" name="Text 26"/>
          <p:cNvSpPr txBox="1"/>
          <p:nvPr/>
        </p:nvSpPr>
        <p:spPr>
          <a:xfrm>
            <a:off x="914398" y="5245087"/>
            <a:ext cx="1904995" cy="165100"/>
          </a:xfrm>
          <a:prstGeom prst="rect">
            <a:avLst/>
          </a:prstGeom>
          <a:noFill/>
          <a:ln/>
        </p:spPr>
        <p:txBody>
          <a:bodyPr wrap="square" lIns="0" tIns="0" rIns="0" bIns="0" rtlCol="0" anchor="ctr"/>
          <a:lstStyle/>
          <a:p>
            <a:pPr indent="0" marL="0">
              <a:buNone/>
            </a:pPr>
            <a:r>
              <a:rPr lang="en-US" sz="800" b="1" spc="200" kern="0" dirty="0">
                <a:solidFill>
                  <a:srgbClr val="0D1420"/>
                </a:solidFill>
                <a:latin typeface="Arial" pitchFamily="34" charset="0"/>
                <a:ea typeface="Arial" pitchFamily="34" charset="-122"/>
                <a:cs typeface="Arial" pitchFamily="34" charset="-120"/>
              </a:rPr>
              <a:t>PRIJS PER BELDAG</a:t>
            </a:r>
            <a:endParaRPr lang="en-US" sz="800" dirty="0"/>
          </a:p>
        </p:txBody>
      </p:sp>
      <p:sp>
        <p:nvSpPr>
          <p:cNvPr id="29" name="Text 27"/>
          <p:cNvSpPr txBox="1"/>
          <p:nvPr/>
        </p:nvSpPr>
        <p:spPr>
          <a:xfrm>
            <a:off x="914398" y="5410186"/>
            <a:ext cx="1904995" cy="406399"/>
          </a:xfrm>
          <a:prstGeom prst="rect">
            <a:avLst/>
          </a:prstGeom>
          <a:noFill/>
          <a:ln/>
        </p:spPr>
        <p:txBody>
          <a:bodyPr wrap="square" lIns="0" tIns="0" rIns="0" bIns="0" rtlCol="0" anchor="ctr"/>
          <a:lstStyle/>
          <a:p>
            <a:pPr indent="0" marL="0">
              <a:buNone/>
            </a:pPr>
            <a:r>
              <a:rPr lang="en-US" sz="2900" b="1" dirty="0">
                <a:solidFill>
                  <a:srgbClr val="0D1420"/>
                </a:solidFill>
                <a:latin typeface="Arial" pitchFamily="34" charset="0"/>
                <a:ea typeface="Arial" pitchFamily="34" charset="-122"/>
                <a:cs typeface="Arial" pitchFamily="34" charset="-120"/>
              </a:rPr>
              <a:t>€ 600</a:t>
            </a:r>
            <a:endParaRPr lang="en-US" sz="2900" dirty="0"/>
          </a:p>
        </p:txBody>
      </p:sp>
      <p:sp>
        <p:nvSpPr>
          <p:cNvPr id="30" name="Text 28"/>
          <p:cNvSpPr txBox="1"/>
          <p:nvPr/>
        </p:nvSpPr>
        <p:spPr>
          <a:xfrm>
            <a:off x="914398" y="5829285"/>
            <a:ext cx="2031995" cy="165100"/>
          </a:xfrm>
          <a:prstGeom prst="rect">
            <a:avLst/>
          </a:prstGeom>
          <a:noFill/>
          <a:ln/>
        </p:spPr>
        <p:txBody>
          <a:bodyPr wrap="square" lIns="0" tIns="0" rIns="0" bIns="0" rtlCol="0" anchor="ctr"/>
          <a:lstStyle/>
          <a:p>
            <a:pPr indent="0" marL="0">
              <a:buNone/>
            </a:pPr>
            <a:r>
              <a:rPr lang="en-US" sz="800" b="1" dirty="0">
                <a:solidFill>
                  <a:srgbClr val="0D1420"/>
                </a:solidFill>
                <a:latin typeface="Arial" pitchFamily="34" charset="0"/>
                <a:ea typeface="Arial" pitchFamily="34" charset="-122"/>
                <a:cs typeface="Arial" pitchFamily="34" charset="-120"/>
              </a:rPr>
              <a:t>vanaf 8 beldagen € 550, excl. btw</a:t>
            </a:r>
            <a:endParaRPr lang="en-US" sz="800" dirty="0"/>
          </a:p>
        </p:txBody>
      </p:sp>
      <p:sp>
        <p:nvSpPr>
          <p:cNvPr id="31" name="Shape 29"/>
          <p:cNvSpPr/>
          <p:nvPr/>
        </p:nvSpPr>
        <p:spPr>
          <a:xfrm>
            <a:off x="3174992" y="5257787"/>
            <a:ext cx="0" cy="673098"/>
          </a:xfrm>
          <a:prstGeom prst="line">
            <a:avLst/>
          </a:prstGeom>
          <a:noFill/>
          <a:ln w="9525">
            <a:solidFill>
              <a:srgbClr val="0D1420">
                <a:alpha val="40000"/>
              </a:srgbClr>
            </a:solidFill>
            <a:prstDash val="solid"/>
          </a:ln>
        </p:spPr>
      </p:sp>
      <p:pic>
        <p:nvPicPr>
          <p:cNvPr id="32" name="Image 0" descr="preencoded.png">    </p:cNvPr>
          <p:cNvPicPr>
            <a:picLocks noChangeAspect="1"/>
          </p:cNvPicPr>
          <p:nvPr/>
        </p:nvPicPr>
        <p:blipFill>
          <a:blip r:embed="rId1"/>
          <a:stretch>
            <a:fillRect/>
          </a:stretch>
        </p:blipFill>
        <p:spPr>
          <a:xfrm>
            <a:off x="3530591" y="5276837"/>
            <a:ext cx="127000" cy="127000"/>
          </a:xfrm>
          <a:prstGeom prst="rect">
            <a:avLst/>
          </a:prstGeom>
        </p:spPr>
      </p:pic>
      <p:sp>
        <p:nvSpPr>
          <p:cNvPr id="33" name="Text 30"/>
          <p:cNvSpPr txBox="1"/>
          <p:nvPr/>
        </p:nvSpPr>
        <p:spPr>
          <a:xfrm>
            <a:off x="3733791" y="5245087"/>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Vooraf gefactureerd per werkperiode</a:t>
            </a:r>
            <a:endParaRPr lang="en-US" sz="900" dirty="0"/>
          </a:p>
        </p:txBody>
      </p:sp>
      <p:pic>
        <p:nvPicPr>
          <p:cNvPr id="34" name="Image 1" descr="preencoded.png">    </p:cNvPr>
          <p:cNvPicPr>
            <a:picLocks noChangeAspect="1"/>
          </p:cNvPicPr>
          <p:nvPr/>
        </p:nvPicPr>
        <p:blipFill>
          <a:blip r:embed="rId2"/>
          <a:stretch>
            <a:fillRect/>
          </a:stretch>
        </p:blipFill>
        <p:spPr>
          <a:xfrm>
            <a:off x="7340582" y="5276837"/>
            <a:ext cx="127000" cy="127000"/>
          </a:xfrm>
          <a:prstGeom prst="rect">
            <a:avLst/>
          </a:prstGeom>
        </p:spPr>
      </p:pic>
      <p:sp>
        <p:nvSpPr>
          <p:cNvPr id="35" name="Text 31"/>
          <p:cNvSpPr txBox="1"/>
          <p:nvPr/>
        </p:nvSpPr>
        <p:spPr>
          <a:xfrm>
            <a:off x="7543781" y="5245087"/>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Geen kosten per afspraak</a:t>
            </a:r>
            <a:endParaRPr lang="en-US" sz="900" dirty="0"/>
          </a:p>
        </p:txBody>
      </p:sp>
      <p:pic>
        <p:nvPicPr>
          <p:cNvPr id="36" name="Image 2" descr="preencoded.png">    </p:cNvPr>
          <p:cNvPicPr>
            <a:picLocks noChangeAspect="1"/>
          </p:cNvPicPr>
          <p:nvPr/>
        </p:nvPicPr>
        <p:blipFill>
          <a:blip r:embed="rId3"/>
          <a:stretch>
            <a:fillRect/>
          </a:stretch>
        </p:blipFill>
        <p:spPr>
          <a:xfrm>
            <a:off x="3530591" y="5530836"/>
            <a:ext cx="127000" cy="127000"/>
          </a:xfrm>
          <a:prstGeom prst="rect">
            <a:avLst/>
          </a:prstGeom>
        </p:spPr>
      </p:pic>
      <p:sp>
        <p:nvSpPr>
          <p:cNvPr id="37" name="Text 32"/>
          <p:cNvSpPr txBox="1"/>
          <p:nvPr/>
        </p:nvSpPr>
        <p:spPr>
          <a:xfrm>
            <a:off x="3733791" y="5499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150 contactpogingen per beldag</a:t>
            </a:r>
            <a:endParaRPr lang="en-US" sz="900" dirty="0"/>
          </a:p>
        </p:txBody>
      </p:sp>
      <p:pic>
        <p:nvPicPr>
          <p:cNvPr id="38" name="Image 3" descr="preencoded.png">    </p:cNvPr>
          <p:cNvPicPr>
            <a:picLocks noChangeAspect="1"/>
          </p:cNvPicPr>
          <p:nvPr/>
        </p:nvPicPr>
        <p:blipFill>
          <a:blip r:embed="rId4"/>
          <a:stretch>
            <a:fillRect/>
          </a:stretch>
        </p:blipFill>
        <p:spPr>
          <a:xfrm>
            <a:off x="7340582" y="5530836"/>
            <a:ext cx="127000" cy="127000"/>
          </a:xfrm>
          <a:prstGeom prst="rect">
            <a:avLst/>
          </a:prstGeom>
        </p:spPr>
      </p:pic>
      <p:sp>
        <p:nvSpPr>
          <p:cNvPr id="39" name="Text 33"/>
          <p:cNvSpPr txBox="1"/>
          <p:nvPr/>
        </p:nvSpPr>
        <p:spPr>
          <a:xfrm>
            <a:off x="7543781" y="5499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10 gekwalificeerde afspraken per periode</a:t>
            </a:r>
            <a:endParaRPr lang="en-US" sz="900" dirty="0"/>
          </a:p>
        </p:txBody>
      </p:sp>
      <p:pic>
        <p:nvPicPr>
          <p:cNvPr id="40" name="Image 4" descr="preencoded.png">    </p:cNvPr>
          <p:cNvPicPr>
            <a:picLocks noChangeAspect="1"/>
          </p:cNvPicPr>
          <p:nvPr/>
        </p:nvPicPr>
        <p:blipFill>
          <a:blip r:embed="rId5"/>
          <a:stretch>
            <a:fillRect/>
          </a:stretch>
        </p:blipFill>
        <p:spPr>
          <a:xfrm>
            <a:off x="3530591" y="5784836"/>
            <a:ext cx="127000" cy="127000"/>
          </a:xfrm>
          <a:prstGeom prst="rect">
            <a:avLst/>
          </a:prstGeom>
        </p:spPr>
      </p:pic>
      <p:sp>
        <p:nvSpPr>
          <p:cNvPr id="41" name="Text 34"/>
          <p:cNvSpPr txBox="1"/>
          <p:nvPr/>
        </p:nvSpPr>
        <p:spPr>
          <a:xfrm>
            <a:off x="3733791" y="5753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Maximaal één gratis inhaaldag</a:t>
            </a:r>
            <a:endParaRPr lang="en-US" sz="900" dirty="0"/>
          </a:p>
        </p:txBody>
      </p:sp>
      <p:pic>
        <p:nvPicPr>
          <p:cNvPr id="42" name="Image 5" descr="preencoded.png">    </p:cNvPr>
          <p:cNvPicPr>
            <a:picLocks noChangeAspect="1"/>
          </p:cNvPicPr>
          <p:nvPr/>
        </p:nvPicPr>
        <p:blipFill>
          <a:blip r:embed="rId6"/>
          <a:stretch>
            <a:fillRect/>
          </a:stretch>
        </p:blipFill>
        <p:spPr>
          <a:xfrm>
            <a:off x="7340582" y="5784836"/>
            <a:ext cx="127000" cy="127000"/>
          </a:xfrm>
          <a:prstGeom prst="rect">
            <a:avLst/>
          </a:prstGeom>
        </p:spPr>
      </p:pic>
      <p:sp>
        <p:nvSpPr>
          <p:cNvPr id="43" name="Text 35"/>
          <p:cNvSpPr txBox="1"/>
          <p:nvPr/>
        </p:nvSpPr>
        <p:spPr>
          <a:xfrm>
            <a:off x="7543781" y="5753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Succesfee van 5% blijft ongewijzigd</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Voorstel GrowOn Agency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12 / 15</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ER VERANDERT</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Hetzelfde werk, nu met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harde aantallen</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489194"/>
            <a:ext cx="2657468" cy="2768593"/>
          </a:xfrm>
          <a:prstGeom prst="roundRect">
            <a:avLst>
              <a:gd name="adj" fmla="val 3823"/>
            </a:avLst>
          </a:prstGeom>
          <a:solidFill>
            <a:srgbClr val="F8F4EB"/>
          </a:solidFill>
          <a:ln/>
        </p:spPr>
      </p:sp>
      <p:sp>
        <p:nvSpPr>
          <p:cNvPr id="8" name="Text 6"/>
          <p:cNvSpPr txBox="1"/>
          <p:nvPr/>
        </p:nvSpPr>
        <p:spPr>
          <a:xfrm>
            <a:off x="774698" y="2743193"/>
            <a:ext cx="2327269" cy="190500"/>
          </a:xfrm>
          <a:prstGeom prst="rect">
            <a:avLst/>
          </a:prstGeom>
          <a:noFill/>
          <a:ln/>
        </p:spPr>
        <p:txBody>
          <a:bodyPr wrap="square" lIns="0" tIns="0" rIns="0" bIns="0" rtlCol="0" anchor="ctr"/>
          <a:lstStyle/>
          <a:p>
            <a:pPr indent="0" marL="0">
              <a:buNone/>
            </a:pPr>
            <a:r>
              <a:rPr lang="en-US" sz="800" b="1" spc="180" kern="0" dirty="0">
                <a:solidFill>
                  <a:srgbClr val="6F6A5C"/>
                </a:solidFill>
                <a:latin typeface="Arial" pitchFamily="34" charset="0"/>
                <a:ea typeface="Arial" pitchFamily="34" charset="-122"/>
                <a:cs typeface="Arial" pitchFamily="34" charset="-120"/>
              </a:rPr>
              <a:t>NU</a:t>
            </a:r>
            <a:endParaRPr lang="en-US" sz="800" dirty="0"/>
          </a:p>
        </p:txBody>
      </p:sp>
      <p:sp>
        <p:nvSpPr>
          <p:cNvPr id="9" name="Text 7"/>
          <p:cNvSpPr txBox="1"/>
          <p:nvPr/>
        </p:nvSpPr>
        <p:spPr>
          <a:xfrm>
            <a:off x="774698" y="2959093"/>
            <a:ext cx="2327269" cy="355599"/>
          </a:xfrm>
          <a:prstGeom prst="rect">
            <a:avLst/>
          </a:prstGeom>
          <a:noFill/>
          <a:ln/>
        </p:spPr>
        <p:txBody>
          <a:bodyPr wrap="square" lIns="0" tIns="0" rIns="0" bIns="0" rtlCol="0" anchor="ctr"/>
          <a:lstStyle/>
          <a:p>
            <a:pPr indent="0" marL="0">
              <a:lnSpc>
                <a:spcPct val="115000"/>
              </a:lnSpc>
              <a:buNone/>
            </a:pPr>
            <a:r>
              <a:rPr lang="en-US" sz="1050" b="1" dirty="0">
                <a:solidFill>
                  <a:srgbClr val="1C2230"/>
                </a:solidFill>
                <a:latin typeface="Arial" pitchFamily="34" charset="0"/>
                <a:ea typeface="Arial" pitchFamily="34" charset="-122"/>
                <a:cs typeface="Arial" pitchFamily="34" charset="-120"/>
              </a:rPr>
              <a:t>Zoals het nu loopt</a:t>
            </a:r>
            <a:endParaRPr lang="en-US" sz="1050" dirty="0"/>
          </a:p>
        </p:txBody>
      </p:sp>
      <p:sp>
        <p:nvSpPr>
          <p:cNvPr id="10" name="Text 8"/>
          <p:cNvSpPr txBox="1"/>
          <p:nvPr/>
        </p:nvSpPr>
        <p:spPr>
          <a:xfrm>
            <a:off x="774698" y="3378192"/>
            <a:ext cx="1730371" cy="350519"/>
          </a:xfrm>
          <a:prstGeom prst="rect">
            <a:avLst/>
          </a:prstGeom>
          <a:noFill/>
          <a:ln/>
        </p:spPr>
        <p:txBody>
          <a:bodyPr wrap="square" lIns="0" tIns="0" rIns="0" bIns="0" rtlCol="0" anchor="ctr"/>
          <a:lstStyle/>
          <a:p>
            <a:pPr indent="0" marL="0">
              <a:buNone/>
            </a:pPr>
            <a:r>
              <a:rPr lang="en-US" sz="800" dirty="0">
                <a:solidFill>
                  <a:srgbClr val="6F6A5C"/>
                </a:solidFill>
                <a:latin typeface="Arial" pitchFamily="34" charset="0"/>
                <a:ea typeface="Arial" pitchFamily="34" charset="-122"/>
                <a:cs typeface="Arial" pitchFamily="34" charset="-120"/>
              </a:rPr>
              <a:t>Beldagen</a:t>
            </a:r>
            <a:endParaRPr lang="en-US" sz="800" dirty="0"/>
          </a:p>
        </p:txBody>
      </p:sp>
      <p:sp>
        <p:nvSpPr>
          <p:cNvPr id="11" name="Text 9"/>
          <p:cNvSpPr txBox="1"/>
          <p:nvPr/>
        </p:nvSpPr>
        <p:spPr>
          <a:xfrm>
            <a:off x="2276469" y="3378192"/>
            <a:ext cx="825498" cy="350519"/>
          </a:xfrm>
          <a:prstGeom prst="rect">
            <a:avLst/>
          </a:prstGeom>
          <a:noFill/>
          <a:ln/>
        </p:spPr>
        <p:txBody>
          <a:bodyPr wrap="square" lIns="0" tIns="0" rIns="0" bIns="0" rtlCol="0" anchor="ctr"/>
          <a:lstStyle/>
          <a:p>
            <a:pPr algn="r" indent="0" marL="0">
              <a:buNone/>
            </a:pPr>
            <a:r>
              <a:rPr lang="en-US" sz="1000" b="1" dirty="0">
                <a:solidFill>
                  <a:srgbClr val="1C2230"/>
                </a:solidFill>
                <a:latin typeface="Arial" pitchFamily="34" charset="0"/>
                <a:ea typeface="Arial" pitchFamily="34" charset="-122"/>
                <a:cs typeface="Arial" pitchFamily="34" charset="-120"/>
              </a:rPr>
              <a:t>± 2,7</a:t>
            </a:r>
            <a:endParaRPr lang="en-US" sz="1000" dirty="0"/>
          </a:p>
        </p:txBody>
      </p:sp>
      <p:sp>
        <p:nvSpPr>
          <p:cNvPr id="12" name="Shape 10"/>
          <p:cNvSpPr/>
          <p:nvPr/>
        </p:nvSpPr>
        <p:spPr>
          <a:xfrm>
            <a:off x="774698" y="3728711"/>
            <a:ext cx="2327269" cy="0"/>
          </a:xfrm>
          <a:prstGeom prst="line">
            <a:avLst/>
          </a:prstGeom>
          <a:noFill/>
          <a:ln w="9525">
            <a:solidFill>
              <a:srgbClr val="D8D2C4"/>
            </a:solidFill>
            <a:prstDash val="solid"/>
          </a:ln>
        </p:spPr>
      </p:sp>
      <p:sp>
        <p:nvSpPr>
          <p:cNvPr id="13" name="Text 11"/>
          <p:cNvSpPr txBox="1"/>
          <p:nvPr/>
        </p:nvSpPr>
        <p:spPr>
          <a:xfrm>
            <a:off x="774698" y="3728711"/>
            <a:ext cx="1730371" cy="350519"/>
          </a:xfrm>
          <a:prstGeom prst="rect">
            <a:avLst/>
          </a:prstGeom>
          <a:noFill/>
          <a:ln/>
        </p:spPr>
        <p:txBody>
          <a:bodyPr wrap="square" lIns="0" tIns="0" rIns="0" bIns="0" rtlCol="0" anchor="ctr"/>
          <a:lstStyle/>
          <a:p>
            <a:pPr indent="0" marL="0">
              <a:buNone/>
            </a:pPr>
            <a:r>
              <a:rPr lang="en-US" sz="800" dirty="0">
                <a:solidFill>
                  <a:srgbClr val="6F6A5C"/>
                </a:solidFill>
                <a:latin typeface="Arial" pitchFamily="34" charset="0"/>
                <a:ea typeface="Arial" pitchFamily="34" charset="-122"/>
                <a:cs typeface="Arial" pitchFamily="34" charset="-120"/>
              </a:rPr>
              <a:t>Contactpogingen</a:t>
            </a:r>
            <a:endParaRPr lang="en-US" sz="800" dirty="0"/>
          </a:p>
        </p:txBody>
      </p:sp>
      <p:sp>
        <p:nvSpPr>
          <p:cNvPr id="14" name="Text 12"/>
          <p:cNvSpPr txBox="1"/>
          <p:nvPr/>
        </p:nvSpPr>
        <p:spPr>
          <a:xfrm>
            <a:off x="2276469" y="3728711"/>
            <a:ext cx="825498" cy="350519"/>
          </a:xfrm>
          <a:prstGeom prst="rect">
            <a:avLst/>
          </a:prstGeom>
          <a:noFill/>
          <a:ln/>
        </p:spPr>
        <p:txBody>
          <a:bodyPr wrap="square" lIns="0" tIns="0" rIns="0" bIns="0" rtlCol="0" anchor="ctr"/>
          <a:lstStyle/>
          <a:p>
            <a:pPr algn="r" indent="0" marL="0">
              <a:buNone/>
            </a:pPr>
            <a:r>
              <a:rPr lang="en-US" sz="1000" b="1" dirty="0">
                <a:solidFill>
                  <a:srgbClr val="1C2230"/>
                </a:solidFill>
                <a:latin typeface="Arial" pitchFamily="34" charset="0"/>
                <a:ea typeface="Arial" pitchFamily="34" charset="-122"/>
                <a:cs typeface="Arial" pitchFamily="34" charset="-120"/>
              </a:rPr>
              <a:t>± 400</a:t>
            </a:r>
            <a:endParaRPr lang="en-US" sz="1000" dirty="0"/>
          </a:p>
        </p:txBody>
      </p:sp>
      <p:sp>
        <p:nvSpPr>
          <p:cNvPr id="15" name="Shape 13"/>
          <p:cNvSpPr/>
          <p:nvPr/>
        </p:nvSpPr>
        <p:spPr>
          <a:xfrm>
            <a:off x="774698" y="4079230"/>
            <a:ext cx="2327269" cy="0"/>
          </a:xfrm>
          <a:prstGeom prst="line">
            <a:avLst/>
          </a:prstGeom>
          <a:noFill/>
          <a:ln w="9525">
            <a:solidFill>
              <a:srgbClr val="D8D2C4"/>
            </a:solidFill>
            <a:prstDash val="solid"/>
          </a:ln>
        </p:spPr>
      </p:sp>
      <p:sp>
        <p:nvSpPr>
          <p:cNvPr id="16" name="Text 14"/>
          <p:cNvSpPr txBox="1"/>
          <p:nvPr/>
        </p:nvSpPr>
        <p:spPr>
          <a:xfrm>
            <a:off x="774698" y="4079230"/>
            <a:ext cx="1730371" cy="350519"/>
          </a:xfrm>
          <a:prstGeom prst="rect">
            <a:avLst/>
          </a:prstGeom>
          <a:noFill/>
          <a:ln/>
        </p:spPr>
        <p:txBody>
          <a:bodyPr wrap="square" lIns="0" tIns="0" rIns="0" bIns="0" rtlCol="0" anchor="ctr"/>
          <a:lstStyle/>
          <a:p>
            <a:pPr indent="0" marL="0">
              <a:buNone/>
            </a:pPr>
            <a:r>
              <a:rPr lang="en-US" sz="800" dirty="0">
                <a:solidFill>
                  <a:srgbClr val="6F6A5C"/>
                </a:solidFill>
                <a:latin typeface="Arial" pitchFamily="34" charset="0"/>
                <a:ea typeface="Arial" pitchFamily="34" charset="-122"/>
                <a:cs typeface="Arial" pitchFamily="34" charset="-120"/>
              </a:rPr>
              <a:t>Afspraken</a:t>
            </a:r>
            <a:endParaRPr lang="en-US" sz="800" dirty="0"/>
          </a:p>
        </p:txBody>
      </p:sp>
      <p:sp>
        <p:nvSpPr>
          <p:cNvPr id="17" name="Text 15"/>
          <p:cNvSpPr txBox="1"/>
          <p:nvPr/>
        </p:nvSpPr>
        <p:spPr>
          <a:xfrm>
            <a:off x="2276469" y="4079230"/>
            <a:ext cx="825498" cy="350519"/>
          </a:xfrm>
          <a:prstGeom prst="rect">
            <a:avLst/>
          </a:prstGeom>
          <a:noFill/>
          <a:ln/>
        </p:spPr>
        <p:txBody>
          <a:bodyPr wrap="square" lIns="0" tIns="0" rIns="0" bIns="0" rtlCol="0" anchor="ctr"/>
          <a:lstStyle/>
          <a:p>
            <a:pPr algn="r" indent="0" marL="0">
              <a:buNone/>
            </a:pPr>
            <a:r>
              <a:rPr lang="en-US" sz="1000" b="1" dirty="0">
                <a:solidFill>
                  <a:srgbClr val="1C2230"/>
                </a:solidFill>
                <a:latin typeface="Arial" pitchFamily="34" charset="0"/>
                <a:ea typeface="Arial" pitchFamily="34" charset="-122"/>
                <a:cs typeface="Arial" pitchFamily="34" charset="-120"/>
              </a:rPr>
              <a:t>± 8</a:t>
            </a:r>
            <a:endParaRPr lang="en-US" sz="1000" dirty="0"/>
          </a:p>
        </p:txBody>
      </p:sp>
      <p:sp>
        <p:nvSpPr>
          <p:cNvPr id="18" name="Shape 16"/>
          <p:cNvSpPr/>
          <p:nvPr/>
        </p:nvSpPr>
        <p:spPr>
          <a:xfrm>
            <a:off x="774698" y="4429749"/>
            <a:ext cx="2327269" cy="0"/>
          </a:xfrm>
          <a:prstGeom prst="line">
            <a:avLst/>
          </a:prstGeom>
          <a:noFill/>
          <a:ln w="9525">
            <a:solidFill>
              <a:srgbClr val="D8D2C4"/>
            </a:solidFill>
            <a:prstDash val="solid"/>
          </a:ln>
        </p:spPr>
      </p:sp>
      <p:sp>
        <p:nvSpPr>
          <p:cNvPr id="19" name="Text 17"/>
          <p:cNvSpPr txBox="1"/>
          <p:nvPr/>
        </p:nvSpPr>
        <p:spPr>
          <a:xfrm>
            <a:off x="774698" y="4429749"/>
            <a:ext cx="1730371" cy="350519"/>
          </a:xfrm>
          <a:prstGeom prst="rect">
            <a:avLst/>
          </a:prstGeom>
          <a:noFill/>
          <a:ln/>
        </p:spPr>
        <p:txBody>
          <a:bodyPr wrap="square" lIns="0" tIns="0" rIns="0" bIns="0" rtlCol="0" anchor="ctr"/>
          <a:lstStyle/>
          <a:p>
            <a:pPr indent="0" marL="0">
              <a:buNone/>
            </a:pPr>
            <a:r>
              <a:rPr lang="en-US" sz="800" dirty="0">
                <a:solidFill>
                  <a:srgbClr val="6F6A5C"/>
                </a:solidFill>
                <a:latin typeface="Arial" pitchFamily="34" charset="0"/>
                <a:ea typeface="Arial" pitchFamily="34" charset="-122"/>
                <a:cs typeface="Arial" pitchFamily="34" charset="-120"/>
              </a:rPr>
              <a:t>Per beldag</a:t>
            </a:r>
            <a:endParaRPr lang="en-US" sz="800" dirty="0"/>
          </a:p>
        </p:txBody>
      </p:sp>
      <p:sp>
        <p:nvSpPr>
          <p:cNvPr id="20" name="Text 18"/>
          <p:cNvSpPr txBox="1"/>
          <p:nvPr/>
        </p:nvSpPr>
        <p:spPr>
          <a:xfrm>
            <a:off x="2276469" y="4429749"/>
            <a:ext cx="825498" cy="350519"/>
          </a:xfrm>
          <a:prstGeom prst="rect">
            <a:avLst/>
          </a:prstGeom>
          <a:noFill/>
          <a:ln/>
        </p:spPr>
        <p:txBody>
          <a:bodyPr wrap="square" lIns="0" tIns="0" rIns="0" bIns="0" rtlCol="0" anchor="ctr"/>
          <a:lstStyle/>
          <a:p>
            <a:pPr algn="r" indent="0" marL="0">
              <a:buNone/>
            </a:pPr>
            <a:r>
              <a:rPr lang="en-US" sz="1000" b="1" dirty="0">
                <a:solidFill>
                  <a:srgbClr val="1C2230"/>
                </a:solidFill>
                <a:latin typeface="Arial" pitchFamily="34" charset="0"/>
                <a:ea typeface="Arial" pitchFamily="34" charset="-122"/>
                <a:cs typeface="Arial" pitchFamily="34" charset="-120"/>
              </a:rPr>
              <a:t>± € 593</a:t>
            </a:r>
            <a:endParaRPr lang="en-US" sz="1000" dirty="0"/>
          </a:p>
        </p:txBody>
      </p:sp>
      <p:sp>
        <p:nvSpPr>
          <p:cNvPr id="21" name="Shape 19"/>
          <p:cNvSpPr/>
          <p:nvPr/>
        </p:nvSpPr>
        <p:spPr>
          <a:xfrm>
            <a:off x="774698" y="4780268"/>
            <a:ext cx="2327269" cy="0"/>
          </a:xfrm>
          <a:prstGeom prst="line">
            <a:avLst/>
          </a:prstGeom>
          <a:noFill/>
          <a:ln w="9525">
            <a:solidFill>
              <a:srgbClr val="D8D2C4"/>
            </a:solidFill>
            <a:prstDash val="solid"/>
          </a:ln>
        </p:spPr>
      </p:sp>
      <p:sp>
        <p:nvSpPr>
          <p:cNvPr id="22" name="Text 20"/>
          <p:cNvSpPr txBox="1"/>
          <p:nvPr/>
        </p:nvSpPr>
        <p:spPr>
          <a:xfrm>
            <a:off x="774698" y="4780268"/>
            <a:ext cx="1730371" cy="350519"/>
          </a:xfrm>
          <a:prstGeom prst="rect">
            <a:avLst/>
          </a:prstGeom>
          <a:noFill/>
          <a:ln/>
        </p:spPr>
        <p:txBody>
          <a:bodyPr wrap="square" lIns="0" tIns="0" rIns="0" bIns="0" rtlCol="0" anchor="ctr"/>
          <a:lstStyle/>
          <a:p>
            <a:pPr indent="0" marL="0">
              <a:buNone/>
            </a:pPr>
            <a:r>
              <a:rPr lang="en-US" sz="800" dirty="0">
                <a:solidFill>
                  <a:srgbClr val="6F6A5C"/>
                </a:solidFill>
                <a:latin typeface="Arial" pitchFamily="34" charset="0"/>
                <a:ea typeface="Arial" pitchFamily="34" charset="-122"/>
                <a:cs typeface="Arial" pitchFamily="34" charset="-120"/>
              </a:rPr>
              <a:t>Per werkperiode</a:t>
            </a:r>
            <a:endParaRPr lang="en-US" sz="800" dirty="0"/>
          </a:p>
        </p:txBody>
      </p:sp>
      <p:sp>
        <p:nvSpPr>
          <p:cNvPr id="23" name="Text 21"/>
          <p:cNvSpPr txBox="1"/>
          <p:nvPr/>
        </p:nvSpPr>
        <p:spPr>
          <a:xfrm>
            <a:off x="2276469" y="4780268"/>
            <a:ext cx="825498" cy="350519"/>
          </a:xfrm>
          <a:prstGeom prst="rect">
            <a:avLst/>
          </a:prstGeom>
          <a:noFill/>
          <a:ln/>
        </p:spPr>
        <p:txBody>
          <a:bodyPr wrap="square" lIns="0" tIns="0" rIns="0" bIns="0" rtlCol="0" anchor="ctr"/>
          <a:lstStyle/>
          <a:p>
            <a:pPr algn="r" indent="0" marL="0">
              <a:buNone/>
            </a:pPr>
            <a:r>
              <a:rPr lang="en-US" sz="1000" b="1" dirty="0">
                <a:solidFill>
                  <a:srgbClr val="1C2230"/>
                </a:solidFill>
                <a:latin typeface="Arial" pitchFamily="34" charset="0"/>
                <a:ea typeface="Arial" pitchFamily="34" charset="-122"/>
                <a:cs typeface="Arial" pitchFamily="34" charset="-120"/>
              </a:rPr>
              <a:t>€ 1.600</a:t>
            </a:r>
            <a:endParaRPr lang="en-US" sz="1000" dirty="0"/>
          </a:p>
        </p:txBody>
      </p:sp>
      <p:sp>
        <p:nvSpPr>
          <p:cNvPr id="24" name="Shape 22"/>
          <p:cNvSpPr/>
          <p:nvPr/>
        </p:nvSpPr>
        <p:spPr>
          <a:xfrm>
            <a:off x="3381367" y="2489194"/>
            <a:ext cx="2657468" cy="2768593"/>
          </a:xfrm>
          <a:prstGeom prst="roundRect">
            <a:avLst>
              <a:gd name="adj" fmla="val 3823"/>
            </a:avLst>
          </a:prstGeom>
          <a:solidFill>
            <a:srgbClr val="000000"/>
          </a:solidFill>
          <a:ln/>
        </p:spPr>
      </p:sp>
      <p:sp>
        <p:nvSpPr>
          <p:cNvPr id="25" name="Text 23"/>
          <p:cNvSpPr txBox="1"/>
          <p:nvPr/>
        </p:nvSpPr>
        <p:spPr>
          <a:xfrm>
            <a:off x="3546466" y="2743193"/>
            <a:ext cx="2327269" cy="190500"/>
          </a:xfrm>
          <a:prstGeom prst="rect">
            <a:avLst/>
          </a:prstGeom>
          <a:noFill/>
          <a:ln/>
        </p:spPr>
        <p:txBody>
          <a:bodyPr wrap="square" lIns="0" tIns="0" rIns="0" bIns="0" rtlCol="0" anchor="ctr"/>
          <a:lstStyle/>
          <a:p>
            <a:pPr indent="0" marL="0">
              <a:buNone/>
            </a:pPr>
            <a:r>
              <a:rPr lang="en-US" sz="800" b="1" spc="180" kern="0" dirty="0">
                <a:solidFill>
                  <a:srgbClr val="38B6FF"/>
                </a:solidFill>
                <a:latin typeface="Arial" pitchFamily="34" charset="0"/>
                <a:ea typeface="Arial" pitchFamily="34" charset="-122"/>
                <a:cs typeface="Arial" pitchFamily="34" charset="-120"/>
              </a:rPr>
              <a:t>VOORSTEL</a:t>
            </a:r>
            <a:endParaRPr lang="en-US" sz="800" dirty="0"/>
          </a:p>
        </p:txBody>
      </p:sp>
      <p:sp>
        <p:nvSpPr>
          <p:cNvPr id="26" name="Text 24"/>
          <p:cNvSpPr txBox="1"/>
          <p:nvPr/>
        </p:nvSpPr>
        <p:spPr>
          <a:xfrm>
            <a:off x="3546466" y="2959093"/>
            <a:ext cx="2327269" cy="355599"/>
          </a:xfrm>
          <a:prstGeom prst="rect">
            <a:avLst/>
          </a:prstGeom>
          <a:noFill/>
          <a:ln/>
        </p:spPr>
        <p:txBody>
          <a:bodyPr wrap="square" lIns="0" tIns="0" rIns="0" bIns="0" rtlCol="0" anchor="ctr"/>
          <a:lstStyle/>
          <a:p>
            <a:pPr indent="0" marL="0">
              <a:lnSpc>
                <a:spcPct val="115000"/>
              </a:lnSpc>
              <a:buNone/>
            </a:pPr>
            <a:r>
              <a:rPr lang="en-US" sz="1050" b="1" dirty="0">
                <a:solidFill>
                  <a:srgbClr val="F2EFE6"/>
                </a:solidFill>
                <a:latin typeface="Arial" pitchFamily="34" charset="0"/>
                <a:ea typeface="Arial" pitchFamily="34" charset="-122"/>
                <a:cs typeface="Arial" pitchFamily="34" charset="-120"/>
              </a:rPr>
              <a:t>Vier beldagen</a:t>
            </a:r>
            <a:endParaRPr lang="en-US" sz="1050" dirty="0"/>
          </a:p>
        </p:txBody>
      </p:sp>
      <p:sp>
        <p:nvSpPr>
          <p:cNvPr id="27" name="Text 25"/>
          <p:cNvSpPr txBox="1"/>
          <p:nvPr/>
        </p:nvSpPr>
        <p:spPr>
          <a:xfrm>
            <a:off x="3546466" y="3378192"/>
            <a:ext cx="1730371" cy="350519"/>
          </a:xfrm>
          <a:prstGeom prst="rect">
            <a:avLst/>
          </a:prstGeom>
          <a:noFill/>
          <a:ln/>
        </p:spPr>
        <p:txBody>
          <a:bodyPr wrap="square" lIns="0" tIns="0" rIns="0" bIns="0" rtlCol="0" anchor="ctr"/>
          <a:lstStyle/>
          <a:p>
            <a:pPr indent="0" marL="0">
              <a:buNone/>
            </a:pPr>
            <a:r>
              <a:rPr lang="en-US" sz="800" dirty="0">
                <a:solidFill>
                  <a:srgbClr val="C2C8D2"/>
                </a:solidFill>
                <a:latin typeface="Arial" pitchFamily="34" charset="0"/>
                <a:ea typeface="Arial" pitchFamily="34" charset="-122"/>
                <a:cs typeface="Arial" pitchFamily="34" charset="-120"/>
              </a:rPr>
              <a:t>Beldagen</a:t>
            </a:r>
            <a:endParaRPr lang="en-US" sz="800" dirty="0"/>
          </a:p>
        </p:txBody>
      </p:sp>
      <p:sp>
        <p:nvSpPr>
          <p:cNvPr id="28" name="Text 26"/>
          <p:cNvSpPr txBox="1"/>
          <p:nvPr/>
        </p:nvSpPr>
        <p:spPr>
          <a:xfrm>
            <a:off x="5048237" y="3378192"/>
            <a:ext cx="825498" cy="350519"/>
          </a:xfrm>
          <a:prstGeom prst="rect">
            <a:avLst/>
          </a:prstGeom>
          <a:noFill/>
          <a:ln/>
        </p:spPr>
        <p:txBody>
          <a:bodyPr wrap="square" lIns="0" tIns="0" rIns="0" bIns="0" rtlCol="0" anchor="ctr"/>
          <a:lstStyle/>
          <a:p>
            <a:pPr algn="r" indent="0" marL="0">
              <a:buNone/>
            </a:pPr>
            <a:r>
              <a:rPr lang="en-US" sz="1000" b="1" dirty="0">
                <a:solidFill>
                  <a:srgbClr val="38B6FF"/>
                </a:solidFill>
                <a:latin typeface="Arial" pitchFamily="34" charset="0"/>
                <a:ea typeface="Arial" pitchFamily="34" charset="-122"/>
                <a:cs typeface="Arial" pitchFamily="34" charset="-120"/>
              </a:rPr>
              <a:t>4</a:t>
            </a:r>
            <a:endParaRPr lang="en-US" sz="1000" dirty="0"/>
          </a:p>
        </p:txBody>
      </p:sp>
      <p:sp>
        <p:nvSpPr>
          <p:cNvPr id="29" name="Shape 27"/>
          <p:cNvSpPr/>
          <p:nvPr/>
        </p:nvSpPr>
        <p:spPr>
          <a:xfrm>
            <a:off x="3546466" y="3728711"/>
            <a:ext cx="2327269" cy="0"/>
          </a:xfrm>
          <a:prstGeom prst="line">
            <a:avLst/>
          </a:prstGeom>
          <a:noFill/>
          <a:ln w="9525">
            <a:solidFill>
              <a:srgbClr val="3A4152"/>
            </a:solidFill>
            <a:prstDash val="solid"/>
          </a:ln>
        </p:spPr>
      </p:sp>
      <p:sp>
        <p:nvSpPr>
          <p:cNvPr id="30" name="Text 28"/>
          <p:cNvSpPr txBox="1"/>
          <p:nvPr/>
        </p:nvSpPr>
        <p:spPr>
          <a:xfrm>
            <a:off x="3546466" y="3728711"/>
            <a:ext cx="1730371" cy="350519"/>
          </a:xfrm>
          <a:prstGeom prst="rect">
            <a:avLst/>
          </a:prstGeom>
          <a:noFill/>
          <a:ln/>
        </p:spPr>
        <p:txBody>
          <a:bodyPr wrap="square" lIns="0" tIns="0" rIns="0" bIns="0" rtlCol="0" anchor="ctr"/>
          <a:lstStyle/>
          <a:p>
            <a:pPr indent="0" marL="0">
              <a:buNone/>
            </a:pPr>
            <a:r>
              <a:rPr lang="en-US" sz="800" dirty="0">
                <a:solidFill>
                  <a:srgbClr val="C2C8D2"/>
                </a:solidFill>
                <a:latin typeface="Arial" pitchFamily="34" charset="0"/>
                <a:ea typeface="Arial" pitchFamily="34" charset="-122"/>
                <a:cs typeface="Arial" pitchFamily="34" charset="-120"/>
              </a:rPr>
              <a:t>Contactpogingen</a:t>
            </a:r>
            <a:endParaRPr lang="en-US" sz="800" dirty="0"/>
          </a:p>
        </p:txBody>
      </p:sp>
      <p:sp>
        <p:nvSpPr>
          <p:cNvPr id="31" name="Text 29"/>
          <p:cNvSpPr txBox="1"/>
          <p:nvPr/>
        </p:nvSpPr>
        <p:spPr>
          <a:xfrm>
            <a:off x="5048237" y="3728711"/>
            <a:ext cx="825498" cy="350519"/>
          </a:xfrm>
          <a:prstGeom prst="rect">
            <a:avLst/>
          </a:prstGeom>
          <a:noFill/>
          <a:ln/>
        </p:spPr>
        <p:txBody>
          <a:bodyPr wrap="square" lIns="0" tIns="0" rIns="0" bIns="0" rtlCol="0" anchor="ctr"/>
          <a:lstStyle/>
          <a:p>
            <a:pPr algn="r" indent="0" marL="0">
              <a:buNone/>
            </a:pPr>
            <a:r>
              <a:rPr lang="en-US" sz="1000" b="1" dirty="0">
                <a:solidFill>
                  <a:srgbClr val="38B6FF"/>
                </a:solidFill>
                <a:latin typeface="Arial" pitchFamily="34" charset="0"/>
                <a:ea typeface="Arial" pitchFamily="34" charset="-122"/>
                <a:cs typeface="Arial" pitchFamily="34" charset="-120"/>
              </a:rPr>
              <a:t>600</a:t>
            </a:r>
            <a:endParaRPr lang="en-US" sz="1000" dirty="0"/>
          </a:p>
        </p:txBody>
      </p:sp>
      <p:sp>
        <p:nvSpPr>
          <p:cNvPr id="32" name="Shape 30"/>
          <p:cNvSpPr/>
          <p:nvPr/>
        </p:nvSpPr>
        <p:spPr>
          <a:xfrm>
            <a:off x="3546466" y="4079230"/>
            <a:ext cx="2327269" cy="0"/>
          </a:xfrm>
          <a:prstGeom prst="line">
            <a:avLst/>
          </a:prstGeom>
          <a:noFill/>
          <a:ln w="9525">
            <a:solidFill>
              <a:srgbClr val="3A4152"/>
            </a:solidFill>
            <a:prstDash val="solid"/>
          </a:ln>
        </p:spPr>
      </p:sp>
      <p:sp>
        <p:nvSpPr>
          <p:cNvPr id="33" name="Text 31"/>
          <p:cNvSpPr txBox="1"/>
          <p:nvPr/>
        </p:nvSpPr>
        <p:spPr>
          <a:xfrm>
            <a:off x="3546466" y="4079230"/>
            <a:ext cx="1730371" cy="350519"/>
          </a:xfrm>
          <a:prstGeom prst="rect">
            <a:avLst/>
          </a:prstGeom>
          <a:noFill/>
          <a:ln/>
        </p:spPr>
        <p:txBody>
          <a:bodyPr wrap="square" lIns="0" tIns="0" rIns="0" bIns="0" rtlCol="0" anchor="ctr"/>
          <a:lstStyle/>
          <a:p>
            <a:pPr indent="0" marL="0">
              <a:buNone/>
            </a:pPr>
            <a:r>
              <a:rPr lang="en-US" sz="800" dirty="0">
                <a:solidFill>
                  <a:srgbClr val="C2C8D2"/>
                </a:solidFill>
                <a:latin typeface="Arial" pitchFamily="34" charset="0"/>
                <a:ea typeface="Arial" pitchFamily="34" charset="-122"/>
                <a:cs typeface="Arial" pitchFamily="34" charset="-120"/>
              </a:rPr>
              <a:t>Afspraken</a:t>
            </a:r>
            <a:endParaRPr lang="en-US" sz="800" dirty="0"/>
          </a:p>
        </p:txBody>
      </p:sp>
      <p:sp>
        <p:nvSpPr>
          <p:cNvPr id="34" name="Text 32"/>
          <p:cNvSpPr txBox="1"/>
          <p:nvPr/>
        </p:nvSpPr>
        <p:spPr>
          <a:xfrm>
            <a:off x="5048237" y="4079230"/>
            <a:ext cx="825498" cy="350519"/>
          </a:xfrm>
          <a:prstGeom prst="rect">
            <a:avLst/>
          </a:prstGeom>
          <a:noFill/>
          <a:ln/>
        </p:spPr>
        <p:txBody>
          <a:bodyPr wrap="square" lIns="0" tIns="0" rIns="0" bIns="0" rtlCol="0" anchor="ctr"/>
          <a:lstStyle/>
          <a:p>
            <a:pPr algn="r" indent="0" marL="0">
              <a:buNone/>
            </a:pPr>
            <a:r>
              <a:rPr lang="en-US" sz="1000" b="1" dirty="0">
                <a:solidFill>
                  <a:srgbClr val="38B6FF"/>
                </a:solidFill>
                <a:latin typeface="Arial" pitchFamily="34" charset="0"/>
                <a:ea typeface="Arial" pitchFamily="34" charset="-122"/>
                <a:cs typeface="Arial" pitchFamily="34" charset="-120"/>
              </a:rPr>
              <a:t>10</a:t>
            </a:r>
            <a:endParaRPr lang="en-US" sz="1000" dirty="0"/>
          </a:p>
        </p:txBody>
      </p:sp>
      <p:sp>
        <p:nvSpPr>
          <p:cNvPr id="35" name="Shape 33"/>
          <p:cNvSpPr/>
          <p:nvPr/>
        </p:nvSpPr>
        <p:spPr>
          <a:xfrm>
            <a:off x="3546466" y="4429749"/>
            <a:ext cx="2327269" cy="0"/>
          </a:xfrm>
          <a:prstGeom prst="line">
            <a:avLst/>
          </a:prstGeom>
          <a:noFill/>
          <a:ln w="9525">
            <a:solidFill>
              <a:srgbClr val="3A4152"/>
            </a:solidFill>
            <a:prstDash val="solid"/>
          </a:ln>
        </p:spPr>
      </p:sp>
      <p:sp>
        <p:nvSpPr>
          <p:cNvPr id="36" name="Text 34"/>
          <p:cNvSpPr txBox="1"/>
          <p:nvPr/>
        </p:nvSpPr>
        <p:spPr>
          <a:xfrm>
            <a:off x="3546466" y="4429749"/>
            <a:ext cx="1730371" cy="350519"/>
          </a:xfrm>
          <a:prstGeom prst="rect">
            <a:avLst/>
          </a:prstGeom>
          <a:noFill/>
          <a:ln/>
        </p:spPr>
        <p:txBody>
          <a:bodyPr wrap="square" lIns="0" tIns="0" rIns="0" bIns="0" rtlCol="0" anchor="ctr"/>
          <a:lstStyle/>
          <a:p>
            <a:pPr indent="0" marL="0">
              <a:buNone/>
            </a:pPr>
            <a:r>
              <a:rPr lang="en-US" sz="800" dirty="0">
                <a:solidFill>
                  <a:srgbClr val="C2C8D2"/>
                </a:solidFill>
                <a:latin typeface="Arial" pitchFamily="34" charset="0"/>
                <a:ea typeface="Arial" pitchFamily="34" charset="-122"/>
                <a:cs typeface="Arial" pitchFamily="34" charset="-120"/>
              </a:rPr>
              <a:t>Per beldag</a:t>
            </a:r>
            <a:endParaRPr lang="en-US" sz="800" dirty="0"/>
          </a:p>
        </p:txBody>
      </p:sp>
      <p:sp>
        <p:nvSpPr>
          <p:cNvPr id="37" name="Text 35"/>
          <p:cNvSpPr txBox="1"/>
          <p:nvPr/>
        </p:nvSpPr>
        <p:spPr>
          <a:xfrm>
            <a:off x="5048237" y="4429749"/>
            <a:ext cx="825498" cy="350519"/>
          </a:xfrm>
          <a:prstGeom prst="rect">
            <a:avLst/>
          </a:prstGeom>
          <a:noFill/>
          <a:ln/>
        </p:spPr>
        <p:txBody>
          <a:bodyPr wrap="square" lIns="0" tIns="0" rIns="0" bIns="0" rtlCol="0" anchor="ctr"/>
          <a:lstStyle/>
          <a:p>
            <a:pPr algn="r" indent="0" marL="0">
              <a:buNone/>
            </a:pPr>
            <a:r>
              <a:rPr lang="en-US" sz="1000" b="1" dirty="0">
                <a:solidFill>
                  <a:srgbClr val="38B6FF"/>
                </a:solidFill>
                <a:latin typeface="Arial" pitchFamily="34" charset="0"/>
                <a:ea typeface="Arial" pitchFamily="34" charset="-122"/>
                <a:cs typeface="Arial" pitchFamily="34" charset="-120"/>
              </a:rPr>
              <a:t>€ 600</a:t>
            </a:r>
            <a:endParaRPr lang="en-US" sz="1000" dirty="0"/>
          </a:p>
        </p:txBody>
      </p:sp>
      <p:sp>
        <p:nvSpPr>
          <p:cNvPr id="38" name="Shape 36"/>
          <p:cNvSpPr/>
          <p:nvPr/>
        </p:nvSpPr>
        <p:spPr>
          <a:xfrm>
            <a:off x="3546466" y="4780268"/>
            <a:ext cx="2327269" cy="0"/>
          </a:xfrm>
          <a:prstGeom prst="line">
            <a:avLst/>
          </a:prstGeom>
          <a:noFill/>
          <a:ln w="9525">
            <a:solidFill>
              <a:srgbClr val="3A4152"/>
            </a:solidFill>
            <a:prstDash val="solid"/>
          </a:ln>
        </p:spPr>
      </p:sp>
      <p:sp>
        <p:nvSpPr>
          <p:cNvPr id="39" name="Text 37"/>
          <p:cNvSpPr txBox="1"/>
          <p:nvPr/>
        </p:nvSpPr>
        <p:spPr>
          <a:xfrm>
            <a:off x="3546466" y="4780268"/>
            <a:ext cx="1730371" cy="350519"/>
          </a:xfrm>
          <a:prstGeom prst="rect">
            <a:avLst/>
          </a:prstGeom>
          <a:noFill/>
          <a:ln/>
        </p:spPr>
        <p:txBody>
          <a:bodyPr wrap="square" lIns="0" tIns="0" rIns="0" bIns="0" rtlCol="0" anchor="ctr"/>
          <a:lstStyle/>
          <a:p>
            <a:pPr indent="0" marL="0">
              <a:buNone/>
            </a:pPr>
            <a:r>
              <a:rPr lang="en-US" sz="800" dirty="0">
                <a:solidFill>
                  <a:srgbClr val="C2C8D2"/>
                </a:solidFill>
                <a:latin typeface="Arial" pitchFamily="34" charset="0"/>
                <a:ea typeface="Arial" pitchFamily="34" charset="-122"/>
                <a:cs typeface="Arial" pitchFamily="34" charset="-120"/>
              </a:rPr>
              <a:t>Per werkperiode</a:t>
            </a:r>
            <a:endParaRPr lang="en-US" sz="800" dirty="0"/>
          </a:p>
        </p:txBody>
      </p:sp>
      <p:sp>
        <p:nvSpPr>
          <p:cNvPr id="40" name="Text 38"/>
          <p:cNvSpPr txBox="1"/>
          <p:nvPr/>
        </p:nvSpPr>
        <p:spPr>
          <a:xfrm>
            <a:off x="5048237" y="4780268"/>
            <a:ext cx="825498" cy="350519"/>
          </a:xfrm>
          <a:prstGeom prst="rect">
            <a:avLst/>
          </a:prstGeom>
          <a:noFill/>
          <a:ln/>
        </p:spPr>
        <p:txBody>
          <a:bodyPr wrap="square" lIns="0" tIns="0" rIns="0" bIns="0" rtlCol="0" anchor="ctr"/>
          <a:lstStyle/>
          <a:p>
            <a:pPr algn="r" indent="0" marL="0">
              <a:buNone/>
            </a:pPr>
            <a:r>
              <a:rPr lang="en-US" sz="1000" b="1" dirty="0">
                <a:solidFill>
                  <a:srgbClr val="38B6FF"/>
                </a:solidFill>
                <a:latin typeface="Arial" pitchFamily="34" charset="0"/>
                <a:ea typeface="Arial" pitchFamily="34" charset="-122"/>
                <a:cs typeface="Arial" pitchFamily="34" charset="-120"/>
              </a:rPr>
              <a:t>€ 2.400</a:t>
            </a:r>
            <a:endParaRPr lang="en-US" sz="1000" dirty="0"/>
          </a:p>
        </p:txBody>
      </p:sp>
      <p:sp>
        <p:nvSpPr>
          <p:cNvPr id="41" name="Shape 39"/>
          <p:cNvSpPr/>
          <p:nvPr/>
        </p:nvSpPr>
        <p:spPr>
          <a:xfrm>
            <a:off x="6153135" y="2489194"/>
            <a:ext cx="2657468" cy="2768593"/>
          </a:xfrm>
          <a:prstGeom prst="roundRect">
            <a:avLst>
              <a:gd name="adj" fmla="val 3823"/>
            </a:avLst>
          </a:prstGeom>
          <a:solidFill>
            <a:srgbClr val="F8F4EB"/>
          </a:solidFill>
          <a:ln/>
        </p:spPr>
      </p:sp>
      <p:sp>
        <p:nvSpPr>
          <p:cNvPr id="42" name="Text 40"/>
          <p:cNvSpPr txBox="1"/>
          <p:nvPr/>
        </p:nvSpPr>
        <p:spPr>
          <a:xfrm>
            <a:off x="6318234" y="2743193"/>
            <a:ext cx="2327269" cy="190500"/>
          </a:xfrm>
          <a:prstGeom prst="rect">
            <a:avLst/>
          </a:prstGeom>
          <a:noFill/>
          <a:ln/>
        </p:spPr>
        <p:txBody>
          <a:bodyPr wrap="square" lIns="0" tIns="0" rIns="0" bIns="0" rtlCol="0" anchor="ctr"/>
          <a:lstStyle/>
          <a:p>
            <a:pPr indent="0" marL="0">
              <a:buNone/>
            </a:pPr>
            <a:r>
              <a:rPr lang="en-US" sz="800" b="1" spc="180" kern="0" dirty="0">
                <a:solidFill>
                  <a:srgbClr val="6F6A5C"/>
                </a:solidFill>
                <a:latin typeface="Arial" pitchFamily="34" charset="0"/>
                <a:ea typeface="Arial" pitchFamily="34" charset="-122"/>
                <a:cs typeface="Arial" pitchFamily="34" charset="-120"/>
              </a:rPr>
              <a:t>OF</a:t>
            </a:r>
            <a:endParaRPr lang="en-US" sz="800" dirty="0"/>
          </a:p>
        </p:txBody>
      </p:sp>
      <p:sp>
        <p:nvSpPr>
          <p:cNvPr id="43" name="Text 41"/>
          <p:cNvSpPr txBox="1"/>
          <p:nvPr/>
        </p:nvSpPr>
        <p:spPr>
          <a:xfrm>
            <a:off x="6318234" y="2959093"/>
            <a:ext cx="2327269" cy="355599"/>
          </a:xfrm>
          <a:prstGeom prst="rect">
            <a:avLst/>
          </a:prstGeom>
          <a:noFill/>
          <a:ln/>
        </p:spPr>
        <p:txBody>
          <a:bodyPr wrap="square" lIns="0" tIns="0" rIns="0" bIns="0" rtlCol="0" anchor="ctr"/>
          <a:lstStyle/>
          <a:p>
            <a:pPr indent="0" marL="0">
              <a:lnSpc>
                <a:spcPct val="115000"/>
              </a:lnSpc>
              <a:buNone/>
            </a:pPr>
            <a:r>
              <a:rPr lang="en-US" sz="1050" b="1" dirty="0">
                <a:solidFill>
                  <a:srgbClr val="1C2230"/>
                </a:solidFill>
                <a:latin typeface="Arial" pitchFamily="34" charset="0"/>
                <a:ea typeface="Arial" pitchFamily="34" charset="-122"/>
                <a:cs typeface="Arial" pitchFamily="34" charset="-120"/>
              </a:rPr>
              <a:t>Zes beldagen</a:t>
            </a:r>
            <a:endParaRPr lang="en-US" sz="1050" dirty="0"/>
          </a:p>
        </p:txBody>
      </p:sp>
      <p:sp>
        <p:nvSpPr>
          <p:cNvPr id="44" name="Text 42"/>
          <p:cNvSpPr txBox="1"/>
          <p:nvPr/>
        </p:nvSpPr>
        <p:spPr>
          <a:xfrm>
            <a:off x="6318234" y="3378192"/>
            <a:ext cx="1730371" cy="350519"/>
          </a:xfrm>
          <a:prstGeom prst="rect">
            <a:avLst/>
          </a:prstGeom>
          <a:noFill/>
          <a:ln/>
        </p:spPr>
        <p:txBody>
          <a:bodyPr wrap="square" lIns="0" tIns="0" rIns="0" bIns="0" rtlCol="0" anchor="ctr"/>
          <a:lstStyle/>
          <a:p>
            <a:pPr indent="0" marL="0">
              <a:buNone/>
            </a:pPr>
            <a:r>
              <a:rPr lang="en-US" sz="800" dirty="0">
                <a:solidFill>
                  <a:srgbClr val="6F6A5C"/>
                </a:solidFill>
                <a:latin typeface="Arial" pitchFamily="34" charset="0"/>
                <a:ea typeface="Arial" pitchFamily="34" charset="-122"/>
                <a:cs typeface="Arial" pitchFamily="34" charset="-120"/>
              </a:rPr>
              <a:t>Beldagen</a:t>
            </a:r>
            <a:endParaRPr lang="en-US" sz="800" dirty="0"/>
          </a:p>
        </p:txBody>
      </p:sp>
      <p:sp>
        <p:nvSpPr>
          <p:cNvPr id="45" name="Text 43"/>
          <p:cNvSpPr txBox="1"/>
          <p:nvPr/>
        </p:nvSpPr>
        <p:spPr>
          <a:xfrm>
            <a:off x="7820005" y="3378192"/>
            <a:ext cx="825498" cy="350519"/>
          </a:xfrm>
          <a:prstGeom prst="rect">
            <a:avLst/>
          </a:prstGeom>
          <a:noFill/>
          <a:ln/>
        </p:spPr>
        <p:txBody>
          <a:bodyPr wrap="square" lIns="0" tIns="0" rIns="0" bIns="0" rtlCol="0" anchor="ctr"/>
          <a:lstStyle/>
          <a:p>
            <a:pPr algn="r" indent="0" marL="0">
              <a:buNone/>
            </a:pPr>
            <a:r>
              <a:rPr lang="en-US" sz="1000" b="1" dirty="0">
                <a:solidFill>
                  <a:srgbClr val="1C2230"/>
                </a:solidFill>
                <a:latin typeface="Arial" pitchFamily="34" charset="0"/>
                <a:ea typeface="Arial" pitchFamily="34" charset="-122"/>
                <a:cs typeface="Arial" pitchFamily="34" charset="-120"/>
              </a:rPr>
              <a:t>6</a:t>
            </a:r>
            <a:endParaRPr lang="en-US" sz="1000" dirty="0"/>
          </a:p>
        </p:txBody>
      </p:sp>
      <p:sp>
        <p:nvSpPr>
          <p:cNvPr id="46" name="Shape 44"/>
          <p:cNvSpPr/>
          <p:nvPr/>
        </p:nvSpPr>
        <p:spPr>
          <a:xfrm>
            <a:off x="6318234" y="3728711"/>
            <a:ext cx="2327269" cy="0"/>
          </a:xfrm>
          <a:prstGeom prst="line">
            <a:avLst/>
          </a:prstGeom>
          <a:noFill/>
          <a:ln w="9525">
            <a:solidFill>
              <a:srgbClr val="D8D2C4"/>
            </a:solidFill>
            <a:prstDash val="solid"/>
          </a:ln>
        </p:spPr>
      </p:sp>
      <p:sp>
        <p:nvSpPr>
          <p:cNvPr id="47" name="Text 45"/>
          <p:cNvSpPr txBox="1"/>
          <p:nvPr/>
        </p:nvSpPr>
        <p:spPr>
          <a:xfrm>
            <a:off x="6318234" y="3728711"/>
            <a:ext cx="1730371" cy="350519"/>
          </a:xfrm>
          <a:prstGeom prst="rect">
            <a:avLst/>
          </a:prstGeom>
          <a:noFill/>
          <a:ln/>
        </p:spPr>
        <p:txBody>
          <a:bodyPr wrap="square" lIns="0" tIns="0" rIns="0" bIns="0" rtlCol="0" anchor="ctr"/>
          <a:lstStyle/>
          <a:p>
            <a:pPr indent="0" marL="0">
              <a:buNone/>
            </a:pPr>
            <a:r>
              <a:rPr lang="en-US" sz="800" dirty="0">
                <a:solidFill>
                  <a:srgbClr val="6F6A5C"/>
                </a:solidFill>
                <a:latin typeface="Arial" pitchFamily="34" charset="0"/>
                <a:ea typeface="Arial" pitchFamily="34" charset="-122"/>
                <a:cs typeface="Arial" pitchFamily="34" charset="-120"/>
              </a:rPr>
              <a:t>Contactpogingen</a:t>
            </a:r>
            <a:endParaRPr lang="en-US" sz="800" dirty="0"/>
          </a:p>
        </p:txBody>
      </p:sp>
      <p:sp>
        <p:nvSpPr>
          <p:cNvPr id="48" name="Text 46"/>
          <p:cNvSpPr txBox="1"/>
          <p:nvPr/>
        </p:nvSpPr>
        <p:spPr>
          <a:xfrm>
            <a:off x="7820005" y="3728711"/>
            <a:ext cx="825498" cy="350519"/>
          </a:xfrm>
          <a:prstGeom prst="rect">
            <a:avLst/>
          </a:prstGeom>
          <a:noFill/>
          <a:ln/>
        </p:spPr>
        <p:txBody>
          <a:bodyPr wrap="square" lIns="0" tIns="0" rIns="0" bIns="0" rtlCol="0" anchor="ctr"/>
          <a:lstStyle/>
          <a:p>
            <a:pPr algn="r" indent="0" marL="0">
              <a:buNone/>
            </a:pPr>
            <a:r>
              <a:rPr lang="en-US" sz="1000" b="1" dirty="0">
                <a:solidFill>
                  <a:srgbClr val="1C2230"/>
                </a:solidFill>
                <a:latin typeface="Arial" pitchFamily="34" charset="0"/>
                <a:ea typeface="Arial" pitchFamily="34" charset="-122"/>
                <a:cs typeface="Arial" pitchFamily="34" charset="-120"/>
              </a:rPr>
              <a:t>900</a:t>
            </a:r>
            <a:endParaRPr lang="en-US" sz="1000" dirty="0"/>
          </a:p>
        </p:txBody>
      </p:sp>
      <p:sp>
        <p:nvSpPr>
          <p:cNvPr id="49" name="Shape 47"/>
          <p:cNvSpPr/>
          <p:nvPr/>
        </p:nvSpPr>
        <p:spPr>
          <a:xfrm>
            <a:off x="6318234" y="4079230"/>
            <a:ext cx="2327269" cy="0"/>
          </a:xfrm>
          <a:prstGeom prst="line">
            <a:avLst/>
          </a:prstGeom>
          <a:noFill/>
          <a:ln w="9525">
            <a:solidFill>
              <a:srgbClr val="D8D2C4"/>
            </a:solidFill>
            <a:prstDash val="solid"/>
          </a:ln>
        </p:spPr>
      </p:sp>
      <p:sp>
        <p:nvSpPr>
          <p:cNvPr id="50" name="Text 48"/>
          <p:cNvSpPr txBox="1"/>
          <p:nvPr/>
        </p:nvSpPr>
        <p:spPr>
          <a:xfrm>
            <a:off x="6318234" y="4079230"/>
            <a:ext cx="1730371" cy="350519"/>
          </a:xfrm>
          <a:prstGeom prst="rect">
            <a:avLst/>
          </a:prstGeom>
          <a:noFill/>
          <a:ln/>
        </p:spPr>
        <p:txBody>
          <a:bodyPr wrap="square" lIns="0" tIns="0" rIns="0" bIns="0" rtlCol="0" anchor="ctr"/>
          <a:lstStyle/>
          <a:p>
            <a:pPr indent="0" marL="0">
              <a:buNone/>
            </a:pPr>
            <a:r>
              <a:rPr lang="en-US" sz="800" dirty="0">
                <a:solidFill>
                  <a:srgbClr val="6F6A5C"/>
                </a:solidFill>
                <a:latin typeface="Arial" pitchFamily="34" charset="0"/>
                <a:ea typeface="Arial" pitchFamily="34" charset="-122"/>
                <a:cs typeface="Arial" pitchFamily="34" charset="-120"/>
              </a:rPr>
              <a:t>Afspraken</a:t>
            </a:r>
            <a:endParaRPr lang="en-US" sz="800" dirty="0"/>
          </a:p>
        </p:txBody>
      </p:sp>
      <p:sp>
        <p:nvSpPr>
          <p:cNvPr id="51" name="Text 49"/>
          <p:cNvSpPr txBox="1"/>
          <p:nvPr/>
        </p:nvSpPr>
        <p:spPr>
          <a:xfrm>
            <a:off x="7820005" y="4079230"/>
            <a:ext cx="825498" cy="350519"/>
          </a:xfrm>
          <a:prstGeom prst="rect">
            <a:avLst/>
          </a:prstGeom>
          <a:noFill/>
          <a:ln/>
        </p:spPr>
        <p:txBody>
          <a:bodyPr wrap="square" lIns="0" tIns="0" rIns="0" bIns="0" rtlCol="0" anchor="ctr"/>
          <a:lstStyle/>
          <a:p>
            <a:pPr algn="r" indent="0" marL="0">
              <a:buNone/>
            </a:pPr>
            <a:r>
              <a:rPr lang="en-US" sz="1000" b="1" dirty="0">
                <a:solidFill>
                  <a:srgbClr val="1C2230"/>
                </a:solidFill>
                <a:latin typeface="Arial" pitchFamily="34" charset="0"/>
                <a:ea typeface="Arial" pitchFamily="34" charset="-122"/>
                <a:cs typeface="Arial" pitchFamily="34" charset="-120"/>
              </a:rPr>
              <a:t>15</a:t>
            </a:r>
            <a:endParaRPr lang="en-US" sz="1000" dirty="0"/>
          </a:p>
        </p:txBody>
      </p:sp>
      <p:sp>
        <p:nvSpPr>
          <p:cNvPr id="52" name="Shape 50"/>
          <p:cNvSpPr/>
          <p:nvPr/>
        </p:nvSpPr>
        <p:spPr>
          <a:xfrm>
            <a:off x="6318234" y="4429749"/>
            <a:ext cx="2327269" cy="0"/>
          </a:xfrm>
          <a:prstGeom prst="line">
            <a:avLst/>
          </a:prstGeom>
          <a:noFill/>
          <a:ln w="9525">
            <a:solidFill>
              <a:srgbClr val="D8D2C4"/>
            </a:solidFill>
            <a:prstDash val="solid"/>
          </a:ln>
        </p:spPr>
      </p:sp>
      <p:sp>
        <p:nvSpPr>
          <p:cNvPr id="53" name="Text 51"/>
          <p:cNvSpPr txBox="1"/>
          <p:nvPr/>
        </p:nvSpPr>
        <p:spPr>
          <a:xfrm>
            <a:off x="6318234" y="4429749"/>
            <a:ext cx="1730371" cy="350519"/>
          </a:xfrm>
          <a:prstGeom prst="rect">
            <a:avLst/>
          </a:prstGeom>
          <a:noFill/>
          <a:ln/>
        </p:spPr>
        <p:txBody>
          <a:bodyPr wrap="square" lIns="0" tIns="0" rIns="0" bIns="0" rtlCol="0" anchor="ctr"/>
          <a:lstStyle/>
          <a:p>
            <a:pPr indent="0" marL="0">
              <a:buNone/>
            </a:pPr>
            <a:r>
              <a:rPr lang="en-US" sz="800" dirty="0">
                <a:solidFill>
                  <a:srgbClr val="6F6A5C"/>
                </a:solidFill>
                <a:latin typeface="Arial" pitchFamily="34" charset="0"/>
                <a:ea typeface="Arial" pitchFamily="34" charset="-122"/>
                <a:cs typeface="Arial" pitchFamily="34" charset="-120"/>
              </a:rPr>
              <a:t>Per beldag</a:t>
            </a:r>
            <a:endParaRPr lang="en-US" sz="800" dirty="0"/>
          </a:p>
        </p:txBody>
      </p:sp>
      <p:sp>
        <p:nvSpPr>
          <p:cNvPr id="54" name="Text 52"/>
          <p:cNvSpPr txBox="1"/>
          <p:nvPr/>
        </p:nvSpPr>
        <p:spPr>
          <a:xfrm>
            <a:off x="7820005" y="4429749"/>
            <a:ext cx="825498" cy="350519"/>
          </a:xfrm>
          <a:prstGeom prst="rect">
            <a:avLst/>
          </a:prstGeom>
          <a:noFill/>
          <a:ln/>
        </p:spPr>
        <p:txBody>
          <a:bodyPr wrap="square" lIns="0" tIns="0" rIns="0" bIns="0" rtlCol="0" anchor="ctr"/>
          <a:lstStyle/>
          <a:p>
            <a:pPr algn="r" indent="0" marL="0">
              <a:buNone/>
            </a:pPr>
            <a:r>
              <a:rPr lang="en-US" sz="1000" b="1" dirty="0">
                <a:solidFill>
                  <a:srgbClr val="1C2230"/>
                </a:solidFill>
                <a:latin typeface="Arial" pitchFamily="34" charset="0"/>
                <a:ea typeface="Arial" pitchFamily="34" charset="-122"/>
                <a:cs typeface="Arial" pitchFamily="34" charset="-120"/>
              </a:rPr>
              <a:t>€ 575</a:t>
            </a:r>
            <a:endParaRPr lang="en-US" sz="1000" dirty="0"/>
          </a:p>
        </p:txBody>
      </p:sp>
      <p:sp>
        <p:nvSpPr>
          <p:cNvPr id="55" name="Shape 53"/>
          <p:cNvSpPr/>
          <p:nvPr/>
        </p:nvSpPr>
        <p:spPr>
          <a:xfrm>
            <a:off x="6318234" y="4780268"/>
            <a:ext cx="2327269" cy="0"/>
          </a:xfrm>
          <a:prstGeom prst="line">
            <a:avLst/>
          </a:prstGeom>
          <a:noFill/>
          <a:ln w="9525">
            <a:solidFill>
              <a:srgbClr val="D8D2C4"/>
            </a:solidFill>
            <a:prstDash val="solid"/>
          </a:ln>
        </p:spPr>
      </p:sp>
      <p:sp>
        <p:nvSpPr>
          <p:cNvPr id="56" name="Text 54"/>
          <p:cNvSpPr txBox="1"/>
          <p:nvPr/>
        </p:nvSpPr>
        <p:spPr>
          <a:xfrm>
            <a:off x="6318234" y="4780268"/>
            <a:ext cx="1730371" cy="350519"/>
          </a:xfrm>
          <a:prstGeom prst="rect">
            <a:avLst/>
          </a:prstGeom>
          <a:noFill/>
          <a:ln/>
        </p:spPr>
        <p:txBody>
          <a:bodyPr wrap="square" lIns="0" tIns="0" rIns="0" bIns="0" rtlCol="0" anchor="ctr"/>
          <a:lstStyle/>
          <a:p>
            <a:pPr indent="0" marL="0">
              <a:buNone/>
            </a:pPr>
            <a:r>
              <a:rPr lang="en-US" sz="800" dirty="0">
                <a:solidFill>
                  <a:srgbClr val="6F6A5C"/>
                </a:solidFill>
                <a:latin typeface="Arial" pitchFamily="34" charset="0"/>
                <a:ea typeface="Arial" pitchFamily="34" charset="-122"/>
                <a:cs typeface="Arial" pitchFamily="34" charset="-120"/>
              </a:rPr>
              <a:t>Per werkperiode</a:t>
            </a:r>
            <a:endParaRPr lang="en-US" sz="800" dirty="0"/>
          </a:p>
        </p:txBody>
      </p:sp>
      <p:sp>
        <p:nvSpPr>
          <p:cNvPr id="57" name="Text 55"/>
          <p:cNvSpPr txBox="1"/>
          <p:nvPr/>
        </p:nvSpPr>
        <p:spPr>
          <a:xfrm>
            <a:off x="7820005" y="4780268"/>
            <a:ext cx="825498" cy="350519"/>
          </a:xfrm>
          <a:prstGeom prst="rect">
            <a:avLst/>
          </a:prstGeom>
          <a:noFill/>
          <a:ln/>
        </p:spPr>
        <p:txBody>
          <a:bodyPr wrap="square" lIns="0" tIns="0" rIns="0" bIns="0" rtlCol="0" anchor="ctr"/>
          <a:lstStyle/>
          <a:p>
            <a:pPr algn="r" indent="0" marL="0">
              <a:buNone/>
            </a:pPr>
            <a:r>
              <a:rPr lang="en-US" sz="1000" b="1" dirty="0">
                <a:solidFill>
                  <a:srgbClr val="1C2230"/>
                </a:solidFill>
                <a:latin typeface="Arial" pitchFamily="34" charset="0"/>
                <a:ea typeface="Arial" pitchFamily="34" charset="-122"/>
                <a:cs typeface="Arial" pitchFamily="34" charset="-120"/>
              </a:rPr>
              <a:t>€ 3.450</a:t>
            </a:r>
            <a:endParaRPr lang="en-US" sz="1000" dirty="0"/>
          </a:p>
        </p:txBody>
      </p:sp>
      <p:sp>
        <p:nvSpPr>
          <p:cNvPr id="58" name="Shape 56"/>
          <p:cNvSpPr/>
          <p:nvPr/>
        </p:nvSpPr>
        <p:spPr>
          <a:xfrm>
            <a:off x="8924903" y="2489194"/>
            <a:ext cx="2657468" cy="2768593"/>
          </a:xfrm>
          <a:prstGeom prst="roundRect">
            <a:avLst>
              <a:gd name="adj" fmla="val 3823"/>
            </a:avLst>
          </a:prstGeom>
          <a:solidFill>
            <a:srgbClr val="F8F4EB"/>
          </a:solidFill>
          <a:ln/>
        </p:spPr>
      </p:sp>
      <p:sp>
        <p:nvSpPr>
          <p:cNvPr id="59" name="Text 57"/>
          <p:cNvSpPr txBox="1"/>
          <p:nvPr/>
        </p:nvSpPr>
        <p:spPr>
          <a:xfrm>
            <a:off x="9090002" y="2743193"/>
            <a:ext cx="2327269" cy="190500"/>
          </a:xfrm>
          <a:prstGeom prst="rect">
            <a:avLst/>
          </a:prstGeom>
          <a:noFill/>
          <a:ln/>
        </p:spPr>
        <p:txBody>
          <a:bodyPr wrap="square" lIns="0" tIns="0" rIns="0" bIns="0" rtlCol="0" anchor="ctr"/>
          <a:lstStyle/>
          <a:p>
            <a:pPr indent="0" marL="0">
              <a:buNone/>
            </a:pPr>
            <a:r>
              <a:rPr lang="en-US" sz="800" b="1" spc="180" kern="0" dirty="0">
                <a:solidFill>
                  <a:srgbClr val="6F6A5C"/>
                </a:solidFill>
                <a:latin typeface="Arial" pitchFamily="34" charset="0"/>
                <a:ea typeface="Arial" pitchFamily="34" charset="-122"/>
                <a:cs typeface="Arial" pitchFamily="34" charset="-120"/>
              </a:rPr>
              <a:t>OF</a:t>
            </a:r>
            <a:endParaRPr lang="en-US" sz="800" dirty="0"/>
          </a:p>
        </p:txBody>
      </p:sp>
      <p:sp>
        <p:nvSpPr>
          <p:cNvPr id="60" name="Text 58"/>
          <p:cNvSpPr txBox="1"/>
          <p:nvPr/>
        </p:nvSpPr>
        <p:spPr>
          <a:xfrm>
            <a:off x="9090002" y="2959093"/>
            <a:ext cx="2327269" cy="355599"/>
          </a:xfrm>
          <a:prstGeom prst="rect">
            <a:avLst/>
          </a:prstGeom>
          <a:noFill/>
          <a:ln/>
        </p:spPr>
        <p:txBody>
          <a:bodyPr wrap="square" lIns="0" tIns="0" rIns="0" bIns="0" rtlCol="0" anchor="ctr"/>
          <a:lstStyle/>
          <a:p>
            <a:pPr indent="0" marL="0">
              <a:lnSpc>
                <a:spcPct val="115000"/>
              </a:lnSpc>
              <a:buNone/>
            </a:pPr>
            <a:r>
              <a:rPr lang="en-US" sz="1050" b="1" dirty="0">
                <a:solidFill>
                  <a:srgbClr val="1C2230"/>
                </a:solidFill>
                <a:latin typeface="Arial" pitchFamily="34" charset="0"/>
                <a:ea typeface="Arial" pitchFamily="34" charset="-122"/>
                <a:cs typeface="Arial" pitchFamily="34" charset="-120"/>
              </a:rPr>
              <a:t>Acht beldagen</a:t>
            </a:r>
            <a:endParaRPr lang="en-US" sz="1050" dirty="0"/>
          </a:p>
        </p:txBody>
      </p:sp>
      <p:sp>
        <p:nvSpPr>
          <p:cNvPr id="61" name="Text 59"/>
          <p:cNvSpPr txBox="1"/>
          <p:nvPr/>
        </p:nvSpPr>
        <p:spPr>
          <a:xfrm>
            <a:off x="9090002" y="3378192"/>
            <a:ext cx="1730371" cy="350519"/>
          </a:xfrm>
          <a:prstGeom prst="rect">
            <a:avLst/>
          </a:prstGeom>
          <a:noFill/>
          <a:ln/>
        </p:spPr>
        <p:txBody>
          <a:bodyPr wrap="square" lIns="0" tIns="0" rIns="0" bIns="0" rtlCol="0" anchor="ctr"/>
          <a:lstStyle/>
          <a:p>
            <a:pPr indent="0" marL="0">
              <a:buNone/>
            </a:pPr>
            <a:r>
              <a:rPr lang="en-US" sz="800" dirty="0">
                <a:solidFill>
                  <a:srgbClr val="6F6A5C"/>
                </a:solidFill>
                <a:latin typeface="Arial" pitchFamily="34" charset="0"/>
                <a:ea typeface="Arial" pitchFamily="34" charset="-122"/>
                <a:cs typeface="Arial" pitchFamily="34" charset="-120"/>
              </a:rPr>
              <a:t>Beldagen</a:t>
            </a:r>
            <a:endParaRPr lang="en-US" sz="800" dirty="0"/>
          </a:p>
        </p:txBody>
      </p:sp>
      <p:sp>
        <p:nvSpPr>
          <p:cNvPr id="62" name="Text 60"/>
          <p:cNvSpPr txBox="1"/>
          <p:nvPr/>
        </p:nvSpPr>
        <p:spPr>
          <a:xfrm>
            <a:off x="10591774" y="3378192"/>
            <a:ext cx="825498" cy="350519"/>
          </a:xfrm>
          <a:prstGeom prst="rect">
            <a:avLst/>
          </a:prstGeom>
          <a:noFill/>
          <a:ln/>
        </p:spPr>
        <p:txBody>
          <a:bodyPr wrap="square" lIns="0" tIns="0" rIns="0" bIns="0" rtlCol="0" anchor="ctr"/>
          <a:lstStyle/>
          <a:p>
            <a:pPr algn="r" indent="0" marL="0">
              <a:buNone/>
            </a:pPr>
            <a:r>
              <a:rPr lang="en-US" sz="1000" b="1" dirty="0">
                <a:solidFill>
                  <a:srgbClr val="1C2230"/>
                </a:solidFill>
                <a:latin typeface="Arial" pitchFamily="34" charset="0"/>
                <a:ea typeface="Arial" pitchFamily="34" charset="-122"/>
                <a:cs typeface="Arial" pitchFamily="34" charset="-120"/>
              </a:rPr>
              <a:t>8</a:t>
            </a:r>
            <a:endParaRPr lang="en-US" sz="1000" dirty="0"/>
          </a:p>
        </p:txBody>
      </p:sp>
      <p:sp>
        <p:nvSpPr>
          <p:cNvPr id="63" name="Shape 61"/>
          <p:cNvSpPr/>
          <p:nvPr/>
        </p:nvSpPr>
        <p:spPr>
          <a:xfrm>
            <a:off x="9090002" y="3728711"/>
            <a:ext cx="2327269" cy="0"/>
          </a:xfrm>
          <a:prstGeom prst="line">
            <a:avLst/>
          </a:prstGeom>
          <a:noFill/>
          <a:ln w="9525">
            <a:solidFill>
              <a:srgbClr val="D8D2C4"/>
            </a:solidFill>
            <a:prstDash val="solid"/>
          </a:ln>
        </p:spPr>
      </p:sp>
      <p:sp>
        <p:nvSpPr>
          <p:cNvPr id="64" name="Text 62"/>
          <p:cNvSpPr txBox="1"/>
          <p:nvPr/>
        </p:nvSpPr>
        <p:spPr>
          <a:xfrm>
            <a:off x="9090002" y="3728711"/>
            <a:ext cx="1730371" cy="350519"/>
          </a:xfrm>
          <a:prstGeom prst="rect">
            <a:avLst/>
          </a:prstGeom>
          <a:noFill/>
          <a:ln/>
        </p:spPr>
        <p:txBody>
          <a:bodyPr wrap="square" lIns="0" tIns="0" rIns="0" bIns="0" rtlCol="0" anchor="ctr"/>
          <a:lstStyle/>
          <a:p>
            <a:pPr indent="0" marL="0">
              <a:buNone/>
            </a:pPr>
            <a:r>
              <a:rPr lang="en-US" sz="800" dirty="0">
                <a:solidFill>
                  <a:srgbClr val="6F6A5C"/>
                </a:solidFill>
                <a:latin typeface="Arial" pitchFamily="34" charset="0"/>
                <a:ea typeface="Arial" pitchFamily="34" charset="-122"/>
                <a:cs typeface="Arial" pitchFamily="34" charset="-120"/>
              </a:rPr>
              <a:t>Contactpogingen</a:t>
            </a:r>
            <a:endParaRPr lang="en-US" sz="800" dirty="0"/>
          </a:p>
        </p:txBody>
      </p:sp>
      <p:sp>
        <p:nvSpPr>
          <p:cNvPr id="65" name="Text 63"/>
          <p:cNvSpPr txBox="1"/>
          <p:nvPr/>
        </p:nvSpPr>
        <p:spPr>
          <a:xfrm>
            <a:off x="10591774" y="3728711"/>
            <a:ext cx="825498" cy="350519"/>
          </a:xfrm>
          <a:prstGeom prst="rect">
            <a:avLst/>
          </a:prstGeom>
          <a:noFill/>
          <a:ln/>
        </p:spPr>
        <p:txBody>
          <a:bodyPr wrap="square" lIns="0" tIns="0" rIns="0" bIns="0" rtlCol="0" anchor="ctr"/>
          <a:lstStyle/>
          <a:p>
            <a:pPr algn="r" indent="0" marL="0">
              <a:buNone/>
            </a:pPr>
            <a:r>
              <a:rPr lang="en-US" sz="1000" b="1" dirty="0">
                <a:solidFill>
                  <a:srgbClr val="1C2230"/>
                </a:solidFill>
                <a:latin typeface="Arial" pitchFamily="34" charset="0"/>
                <a:ea typeface="Arial" pitchFamily="34" charset="-122"/>
                <a:cs typeface="Arial" pitchFamily="34" charset="-120"/>
              </a:rPr>
              <a:t>1.200</a:t>
            </a:r>
            <a:endParaRPr lang="en-US" sz="1000" dirty="0"/>
          </a:p>
        </p:txBody>
      </p:sp>
      <p:sp>
        <p:nvSpPr>
          <p:cNvPr id="66" name="Shape 64"/>
          <p:cNvSpPr/>
          <p:nvPr/>
        </p:nvSpPr>
        <p:spPr>
          <a:xfrm>
            <a:off x="9090002" y="4079230"/>
            <a:ext cx="2327269" cy="0"/>
          </a:xfrm>
          <a:prstGeom prst="line">
            <a:avLst/>
          </a:prstGeom>
          <a:noFill/>
          <a:ln w="9525">
            <a:solidFill>
              <a:srgbClr val="D8D2C4"/>
            </a:solidFill>
            <a:prstDash val="solid"/>
          </a:ln>
        </p:spPr>
      </p:sp>
      <p:sp>
        <p:nvSpPr>
          <p:cNvPr id="67" name="Text 65"/>
          <p:cNvSpPr txBox="1"/>
          <p:nvPr/>
        </p:nvSpPr>
        <p:spPr>
          <a:xfrm>
            <a:off x="9090002" y="4079230"/>
            <a:ext cx="1730371" cy="350519"/>
          </a:xfrm>
          <a:prstGeom prst="rect">
            <a:avLst/>
          </a:prstGeom>
          <a:noFill/>
          <a:ln/>
        </p:spPr>
        <p:txBody>
          <a:bodyPr wrap="square" lIns="0" tIns="0" rIns="0" bIns="0" rtlCol="0" anchor="ctr"/>
          <a:lstStyle/>
          <a:p>
            <a:pPr indent="0" marL="0">
              <a:buNone/>
            </a:pPr>
            <a:r>
              <a:rPr lang="en-US" sz="800" dirty="0">
                <a:solidFill>
                  <a:srgbClr val="6F6A5C"/>
                </a:solidFill>
                <a:latin typeface="Arial" pitchFamily="34" charset="0"/>
                <a:ea typeface="Arial" pitchFamily="34" charset="-122"/>
                <a:cs typeface="Arial" pitchFamily="34" charset="-120"/>
              </a:rPr>
              <a:t>Afspraken</a:t>
            </a:r>
            <a:endParaRPr lang="en-US" sz="800" dirty="0"/>
          </a:p>
        </p:txBody>
      </p:sp>
      <p:sp>
        <p:nvSpPr>
          <p:cNvPr id="68" name="Text 66"/>
          <p:cNvSpPr txBox="1"/>
          <p:nvPr/>
        </p:nvSpPr>
        <p:spPr>
          <a:xfrm>
            <a:off x="10591774" y="4079230"/>
            <a:ext cx="825498" cy="350519"/>
          </a:xfrm>
          <a:prstGeom prst="rect">
            <a:avLst/>
          </a:prstGeom>
          <a:noFill/>
          <a:ln/>
        </p:spPr>
        <p:txBody>
          <a:bodyPr wrap="square" lIns="0" tIns="0" rIns="0" bIns="0" rtlCol="0" anchor="ctr"/>
          <a:lstStyle/>
          <a:p>
            <a:pPr algn="r" indent="0" marL="0">
              <a:buNone/>
            </a:pPr>
            <a:r>
              <a:rPr lang="en-US" sz="1000" b="1" dirty="0">
                <a:solidFill>
                  <a:srgbClr val="1C2230"/>
                </a:solidFill>
                <a:latin typeface="Arial" pitchFamily="34" charset="0"/>
                <a:ea typeface="Arial" pitchFamily="34" charset="-122"/>
                <a:cs typeface="Arial" pitchFamily="34" charset="-120"/>
              </a:rPr>
              <a:t>20</a:t>
            </a:r>
            <a:endParaRPr lang="en-US" sz="1000" dirty="0"/>
          </a:p>
        </p:txBody>
      </p:sp>
      <p:sp>
        <p:nvSpPr>
          <p:cNvPr id="69" name="Shape 67"/>
          <p:cNvSpPr/>
          <p:nvPr/>
        </p:nvSpPr>
        <p:spPr>
          <a:xfrm>
            <a:off x="9090002" y="4429749"/>
            <a:ext cx="2327269" cy="0"/>
          </a:xfrm>
          <a:prstGeom prst="line">
            <a:avLst/>
          </a:prstGeom>
          <a:noFill/>
          <a:ln w="9525">
            <a:solidFill>
              <a:srgbClr val="D8D2C4"/>
            </a:solidFill>
            <a:prstDash val="solid"/>
          </a:ln>
        </p:spPr>
      </p:sp>
      <p:sp>
        <p:nvSpPr>
          <p:cNvPr id="70" name="Text 68"/>
          <p:cNvSpPr txBox="1"/>
          <p:nvPr/>
        </p:nvSpPr>
        <p:spPr>
          <a:xfrm>
            <a:off x="9090002" y="4429749"/>
            <a:ext cx="1730371" cy="350519"/>
          </a:xfrm>
          <a:prstGeom prst="rect">
            <a:avLst/>
          </a:prstGeom>
          <a:noFill/>
          <a:ln/>
        </p:spPr>
        <p:txBody>
          <a:bodyPr wrap="square" lIns="0" tIns="0" rIns="0" bIns="0" rtlCol="0" anchor="ctr"/>
          <a:lstStyle/>
          <a:p>
            <a:pPr indent="0" marL="0">
              <a:buNone/>
            </a:pPr>
            <a:r>
              <a:rPr lang="en-US" sz="800" dirty="0">
                <a:solidFill>
                  <a:srgbClr val="6F6A5C"/>
                </a:solidFill>
                <a:latin typeface="Arial" pitchFamily="34" charset="0"/>
                <a:ea typeface="Arial" pitchFamily="34" charset="-122"/>
                <a:cs typeface="Arial" pitchFamily="34" charset="-120"/>
              </a:rPr>
              <a:t>Per beldag</a:t>
            </a:r>
            <a:endParaRPr lang="en-US" sz="800" dirty="0"/>
          </a:p>
        </p:txBody>
      </p:sp>
      <p:sp>
        <p:nvSpPr>
          <p:cNvPr id="71" name="Text 69"/>
          <p:cNvSpPr txBox="1"/>
          <p:nvPr/>
        </p:nvSpPr>
        <p:spPr>
          <a:xfrm>
            <a:off x="10591774" y="4429749"/>
            <a:ext cx="825498" cy="350519"/>
          </a:xfrm>
          <a:prstGeom prst="rect">
            <a:avLst/>
          </a:prstGeom>
          <a:noFill/>
          <a:ln/>
        </p:spPr>
        <p:txBody>
          <a:bodyPr wrap="square" lIns="0" tIns="0" rIns="0" bIns="0" rtlCol="0" anchor="ctr"/>
          <a:lstStyle/>
          <a:p>
            <a:pPr algn="r" indent="0" marL="0">
              <a:buNone/>
            </a:pPr>
            <a:r>
              <a:rPr lang="en-US" sz="1000" b="1" dirty="0">
                <a:solidFill>
                  <a:srgbClr val="1C2230"/>
                </a:solidFill>
                <a:latin typeface="Arial" pitchFamily="34" charset="0"/>
                <a:ea typeface="Arial" pitchFamily="34" charset="-122"/>
                <a:cs typeface="Arial" pitchFamily="34" charset="-120"/>
              </a:rPr>
              <a:t>€ 550</a:t>
            </a:r>
            <a:endParaRPr lang="en-US" sz="1000" dirty="0"/>
          </a:p>
        </p:txBody>
      </p:sp>
      <p:sp>
        <p:nvSpPr>
          <p:cNvPr id="72" name="Shape 70"/>
          <p:cNvSpPr/>
          <p:nvPr/>
        </p:nvSpPr>
        <p:spPr>
          <a:xfrm>
            <a:off x="9090002" y="4780268"/>
            <a:ext cx="2327269" cy="0"/>
          </a:xfrm>
          <a:prstGeom prst="line">
            <a:avLst/>
          </a:prstGeom>
          <a:noFill/>
          <a:ln w="9525">
            <a:solidFill>
              <a:srgbClr val="D8D2C4"/>
            </a:solidFill>
            <a:prstDash val="solid"/>
          </a:ln>
        </p:spPr>
      </p:sp>
      <p:sp>
        <p:nvSpPr>
          <p:cNvPr id="73" name="Text 71"/>
          <p:cNvSpPr txBox="1"/>
          <p:nvPr/>
        </p:nvSpPr>
        <p:spPr>
          <a:xfrm>
            <a:off x="9090002" y="4780268"/>
            <a:ext cx="1730371" cy="350519"/>
          </a:xfrm>
          <a:prstGeom prst="rect">
            <a:avLst/>
          </a:prstGeom>
          <a:noFill/>
          <a:ln/>
        </p:spPr>
        <p:txBody>
          <a:bodyPr wrap="square" lIns="0" tIns="0" rIns="0" bIns="0" rtlCol="0" anchor="ctr"/>
          <a:lstStyle/>
          <a:p>
            <a:pPr indent="0" marL="0">
              <a:buNone/>
            </a:pPr>
            <a:r>
              <a:rPr lang="en-US" sz="800" dirty="0">
                <a:solidFill>
                  <a:srgbClr val="6F6A5C"/>
                </a:solidFill>
                <a:latin typeface="Arial" pitchFamily="34" charset="0"/>
                <a:ea typeface="Arial" pitchFamily="34" charset="-122"/>
                <a:cs typeface="Arial" pitchFamily="34" charset="-120"/>
              </a:rPr>
              <a:t>Per werkperiode</a:t>
            </a:r>
            <a:endParaRPr lang="en-US" sz="800" dirty="0"/>
          </a:p>
        </p:txBody>
      </p:sp>
      <p:sp>
        <p:nvSpPr>
          <p:cNvPr id="74" name="Text 72"/>
          <p:cNvSpPr txBox="1"/>
          <p:nvPr/>
        </p:nvSpPr>
        <p:spPr>
          <a:xfrm>
            <a:off x="10591774" y="4780268"/>
            <a:ext cx="825498" cy="350519"/>
          </a:xfrm>
          <a:prstGeom prst="rect">
            <a:avLst/>
          </a:prstGeom>
          <a:noFill/>
          <a:ln/>
        </p:spPr>
        <p:txBody>
          <a:bodyPr wrap="square" lIns="0" tIns="0" rIns="0" bIns="0" rtlCol="0" anchor="ctr"/>
          <a:lstStyle/>
          <a:p>
            <a:pPr algn="r" indent="0" marL="0">
              <a:buNone/>
            </a:pPr>
            <a:r>
              <a:rPr lang="en-US" sz="1000" b="1" dirty="0">
                <a:solidFill>
                  <a:srgbClr val="1C2230"/>
                </a:solidFill>
                <a:latin typeface="Arial" pitchFamily="34" charset="0"/>
                <a:ea typeface="Arial" pitchFamily="34" charset="-122"/>
                <a:cs typeface="Arial" pitchFamily="34" charset="-120"/>
              </a:rPr>
              <a:t>€ 4.400</a:t>
            </a:r>
            <a:endParaRPr lang="en-US" sz="1000" dirty="0"/>
          </a:p>
        </p:txBody>
      </p:sp>
      <p:sp>
        <p:nvSpPr>
          <p:cNvPr id="75" name="Shape 73"/>
          <p:cNvSpPr/>
          <p:nvPr/>
        </p:nvSpPr>
        <p:spPr>
          <a:xfrm>
            <a:off x="609598" y="5854685"/>
            <a:ext cx="76200" cy="76200"/>
          </a:xfrm>
          <a:prstGeom prst="ellipse">
            <a:avLst/>
          </a:prstGeom>
          <a:solidFill>
            <a:srgbClr val="38B6FF"/>
          </a:solidFill>
          <a:ln/>
        </p:spPr>
      </p:sp>
      <p:sp>
        <p:nvSpPr>
          <p:cNvPr id="76" name="Text 74"/>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De dagprijs blijft gelijk aan wat je nu per beldag betaalt. Neem je er meer af, dan zakt die naar 575 of 550 euro per beldag.</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Voorstel GrowOn Agency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13 / 15</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WE VAN GROWON NODIG HEBBEN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Weinig, want het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draait al</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5397487" cy="1530346"/>
          </a:xfrm>
          <a:prstGeom prst="roundRect">
            <a:avLst>
              <a:gd name="adj" fmla="val 6639"/>
            </a:avLst>
          </a:prstGeom>
          <a:solidFill>
            <a:srgbClr val="F8F4EB"/>
          </a:solidFill>
          <a:ln/>
        </p:spPr>
      </p:sp>
      <p:sp>
        <p:nvSpPr>
          <p:cNvPr id="8" name="Shape 6"/>
          <p:cNvSpPr/>
          <p:nvPr/>
        </p:nvSpPr>
        <p:spPr>
          <a:xfrm>
            <a:off x="939798" y="30987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1035047" y="3194042"/>
            <a:ext cx="190500" cy="190500"/>
          </a:xfrm>
          <a:prstGeom prst="rect">
            <a:avLst/>
          </a:prstGeom>
        </p:spPr>
      </p:pic>
      <p:sp>
        <p:nvSpPr>
          <p:cNvPr id="10" name="Text 7"/>
          <p:cNvSpPr txBox="1"/>
          <p:nvPr/>
        </p:nvSpPr>
        <p:spPr>
          <a:xfrm>
            <a:off x="1549396" y="3073392"/>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Scherper profiel</a:t>
            </a:r>
            <a:endParaRPr lang="en-US" sz="1450" dirty="0"/>
          </a:p>
        </p:txBody>
      </p:sp>
      <p:sp>
        <p:nvSpPr>
          <p:cNvPr id="11" name="Text 8"/>
          <p:cNvSpPr txBox="1"/>
          <p:nvPr/>
        </p:nvSpPr>
        <p:spPr>
          <a:xfrm>
            <a:off x="1549396" y="3403591"/>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Een halfuur om de doelgroep verder aan te scherpen op wat in de pilot het beste werkte: draaiende webshop, lopende advertenties en budget.</a:t>
            </a:r>
            <a:endParaRPr lang="en-US" sz="1050" dirty="0"/>
          </a:p>
        </p:txBody>
      </p:sp>
      <p:sp>
        <p:nvSpPr>
          <p:cNvPr id="12" name="Shape 9"/>
          <p:cNvSpPr/>
          <p:nvPr/>
        </p:nvSpPr>
        <p:spPr>
          <a:xfrm>
            <a:off x="6184885" y="2793993"/>
            <a:ext cx="5397487" cy="1530346"/>
          </a:xfrm>
          <a:prstGeom prst="roundRect">
            <a:avLst>
              <a:gd name="adj" fmla="val 6639"/>
            </a:avLst>
          </a:prstGeom>
          <a:solidFill>
            <a:srgbClr val="F8F4EB"/>
          </a:solidFill>
          <a:ln/>
        </p:spPr>
      </p:sp>
      <p:sp>
        <p:nvSpPr>
          <p:cNvPr id="13" name="Shape 10"/>
          <p:cNvSpPr/>
          <p:nvPr/>
        </p:nvSpPr>
        <p:spPr>
          <a:xfrm>
            <a:off x="6515084" y="30987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6610333" y="3194042"/>
            <a:ext cx="190500" cy="190500"/>
          </a:xfrm>
          <a:prstGeom prst="rect">
            <a:avLst/>
          </a:prstGeom>
        </p:spPr>
      </p:pic>
      <p:sp>
        <p:nvSpPr>
          <p:cNvPr id="15" name="Text 11"/>
          <p:cNvSpPr txBox="1"/>
          <p:nvPr/>
        </p:nvSpPr>
        <p:spPr>
          <a:xfrm>
            <a:off x="7124682" y="3073392"/>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Uitsluitlijst</a:t>
            </a:r>
            <a:endParaRPr lang="en-US" sz="1450" dirty="0"/>
          </a:p>
        </p:txBody>
      </p:sp>
      <p:sp>
        <p:nvSpPr>
          <p:cNvPr id="16" name="Text 12"/>
          <p:cNvSpPr txBox="1"/>
          <p:nvPr/>
        </p:nvSpPr>
        <p:spPr>
          <a:xfrm>
            <a:off x="7124682" y="3403591"/>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Bedrijven die al klant zijn of waar Jaap zelf al in gesprek is.</a:t>
            </a:r>
            <a:endParaRPr lang="en-US" sz="1050" dirty="0"/>
          </a:p>
        </p:txBody>
      </p:sp>
      <p:sp>
        <p:nvSpPr>
          <p:cNvPr id="17" name="Shape 13"/>
          <p:cNvSpPr/>
          <p:nvPr/>
        </p:nvSpPr>
        <p:spPr>
          <a:xfrm>
            <a:off x="609598" y="4502139"/>
            <a:ext cx="5397487" cy="1530346"/>
          </a:xfrm>
          <a:prstGeom prst="roundRect">
            <a:avLst>
              <a:gd name="adj" fmla="val 6639"/>
            </a:avLst>
          </a:prstGeom>
          <a:solidFill>
            <a:srgbClr val="F8F4EB"/>
          </a:solidFill>
          <a:ln/>
        </p:spPr>
      </p:sp>
      <p:sp>
        <p:nvSpPr>
          <p:cNvPr id="18" name="Shape 14"/>
          <p:cNvSpPr/>
          <p:nvPr/>
        </p:nvSpPr>
        <p:spPr>
          <a:xfrm>
            <a:off x="939798" y="4806938"/>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1035047" y="4902188"/>
            <a:ext cx="190500" cy="190500"/>
          </a:xfrm>
          <a:prstGeom prst="rect">
            <a:avLst/>
          </a:prstGeom>
        </p:spPr>
      </p:pic>
      <p:sp>
        <p:nvSpPr>
          <p:cNvPr id="20" name="Text 15"/>
          <p:cNvSpPr txBox="1"/>
          <p:nvPr/>
        </p:nvSpPr>
        <p:spPr>
          <a:xfrm>
            <a:off x="1549396" y="4781538"/>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Terugkoppeling op afspraken</a:t>
            </a:r>
            <a:endParaRPr lang="en-US" sz="1450" dirty="0"/>
          </a:p>
        </p:txBody>
      </p:sp>
      <p:sp>
        <p:nvSpPr>
          <p:cNvPr id="21" name="Text 16"/>
          <p:cNvSpPr txBox="1"/>
          <p:nvPr/>
        </p:nvSpPr>
        <p:spPr>
          <a:xfrm>
            <a:off x="1549396" y="5111737"/>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Kort laten weten hoe een afspraak verliep, zodat we de kwalificatie blijven bijstellen.</a:t>
            </a:r>
            <a:endParaRPr lang="en-US" sz="1050" dirty="0"/>
          </a:p>
        </p:txBody>
      </p:sp>
      <p:sp>
        <p:nvSpPr>
          <p:cNvPr id="22" name="Shape 17"/>
          <p:cNvSpPr/>
          <p:nvPr/>
        </p:nvSpPr>
        <p:spPr>
          <a:xfrm>
            <a:off x="6184885" y="4502139"/>
            <a:ext cx="5397487" cy="1530346"/>
          </a:xfrm>
          <a:prstGeom prst="roundRect">
            <a:avLst>
              <a:gd name="adj" fmla="val 6639"/>
            </a:avLst>
          </a:prstGeom>
          <a:solidFill>
            <a:srgbClr val="F8F4EB"/>
          </a:solidFill>
          <a:ln/>
        </p:spPr>
      </p:sp>
      <p:sp>
        <p:nvSpPr>
          <p:cNvPr id="23" name="Shape 18"/>
          <p:cNvSpPr/>
          <p:nvPr/>
        </p:nvSpPr>
        <p:spPr>
          <a:xfrm>
            <a:off x="6515084" y="4806938"/>
            <a:ext cx="380999" cy="380999"/>
          </a:xfrm>
          <a:prstGeom prst="roundRect">
            <a:avLst>
              <a:gd name="adj" fmla="val 23333"/>
            </a:avLst>
          </a:prstGeom>
          <a:solidFill>
            <a:srgbClr val="DDEBF3"/>
          </a:solidFill>
          <a:ln/>
        </p:spPr>
      </p:sp>
      <p:pic>
        <p:nvPicPr>
          <p:cNvPr id="24" name="Image 3" descr="preencoded.png">    </p:cNvPr>
          <p:cNvPicPr>
            <a:picLocks noChangeAspect="1"/>
          </p:cNvPicPr>
          <p:nvPr/>
        </p:nvPicPr>
        <p:blipFill>
          <a:blip r:embed="rId4"/>
          <a:stretch>
            <a:fillRect/>
          </a:stretch>
        </p:blipFill>
        <p:spPr>
          <a:xfrm>
            <a:off x="6610333" y="4902188"/>
            <a:ext cx="190500" cy="190500"/>
          </a:xfrm>
          <a:prstGeom prst="rect">
            <a:avLst/>
          </a:prstGeom>
        </p:spPr>
      </p:pic>
      <p:sp>
        <p:nvSpPr>
          <p:cNvPr id="25" name="Text 19"/>
          <p:cNvSpPr txBox="1"/>
          <p:nvPr/>
        </p:nvSpPr>
        <p:spPr>
          <a:xfrm>
            <a:off x="7124682" y="4781538"/>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Opvolging van afspraken</a:t>
            </a:r>
            <a:endParaRPr lang="en-US" sz="1450" dirty="0"/>
          </a:p>
        </p:txBody>
      </p:sp>
      <p:sp>
        <p:nvSpPr>
          <p:cNvPr id="26" name="Text 20"/>
          <p:cNvSpPr txBox="1"/>
          <p:nvPr/>
        </p:nvSpPr>
        <p:spPr>
          <a:xfrm>
            <a:off x="7124682" y="5111737"/>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Eén vaste persoon bij GrowOn die de afspraken voert. Tot nu toe is dat Jaap zelf.</a:t>
            </a:r>
            <a:endParaRPr lang="en-US" sz="10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Voorstel GrowOn Agency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14 / 15</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SPELREGELS</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Transparant en zonder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kleine lettertjes</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819393"/>
            <a:ext cx="253999" cy="253999"/>
          </a:xfrm>
          <a:prstGeom prst="roundRect">
            <a:avLst>
              <a:gd name="adj" fmla="val 25000"/>
            </a:avLst>
          </a:prstGeom>
          <a:solidFill>
            <a:srgbClr val="DDEBF3"/>
          </a:solidFill>
          <a:ln/>
        </p:spPr>
      </p:sp>
      <p:pic>
        <p:nvPicPr>
          <p:cNvPr id="8" name="Image 0" descr="preencoded.png">    </p:cNvPr>
          <p:cNvPicPr>
            <a:picLocks noChangeAspect="1"/>
          </p:cNvPicPr>
          <p:nvPr/>
        </p:nvPicPr>
        <p:blipFill>
          <a:blip r:embed="rId1"/>
          <a:stretch>
            <a:fillRect/>
          </a:stretch>
        </p:blipFill>
        <p:spPr>
          <a:xfrm>
            <a:off x="666748" y="2876543"/>
            <a:ext cx="139700" cy="139700"/>
          </a:xfrm>
          <a:prstGeom prst="rect">
            <a:avLst/>
          </a:prstGeom>
        </p:spPr>
      </p:pic>
      <p:sp>
        <p:nvSpPr>
          <p:cNvPr id="9" name="Text 6"/>
          <p:cNvSpPr txBox="1"/>
          <p:nvPr/>
        </p:nvSpPr>
        <p:spPr>
          <a:xfrm>
            <a:off x="1015997" y="2793993"/>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Werkperiodes van 4 weken</a:t>
            </a:r>
            <a:endParaRPr lang="en-US" sz="1200" dirty="0"/>
          </a:p>
        </p:txBody>
      </p:sp>
      <p:sp>
        <p:nvSpPr>
          <p:cNvPr id="10" name="Text 7"/>
          <p:cNvSpPr txBox="1"/>
          <p:nvPr/>
        </p:nvSpPr>
        <p:spPr>
          <a:xfrm>
            <a:off x="1015997" y="3035292"/>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Vooraf gefactureerd, per werkperiode. Geen nacalculatie achteraf.</a:t>
            </a:r>
            <a:endParaRPr lang="en-US" sz="950" dirty="0"/>
          </a:p>
        </p:txBody>
      </p:sp>
      <p:sp>
        <p:nvSpPr>
          <p:cNvPr id="11" name="Shape 8"/>
          <p:cNvSpPr/>
          <p:nvPr/>
        </p:nvSpPr>
        <p:spPr>
          <a:xfrm>
            <a:off x="6349984" y="2819393"/>
            <a:ext cx="253999" cy="253999"/>
          </a:xfrm>
          <a:prstGeom prst="roundRect">
            <a:avLst>
              <a:gd name="adj" fmla="val 25000"/>
            </a:avLst>
          </a:prstGeom>
          <a:solidFill>
            <a:srgbClr val="DDEBF3"/>
          </a:solidFill>
          <a:ln/>
        </p:spPr>
      </p:sp>
      <p:pic>
        <p:nvPicPr>
          <p:cNvPr id="12" name="Image 1" descr="preencoded.png">    </p:cNvPr>
          <p:cNvPicPr>
            <a:picLocks noChangeAspect="1"/>
          </p:cNvPicPr>
          <p:nvPr/>
        </p:nvPicPr>
        <p:blipFill>
          <a:blip r:embed="rId2"/>
          <a:stretch>
            <a:fillRect/>
          </a:stretch>
        </p:blipFill>
        <p:spPr>
          <a:xfrm>
            <a:off x="6407134" y="2876543"/>
            <a:ext cx="139700" cy="139700"/>
          </a:xfrm>
          <a:prstGeom prst="rect">
            <a:avLst/>
          </a:prstGeom>
        </p:spPr>
      </p:pic>
      <p:sp>
        <p:nvSpPr>
          <p:cNvPr id="13" name="Text 9"/>
          <p:cNvSpPr txBox="1"/>
          <p:nvPr/>
        </p:nvSpPr>
        <p:spPr>
          <a:xfrm>
            <a:off x="6756383" y="2793993"/>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Tien afspraken per werkperiode</a:t>
            </a:r>
            <a:endParaRPr lang="en-US" sz="1200" dirty="0"/>
          </a:p>
        </p:txBody>
      </p:sp>
      <p:sp>
        <p:nvSpPr>
          <p:cNvPr id="14" name="Text 10"/>
          <p:cNvSpPr txBox="1"/>
          <p:nvPr/>
        </p:nvSpPr>
        <p:spPr>
          <a:xfrm>
            <a:off x="6756383" y="3035292"/>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Dat is wat we garanderen bij vier beldagen. Alles eromheen laten we zien in de wekelijkse rapportage.</a:t>
            </a:r>
            <a:endParaRPr lang="en-US" sz="950" dirty="0"/>
          </a:p>
        </p:txBody>
      </p:sp>
      <p:sp>
        <p:nvSpPr>
          <p:cNvPr id="15" name="Shape 11"/>
          <p:cNvSpPr/>
          <p:nvPr/>
        </p:nvSpPr>
        <p:spPr>
          <a:xfrm>
            <a:off x="609598" y="3428991"/>
            <a:ext cx="5232387" cy="0"/>
          </a:xfrm>
          <a:prstGeom prst="line">
            <a:avLst/>
          </a:prstGeom>
          <a:noFill/>
          <a:ln w="6350">
            <a:solidFill>
              <a:srgbClr val="C9C2B2"/>
            </a:solidFill>
            <a:prstDash val="solid"/>
          </a:ln>
        </p:spPr>
      </p:sp>
      <p:sp>
        <p:nvSpPr>
          <p:cNvPr id="16" name="Shape 12"/>
          <p:cNvSpPr/>
          <p:nvPr/>
        </p:nvSpPr>
        <p:spPr>
          <a:xfrm>
            <a:off x="609598" y="3530591"/>
            <a:ext cx="253999" cy="253999"/>
          </a:xfrm>
          <a:prstGeom prst="roundRect">
            <a:avLst>
              <a:gd name="adj" fmla="val 25000"/>
            </a:avLst>
          </a:prstGeom>
          <a:solidFill>
            <a:srgbClr val="DDEBF3"/>
          </a:solidFill>
          <a:ln/>
        </p:spPr>
      </p:sp>
      <p:pic>
        <p:nvPicPr>
          <p:cNvPr id="17" name="Image 2" descr="preencoded.png">    </p:cNvPr>
          <p:cNvPicPr>
            <a:picLocks noChangeAspect="1"/>
          </p:cNvPicPr>
          <p:nvPr/>
        </p:nvPicPr>
        <p:blipFill>
          <a:blip r:embed="rId3"/>
          <a:stretch>
            <a:fillRect/>
          </a:stretch>
        </p:blipFill>
        <p:spPr>
          <a:xfrm>
            <a:off x="666748" y="3587741"/>
            <a:ext cx="139700" cy="139700"/>
          </a:xfrm>
          <a:prstGeom prst="rect">
            <a:avLst/>
          </a:prstGeom>
        </p:spPr>
      </p:pic>
      <p:sp>
        <p:nvSpPr>
          <p:cNvPr id="18" name="Text 13"/>
          <p:cNvSpPr txBox="1"/>
          <p:nvPr/>
        </p:nvSpPr>
        <p:spPr>
          <a:xfrm>
            <a:off x="1015997" y="3505191"/>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Niet gehaald is een gratis beldag</a:t>
            </a:r>
            <a:endParaRPr lang="en-US" sz="1200" dirty="0"/>
          </a:p>
        </p:txBody>
      </p:sp>
      <p:sp>
        <p:nvSpPr>
          <p:cNvPr id="19" name="Text 14"/>
          <p:cNvSpPr txBox="1"/>
          <p:nvPr/>
        </p:nvSpPr>
        <p:spPr>
          <a:xfrm>
            <a:off x="1015997" y="3746491"/>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Maximaal een per werkperiode. Halen we het dan nog niet, dan gaan we om tafel over lijst, script of kwalificatie.</a:t>
            </a:r>
            <a:endParaRPr lang="en-US" sz="950" dirty="0"/>
          </a:p>
        </p:txBody>
      </p:sp>
      <p:sp>
        <p:nvSpPr>
          <p:cNvPr id="20" name="Shape 15"/>
          <p:cNvSpPr/>
          <p:nvPr/>
        </p:nvSpPr>
        <p:spPr>
          <a:xfrm>
            <a:off x="6349984" y="3428991"/>
            <a:ext cx="5232387" cy="0"/>
          </a:xfrm>
          <a:prstGeom prst="line">
            <a:avLst/>
          </a:prstGeom>
          <a:noFill/>
          <a:ln w="6350">
            <a:solidFill>
              <a:srgbClr val="C9C2B2"/>
            </a:solidFill>
            <a:prstDash val="solid"/>
          </a:ln>
        </p:spPr>
      </p:sp>
      <p:sp>
        <p:nvSpPr>
          <p:cNvPr id="21" name="Shape 16"/>
          <p:cNvSpPr/>
          <p:nvPr/>
        </p:nvSpPr>
        <p:spPr>
          <a:xfrm>
            <a:off x="6349984" y="3530591"/>
            <a:ext cx="253999" cy="253999"/>
          </a:xfrm>
          <a:prstGeom prst="roundRect">
            <a:avLst>
              <a:gd name="adj" fmla="val 25000"/>
            </a:avLst>
          </a:prstGeom>
          <a:solidFill>
            <a:srgbClr val="DDEBF3"/>
          </a:solidFill>
          <a:ln/>
        </p:spPr>
      </p:sp>
      <p:pic>
        <p:nvPicPr>
          <p:cNvPr id="22" name="Image 3" descr="preencoded.png">    </p:cNvPr>
          <p:cNvPicPr>
            <a:picLocks noChangeAspect="1"/>
          </p:cNvPicPr>
          <p:nvPr/>
        </p:nvPicPr>
        <p:blipFill>
          <a:blip r:embed="rId4"/>
          <a:stretch>
            <a:fillRect/>
          </a:stretch>
        </p:blipFill>
        <p:spPr>
          <a:xfrm>
            <a:off x="6407134" y="3587741"/>
            <a:ext cx="139700" cy="139700"/>
          </a:xfrm>
          <a:prstGeom prst="rect">
            <a:avLst/>
          </a:prstGeom>
        </p:spPr>
      </p:pic>
      <p:sp>
        <p:nvSpPr>
          <p:cNvPr id="23" name="Text 17"/>
          <p:cNvSpPr txBox="1"/>
          <p:nvPr/>
        </p:nvSpPr>
        <p:spPr>
          <a:xfrm>
            <a:off x="6756383" y="3505191"/>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Kwalificatie-eisen samen vastgesteld</a:t>
            </a:r>
            <a:endParaRPr lang="en-US" sz="1200" dirty="0"/>
          </a:p>
        </p:txBody>
      </p:sp>
      <p:sp>
        <p:nvSpPr>
          <p:cNvPr id="24" name="Text 18"/>
          <p:cNvSpPr txBox="1"/>
          <p:nvPr/>
        </p:nvSpPr>
        <p:spPr>
          <a:xfrm>
            <a:off x="6756383" y="3746491"/>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Bij de start van werkperiode 4 leggen we samen vast wanneer een afspraak meetelt.</a:t>
            </a:r>
            <a:endParaRPr lang="en-US" sz="950" dirty="0"/>
          </a:p>
        </p:txBody>
      </p:sp>
      <p:sp>
        <p:nvSpPr>
          <p:cNvPr id="25" name="Shape 19"/>
          <p:cNvSpPr/>
          <p:nvPr/>
        </p:nvSpPr>
        <p:spPr>
          <a:xfrm>
            <a:off x="609598" y="4140190"/>
            <a:ext cx="5232387" cy="0"/>
          </a:xfrm>
          <a:prstGeom prst="line">
            <a:avLst/>
          </a:prstGeom>
          <a:noFill/>
          <a:ln w="6350">
            <a:solidFill>
              <a:srgbClr val="C9C2B2"/>
            </a:solidFill>
            <a:prstDash val="solid"/>
          </a:ln>
        </p:spPr>
      </p:sp>
      <p:sp>
        <p:nvSpPr>
          <p:cNvPr id="26" name="Shape 20"/>
          <p:cNvSpPr/>
          <p:nvPr/>
        </p:nvSpPr>
        <p:spPr>
          <a:xfrm>
            <a:off x="609598" y="4241789"/>
            <a:ext cx="253999" cy="253999"/>
          </a:xfrm>
          <a:prstGeom prst="roundRect">
            <a:avLst>
              <a:gd name="adj" fmla="val 25000"/>
            </a:avLst>
          </a:prstGeom>
          <a:solidFill>
            <a:srgbClr val="DDEBF3"/>
          </a:solidFill>
          <a:ln/>
        </p:spPr>
      </p:sp>
      <p:pic>
        <p:nvPicPr>
          <p:cNvPr id="27" name="Image 4" descr="preencoded.png">    </p:cNvPr>
          <p:cNvPicPr>
            <a:picLocks noChangeAspect="1"/>
          </p:cNvPicPr>
          <p:nvPr/>
        </p:nvPicPr>
        <p:blipFill>
          <a:blip r:embed="rId5"/>
          <a:stretch>
            <a:fillRect/>
          </a:stretch>
        </p:blipFill>
        <p:spPr>
          <a:xfrm>
            <a:off x="666748" y="4298939"/>
            <a:ext cx="139700" cy="139700"/>
          </a:xfrm>
          <a:prstGeom prst="rect">
            <a:avLst/>
          </a:prstGeom>
        </p:spPr>
      </p:pic>
      <p:sp>
        <p:nvSpPr>
          <p:cNvPr id="28" name="Text 21"/>
          <p:cNvSpPr txBox="1"/>
          <p:nvPr/>
        </p:nvSpPr>
        <p:spPr>
          <a:xfrm>
            <a:off x="1015997" y="4216389"/>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Op- en afschalen</a:t>
            </a:r>
            <a:endParaRPr lang="en-US" sz="1200" dirty="0"/>
          </a:p>
        </p:txBody>
      </p:sp>
      <p:sp>
        <p:nvSpPr>
          <p:cNvPr id="29" name="Text 22"/>
          <p:cNvSpPr txBox="1"/>
          <p:nvPr/>
        </p:nvSpPr>
        <p:spPr>
          <a:xfrm>
            <a:off x="1015997" y="4457689"/>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Per werkperiode bepalen jullie het aantal beldagen, vanaf vier.</a:t>
            </a:r>
            <a:endParaRPr lang="en-US" sz="950" dirty="0"/>
          </a:p>
        </p:txBody>
      </p:sp>
      <p:sp>
        <p:nvSpPr>
          <p:cNvPr id="30" name="Shape 23"/>
          <p:cNvSpPr/>
          <p:nvPr/>
        </p:nvSpPr>
        <p:spPr>
          <a:xfrm>
            <a:off x="6349984" y="4140190"/>
            <a:ext cx="5232387" cy="0"/>
          </a:xfrm>
          <a:prstGeom prst="line">
            <a:avLst/>
          </a:prstGeom>
          <a:noFill/>
          <a:ln w="6350">
            <a:solidFill>
              <a:srgbClr val="C9C2B2"/>
            </a:solidFill>
            <a:prstDash val="solid"/>
          </a:ln>
        </p:spPr>
      </p:sp>
      <p:sp>
        <p:nvSpPr>
          <p:cNvPr id="31" name="Shape 24"/>
          <p:cNvSpPr/>
          <p:nvPr/>
        </p:nvSpPr>
        <p:spPr>
          <a:xfrm>
            <a:off x="6349984" y="4241789"/>
            <a:ext cx="253999" cy="253999"/>
          </a:xfrm>
          <a:prstGeom prst="roundRect">
            <a:avLst>
              <a:gd name="adj" fmla="val 25000"/>
            </a:avLst>
          </a:prstGeom>
          <a:solidFill>
            <a:srgbClr val="DDEBF3"/>
          </a:solidFill>
          <a:ln/>
        </p:spPr>
      </p:sp>
      <p:pic>
        <p:nvPicPr>
          <p:cNvPr id="32" name="Image 5" descr="preencoded.png">    </p:cNvPr>
          <p:cNvPicPr>
            <a:picLocks noChangeAspect="1"/>
          </p:cNvPicPr>
          <p:nvPr/>
        </p:nvPicPr>
        <p:blipFill>
          <a:blip r:embed="rId6"/>
          <a:stretch>
            <a:fillRect/>
          </a:stretch>
        </p:blipFill>
        <p:spPr>
          <a:xfrm>
            <a:off x="6407134" y="4298939"/>
            <a:ext cx="139700" cy="139700"/>
          </a:xfrm>
          <a:prstGeom prst="rect">
            <a:avLst/>
          </a:prstGeom>
        </p:spPr>
      </p:pic>
      <p:sp>
        <p:nvSpPr>
          <p:cNvPr id="33" name="Text 25"/>
          <p:cNvSpPr txBox="1"/>
          <p:nvPr/>
        </p:nvSpPr>
        <p:spPr>
          <a:xfrm>
            <a:off x="6756383" y="4216389"/>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Succesfee van 5 procent</a:t>
            </a:r>
            <a:endParaRPr lang="en-US" sz="1200" dirty="0"/>
          </a:p>
        </p:txBody>
      </p:sp>
      <p:sp>
        <p:nvSpPr>
          <p:cNvPr id="34" name="Text 26"/>
          <p:cNvSpPr txBox="1"/>
          <p:nvPr/>
        </p:nvSpPr>
        <p:spPr>
          <a:xfrm>
            <a:off x="6756383" y="4457689"/>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Ongewijzigd ten opzichte van nu. Over het eerste jaar omzet uit een klant die uit onze afspraken komt.</a:t>
            </a:r>
            <a:endParaRPr lang="en-US" sz="950" dirty="0"/>
          </a:p>
        </p:txBody>
      </p:sp>
      <p:sp>
        <p:nvSpPr>
          <p:cNvPr id="35" name="Shape 27"/>
          <p:cNvSpPr/>
          <p:nvPr/>
        </p:nvSpPr>
        <p:spPr>
          <a:xfrm>
            <a:off x="609598" y="4851388"/>
            <a:ext cx="5232387" cy="0"/>
          </a:xfrm>
          <a:prstGeom prst="line">
            <a:avLst/>
          </a:prstGeom>
          <a:noFill/>
          <a:ln w="6350">
            <a:solidFill>
              <a:srgbClr val="C9C2B2"/>
            </a:solidFill>
            <a:prstDash val="solid"/>
          </a:ln>
        </p:spPr>
      </p:sp>
      <p:sp>
        <p:nvSpPr>
          <p:cNvPr id="36" name="Shape 28"/>
          <p:cNvSpPr/>
          <p:nvPr/>
        </p:nvSpPr>
        <p:spPr>
          <a:xfrm>
            <a:off x="609598" y="4952988"/>
            <a:ext cx="253999" cy="253999"/>
          </a:xfrm>
          <a:prstGeom prst="roundRect">
            <a:avLst>
              <a:gd name="adj" fmla="val 25000"/>
            </a:avLst>
          </a:prstGeom>
          <a:solidFill>
            <a:srgbClr val="DDEBF3"/>
          </a:solidFill>
          <a:ln/>
        </p:spPr>
      </p:sp>
      <p:pic>
        <p:nvPicPr>
          <p:cNvPr id="37" name="Image 6" descr="preencoded.png">    </p:cNvPr>
          <p:cNvPicPr>
            <a:picLocks noChangeAspect="1"/>
          </p:cNvPicPr>
          <p:nvPr/>
        </p:nvPicPr>
        <p:blipFill>
          <a:blip r:embed="rId7"/>
          <a:stretch>
            <a:fillRect/>
          </a:stretch>
        </p:blipFill>
        <p:spPr>
          <a:xfrm>
            <a:off x="666748" y="5010137"/>
            <a:ext cx="139700" cy="139700"/>
          </a:xfrm>
          <a:prstGeom prst="rect">
            <a:avLst/>
          </a:prstGeom>
        </p:spPr>
      </p:pic>
      <p:sp>
        <p:nvSpPr>
          <p:cNvPr id="38" name="Text 29"/>
          <p:cNvSpPr txBox="1"/>
          <p:nvPr/>
        </p:nvSpPr>
        <p:spPr>
          <a:xfrm>
            <a:off x="1015997" y="4927588"/>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Maand opzegtermijn</a:t>
            </a:r>
            <a:endParaRPr lang="en-US" sz="1200" dirty="0"/>
          </a:p>
        </p:txBody>
      </p:sp>
      <p:sp>
        <p:nvSpPr>
          <p:cNvPr id="39" name="Text 30"/>
          <p:cNvSpPr txBox="1"/>
          <p:nvPr/>
        </p:nvSpPr>
        <p:spPr>
          <a:xfrm>
            <a:off x="1015997" y="5168887"/>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Geen jaarcontract en geen opstartkosten meer.</a:t>
            </a:r>
            <a:endParaRPr lang="en-US" sz="950" dirty="0"/>
          </a:p>
        </p:txBody>
      </p:sp>
      <p:sp>
        <p:nvSpPr>
          <p:cNvPr id="40" name="Shape 31"/>
          <p:cNvSpPr/>
          <p:nvPr/>
        </p:nvSpPr>
        <p:spPr>
          <a:xfrm>
            <a:off x="6349984" y="4851388"/>
            <a:ext cx="5232387" cy="0"/>
          </a:xfrm>
          <a:prstGeom prst="line">
            <a:avLst/>
          </a:prstGeom>
          <a:noFill/>
          <a:ln w="6350">
            <a:solidFill>
              <a:srgbClr val="C9C2B2"/>
            </a:solidFill>
            <a:prstDash val="solid"/>
          </a:ln>
        </p:spPr>
      </p:sp>
      <p:sp>
        <p:nvSpPr>
          <p:cNvPr id="41" name="Shape 32"/>
          <p:cNvSpPr/>
          <p:nvPr/>
        </p:nvSpPr>
        <p:spPr>
          <a:xfrm>
            <a:off x="6349984" y="4952988"/>
            <a:ext cx="253999" cy="253999"/>
          </a:xfrm>
          <a:prstGeom prst="roundRect">
            <a:avLst>
              <a:gd name="adj" fmla="val 25000"/>
            </a:avLst>
          </a:prstGeom>
          <a:solidFill>
            <a:srgbClr val="DDEBF3"/>
          </a:solidFill>
          <a:ln/>
        </p:spPr>
      </p:sp>
      <p:pic>
        <p:nvPicPr>
          <p:cNvPr id="42" name="Image 7" descr="preencoded.png">    </p:cNvPr>
          <p:cNvPicPr>
            <a:picLocks noChangeAspect="1"/>
          </p:cNvPicPr>
          <p:nvPr/>
        </p:nvPicPr>
        <p:blipFill>
          <a:blip r:embed="rId8"/>
          <a:stretch>
            <a:fillRect/>
          </a:stretch>
        </p:blipFill>
        <p:spPr>
          <a:xfrm>
            <a:off x="6407134" y="5010137"/>
            <a:ext cx="139700" cy="139700"/>
          </a:xfrm>
          <a:prstGeom prst="rect">
            <a:avLst/>
          </a:prstGeom>
        </p:spPr>
      </p:pic>
      <p:sp>
        <p:nvSpPr>
          <p:cNvPr id="43" name="Text 33"/>
          <p:cNvSpPr txBox="1"/>
          <p:nvPr/>
        </p:nvSpPr>
        <p:spPr>
          <a:xfrm>
            <a:off x="6756383" y="4927588"/>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Bestaande relaties blijven van jullie</a:t>
            </a:r>
            <a:endParaRPr lang="en-US" sz="1200" dirty="0"/>
          </a:p>
        </p:txBody>
      </p:sp>
      <p:sp>
        <p:nvSpPr>
          <p:cNvPr id="44" name="Text 34"/>
          <p:cNvSpPr txBox="1"/>
          <p:nvPr/>
        </p:nvSpPr>
        <p:spPr>
          <a:xfrm>
            <a:off x="6756383" y="5168887"/>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Uitsluitlijst vooraf, die bedrijven benaderen wij niet.</a:t>
            </a:r>
            <a:endParaRPr lang="en-US" sz="9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Voorstel GrowOn Agency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15 / 15</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VOLGENDE STAP</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Akkoord op het ritme? Dan loopt het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gewoon door</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920993"/>
            <a:ext cx="304799" cy="304799"/>
          </a:xfrm>
          <a:prstGeom prst="ellipse">
            <a:avLst/>
          </a:prstGeom>
          <a:ln w="15240">
            <a:solidFill>
              <a:srgbClr val="38B6FF"/>
            </a:solidFill>
            <a:prstDash val="solid"/>
          </a:ln>
        </p:spPr>
      </p:sp>
      <p:sp>
        <p:nvSpPr>
          <p:cNvPr id="8" name="Text 6"/>
          <p:cNvSpPr txBox="1"/>
          <p:nvPr/>
        </p:nvSpPr>
        <p:spPr>
          <a:xfrm>
            <a:off x="609598" y="29209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1</a:t>
            </a:r>
            <a:endParaRPr lang="en-US" sz="1050" dirty="0"/>
          </a:p>
        </p:txBody>
      </p:sp>
      <p:sp>
        <p:nvSpPr>
          <p:cNvPr id="9" name="Text 7"/>
          <p:cNvSpPr txBox="1"/>
          <p:nvPr/>
        </p:nvSpPr>
        <p:spPr>
          <a:xfrm>
            <a:off x="1117597" y="2908293"/>
            <a:ext cx="5460986" cy="2539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Akkoord</a:t>
            </a:r>
            <a:endParaRPr lang="en-US" sz="1450" dirty="0"/>
          </a:p>
        </p:txBody>
      </p:sp>
      <p:sp>
        <p:nvSpPr>
          <p:cNvPr id="10" name="Text 8"/>
          <p:cNvSpPr txBox="1"/>
          <p:nvPr/>
        </p:nvSpPr>
        <p:spPr>
          <a:xfrm>
            <a:off x="1117597" y="3200392"/>
            <a:ext cx="5460986" cy="444499"/>
          </a:xfrm>
          <a:prstGeom prst="rect">
            <a:avLst/>
          </a:prstGeom>
          <a:noFill/>
          <a:ln/>
        </p:spPr>
        <p:txBody>
          <a:bodyPr wrap="square" lIns="0" tIns="0" rIns="0" bIns="0" rtlCol="0" anchor="t"/>
          <a:lstStyle/>
          <a:p>
            <a:pPr indent="0" marL="0">
              <a:lnSpc>
                <a:spcPct val="130000"/>
              </a:lnSpc>
              <a:buNone/>
            </a:pPr>
            <a:r>
              <a:rPr lang="en-US" sz="1100" dirty="0">
                <a:solidFill>
                  <a:srgbClr val="C2C8D2"/>
                </a:solidFill>
                <a:latin typeface="Arial" pitchFamily="34" charset="0"/>
                <a:ea typeface="Arial" pitchFamily="34" charset="-122"/>
                <a:cs typeface="Arial" pitchFamily="34" charset="-120"/>
              </a:rPr>
              <a:t>Jaap geeft akkoord op het aantal beldagen per werkperiode.</a:t>
            </a:r>
            <a:endParaRPr lang="en-US" sz="1100" dirty="0"/>
          </a:p>
        </p:txBody>
      </p:sp>
      <p:sp>
        <p:nvSpPr>
          <p:cNvPr id="11" name="Shape 9"/>
          <p:cNvSpPr/>
          <p:nvPr/>
        </p:nvSpPr>
        <p:spPr>
          <a:xfrm>
            <a:off x="609598" y="3809990"/>
            <a:ext cx="304799" cy="304799"/>
          </a:xfrm>
          <a:prstGeom prst="ellipse">
            <a:avLst/>
          </a:prstGeom>
          <a:ln w="15240">
            <a:solidFill>
              <a:srgbClr val="38B6FF"/>
            </a:solidFill>
            <a:prstDash val="solid"/>
          </a:ln>
        </p:spPr>
      </p:sp>
      <p:sp>
        <p:nvSpPr>
          <p:cNvPr id="12" name="Text 10"/>
          <p:cNvSpPr txBox="1"/>
          <p:nvPr/>
        </p:nvSpPr>
        <p:spPr>
          <a:xfrm>
            <a:off x="609598" y="3809990"/>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2</a:t>
            </a:r>
            <a:endParaRPr lang="en-US" sz="1050" dirty="0"/>
          </a:p>
        </p:txBody>
      </p:sp>
      <p:sp>
        <p:nvSpPr>
          <p:cNvPr id="13" name="Text 11"/>
          <p:cNvSpPr txBox="1"/>
          <p:nvPr/>
        </p:nvSpPr>
        <p:spPr>
          <a:xfrm>
            <a:off x="1117597" y="3797291"/>
            <a:ext cx="5460986" cy="2539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Vastleggen</a:t>
            </a:r>
            <a:endParaRPr lang="en-US" sz="1450" dirty="0"/>
          </a:p>
        </p:txBody>
      </p:sp>
      <p:sp>
        <p:nvSpPr>
          <p:cNvPr id="14" name="Text 12"/>
          <p:cNvSpPr txBox="1"/>
          <p:nvPr/>
        </p:nvSpPr>
        <p:spPr>
          <a:xfrm>
            <a:off x="1117597" y="4089390"/>
            <a:ext cx="5460986" cy="444499"/>
          </a:xfrm>
          <a:prstGeom prst="rect">
            <a:avLst/>
          </a:prstGeom>
          <a:noFill/>
          <a:ln/>
        </p:spPr>
        <p:txBody>
          <a:bodyPr wrap="square" lIns="0" tIns="0" rIns="0" bIns="0" rtlCol="0" anchor="t"/>
          <a:lstStyle/>
          <a:p>
            <a:pPr indent="0" marL="0">
              <a:lnSpc>
                <a:spcPct val="130000"/>
              </a:lnSpc>
              <a:buNone/>
            </a:pPr>
            <a:r>
              <a:rPr lang="en-US" sz="1100" dirty="0">
                <a:solidFill>
                  <a:srgbClr val="C2C8D2"/>
                </a:solidFill>
                <a:latin typeface="Arial" pitchFamily="34" charset="0"/>
                <a:ea typeface="Arial" pitchFamily="34" charset="-122"/>
                <a:cs typeface="Arial" pitchFamily="34" charset="-120"/>
              </a:rPr>
              <a:t>LINK. stuurt een korte aanvulling op de samenwerkingsovereenkomst.</a:t>
            </a:r>
            <a:endParaRPr lang="en-US" sz="1100" dirty="0"/>
          </a:p>
        </p:txBody>
      </p:sp>
      <p:sp>
        <p:nvSpPr>
          <p:cNvPr id="15" name="Shape 13"/>
          <p:cNvSpPr/>
          <p:nvPr/>
        </p:nvSpPr>
        <p:spPr>
          <a:xfrm>
            <a:off x="609598" y="4698988"/>
            <a:ext cx="304799" cy="304799"/>
          </a:xfrm>
          <a:prstGeom prst="ellipse">
            <a:avLst/>
          </a:prstGeom>
          <a:ln w="15240">
            <a:solidFill>
              <a:srgbClr val="38B6FF"/>
            </a:solidFill>
            <a:prstDash val="solid"/>
          </a:ln>
        </p:spPr>
      </p:sp>
      <p:sp>
        <p:nvSpPr>
          <p:cNvPr id="16" name="Text 14"/>
          <p:cNvSpPr txBox="1"/>
          <p:nvPr/>
        </p:nvSpPr>
        <p:spPr>
          <a:xfrm>
            <a:off x="609598" y="4698988"/>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3</a:t>
            </a:r>
            <a:endParaRPr lang="en-US" sz="1050" dirty="0"/>
          </a:p>
        </p:txBody>
      </p:sp>
      <p:sp>
        <p:nvSpPr>
          <p:cNvPr id="17" name="Text 15"/>
          <p:cNvSpPr txBox="1"/>
          <p:nvPr/>
        </p:nvSpPr>
        <p:spPr>
          <a:xfrm>
            <a:off x="1117597" y="4686288"/>
            <a:ext cx="5460986" cy="2539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Doorbellen</a:t>
            </a:r>
            <a:endParaRPr lang="en-US" sz="1450" dirty="0"/>
          </a:p>
        </p:txBody>
      </p:sp>
      <p:sp>
        <p:nvSpPr>
          <p:cNvPr id="18" name="Text 16"/>
          <p:cNvSpPr txBox="1"/>
          <p:nvPr/>
        </p:nvSpPr>
        <p:spPr>
          <a:xfrm>
            <a:off x="1117597" y="4978388"/>
            <a:ext cx="5460986" cy="444499"/>
          </a:xfrm>
          <a:prstGeom prst="rect">
            <a:avLst/>
          </a:prstGeom>
          <a:noFill/>
          <a:ln/>
        </p:spPr>
        <p:txBody>
          <a:bodyPr wrap="square" lIns="0" tIns="0" rIns="0" bIns="0" rtlCol="0" anchor="t"/>
          <a:lstStyle/>
          <a:p>
            <a:pPr indent="0" marL="0">
              <a:lnSpc>
                <a:spcPct val="130000"/>
              </a:lnSpc>
              <a:buNone/>
            </a:pPr>
            <a:r>
              <a:rPr lang="en-US" sz="1100" dirty="0">
                <a:solidFill>
                  <a:srgbClr val="C2C8D2"/>
                </a:solidFill>
                <a:latin typeface="Arial" pitchFamily="34" charset="0"/>
                <a:ea typeface="Arial" pitchFamily="34" charset="-122"/>
                <a:cs typeface="Arial" pitchFamily="34" charset="-120"/>
              </a:rPr>
              <a:t>Werkperiode 4 start aansluitend, zonder onderbreking.</a:t>
            </a:r>
            <a:endParaRPr lang="en-US" sz="1100" dirty="0"/>
          </a:p>
        </p:txBody>
      </p:sp>
      <p:sp>
        <p:nvSpPr>
          <p:cNvPr id="19" name="Shape 17"/>
          <p:cNvSpPr/>
          <p:nvPr/>
        </p:nvSpPr>
        <p:spPr>
          <a:xfrm>
            <a:off x="7645381" y="2920993"/>
            <a:ext cx="3936990" cy="2666993"/>
          </a:xfrm>
          <a:prstGeom prst="roundRect">
            <a:avLst>
              <a:gd name="adj" fmla="val 3810"/>
            </a:avLst>
          </a:prstGeom>
          <a:solidFill>
            <a:srgbClr val="1B2130"/>
          </a:solidFill>
          <a:ln w="9525">
            <a:solidFill>
              <a:srgbClr val="3A4152"/>
            </a:solidFill>
            <a:prstDash val="solid"/>
          </a:ln>
        </p:spPr>
      </p:sp>
      <p:sp>
        <p:nvSpPr>
          <p:cNvPr id="20" name="Text 18"/>
          <p:cNvSpPr txBox="1"/>
          <p:nvPr/>
        </p:nvSpPr>
        <p:spPr>
          <a:xfrm>
            <a:off x="8000980" y="3251192"/>
            <a:ext cx="3225792" cy="355599"/>
          </a:xfrm>
          <a:prstGeom prst="rect">
            <a:avLst/>
          </a:prstGeom>
          <a:noFill/>
          <a:ln/>
        </p:spPr>
        <p:txBody>
          <a:bodyPr wrap="square" lIns="0" tIns="0" rIns="0" bIns="0" rtlCol="0" anchor="ctr"/>
          <a:lstStyle/>
          <a:p>
            <a:pPr indent="0" marL="0">
              <a:buNone/>
            </a:pPr>
            <a:r>
              <a:rPr lang="en-US" sz="2000" b="1" dirty="0">
                <a:solidFill>
                  <a:srgbClr val="F2EFE6"/>
                </a:solidFill>
                <a:latin typeface="Arial" pitchFamily="34" charset="0"/>
                <a:ea typeface="Arial" pitchFamily="34" charset="-122"/>
                <a:cs typeface="Arial" pitchFamily="34" charset="-120"/>
              </a:rPr>
              <a:t>Hens Boer</a:t>
            </a:r>
            <a:endParaRPr lang="en-US" sz="2000" dirty="0"/>
          </a:p>
        </p:txBody>
      </p:sp>
      <p:sp>
        <p:nvSpPr>
          <p:cNvPr id="21" name="Text 19"/>
          <p:cNvSpPr txBox="1"/>
          <p:nvPr/>
        </p:nvSpPr>
        <p:spPr>
          <a:xfrm>
            <a:off x="8000980" y="3644891"/>
            <a:ext cx="3225792" cy="215899"/>
          </a:xfrm>
          <a:prstGeom prst="rect">
            <a:avLst/>
          </a:prstGeom>
          <a:noFill/>
          <a:ln/>
        </p:spPr>
        <p:txBody>
          <a:bodyPr wrap="square" lIns="0" tIns="0" rIns="0" bIns="0" rtlCol="0" anchor="ctr"/>
          <a:lstStyle/>
          <a:p>
            <a:pPr indent="0" marL="0">
              <a:buNone/>
            </a:pPr>
            <a:r>
              <a:rPr lang="en-US" sz="1050" b="1" dirty="0">
                <a:solidFill>
                  <a:srgbClr val="38B6FF"/>
                </a:solidFill>
                <a:latin typeface="Arial" pitchFamily="34" charset="0"/>
                <a:ea typeface="Arial" pitchFamily="34" charset="-122"/>
                <a:cs typeface="Arial" pitchFamily="34" charset="-120"/>
              </a:rPr>
              <a:t>Eigenaar LINK.</a:t>
            </a:r>
            <a:endParaRPr lang="en-US" sz="1050" dirty="0"/>
          </a:p>
        </p:txBody>
      </p:sp>
      <p:sp>
        <p:nvSpPr>
          <p:cNvPr id="22" name="Text 20"/>
          <p:cNvSpPr txBox="1"/>
          <p:nvPr/>
        </p:nvSpPr>
        <p:spPr>
          <a:xfrm>
            <a:off x="8000980" y="4165590"/>
            <a:ext cx="3225792" cy="2539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hens@linkgrp.nl</a:t>
            </a:r>
            <a:endParaRPr lang="en-US" sz="1100" dirty="0"/>
          </a:p>
        </p:txBody>
      </p:sp>
      <p:sp>
        <p:nvSpPr>
          <p:cNvPr id="23" name="Text 21"/>
          <p:cNvSpPr txBox="1"/>
          <p:nvPr/>
        </p:nvSpPr>
        <p:spPr>
          <a:xfrm>
            <a:off x="8000980" y="4521189"/>
            <a:ext cx="3225792" cy="2539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linkgrp.nl</a:t>
            </a:r>
            <a:endParaRPr lang="en-US" sz="1100" dirty="0"/>
          </a:p>
        </p:txBody>
      </p:sp>
      <p:sp>
        <p:nvSpPr>
          <p:cNvPr id="24" name="Text 22"/>
          <p:cNvSpPr txBox="1"/>
          <p:nvPr/>
        </p:nvSpPr>
        <p:spPr>
          <a:xfrm>
            <a:off x="8000980" y="4876788"/>
            <a:ext cx="3225792" cy="2539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Flemingweg 8, Alphen aan den Rijn</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LINK. voorstel GrowOn Agency</dc:title>
  <dc:subject>PptxGenJS Presentation</dc:subject>
  <dc:creator>LINK.</dc:creator>
  <cp:lastModifiedBy>LINK.</cp:lastModifiedBy>
  <cp:revision>1</cp:revision>
  <dcterms:created xsi:type="dcterms:W3CDTF">2026-10-11T17:41:45Z</dcterms:created>
  <dcterms:modified xsi:type="dcterms:W3CDTF">2026-10-11T17:41:45Z</dcterms:modified>
</cp:coreProperties>
</file>