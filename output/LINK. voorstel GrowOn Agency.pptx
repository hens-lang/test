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8159730" y="3460741"/>
            <a:ext cx="1111247" cy="984248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70977" y="3460741"/>
            <a:ext cx="1301747" cy="476249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>
            <a:off x="10159975" y="3936990"/>
            <a:ext cx="412749" cy="1206497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>
            <a:off x="8889978" y="5143487"/>
            <a:ext cx="1269997" cy="444499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59730" y="4444989"/>
            <a:ext cx="730248" cy="1142997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>
            <a:off x="9270977" y="2730493"/>
            <a:ext cx="1809745" cy="730248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0572724" y="2730493"/>
            <a:ext cx="507999" cy="1206497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72724" y="3936990"/>
            <a:ext cx="1047747" cy="761998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0159975" y="4698988"/>
            <a:ext cx="1460496" cy="444499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9905975" y="5143487"/>
            <a:ext cx="253999" cy="1111247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89978" y="5587986"/>
            <a:ext cx="1015997" cy="666748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20471" y="4698988"/>
            <a:ext cx="158750" cy="1206497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9905975" y="5905485"/>
            <a:ext cx="1873245" cy="349249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34330" y="4419589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245577" y="3435341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528274" y="3892540"/>
            <a:ext cx="88900" cy="88900"/>
          </a:xfrm>
          <a:prstGeom prst="ellipse">
            <a:avLst/>
          </a:prstGeom>
          <a:solidFill>
            <a:srgbClr val="38B6F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134575" y="5118087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864578" y="5562586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055322" y="2705093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595071" y="4673588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880575" y="6229334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753821" y="5880085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Voorstel GrowOn Agency</a:t>
            </a:r>
            <a:endParaRPr lang="en-US" sz="750" dirty="0"/>
          </a:p>
        </p:txBody>
      </p:sp>
      <p:sp>
        <p:nvSpPr>
          <p:cNvPr id="26" name="Text 24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12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609598" y="2133595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JAAP · GROWON AGENCY · EVALUATIE 16 OKTOBER 2026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09598" y="2514594"/>
            <a:ext cx="8635978" cy="20319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pilot naar een </a:t>
            </a:r>
            <a:pPr algn="l" indent="0" marL="0">
              <a:lnSpc>
                <a:spcPct val="105000"/>
              </a:lnSpc>
              <a:buNone/>
            </a:pPr>
            <a:r>
              <a:rPr lang="en-US" sz="5000" i="1" dirty="0">
                <a:solidFill>
                  <a:srgbClr val="F2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vast ritme</a:t>
            </a:r>
            <a:pPr algn="l" indent="0" marL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5200" dirty="0"/>
          </a:p>
        </p:txBody>
      </p:sp>
      <p:sp>
        <p:nvSpPr>
          <p:cNvPr id="29" name="Text 27"/>
          <p:cNvSpPr txBox="1"/>
          <p:nvPr/>
        </p:nvSpPr>
        <p:spPr>
          <a:xfrm>
            <a:off x="609598" y="4711688"/>
            <a:ext cx="6667483" cy="761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Twaalf weken bellen zit erop. In deze presentatie staat wat het heeft opgeleverd, wat we onderweg hebben geleerd en hoe we het vanaf november willen inrichten.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09598" y="5714986"/>
            <a:ext cx="825498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indent="0" marL="0">
              <a:buNone/>
            </a:pPr>
            <a:r>
              <a:rPr lang="en-US" sz="17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1473196" y="5714986"/>
            <a:ext cx="279399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854195" y="5714986"/>
            <a:ext cx="1396997" cy="406399"/>
          </a:xfrm>
          <a:prstGeom prst="roundRect">
            <a:avLst>
              <a:gd name="adj" fmla="val 21875"/>
            </a:avLst>
          </a:prstGeom>
          <a:solidFill>
            <a:srgbClr val="F8F4EB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1854195" y="5714986"/>
            <a:ext cx="1396997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GrowOn Agency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9E0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Voorstel GrowOn Agency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WIJ ZIJN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Bellen is een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vak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Wij doen niets anders.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609598" y="2692393"/>
            <a:ext cx="6095985" cy="317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spcAft>
                <a:spcPts val="1800"/>
              </a:spcAft>
              <a:buNone/>
            </a:pPr>
            <a:r>
              <a:rPr lang="en-US" sz="1350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is de vaste acquisitiepartner van B2B-bedrijven. Wij bellen dagelijks namens onze klanten en leveren gekwalificeerde afspraken op. Geen lijstjes met namen, maar gesprekken in jullie agenda met een beslisser die weet waarom hij aan tafel zit.</a:t>
            </a:r>
            <a:endParaRPr lang="en-US" sz="1350" dirty="0"/>
          </a:p>
          <a:p>
            <a:pPr indent="0" marL="0">
              <a:lnSpc>
                <a:spcPct val="142000"/>
              </a:lnSpc>
              <a:buNone/>
            </a:pPr>
            <a:r>
              <a:rPr lang="en-US" sz="1350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werken voor bedrijven met een sterke B2B-propositie, van een fairchain koffieleverancier tot een AI-consultancy. Geen bureau op afstand, maar een partner die elke week met je schakelt.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899380" y="2666993"/>
            <a:ext cx="3682991" cy="1549396"/>
          </a:xfrm>
          <a:prstGeom prst="roundRect">
            <a:avLst>
              <a:gd name="adj" fmla="val 6557"/>
            </a:avLst>
          </a:prstGeom>
          <a:solidFill>
            <a:srgbClr val="F8F4E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178780" y="2857493"/>
            <a:ext cx="3124192" cy="469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178780" y="3352792"/>
            <a:ext cx="3124192" cy="241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vast aanspreekpunt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178780" y="3619491"/>
            <a:ext cx="3124192" cy="507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Eén persoon die jullie campagne kent, van script tot rapportage.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899380" y="4368789"/>
            <a:ext cx="3682991" cy="1549396"/>
          </a:xfrm>
          <a:prstGeom prst="roundRect">
            <a:avLst>
              <a:gd name="adj" fmla="val 6557"/>
            </a:avLst>
          </a:prstGeom>
          <a:solidFill>
            <a:srgbClr val="F8F4E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178780" y="4559289"/>
            <a:ext cx="3124192" cy="469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178780" y="5054587"/>
            <a:ext cx="3124192" cy="241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weken per werkperiode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178780" y="5321287"/>
            <a:ext cx="3124192" cy="507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Vaste rapportage en vaste evaluatiemomenten, elke werkperiode opnieuw.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E0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Voorstel GrowOn Agency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WIJ DOEN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Eén team dat belt, opvolgt en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afspraken levert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09598" y="2793993"/>
            <a:ext cx="2628893" cy="3238492"/>
          </a:xfrm>
          <a:prstGeom prst="roundRect">
            <a:avLst>
              <a:gd name="adj" fmla="val 3865"/>
            </a:avLst>
          </a:prstGeom>
          <a:solidFill>
            <a:srgbClr val="F8F4EB"/>
          </a:solidFill>
          <a:ln/>
        </p:spPr>
      </p:sp>
      <p:sp>
        <p:nvSpPr>
          <p:cNvPr id="8" name="Shape 6"/>
          <p:cNvSpPr/>
          <p:nvPr/>
        </p:nvSpPr>
        <p:spPr>
          <a:xfrm>
            <a:off x="863598" y="30733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8848" y="3168642"/>
            <a:ext cx="190500" cy="1905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63598" y="3632191"/>
            <a:ext cx="2120895" cy="533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calling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863598" y="4203689"/>
            <a:ext cx="2120895" cy="1587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Ervaren B2B-bellers die het gesprek voeren met de beslisser. Eigen belsysteem, een regionaal telefoonnummer op jullie naam en elk gesprek vastgelegd met notities.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390892" y="2793993"/>
            <a:ext cx="2628893" cy="3238492"/>
          </a:xfrm>
          <a:prstGeom prst="roundRect">
            <a:avLst>
              <a:gd name="adj" fmla="val 3865"/>
            </a:avLst>
          </a:prstGeom>
          <a:solidFill>
            <a:srgbClr val="F8F4EB"/>
          </a:solidFill>
          <a:ln/>
        </p:spPr>
      </p:sp>
      <p:sp>
        <p:nvSpPr>
          <p:cNvPr id="13" name="Shape 10"/>
          <p:cNvSpPr/>
          <p:nvPr/>
        </p:nvSpPr>
        <p:spPr>
          <a:xfrm>
            <a:off x="3644891" y="30733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0141" y="3168642"/>
            <a:ext cx="190500" cy="1905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644891" y="3632191"/>
            <a:ext cx="2120895" cy="533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en doelgroep</a:t>
            </a:r>
            <a:endParaRPr lang="en-US" sz="1350" dirty="0"/>
          </a:p>
        </p:txBody>
      </p:sp>
      <p:sp>
        <p:nvSpPr>
          <p:cNvPr id="16" name="Text 12"/>
          <p:cNvSpPr txBox="1"/>
          <p:nvPr/>
        </p:nvSpPr>
        <p:spPr>
          <a:xfrm>
            <a:off x="3644891" y="4203689"/>
            <a:ext cx="2120895" cy="1587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Wij bouwen de bellijst op jullie ideale klant: retailers en webshops met een draaiende shop, lopende advertenties en budget. Die filtering hebben we onderweg flink aangescherpt.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6172185" y="2793993"/>
            <a:ext cx="2628893" cy="3238492"/>
          </a:xfrm>
          <a:prstGeom prst="roundRect">
            <a:avLst>
              <a:gd name="adj" fmla="val 3865"/>
            </a:avLst>
          </a:prstGeom>
          <a:solidFill>
            <a:srgbClr val="F8F4EB"/>
          </a:solidFill>
          <a:ln/>
        </p:spPr>
      </p:sp>
      <p:sp>
        <p:nvSpPr>
          <p:cNvPr id="18" name="Shape 14"/>
          <p:cNvSpPr/>
          <p:nvPr/>
        </p:nvSpPr>
        <p:spPr>
          <a:xfrm>
            <a:off x="6426184" y="30733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434" y="3168642"/>
            <a:ext cx="190500" cy="1905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426184" y="3632191"/>
            <a:ext cx="2120895" cy="533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Opvolging</a:t>
            </a:r>
            <a:endParaRPr lang="en-US" sz="1350" dirty="0"/>
          </a:p>
        </p:txBody>
      </p:sp>
      <p:sp>
        <p:nvSpPr>
          <p:cNvPr id="21" name="Text 16"/>
          <p:cNvSpPr txBox="1"/>
          <p:nvPr/>
        </p:nvSpPr>
        <p:spPr>
          <a:xfrm>
            <a:off x="6426184" y="4203689"/>
            <a:ext cx="2120895" cy="1587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Terugbelafspraken komen echt terug in de bellijst en warme leads dragen we direct aan jullie over, met de reden en de context erbij.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8953478" y="2793993"/>
            <a:ext cx="2628893" cy="3238492"/>
          </a:xfrm>
          <a:prstGeom prst="roundRect">
            <a:avLst>
              <a:gd name="adj" fmla="val 3865"/>
            </a:avLst>
          </a:prstGeom>
          <a:solidFill>
            <a:srgbClr val="000000"/>
          </a:solidFill>
          <a:ln/>
        </p:spPr>
      </p:sp>
      <p:sp>
        <p:nvSpPr>
          <p:cNvPr id="23" name="Shape 18"/>
          <p:cNvSpPr/>
          <p:nvPr/>
        </p:nvSpPr>
        <p:spPr>
          <a:xfrm>
            <a:off x="9207477" y="30733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203C55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2727" y="3168642"/>
            <a:ext cx="190500" cy="1905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207477" y="3632191"/>
            <a:ext cx="2120895" cy="533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Gekwalificeerde afspraken</a:t>
            </a:r>
            <a:endParaRPr lang="en-US" sz="1350" dirty="0"/>
          </a:p>
        </p:txBody>
      </p:sp>
      <p:sp>
        <p:nvSpPr>
          <p:cNvPr id="26" name="Text 20"/>
          <p:cNvSpPr txBox="1"/>
          <p:nvPr/>
        </p:nvSpPr>
        <p:spPr>
          <a:xfrm>
            <a:off x="9207477" y="4203689"/>
            <a:ext cx="2120895" cy="1587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resultaat waar we op sturen. Een afspraak staat pas als het bedrijf past, de interesse echt is en de juiste persoon aan tafel zit.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Voorstel GrowOn Agency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HOE EEN WERKPERIODE LOOPT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weken, van bellijst naar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F2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afspraken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de agenda.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09598" y="2743193"/>
            <a:ext cx="304799" cy="3047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9598" y="2743193"/>
            <a:ext cx="304799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015997" y="2895593"/>
            <a:ext cx="2349494" cy="0"/>
          </a:xfrm>
          <a:prstGeom prst="line">
            <a:avLst/>
          </a:prstGeom>
          <a:noFill/>
          <a:ln w="9525">
            <a:solidFill>
              <a:srgbClr val="38B6FF">
                <a:alpha val="40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9598" y="3213092"/>
            <a:ext cx="2552694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Lijst klaarzetten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09598" y="3517891"/>
            <a:ext cx="2552694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de lijst voor de periode klaar, gefilterd op draaiende webshop en lopende advertenties, met de terugbelafspraken uit de vorige periode bovenaan.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416291" y="2743193"/>
            <a:ext cx="304799" cy="3047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16291" y="2743193"/>
            <a:ext cx="304799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822690" y="2895593"/>
            <a:ext cx="2349494" cy="0"/>
          </a:xfrm>
          <a:prstGeom prst="line">
            <a:avLst/>
          </a:prstGeom>
          <a:noFill/>
          <a:ln w="9525">
            <a:solidFill>
              <a:srgbClr val="38B6FF">
                <a:alpha val="4000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416291" y="3213092"/>
            <a:ext cx="2552694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Bellen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416291" y="3517891"/>
            <a:ext cx="2552694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bellen op de dagen en dagdelen die in onze data het beste werken. In retail zijn dat maandag en dinsdag, vrijdag juist niet.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22984" y="2743193"/>
            <a:ext cx="304799" cy="3047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22984" y="2743193"/>
            <a:ext cx="304799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629383" y="2895593"/>
            <a:ext cx="2349494" cy="0"/>
          </a:xfrm>
          <a:prstGeom prst="line">
            <a:avLst/>
          </a:prstGeom>
          <a:noFill/>
          <a:ln w="9525">
            <a:solidFill>
              <a:srgbClr val="38B6FF">
                <a:alpha val="4000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22984" y="3213092"/>
            <a:ext cx="2552694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Wekelijkse rapportage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222984" y="3517891"/>
            <a:ext cx="2552694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week het rapport dat je nu ook krijgt: pogingen, gesproken bedrijven, warme uitkomsten, afspraken en wat we terughoren uit de markt.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029677" y="2743193"/>
            <a:ext cx="304799" cy="3047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029677" y="2743193"/>
            <a:ext cx="304799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9029677" y="3213092"/>
            <a:ext cx="2552694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Bijsturen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9029677" y="3517891"/>
            <a:ext cx="2552694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elke periode kijken we samen naar de cijfers en bepalen we het aantal beldagen voor de volgende.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09598" y="4711688"/>
            <a:ext cx="10972773" cy="1320797"/>
          </a:xfrm>
          <a:prstGeom prst="roundRect">
            <a:avLst>
              <a:gd name="adj" fmla="val 7692"/>
            </a:avLst>
          </a:prstGeom>
          <a:solidFill>
            <a:srgbClr val="1B2130"/>
          </a:solidFill>
          <a:ln w="9525">
            <a:solidFill>
              <a:srgbClr val="3A415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398" y="4927588"/>
            <a:ext cx="5079987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jullie ontvangen</a:t>
            </a:r>
            <a:endParaRPr lang="en-US" sz="115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398" y="5314937"/>
            <a:ext cx="139700" cy="139700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1142997" y="5295887"/>
            <a:ext cx="5016487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Afspraak in de agenda met bedrijfsinfo, contactpersoon en aanleiding</a:t>
            </a:r>
            <a:endParaRPr lang="en-US" sz="950" dirty="0"/>
          </a:p>
        </p:txBody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784" y="5314937"/>
            <a:ext cx="139700" cy="139700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6629383" y="5295887"/>
            <a:ext cx="5016487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Bevestiging naar de prospect uit jullie naam</a:t>
            </a:r>
            <a:endParaRPr lang="en-US" sz="950" dirty="0"/>
          </a:p>
        </p:txBody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8" y="5619736"/>
            <a:ext cx="139700" cy="139700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1142997" y="5600686"/>
            <a:ext cx="5016487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Wekelijks rapport in PDF plus alle gespreksnotities</a:t>
            </a:r>
            <a:endParaRPr lang="en-US" sz="950" dirty="0"/>
          </a:p>
        </p:txBody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784" y="5619736"/>
            <a:ext cx="139700" cy="139700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6629383" y="5600686"/>
            <a:ext cx="5016487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vast aanspreekpunt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9E0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Voorstel GrowOn Agency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WIJ EEN GEKWALIFICEERDE AFSPRAAK NOEMEN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afspraak om de afspraak.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Drie eisen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09598" y="2793993"/>
            <a:ext cx="3536941" cy="2476494"/>
          </a:xfrm>
          <a:prstGeom prst="roundRect">
            <a:avLst>
              <a:gd name="adj" fmla="val 4103"/>
            </a:avLst>
          </a:prstGeom>
          <a:solidFill>
            <a:srgbClr val="F8F4EB"/>
          </a:solidFill>
          <a:ln/>
        </p:spPr>
      </p:sp>
      <p:sp>
        <p:nvSpPr>
          <p:cNvPr id="8" name="Shape 6"/>
          <p:cNvSpPr/>
          <p:nvPr/>
        </p:nvSpPr>
        <p:spPr>
          <a:xfrm>
            <a:off x="914398" y="31241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647" y="3219442"/>
            <a:ext cx="190500" cy="1905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914398" y="3708391"/>
            <a:ext cx="2927343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914398" y="4089390"/>
            <a:ext cx="2927343" cy="952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bedrijf past: een draaiende webshop of winkel met advertentiebudget, precies het profiel waar de afspraken tot nu toe uit kwamen.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324339" y="2793993"/>
            <a:ext cx="3536941" cy="2476494"/>
          </a:xfrm>
          <a:prstGeom prst="roundRect">
            <a:avLst>
              <a:gd name="adj" fmla="val 4103"/>
            </a:avLst>
          </a:prstGeom>
          <a:solidFill>
            <a:srgbClr val="F8F4EB"/>
          </a:solidFill>
          <a:ln/>
        </p:spPr>
      </p:sp>
      <p:sp>
        <p:nvSpPr>
          <p:cNvPr id="13" name="Shape 10"/>
          <p:cNvSpPr/>
          <p:nvPr/>
        </p:nvSpPr>
        <p:spPr>
          <a:xfrm>
            <a:off x="4629138" y="31241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388" y="3219442"/>
            <a:ext cx="190500" cy="1905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629138" y="3708391"/>
            <a:ext cx="2927343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Interesse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4629138" y="4089390"/>
            <a:ext cx="2927343" cy="952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 is een concrete aanleiding: ontevreden over het huidige bureau, een contract dat afloopt, of advertenties die stilliggen terwijl het budget er wel is.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8039080" y="2793993"/>
            <a:ext cx="3536941" cy="2476494"/>
          </a:xfrm>
          <a:prstGeom prst="roundRect">
            <a:avLst>
              <a:gd name="adj" fmla="val 4103"/>
            </a:avLst>
          </a:prstGeom>
          <a:solidFill>
            <a:srgbClr val="F8F4EB"/>
          </a:solidFill>
          <a:ln/>
        </p:spPr>
      </p:sp>
      <p:sp>
        <p:nvSpPr>
          <p:cNvPr id="18" name="Shape 14"/>
          <p:cNvSpPr/>
          <p:nvPr/>
        </p:nvSpPr>
        <p:spPr>
          <a:xfrm>
            <a:off x="8343879" y="31241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129" y="3219442"/>
            <a:ext cx="190500" cy="1905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343879" y="3708391"/>
            <a:ext cx="2927343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Beslisser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8343879" y="4089390"/>
            <a:ext cx="2927343" cy="952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afspraak staat met de eigenaar of de marketingverantwoordelijke. In retail is dat vaak dezelfde persoon.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609598" y="5854685"/>
            <a:ext cx="76200" cy="76200"/>
          </a:xfrm>
          <a:prstGeom prst="ellipse">
            <a:avLst/>
          </a:prstGeom>
          <a:solidFill>
            <a:srgbClr val="38B6FF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0098" y="5714986"/>
            <a:ext cx="9905975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Ontevredenheid over de huidige partner is veruit de sterkste ingang. Dat kwam in bijna elke week terug en levert de beste afspraken op.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0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Voorstel GrowOn Agency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DE PILOT HEEFT OPGELEVERD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Negen belweken,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geen gevoel maar gemeten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09598" y="2730493"/>
            <a:ext cx="2628893" cy="2222494"/>
          </a:xfrm>
          <a:prstGeom prst="roundRect">
            <a:avLst>
              <a:gd name="adj" fmla="val 4571"/>
            </a:avLst>
          </a:prstGeom>
          <a:solidFill>
            <a:srgbClr val="F8F4E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0898" y="2997193"/>
            <a:ext cx="2146295" cy="507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1.213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850898" y="3555991"/>
            <a:ext cx="214629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CONTACTPOGINGEN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50898" y="3975090"/>
            <a:ext cx="2146295" cy="888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 negen gebelde weken, van week 32 tot en met week 41.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390892" y="2730493"/>
            <a:ext cx="2628893" cy="2222494"/>
          </a:xfrm>
          <a:prstGeom prst="roundRect">
            <a:avLst>
              <a:gd name="adj" fmla="val 4571"/>
            </a:avLst>
          </a:prstGeom>
          <a:solidFill>
            <a:srgbClr val="F8F4E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32191" y="2997193"/>
            <a:ext cx="2146295" cy="507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3632191" y="3555991"/>
            <a:ext cx="214629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BEDRIJVEN GESPROKEN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3632191" y="3975090"/>
            <a:ext cx="2146295" cy="888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Zes van de tien pogingen leverden de juiste persoon aan de lijn op.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72185" y="2730493"/>
            <a:ext cx="2628893" cy="2222494"/>
          </a:xfrm>
          <a:prstGeom prst="roundRect">
            <a:avLst>
              <a:gd name="adj" fmla="val 4571"/>
            </a:avLst>
          </a:prstGeom>
          <a:solidFill>
            <a:srgbClr val="F8F4E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13484" y="2997193"/>
            <a:ext cx="2146295" cy="507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6413484" y="3555991"/>
            <a:ext cx="214629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TERUGBELAFSPRAKEN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413484" y="3975090"/>
            <a:ext cx="2146295" cy="888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Concrete vervolgmomenten die we hebben vastgelegd en opvolgen.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953478" y="2730493"/>
            <a:ext cx="2628893" cy="2222494"/>
          </a:xfrm>
          <a:prstGeom prst="roundRect">
            <a:avLst>
              <a:gd name="adj" fmla="val 4571"/>
            </a:avLst>
          </a:prstGeom>
          <a:solidFill>
            <a:srgbClr val="0000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94777" y="2997193"/>
            <a:ext cx="2146295" cy="507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3600" dirty="0"/>
          </a:p>
        </p:txBody>
      </p:sp>
      <p:sp>
        <p:nvSpPr>
          <p:cNvPr id="21" name="Text 19"/>
          <p:cNvSpPr txBox="1"/>
          <p:nvPr/>
        </p:nvSpPr>
        <p:spPr>
          <a:xfrm>
            <a:off x="9194777" y="3555991"/>
            <a:ext cx="214629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AFSPRAKEN EN OVERDRACHTEN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194777" y="3975090"/>
            <a:ext cx="2146295" cy="888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Gemiddeld één op de 58 pogingen. Werkperiode 3 loopt nog door tot 25 oktober.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09598" y="5854685"/>
            <a:ext cx="76200" cy="76200"/>
          </a:xfrm>
          <a:prstGeom prst="ellipse">
            <a:avLst/>
          </a:prstGeom>
          <a:solidFill>
            <a:srgbClr val="38B6F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00098" y="5714986"/>
            <a:ext cx="9905975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cijfers komen uit de wekelijkse rapportages die je elke week hebt ontvangen. Niets opgehoogd, niets weggelaten.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Voorstel GrowOn Agency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VERLOOP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Sterke start, dip in de zomer,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F2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 weer omhoog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09598" y="2666993"/>
            <a:ext cx="10972773" cy="2355844"/>
          </a:xfrm>
          <a:prstGeom prst="roundRect">
            <a:avLst>
              <a:gd name="adj" fmla="val 4313"/>
            </a:avLst>
          </a:prstGeom>
          <a:ln w="9525">
            <a:solidFill>
              <a:srgbClr val="3A415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88998" y="2666993"/>
            <a:ext cx="2920993" cy="469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60" kern="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WERKPERIODE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3886190" y="2666993"/>
            <a:ext cx="2349494" cy="469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60" kern="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CONTACTPOGINGEN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6324584" y="2666993"/>
            <a:ext cx="2349494" cy="469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60" kern="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GESPROKEN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737578" y="2666993"/>
            <a:ext cx="2539994" cy="469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60" kern="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AFSPRAKEN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09598" y="3136892"/>
            <a:ext cx="10972773" cy="0"/>
          </a:xfrm>
          <a:prstGeom prst="line">
            <a:avLst/>
          </a:prstGeom>
          <a:noFill/>
          <a:ln w="9525">
            <a:solidFill>
              <a:srgbClr val="3A415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8998" y="3136892"/>
            <a:ext cx="2920993" cy="62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week 32 t/m 35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886190" y="3136892"/>
            <a:ext cx="2349494" cy="62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604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324584" y="3136892"/>
            <a:ext cx="2349494" cy="62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443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737578" y="3136892"/>
            <a:ext cx="2539994" cy="62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09598" y="3765541"/>
            <a:ext cx="10972773" cy="0"/>
          </a:xfrm>
          <a:prstGeom prst="line">
            <a:avLst/>
          </a:prstGeom>
          <a:noFill/>
          <a:ln w="9525">
            <a:solidFill>
              <a:srgbClr val="3A415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88998" y="3765541"/>
            <a:ext cx="2920993" cy="62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week 36 t/m 39</a:t>
            </a:r>
            <a:pPr indent="0" marL="0">
              <a:buNone/>
            </a:pPr>
            <a:r>
              <a:rPr lang="en-US" sz="1000" i="1" dirty="0">
                <a:solidFill>
                  <a:srgbClr val="38B6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vakantie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886190" y="3765541"/>
            <a:ext cx="2349494" cy="62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379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324584" y="3765541"/>
            <a:ext cx="2349494" cy="62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164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737578" y="3765541"/>
            <a:ext cx="2539994" cy="62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5948" y="4394189"/>
            <a:ext cx="10960073" cy="628648"/>
          </a:xfrm>
          <a:prstGeom prst="rect">
            <a:avLst/>
          </a:prstGeom>
          <a:solidFill>
            <a:srgbClr val="38B6FF">
              <a:alpha val="11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98" y="4394189"/>
            <a:ext cx="10972773" cy="0"/>
          </a:xfrm>
          <a:prstGeom prst="line">
            <a:avLst/>
          </a:prstGeom>
          <a:noFill/>
          <a:ln w="9525">
            <a:solidFill>
              <a:srgbClr val="3A415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88998" y="4394189"/>
            <a:ext cx="2920993" cy="62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week 40 t/m 43</a:t>
            </a:r>
            <a:pPr indent="0" marL="0">
              <a:buNone/>
            </a:pPr>
            <a:r>
              <a:rPr lang="en-US" sz="1000" i="1" dirty="0">
                <a:solidFill>
                  <a:srgbClr val="38B6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loopt nog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3886190" y="4394189"/>
            <a:ext cx="2349494" cy="62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230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324584" y="4394189"/>
            <a:ext cx="2349494" cy="62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737578" y="4394189"/>
            <a:ext cx="2539994" cy="62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09598" y="5854685"/>
            <a:ext cx="76200" cy="76200"/>
          </a:xfrm>
          <a:prstGeom prst="ellipse">
            <a:avLst/>
          </a:prstGeom>
          <a:solidFill>
            <a:srgbClr val="38B6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00098" y="5651486"/>
            <a:ext cx="9905975" cy="482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dip in werkperiode 2 was vakantie: minder bereikbaarheid en in week 39 is er niet gebeld. Werkperiode 3 staat na twee weken al op vijf, met nog twee weken te gaan.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Voorstel GrowOn Agency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VOORSTEL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Vaste beldagen per vier weken,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F2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één dagprijs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09598" y="2666993"/>
            <a:ext cx="10972773" cy="2355844"/>
          </a:xfrm>
          <a:prstGeom prst="roundRect">
            <a:avLst>
              <a:gd name="adj" fmla="val 4313"/>
            </a:avLst>
          </a:prstGeom>
          <a:ln w="9525">
            <a:solidFill>
              <a:srgbClr val="3A415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88998" y="2666993"/>
            <a:ext cx="2920993" cy="469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60" kern="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BELDAGEN PER 4 WEKEN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3886190" y="2666993"/>
            <a:ext cx="2349494" cy="469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60" kern="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PRIJS PER BELDAG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6324584" y="2666993"/>
            <a:ext cx="2349494" cy="469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60" kern="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4 WEKEN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737578" y="2666993"/>
            <a:ext cx="2539994" cy="469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60" kern="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VERWACHTE AFSPRAKEN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09598" y="3136892"/>
            <a:ext cx="10972773" cy="0"/>
          </a:xfrm>
          <a:prstGeom prst="line">
            <a:avLst/>
          </a:prstGeom>
          <a:noFill/>
          <a:ln w="9525">
            <a:solidFill>
              <a:srgbClr val="3A415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8998" y="3136892"/>
            <a:ext cx="2920993" cy="62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beldagen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886190" y="3136892"/>
            <a:ext cx="2349494" cy="62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€ 600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324584" y="3136892"/>
            <a:ext cx="2349494" cy="62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€ 2.400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737578" y="3136892"/>
            <a:ext cx="2539994" cy="62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 7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09598" y="3765541"/>
            <a:ext cx="10972773" cy="0"/>
          </a:xfrm>
          <a:prstGeom prst="line">
            <a:avLst/>
          </a:prstGeom>
          <a:noFill/>
          <a:ln w="9525">
            <a:solidFill>
              <a:srgbClr val="3A415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88998" y="3765541"/>
            <a:ext cx="2920993" cy="62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tot 7 beldagen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886190" y="3765541"/>
            <a:ext cx="2349494" cy="62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€ 550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324584" y="3765541"/>
            <a:ext cx="2349494" cy="62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€ 2.750 tot € 3.850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737578" y="3765541"/>
            <a:ext cx="2539994" cy="62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 9 tot 12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5948" y="4394189"/>
            <a:ext cx="10960073" cy="628648"/>
          </a:xfrm>
          <a:prstGeom prst="rect">
            <a:avLst/>
          </a:prstGeom>
          <a:solidFill>
            <a:srgbClr val="38B6FF">
              <a:alpha val="11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98" y="4394189"/>
            <a:ext cx="10972773" cy="0"/>
          </a:xfrm>
          <a:prstGeom prst="line">
            <a:avLst/>
          </a:prstGeom>
          <a:noFill/>
          <a:ln w="9525">
            <a:solidFill>
              <a:srgbClr val="3A415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88998" y="4394189"/>
            <a:ext cx="2920993" cy="62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beldagen of meer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3886190" y="4394189"/>
            <a:ext cx="2349494" cy="62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€ 500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324584" y="4394189"/>
            <a:ext cx="2349494" cy="62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vanaf € 4.000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737578" y="4394189"/>
            <a:ext cx="2539994" cy="62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 14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09598" y="5854685"/>
            <a:ext cx="76200" cy="76200"/>
          </a:xfrm>
          <a:prstGeom prst="ellipse">
            <a:avLst/>
          </a:prstGeom>
          <a:solidFill>
            <a:srgbClr val="38B6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00098" y="5651486"/>
            <a:ext cx="9905975" cy="482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verwachte aantallen zijn een indicatie, gebaseerd op 17,3 afspraken per duizend contactpogingen uit jullie eigen pilot, bij ongeveer honderd pogingen per beldag. Minimaal vier beldagen per periode, prijzen excl. btw.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0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Voorstel GrowOn Agency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OPSCHALEN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Hetzelfde ritme, of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twee keer zoveel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09598" y="2489194"/>
            <a:ext cx="3555991" cy="2768593"/>
          </a:xfrm>
          <a:prstGeom prst="roundRect">
            <a:avLst>
              <a:gd name="adj" fmla="val 3670"/>
            </a:avLst>
          </a:prstGeom>
          <a:solidFill>
            <a:srgbClr val="F8F4E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5498" y="2743193"/>
            <a:ext cx="31241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8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825498" y="2959093"/>
            <a:ext cx="3124192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€ 1.600 per werkperiode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25498" y="3378192"/>
            <a:ext cx="2578094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Beldagen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124192" y="3378192"/>
            <a:ext cx="825498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 4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5498" y="3784591"/>
            <a:ext cx="3124192" cy="0"/>
          </a:xfrm>
          <a:prstGeom prst="line">
            <a:avLst/>
          </a:prstGeom>
          <a:noFill/>
          <a:ln w="9525">
            <a:solidFill>
              <a:srgbClr val="D8D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5498" y="3784591"/>
            <a:ext cx="2578094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Contactpogingen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3124192" y="3784591"/>
            <a:ext cx="825498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 400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25498" y="4190990"/>
            <a:ext cx="3124192" cy="0"/>
          </a:xfrm>
          <a:prstGeom prst="line">
            <a:avLst/>
          </a:prstGeom>
          <a:noFill/>
          <a:ln w="9525">
            <a:solidFill>
              <a:srgbClr val="D8D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5498" y="4190990"/>
            <a:ext cx="2578094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Bedrijven gesproken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124192" y="4190990"/>
            <a:ext cx="825498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 240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25498" y="4597389"/>
            <a:ext cx="3124192" cy="0"/>
          </a:xfrm>
          <a:prstGeom prst="line">
            <a:avLst/>
          </a:prstGeom>
          <a:noFill/>
          <a:ln w="9525">
            <a:solidFill>
              <a:srgbClr val="D8D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5498" y="4597389"/>
            <a:ext cx="2578094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Afspraken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3124192" y="4597389"/>
            <a:ext cx="825498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 7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317989" y="2489194"/>
            <a:ext cx="3555991" cy="2768593"/>
          </a:xfrm>
          <a:prstGeom prst="roundRect">
            <a:avLst>
              <a:gd name="adj" fmla="val 3670"/>
            </a:avLst>
          </a:prstGeom>
          <a:solidFill>
            <a:srgbClr val="F8F4E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533889" y="2743193"/>
            <a:ext cx="31241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8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VOORSTEL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533889" y="2959093"/>
            <a:ext cx="3124192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beldagen per werkperiode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4533889" y="3378192"/>
            <a:ext cx="2578094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Beldagen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832583" y="3378192"/>
            <a:ext cx="825498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533889" y="3784591"/>
            <a:ext cx="3124192" cy="0"/>
          </a:xfrm>
          <a:prstGeom prst="line">
            <a:avLst/>
          </a:prstGeom>
          <a:noFill/>
          <a:ln w="9525">
            <a:solidFill>
              <a:srgbClr val="D8D2C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33889" y="3784591"/>
            <a:ext cx="2578094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Contactpogingen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832583" y="3784591"/>
            <a:ext cx="825498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 400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533889" y="4190990"/>
            <a:ext cx="3124192" cy="0"/>
          </a:xfrm>
          <a:prstGeom prst="line">
            <a:avLst/>
          </a:prstGeom>
          <a:noFill/>
          <a:ln w="9525">
            <a:solidFill>
              <a:srgbClr val="D8D2C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33889" y="4190990"/>
            <a:ext cx="2578094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Bedrijven gesproken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6832583" y="4190990"/>
            <a:ext cx="825498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 240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533889" y="4597389"/>
            <a:ext cx="3124192" cy="0"/>
          </a:xfrm>
          <a:prstGeom prst="line">
            <a:avLst/>
          </a:prstGeom>
          <a:noFill/>
          <a:ln w="9525">
            <a:solidFill>
              <a:srgbClr val="D8D2C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33889" y="4597389"/>
            <a:ext cx="2578094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Afspraken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6832583" y="4597389"/>
            <a:ext cx="825498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 7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8026380" y="2489194"/>
            <a:ext cx="3555991" cy="2768593"/>
          </a:xfrm>
          <a:prstGeom prst="roundRect">
            <a:avLst>
              <a:gd name="adj" fmla="val 3670"/>
            </a:avLst>
          </a:prstGeom>
          <a:solidFill>
            <a:srgbClr val="00000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42279" y="2743193"/>
            <a:ext cx="31241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8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OPSCHALEN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8242279" y="2959093"/>
            <a:ext cx="3124192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beldagen per werkperiode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8242279" y="3378192"/>
            <a:ext cx="2578094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Beldagen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10540974" y="3378192"/>
            <a:ext cx="825498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8242279" y="3784591"/>
            <a:ext cx="3124192" cy="0"/>
          </a:xfrm>
          <a:prstGeom prst="line">
            <a:avLst/>
          </a:prstGeom>
          <a:noFill/>
          <a:ln w="9525">
            <a:solidFill>
              <a:srgbClr val="3A415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242279" y="3784591"/>
            <a:ext cx="2578094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Contactpogingen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10540974" y="3784591"/>
            <a:ext cx="825498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 800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8242279" y="4190990"/>
            <a:ext cx="3124192" cy="0"/>
          </a:xfrm>
          <a:prstGeom prst="line">
            <a:avLst/>
          </a:prstGeom>
          <a:noFill/>
          <a:ln w="9525">
            <a:solidFill>
              <a:srgbClr val="3A415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242279" y="4190990"/>
            <a:ext cx="2578094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Bedrijven gesproken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10540974" y="4190990"/>
            <a:ext cx="825498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 480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242279" y="4597389"/>
            <a:ext cx="3124192" cy="0"/>
          </a:xfrm>
          <a:prstGeom prst="line">
            <a:avLst/>
          </a:prstGeom>
          <a:noFill/>
          <a:ln w="9525">
            <a:solidFill>
              <a:srgbClr val="3A4152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242279" y="4597389"/>
            <a:ext cx="2578094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Afspraken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10540974" y="4597389"/>
            <a:ext cx="825498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 14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609598" y="5854685"/>
            <a:ext cx="76200" cy="76200"/>
          </a:xfrm>
          <a:prstGeom prst="ellipse">
            <a:avLst/>
          </a:prstGeom>
          <a:solidFill>
            <a:srgbClr val="38B6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00098" y="5714986"/>
            <a:ext cx="9905975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bellijst, het script en de bezetting liggen er al. Verdubbelen kan vanaf de eerstvolgende werkperiode, zonder opstarttijd.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9E0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Voorstel GrowOn Agency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WE VAN GROWON NODIG HEBBEN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Weinig, want het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draait al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09598" y="2793993"/>
            <a:ext cx="5397487" cy="1530346"/>
          </a:xfrm>
          <a:prstGeom prst="roundRect">
            <a:avLst>
              <a:gd name="adj" fmla="val 6639"/>
            </a:avLst>
          </a:prstGeom>
          <a:solidFill>
            <a:srgbClr val="F8F4EB"/>
          </a:solidFill>
          <a:ln/>
        </p:spPr>
      </p:sp>
      <p:sp>
        <p:nvSpPr>
          <p:cNvPr id="8" name="Shape 6"/>
          <p:cNvSpPr/>
          <p:nvPr/>
        </p:nvSpPr>
        <p:spPr>
          <a:xfrm>
            <a:off x="939798" y="30987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047" y="3194042"/>
            <a:ext cx="190500" cy="1905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549396" y="3073392"/>
            <a:ext cx="4127490" cy="279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Scherper profiel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1549396" y="3403591"/>
            <a:ext cx="4063990" cy="698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halfuur om de doelgroep verder aan te scherpen op wat in de pilot het beste werkte: draaiende webshop, lopende advertenties en budget.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184885" y="2793993"/>
            <a:ext cx="5397487" cy="1530346"/>
          </a:xfrm>
          <a:prstGeom prst="roundRect">
            <a:avLst>
              <a:gd name="adj" fmla="val 6639"/>
            </a:avLst>
          </a:prstGeom>
          <a:solidFill>
            <a:srgbClr val="F8F4EB"/>
          </a:solidFill>
          <a:ln/>
        </p:spPr>
      </p:sp>
      <p:sp>
        <p:nvSpPr>
          <p:cNvPr id="13" name="Shape 10"/>
          <p:cNvSpPr/>
          <p:nvPr/>
        </p:nvSpPr>
        <p:spPr>
          <a:xfrm>
            <a:off x="6515084" y="30987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0333" y="3194042"/>
            <a:ext cx="190500" cy="1905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124682" y="3073392"/>
            <a:ext cx="4127490" cy="279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Uitsluitlijst</a:t>
            </a:r>
            <a:endParaRPr lang="en-US" sz="1450" dirty="0"/>
          </a:p>
        </p:txBody>
      </p:sp>
      <p:sp>
        <p:nvSpPr>
          <p:cNvPr id="16" name="Text 12"/>
          <p:cNvSpPr txBox="1"/>
          <p:nvPr/>
        </p:nvSpPr>
        <p:spPr>
          <a:xfrm>
            <a:off x="7124682" y="3403591"/>
            <a:ext cx="4063990" cy="698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Bedrijven die al klant zijn of waar Jaap zelf al in gesprek is.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09598" y="4502139"/>
            <a:ext cx="5397487" cy="1530346"/>
          </a:xfrm>
          <a:prstGeom prst="roundRect">
            <a:avLst>
              <a:gd name="adj" fmla="val 6639"/>
            </a:avLst>
          </a:prstGeom>
          <a:solidFill>
            <a:srgbClr val="F8F4EB"/>
          </a:solidFill>
          <a:ln/>
        </p:spPr>
      </p:sp>
      <p:sp>
        <p:nvSpPr>
          <p:cNvPr id="18" name="Shape 14"/>
          <p:cNvSpPr/>
          <p:nvPr/>
        </p:nvSpPr>
        <p:spPr>
          <a:xfrm>
            <a:off x="939798" y="4806938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047" y="4902188"/>
            <a:ext cx="190500" cy="1905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549396" y="4781538"/>
            <a:ext cx="4127490" cy="279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Terugkoppeling op afspraken</a:t>
            </a:r>
            <a:endParaRPr lang="en-US" sz="1450" dirty="0"/>
          </a:p>
        </p:txBody>
      </p:sp>
      <p:sp>
        <p:nvSpPr>
          <p:cNvPr id="21" name="Text 16"/>
          <p:cNvSpPr txBox="1"/>
          <p:nvPr/>
        </p:nvSpPr>
        <p:spPr>
          <a:xfrm>
            <a:off x="1549396" y="5111737"/>
            <a:ext cx="4063990" cy="698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Kort laten weten hoe een afspraak verliep, zodat we de kwalificatie blijven bijstellen.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6184885" y="4502139"/>
            <a:ext cx="5397487" cy="1530346"/>
          </a:xfrm>
          <a:prstGeom prst="roundRect">
            <a:avLst>
              <a:gd name="adj" fmla="val 6639"/>
            </a:avLst>
          </a:prstGeom>
          <a:solidFill>
            <a:srgbClr val="F8F4EB"/>
          </a:solidFill>
          <a:ln/>
        </p:spPr>
      </p:sp>
      <p:sp>
        <p:nvSpPr>
          <p:cNvPr id="23" name="Shape 18"/>
          <p:cNvSpPr/>
          <p:nvPr/>
        </p:nvSpPr>
        <p:spPr>
          <a:xfrm>
            <a:off x="6515084" y="4806938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0333" y="4902188"/>
            <a:ext cx="190500" cy="1905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124682" y="4781538"/>
            <a:ext cx="4127490" cy="279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Opvolging van afspraken</a:t>
            </a:r>
            <a:endParaRPr lang="en-US" sz="1450" dirty="0"/>
          </a:p>
        </p:txBody>
      </p:sp>
      <p:sp>
        <p:nvSpPr>
          <p:cNvPr id="26" name="Text 20"/>
          <p:cNvSpPr txBox="1"/>
          <p:nvPr/>
        </p:nvSpPr>
        <p:spPr>
          <a:xfrm>
            <a:off x="7124682" y="5111737"/>
            <a:ext cx="4063990" cy="698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Eén vaste persoon bij GrowOn die de afspraken voert. Tot nu toe is dat Jaap zelf.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9E0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Voorstel GrowOn Agency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SPELREGELS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Transparant en zonder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kleine lettertjes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09598" y="2819393"/>
            <a:ext cx="253999" cy="253999"/>
          </a:xfrm>
          <a:prstGeom prst="roundRect">
            <a:avLst>
              <a:gd name="adj" fmla="val 25000"/>
            </a:avLst>
          </a:prstGeom>
          <a:solidFill>
            <a:srgbClr val="DDEBF3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748" y="2876543"/>
            <a:ext cx="139700" cy="1397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15997" y="2793993"/>
            <a:ext cx="482598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Werkperiodes van 4 weken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15997" y="3035292"/>
            <a:ext cx="4825988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Vooraf gefactureerd, per werkperiode.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349984" y="2819393"/>
            <a:ext cx="253999" cy="253999"/>
          </a:xfrm>
          <a:prstGeom prst="roundRect">
            <a:avLst>
              <a:gd name="adj" fmla="val 25000"/>
            </a:avLst>
          </a:prstGeom>
          <a:solidFill>
            <a:srgbClr val="DDEBF3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7134" y="2876543"/>
            <a:ext cx="139700" cy="1397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756383" y="2793993"/>
            <a:ext cx="482598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Maand opzegtermijn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756383" y="3035292"/>
            <a:ext cx="4825988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Vastgelegd, met een maand opzegtermijn. Geen jaarcontract.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609598" y="3428991"/>
            <a:ext cx="5232387" cy="0"/>
          </a:xfrm>
          <a:prstGeom prst="line">
            <a:avLst/>
          </a:prstGeom>
          <a:noFill/>
          <a:ln w="6350">
            <a:solidFill>
              <a:srgbClr val="C9C2B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09598" y="3530591"/>
            <a:ext cx="253999" cy="253999"/>
          </a:xfrm>
          <a:prstGeom prst="roundRect">
            <a:avLst>
              <a:gd name="adj" fmla="val 25000"/>
            </a:avLst>
          </a:prstGeom>
          <a:solidFill>
            <a:srgbClr val="DDEBF3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48" y="3587741"/>
            <a:ext cx="139700" cy="1397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015997" y="3505191"/>
            <a:ext cx="482598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Op- en afschalen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1015997" y="3746491"/>
            <a:ext cx="4825988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werkperiode bepalen jullie het aantal beldagen, vanaf vier.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6349984" y="3428991"/>
            <a:ext cx="5232387" cy="0"/>
          </a:xfrm>
          <a:prstGeom prst="line">
            <a:avLst/>
          </a:prstGeom>
          <a:noFill/>
          <a:ln w="6350">
            <a:solidFill>
              <a:srgbClr val="C9C2B2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349984" y="3530591"/>
            <a:ext cx="253999" cy="253999"/>
          </a:xfrm>
          <a:prstGeom prst="roundRect">
            <a:avLst>
              <a:gd name="adj" fmla="val 25000"/>
            </a:avLst>
          </a:prstGeom>
          <a:solidFill>
            <a:srgbClr val="DDEBF3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7134" y="3587741"/>
            <a:ext cx="139700" cy="1397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756383" y="3505191"/>
            <a:ext cx="482598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opstartkosten meer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6756383" y="3746491"/>
            <a:ext cx="4825988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inrichting staat. Die fee is eenmalig geweest.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609598" y="4140190"/>
            <a:ext cx="5232387" cy="0"/>
          </a:xfrm>
          <a:prstGeom prst="line">
            <a:avLst/>
          </a:prstGeom>
          <a:noFill/>
          <a:ln w="6350">
            <a:solidFill>
              <a:srgbClr val="C9C2B2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609598" y="4241789"/>
            <a:ext cx="253999" cy="253999"/>
          </a:xfrm>
          <a:prstGeom prst="roundRect">
            <a:avLst>
              <a:gd name="adj" fmla="val 25000"/>
            </a:avLst>
          </a:prstGeom>
          <a:solidFill>
            <a:srgbClr val="DDEBF3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748" y="4298939"/>
            <a:ext cx="139700" cy="1397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015997" y="4216389"/>
            <a:ext cx="482598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Bestaande relaties blijven van jullie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015997" y="4457689"/>
            <a:ext cx="4825988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Uitsluitlijst vooraf, die bedrijven benaderen wij niet.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6349984" y="4140190"/>
            <a:ext cx="5232387" cy="0"/>
          </a:xfrm>
          <a:prstGeom prst="line">
            <a:avLst/>
          </a:prstGeom>
          <a:noFill/>
          <a:ln w="6350">
            <a:solidFill>
              <a:srgbClr val="C9C2B2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349984" y="4241789"/>
            <a:ext cx="253999" cy="253999"/>
          </a:xfrm>
          <a:prstGeom prst="roundRect">
            <a:avLst>
              <a:gd name="adj" fmla="val 25000"/>
            </a:avLst>
          </a:prstGeom>
          <a:solidFill>
            <a:srgbClr val="DDEBF3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7134" y="4298939"/>
            <a:ext cx="139700" cy="1397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6756383" y="4216389"/>
            <a:ext cx="482598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Wekelijkse rapportage</a:t>
            </a:r>
            <a:endParaRPr lang="en-US" sz="1200" dirty="0"/>
          </a:p>
        </p:txBody>
      </p:sp>
      <p:sp>
        <p:nvSpPr>
          <p:cNvPr id="34" name="Text 26"/>
          <p:cNvSpPr txBox="1"/>
          <p:nvPr/>
        </p:nvSpPr>
        <p:spPr>
          <a:xfrm>
            <a:off x="6756383" y="4457689"/>
            <a:ext cx="4825988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Zoals je die nu ook elke week ontvangt.</a:t>
            </a:r>
            <a:endParaRPr lang="en-US" sz="950" dirty="0"/>
          </a:p>
        </p:txBody>
      </p:sp>
      <p:sp>
        <p:nvSpPr>
          <p:cNvPr id="35" name="Shape 27"/>
          <p:cNvSpPr/>
          <p:nvPr/>
        </p:nvSpPr>
        <p:spPr>
          <a:xfrm>
            <a:off x="609598" y="4851388"/>
            <a:ext cx="5232387" cy="0"/>
          </a:xfrm>
          <a:prstGeom prst="line">
            <a:avLst/>
          </a:prstGeom>
          <a:noFill/>
          <a:ln w="6350">
            <a:solidFill>
              <a:srgbClr val="C9C2B2"/>
            </a:solidFill>
            <a:prstDash val="solid"/>
          </a:ln>
        </p:spPr>
      </p:sp>
      <p:sp>
        <p:nvSpPr>
          <p:cNvPr id="36" name="Shape 28"/>
          <p:cNvSpPr/>
          <p:nvPr/>
        </p:nvSpPr>
        <p:spPr>
          <a:xfrm>
            <a:off x="609598" y="4952988"/>
            <a:ext cx="253999" cy="253999"/>
          </a:xfrm>
          <a:prstGeom prst="roundRect">
            <a:avLst>
              <a:gd name="adj" fmla="val 25000"/>
            </a:avLst>
          </a:prstGeom>
          <a:solidFill>
            <a:srgbClr val="DDEBF3"/>
          </a:solidFill>
          <a:ln/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6748" y="5010137"/>
            <a:ext cx="139700" cy="1397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015997" y="4927588"/>
            <a:ext cx="482598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Gegevens veilig</a:t>
            </a:r>
            <a:endParaRPr lang="en-US" sz="1200" dirty="0"/>
          </a:p>
        </p:txBody>
      </p:sp>
      <p:sp>
        <p:nvSpPr>
          <p:cNvPr id="39" name="Text 30"/>
          <p:cNvSpPr txBox="1"/>
          <p:nvPr/>
        </p:nvSpPr>
        <p:spPr>
          <a:xfrm>
            <a:off x="1015997" y="5168887"/>
            <a:ext cx="4825988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Vastgelegd in de verwerkersovereenkomst.</a:t>
            </a:r>
            <a:endParaRPr lang="en-US" sz="950" dirty="0"/>
          </a:p>
        </p:txBody>
      </p:sp>
      <p:sp>
        <p:nvSpPr>
          <p:cNvPr id="40" name="Shape 31"/>
          <p:cNvSpPr/>
          <p:nvPr/>
        </p:nvSpPr>
        <p:spPr>
          <a:xfrm>
            <a:off x="6349984" y="4851388"/>
            <a:ext cx="5232387" cy="0"/>
          </a:xfrm>
          <a:prstGeom prst="line">
            <a:avLst/>
          </a:prstGeom>
          <a:noFill/>
          <a:ln w="6350">
            <a:solidFill>
              <a:srgbClr val="C9C2B2"/>
            </a:solidFill>
            <a:prstDash val="solid"/>
          </a:ln>
        </p:spPr>
      </p:sp>
      <p:sp>
        <p:nvSpPr>
          <p:cNvPr id="41" name="Shape 32"/>
          <p:cNvSpPr/>
          <p:nvPr/>
        </p:nvSpPr>
        <p:spPr>
          <a:xfrm>
            <a:off x="6349984" y="4952988"/>
            <a:ext cx="253999" cy="253999"/>
          </a:xfrm>
          <a:prstGeom prst="roundRect">
            <a:avLst>
              <a:gd name="adj" fmla="val 25000"/>
            </a:avLst>
          </a:prstGeom>
          <a:solidFill>
            <a:srgbClr val="DDEBF3"/>
          </a:solidFill>
          <a:ln/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7134" y="5010137"/>
            <a:ext cx="139700" cy="13970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6756383" y="4927588"/>
            <a:ext cx="482598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op papier</a:t>
            </a:r>
            <a:endParaRPr lang="en-US" sz="1200" dirty="0"/>
          </a:p>
        </p:txBody>
      </p:sp>
      <p:sp>
        <p:nvSpPr>
          <p:cNvPr id="44" name="Text 34"/>
          <p:cNvSpPr txBox="1"/>
          <p:nvPr/>
        </p:nvSpPr>
        <p:spPr>
          <a:xfrm>
            <a:off x="6756383" y="5168887"/>
            <a:ext cx="4825988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Vastgelegd in een korte aanvulling op de samenwerkingsovereenkomst.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Voorstel GrowOn Agency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Akkoord op het ritme? Dan loopt het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F2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gewoon door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09598" y="2920993"/>
            <a:ext cx="304799" cy="3047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9598" y="2920993"/>
            <a:ext cx="304799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117597" y="2908293"/>
            <a:ext cx="5460986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Akkoord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1117597" y="3200392"/>
            <a:ext cx="5460986" cy="4444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Jaap geeft akkoord op het aantal beldagen per werkperiode.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9598" y="3809990"/>
            <a:ext cx="304799" cy="3047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9598" y="3809990"/>
            <a:ext cx="304799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17597" y="3797291"/>
            <a:ext cx="5460986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Vastleggen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1117597" y="4089390"/>
            <a:ext cx="5460986" cy="4444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stuurt een korte aanvulling op de samenwerkingsovereenkomst.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9598" y="4698988"/>
            <a:ext cx="304799" cy="3047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9598" y="4698988"/>
            <a:ext cx="304799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117597" y="4686288"/>
            <a:ext cx="5460986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Doorbellen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1117597" y="4978388"/>
            <a:ext cx="5460986" cy="4444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Werkperiode 4 start aansluitend, zonder onderbreking.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645381" y="2920993"/>
            <a:ext cx="3936990" cy="2666993"/>
          </a:xfrm>
          <a:prstGeom prst="roundRect">
            <a:avLst>
              <a:gd name="adj" fmla="val 3810"/>
            </a:avLst>
          </a:prstGeom>
          <a:solidFill>
            <a:srgbClr val="1B2130"/>
          </a:solidFill>
          <a:ln w="9525">
            <a:solidFill>
              <a:srgbClr val="3A415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00980" y="3251192"/>
            <a:ext cx="3225792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Hens Boer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8000980" y="3644891"/>
            <a:ext cx="3225792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Eigenaar LINK.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000980" y="4165590"/>
            <a:ext cx="3225792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hens@linkgrp.nl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000980" y="4521189"/>
            <a:ext cx="3225792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linkgrp.nl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000980" y="4876788"/>
            <a:ext cx="3225792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Flemingweg 8, Alphen aan den Rijn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LINK. voorstel GrowOn Agency</dc:title>
  <dc:subject>PptxGenJS Presentation</dc:subject>
  <dc:creator>LINK.</dc:creator>
  <cp:lastModifiedBy>LINK.</cp:lastModifiedBy>
  <cp:revision>1</cp:revision>
  <dcterms:created xsi:type="dcterms:W3CDTF">2026-10-11T16:30:53Z</dcterms:created>
  <dcterms:modified xsi:type="dcterms:W3CDTF">2026-10-11T16:30:53Z</dcterms:modified>
</cp:coreProperties>
</file>