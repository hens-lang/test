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GrowOn Agency</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13</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JAAP · GROWON AGENCY · EVALUATIE 16 OKTOBER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Van pilot naar een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vast ritme</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Er verandert weinig. Zelfde team, zelfde bellijst en dezelfde wekelijkse rapportage. Vanaf werkperiode 4 rekenen we in beldagen, met harde aantallen en een scherpere afspraak over wat een afspraak is.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396997" cy="406399"/>
          </a:xfrm>
          <a:prstGeom prst="roundRect">
            <a:avLst>
              <a:gd name="adj" fmla="val 21875"/>
            </a:avLst>
          </a:prstGeom>
          <a:solidFill>
            <a:srgbClr val="F8F4EB"/>
          </a:solidFill>
          <a:ln/>
        </p:spPr>
      </p:sp>
      <p:sp>
        <p:nvSpPr>
          <p:cNvPr id="33" name="Text 31"/>
          <p:cNvSpPr txBox="1"/>
          <p:nvPr/>
        </p:nvSpPr>
        <p:spPr>
          <a:xfrm>
            <a:off x="1854195" y="5714986"/>
            <a:ext cx="1396997" cy="406399"/>
          </a:xfrm>
          <a:prstGeom prst="rect">
            <a:avLst/>
          </a:prstGeom>
          <a:noFill/>
          <a:ln/>
        </p:spPr>
        <p:txBody>
          <a:bodyPr wrap="square" lIns="0" tIns="0" rIns="0" bIns="0" rtlCol="0" anchor="ctr"/>
          <a:lstStyle/>
          <a:p>
            <a:pPr algn="ctr" indent="0" marL="0">
              <a:buNone/>
            </a:pPr>
            <a:r>
              <a:rPr lang="en-US" sz="1500" b="1" dirty="0">
                <a:solidFill>
                  <a:srgbClr val="1C2230"/>
                </a:solidFill>
                <a:latin typeface="Arial" pitchFamily="34" charset="0"/>
                <a:ea typeface="Arial" pitchFamily="34" charset="-122"/>
                <a:cs typeface="Arial" pitchFamily="34" charset="-120"/>
              </a:rPr>
              <a:t>GrowOn Agency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van een fairchain koffieleverancier tot een AI-consultancy.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script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jullie ideale klant: retailers en webshops met een draaiende shop, lopende advertenties en budget. Die filtering hebben we onderweg flink aangescherpt.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WERKPERIODE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Vier weken, van bellijst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Lijst klaarzetten</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We zetten de lijst voor de periode klaar, gefilterd op draaiende webshop en lopende advertenties, met de terugbelafspraken uit de vorige periode bovenaan.</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Bellen</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We bellen op de dagen en dagdelen die in onze data het beste werken. In retail zijn dat maandag en dinsdag, vrijdag juist niet.</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het rapport dat je nu ook krijgt: pogingen, gesproken bedrijven, warme uitkomsten, afspraken en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Na elke periode kijken we samen naar de cijfers en bepalen we het aantal beldagen voor de volgende.</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een draaiende webshop of winkel met advertentiebudget, precies het profiel waar de afspraken tot nu toe uit kwamen.</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Er is een concrete aanleiding: ontevreden over het huidige bureau, een contract dat afloopt, of advertenties die stilliggen terwijl het budget er wel is.</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de eigenaar of de marketingverantwoordelijke. In retail is dat vaak dezelfde persoon.</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Ontevredenheid over de huidige partner is veruit de sterkste ingang. Bij de start van werkperiode 4 scherpen we deze drie eisen samen aan op wat de pilot heeft laten zien, zodat we allebei hetzelfde bedoelen met een goede afspraak.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6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DE PILOT HEEFT OPGELEVERD</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Negen belweken,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geen gevoel maar gemeten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1.213</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CONTACTPOGINGEN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Over negen gebelde weken, van week 32 tot en met week 41.</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722</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BEDRIJVEN GESPROKEN</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Zes van de tien pogingen leverden de juiste persoon aan de lijn op.</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290</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TERUGBELAFSPRAKEN</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Concrete vervolgmomenten die we hebben vastgelegd en opvolgen.</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24</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AFSPRAKEN EN OVERDRACHTEN</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Eenentwintig staan er, drie komen er nog bij voor 25 oktober. Gemiddeld een op de 51 pogingen.</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 cijfers komen uit de wekelijkse rapportages die je elke week hebt ontvangen. Niets opgehoogd, niets weggelaten.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VERLOOP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Hoe langer we bellen,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hoe meer er uit komt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666993"/>
            <a:ext cx="10972773" cy="2355844"/>
          </a:xfrm>
          <a:prstGeom prst="roundRect">
            <a:avLst>
              <a:gd name="adj" fmla="val 4313"/>
            </a:avLst>
          </a:prstGeom>
          <a:ln w="9525">
            <a:solidFill>
              <a:srgbClr val="3A4152"/>
            </a:solidFill>
            <a:prstDash val="solid"/>
          </a:ln>
        </p:spPr>
      </p:sp>
      <p:sp>
        <p:nvSpPr>
          <p:cNvPr id="8" name="Text 6"/>
          <p:cNvSpPr txBox="1"/>
          <p:nvPr/>
        </p:nvSpPr>
        <p:spPr>
          <a:xfrm>
            <a:off x="888998" y="2666993"/>
            <a:ext cx="2920993"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WERKPERIODE</a:t>
            </a:r>
            <a:endParaRPr lang="en-US" sz="800" dirty="0"/>
          </a:p>
        </p:txBody>
      </p:sp>
      <p:sp>
        <p:nvSpPr>
          <p:cNvPr id="9" name="Text 7"/>
          <p:cNvSpPr txBox="1"/>
          <p:nvPr/>
        </p:nvSpPr>
        <p:spPr>
          <a:xfrm>
            <a:off x="3886190"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CONTACTPOGINGEN</a:t>
            </a:r>
            <a:endParaRPr lang="en-US" sz="800" dirty="0"/>
          </a:p>
        </p:txBody>
      </p:sp>
      <p:sp>
        <p:nvSpPr>
          <p:cNvPr id="10" name="Text 8"/>
          <p:cNvSpPr txBox="1"/>
          <p:nvPr/>
        </p:nvSpPr>
        <p:spPr>
          <a:xfrm>
            <a:off x="6324584"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AFSPRAKEN</a:t>
            </a:r>
            <a:endParaRPr lang="en-US" sz="800" dirty="0"/>
          </a:p>
        </p:txBody>
      </p:sp>
      <p:sp>
        <p:nvSpPr>
          <p:cNvPr id="11" name="Text 9"/>
          <p:cNvSpPr txBox="1"/>
          <p:nvPr/>
        </p:nvSpPr>
        <p:spPr>
          <a:xfrm>
            <a:off x="8737578" y="2666993"/>
            <a:ext cx="25399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PER 1.000 POGINGEN</a:t>
            </a:r>
            <a:endParaRPr lang="en-US" sz="800" dirty="0"/>
          </a:p>
        </p:txBody>
      </p:sp>
      <p:sp>
        <p:nvSpPr>
          <p:cNvPr id="12" name="Shape 10"/>
          <p:cNvSpPr/>
          <p:nvPr/>
        </p:nvSpPr>
        <p:spPr>
          <a:xfrm>
            <a:off x="609598" y="3136892"/>
            <a:ext cx="10972773" cy="0"/>
          </a:xfrm>
          <a:prstGeom prst="line">
            <a:avLst/>
          </a:prstGeom>
          <a:noFill/>
          <a:ln w="9525">
            <a:solidFill>
              <a:srgbClr val="3A4152"/>
            </a:solidFill>
            <a:prstDash val="solid"/>
          </a:ln>
        </p:spPr>
      </p:sp>
      <p:sp>
        <p:nvSpPr>
          <p:cNvPr id="13" name="Text 11"/>
          <p:cNvSpPr txBox="1"/>
          <p:nvPr/>
        </p:nvSpPr>
        <p:spPr>
          <a:xfrm>
            <a:off x="888998" y="3136892"/>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 · week 32 t/m 35</a:t>
            </a:r>
            <a:endParaRPr lang="en-US" sz="1250" dirty="0"/>
          </a:p>
        </p:txBody>
      </p:sp>
      <p:sp>
        <p:nvSpPr>
          <p:cNvPr id="14" name="Text 12"/>
          <p:cNvSpPr txBox="1"/>
          <p:nvPr/>
        </p:nvSpPr>
        <p:spPr>
          <a:xfrm>
            <a:off x="3886190"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604</a:t>
            </a:r>
            <a:endParaRPr lang="en-US" sz="1250" dirty="0"/>
          </a:p>
        </p:txBody>
      </p:sp>
      <p:sp>
        <p:nvSpPr>
          <p:cNvPr id="15" name="Text 13"/>
          <p:cNvSpPr txBox="1"/>
          <p:nvPr/>
        </p:nvSpPr>
        <p:spPr>
          <a:xfrm>
            <a:off x="6324584"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10</a:t>
            </a:r>
            <a:endParaRPr lang="en-US" sz="1250" dirty="0"/>
          </a:p>
        </p:txBody>
      </p:sp>
      <p:sp>
        <p:nvSpPr>
          <p:cNvPr id="16" name="Text 14"/>
          <p:cNvSpPr txBox="1"/>
          <p:nvPr/>
        </p:nvSpPr>
        <p:spPr>
          <a:xfrm>
            <a:off x="8737578" y="3136892"/>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17</a:t>
            </a:r>
            <a:endParaRPr lang="en-US" sz="1250" dirty="0"/>
          </a:p>
        </p:txBody>
      </p:sp>
      <p:sp>
        <p:nvSpPr>
          <p:cNvPr id="17" name="Shape 15"/>
          <p:cNvSpPr/>
          <p:nvPr/>
        </p:nvSpPr>
        <p:spPr>
          <a:xfrm>
            <a:off x="609598" y="3765541"/>
            <a:ext cx="10972773" cy="0"/>
          </a:xfrm>
          <a:prstGeom prst="line">
            <a:avLst/>
          </a:prstGeom>
          <a:noFill/>
          <a:ln w="9525">
            <a:solidFill>
              <a:srgbClr val="3A4152"/>
            </a:solidFill>
            <a:prstDash val="solid"/>
          </a:ln>
        </p:spPr>
      </p:sp>
      <p:sp>
        <p:nvSpPr>
          <p:cNvPr id="18" name="Text 16"/>
          <p:cNvSpPr txBox="1"/>
          <p:nvPr/>
        </p:nvSpPr>
        <p:spPr>
          <a:xfrm>
            <a:off x="888998" y="3765541"/>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2 · week 36 t/m 39</a:t>
            </a:r>
            <a:pPr indent="0" marL="0">
              <a:buNone/>
            </a:pPr>
            <a:r>
              <a:rPr lang="en-US" sz="1000" i="1" dirty="0">
                <a:solidFill>
                  <a:srgbClr val="38B6FF"/>
                </a:solidFill>
                <a:latin typeface="Georgia" pitchFamily="34" charset="0"/>
                <a:ea typeface="Georgia" pitchFamily="34" charset="-122"/>
                <a:cs typeface="Georgia" pitchFamily="34" charset="-120"/>
              </a:rPr>
              <a:t>   vakantie</a:t>
            </a:r>
            <a:endParaRPr lang="en-US" sz="1250" dirty="0"/>
          </a:p>
        </p:txBody>
      </p:sp>
      <p:sp>
        <p:nvSpPr>
          <p:cNvPr id="19" name="Text 17"/>
          <p:cNvSpPr txBox="1"/>
          <p:nvPr/>
        </p:nvSpPr>
        <p:spPr>
          <a:xfrm>
            <a:off x="3886190"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379</a:t>
            </a:r>
            <a:endParaRPr lang="en-US" sz="1250" dirty="0"/>
          </a:p>
        </p:txBody>
      </p:sp>
      <p:sp>
        <p:nvSpPr>
          <p:cNvPr id="20" name="Text 18"/>
          <p:cNvSpPr txBox="1"/>
          <p:nvPr/>
        </p:nvSpPr>
        <p:spPr>
          <a:xfrm>
            <a:off x="6324584"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6</a:t>
            </a:r>
            <a:endParaRPr lang="en-US" sz="1250" dirty="0"/>
          </a:p>
        </p:txBody>
      </p:sp>
      <p:sp>
        <p:nvSpPr>
          <p:cNvPr id="21" name="Text 19"/>
          <p:cNvSpPr txBox="1"/>
          <p:nvPr/>
        </p:nvSpPr>
        <p:spPr>
          <a:xfrm>
            <a:off x="8737578" y="3765541"/>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16</a:t>
            </a:r>
            <a:endParaRPr lang="en-US" sz="1250" dirty="0"/>
          </a:p>
        </p:txBody>
      </p:sp>
      <p:sp>
        <p:nvSpPr>
          <p:cNvPr id="22" name="Shape 20"/>
          <p:cNvSpPr/>
          <p:nvPr/>
        </p:nvSpPr>
        <p:spPr>
          <a:xfrm>
            <a:off x="615948" y="4394189"/>
            <a:ext cx="10960073" cy="628648"/>
          </a:xfrm>
          <a:prstGeom prst="rect">
            <a:avLst/>
          </a:prstGeom>
          <a:solidFill>
            <a:srgbClr val="38B6FF">
              <a:alpha val="11000"/>
            </a:srgbClr>
          </a:solidFill>
          <a:ln/>
        </p:spPr>
      </p:sp>
      <p:sp>
        <p:nvSpPr>
          <p:cNvPr id="23" name="Shape 21"/>
          <p:cNvSpPr/>
          <p:nvPr/>
        </p:nvSpPr>
        <p:spPr>
          <a:xfrm>
            <a:off x="609598" y="4394189"/>
            <a:ext cx="10972773" cy="0"/>
          </a:xfrm>
          <a:prstGeom prst="line">
            <a:avLst/>
          </a:prstGeom>
          <a:noFill/>
          <a:ln w="9525">
            <a:solidFill>
              <a:srgbClr val="3A4152"/>
            </a:solidFill>
            <a:prstDash val="solid"/>
          </a:ln>
        </p:spPr>
      </p:sp>
      <p:sp>
        <p:nvSpPr>
          <p:cNvPr id="24" name="Text 22"/>
          <p:cNvSpPr txBox="1"/>
          <p:nvPr/>
        </p:nvSpPr>
        <p:spPr>
          <a:xfrm>
            <a:off x="888998" y="4394189"/>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3 · week 40 t/m 43</a:t>
            </a:r>
            <a:pPr indent="0" marL="0">
              <a:buNone/>
            </a:pPr>
            <a:r>
              <a:rPr lang="en-US" sz="1000" i="1" dirty="0">
                <a:solidFill>
                  <a:srgbClr val="38B6FF"/>
                </a:solidFill>
                <a:latin typeface="Georgia" pitchFamily="34" charset="0"/>
                <a:ea typeface="Georgia" pitchFamily="34" charset="-122"/>
                <a:cs typeface="Georgia" pitchFamily="34" charset="-120"/>
              </a:rPr>
              <a:t>   loopt nog</a:t>
            </a:r>
            <a:endParaRPr lang="en-US" sz="1250" dirty="0"/>
          </a:p>
        </p:txBody>
      </p:sp>
      <p:sp>
        <p:nvSpPr>
          <p:cNvPr id="25" name="Text 23"/>
          <p:cNvSpPr txBox="1"/>
          <p:nvPr/>
        </p:nvSpPr>
        <p:spPr>
          <a:xfrm>
            <a:off x="3886190"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230</a:t>
            </a:r>
            <a:endParaRPr lang="en-US" sz="1250" dirty="0"/>
          </a:p>
        </p:txBody>
      </p:sp>
      <p:sp>
        <p:nvSpPr>
          <p:cNvPr id="26" name="Text 24"/>
          <p:cNvSpPr txBox="1"/>
          <p:nvPr/>
        </p:nvSpPr>
        <p:spPr>
          <a:xfrm>
            <a:off x="6324584"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8</a:t>
            </a:r>
            <a:endParaRPr lang="en-US" sz="1250" dirty="0"/>
          </a:p>
        </p:txBody>
      </p:sp>
      <p:sp>
        <p:nvSpPr>
          <p:cNvPr id="27" name="Text 25"/>
          <p:cNvSpPr txBox="1"/>
          <p:nvPr/>
        </p:nvSpPr>
        <p:spPr>
          <a:xfrm>
            <a:off x="8737578" y="4394189"/>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35</a:t>
            </a:r>
            <a:endParaRPr lang="en-US" sz="1250" dirty="0"/>
          </a:p>
        </p:txBody>
      </p:sp>
      <p:sp>
        <p:nvSpPr>
          <p:cNvPr id="28" name="Shape 26"/>
          <p:cNvSpPr/>
          <p:nvPr/>
        </p:nvSpPr>
        <p:spPr>
          <a:xfrm>
            <a:off x="609598" y="5854685"/>
            <a:ext cx="76200" cy="76200"/>
          </a:xfrm>
          <a:prstGeom prst="ellipse">
            <a:avLst/>
          </a:prstGeom>
          <a:solidFill>
            <a:srgbClr val="38B6FF"/>
          </a:solidFill>
          <a:ln/>
        </p:spPr>
      </p:sp>
      <p:sp>
        <p:nvSpPr>
          <p:cNvPr id="29" name="Text 27"/>
          <p:cNvSpPr txBox="1"/>
          <p:nvPr/>
        </p:nvSpPr>
        <p:spPr>
          <a:xfrm>
            <a:off x="800098" y="5651486"/>
            <a:ext cx="9905975" cy="482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Werkperiode 3 levert per duizend pogingen twee keer zoveel op als de eerste. Dat komt door de lijst met 290 terugbelafspraken die we onderweg hebben opgebouwd. Die lijst is nu het meest waardevolle dat er ligt.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EENHEID WAARIN WE REKENEN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beldag is geen dag, maar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vaste hoeveelheid werk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6</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UUR BELLEN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Netto aan de telefoon. Voorbereiding, notities en rapportage zitten daarbuiten en zijn inbegrepen.</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150</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CONTACTPOGINGEN</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Gegarandeerd, tenzij de afspraken er eerder staan. Onze bellers draaien vijfentwintig pogingen per uur.</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 90</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BEDRIJVEN GESPROKEN</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Zes van de tien pogingen leveren de juiste persoon aan de lijn op.</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2,5</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GEKWALIFICEERDE AFSPRAKEN</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Daar gaan we voor. De ene dag twee, de andere vier. In jullie pilot kwam het op 3 per beldag uit.</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Komt een werkperiode onder de tien afspraken uit, dan bellen we een extra dag die niet op de rekening komt. Maximaal een per periode.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9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AFREKENEN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Vooraf een vaste prijs, achteraf geen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verrassingen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Vaste prijs per beldag</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Je betaalt per beldag, vooraf gefactureerd per werkperiode. Geen nacalculatie en geen kosten per afspraak.</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Tien afspraken per periode</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Dat is de afspraak waar je ons aan mag houden. Het aantal pogingen en gesprekken laten we zien in de rapportage, maar de tien afspraken zijn wat we garanderen.</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Niet gehaald is een gratis beldag</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Staan de tien afspraken er na zeshonderd pogingen niet, dan bellen we een dag extra die niet op de rekening komt. Maximaal een per werkperiode.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van 5 procent</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Over de omzet die een klant uit onze afspraken jullie in het eerste jaar oplevert. Zo blijven wij sturen op afspraken die ook echt klant worden, niet op aantallen.</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PRIJS PER BELDAG</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€ 600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vanaf 8 beldagen € 550, excl. btw</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Vooraf gefactureerd per werkperiode</a:t>
            </a:r>
            <a:endParaRPr lang="en-US" sz="900" dirty="0"/>
          </a:p>
        </p:txBody>
      </p:sp>
      <p:pic>
        <p:nvPicPr>
          <p:cNvPr id="34" name="Image 1" descr="preencoded.png">    </p:cNvPr>
          <p:cNvPicPr>
            <a:picLocks noChangeAspect="1"/>
          </p:cNvPicPr>
          <p:nvPr/>
        </p:nvPicPr>
        <p:blipFill>
          <a:blip r:embed="rId2"/>
          <a:stretch>
            <a:fillRect/>
          </a:stretch>
        </p:blipFill>
        <p:spPr>
          <a:xfrm>
            <a:off x="7340582" y="5276837"/>
            <a:ext cx="127000" cy="127000"/>
          </a:xfrm>
          <a:prstGeom prst="rect">
            <a:avLst/>
          </a:prstGeom>
        </p:spPr>
      </p:pic>
      <p:sp>
        <p:nvSpPr>
          <p:cNvPr id="35" name="Text 31"/>
          <p:cNvSpPr txBox="1"/>
          <p:nvPr/>
        </p:nvSpPr>
        <p:spPr>
          <a:xfrm>
            <a:off x="7543781" y="5245087"/>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Geen kosten per afspraak</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150 contactpogingen per beldag</a:t>
            </a:r>
            <a:endParaRPr lang="en-US" sz="900" dirty="0"/>
          </a:p>
        </p:txBody>
      </p:sp>
      <p:pic>
        <p:nvPicPr>
          <p:cNvPr id="38" name="Image 3" descr="preencoded.png">    </p:cNvPr>
          <p:cNvPicPr>
            <a:picLocks noChangeAspect="1"/>
          </p:cNvPicPr>
          <p:nvPr/>
        </p:nvPicPr>
        <p:blipFill>
          <a:blip r:embed="rId4"/>
          <a:stretch>
            <a:fillRect/>
          </a:stretch>
        </p:blipFill>
        <p:spPr>
          <a:xfrm>
            <a:off x="7340582" y="5530836"/>
            <a:ext cx="127000" cy="127000"/>
          </a:xfrm>
          <a:prstGeom prst="rect">
            <a:avLst/>
          </a:prstGeom>
        </p:spPr>
      </p:pic>
      <p:sp>
        <p:nvSpPr>
          <p:cNvPr id="39" name="Text 33"/>
          <p:cNvSpPr txBox="1"/>
          <p:nvPr/>
        </p:nvSpPr>
        <p:spPr>
          <a:xfrm>
            <a:off x="7543781" y="5499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10 gekwalificeerde afspraken per periode</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Maximaal één gratis inhaaldag</a:t>
            </a:r>
            <a:endParaRPr lang="en-US" sz="900" dirty="0"/>
          </a:p>
        </p:txBody>
      </p:sp>
      <p:pic>
        <p:nvPicPr>
          <p:cNvPr id="42" name="Image 5" descr="preencoded.png">    </p:cNvPr>
          <p:cNvPicPr>
            <a:picLocks noChangeAspect="1"/>
          </p:cNvPicPr>
          <p:nvPr/>
        </p:nvPicPr>
        <p:blipFill>
          <a:blip r:embed="rId6"/>
          <a:stretch>
            <a:fillRect/>
          </a:stretch>
        </p:blipFill>
        <p:spPr>
          <a:xfrm>
            <a:off x="7340582" y="5784836"/>
            <a:ext cx="127000" cy="127000"/>
          </a:xfrm>
          <a:prstGeom prst="rect">
            <a:avLst/>
          </a:prstGeom>
        </p:spPr>
      </p:pic>
      <p:sp>
        <p:nvSpPr>
          <p:cNvPr id="43" name="Text 35"/>
          <p:cNvSpPr txBox="1"/>
          <p:nvPr/>
        </p:nvSpPr>
        <p:spPr>
          <a:xfrm>
            <a:off x="7543781" y="5753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Succesfee van 5% blijft ongewijzigd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10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ER VERANDERT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Hetzelfde werk, nu met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harde aantallen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89194"/>
            <a:ext cx="2657468" cy="2768593"/>
          </a:xfrm>
          <a:prstGeom prst="roundRect">
            <a:avLst>
              <a:gd name="adj" fmla="val 3823"/>
            </a:avLst>
          </a:prstGeom>
          <a:solidFill>
            <a:srgbClr val="F8F4EB"/>
          </a:solidFill>
          <a:ln/>
        </p:spPr>
      </p:sp>
      <p:sp>
        <p:nvSpPr>
          <p:cNvPr id="8" name="Text 6"/>
          <p:cNvSpPr txBox="1"/>
          <p:nvPr/>
        </p:nvSpPr>
        <p:spPr>
          <a:xfrm>
            <a:off x="774698" y="2743193"/>
            <a:ext cx="2327269"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NU</a:t>
            </a:r>
            <a:endParaRPr lang="en-US" sz="800" dirty="0"/>
          </a:p>
        </p:txBody>
      </p:sp>
      <p:sp>
        <p:nvSpPr>
          <p:cNvPr id="9" name="Text 7"/>
          <p:cNvSpPr txBox="1"/>
          <p:nvPr/>
        </p:nvSpPr>
        <p:spPr>
          <a:xfrm>
            <a:off x="774698" y="2959093"/>
            <a:ext cx="2327269" cy="355599"/>
          </a:xfrm>
          <a:prstGeom prst="rect">
            <a:avLst/>
          </a:prstGeom>
          <a:noFill/>
          <a:ln/>
        </p:spPr>
        <p:txBody>
          <a:bodyPr wrap="square" lIns="0" tIns="0" rIns="0" bIns="0" rtlCol="0" anchor="ctr"/>
          <a:lstStyle/>
          <a:p>
            <a:pPr indent="0" marL="0">
              <a:lnSpc>
                <a:spcPct val="115000"/>
              </a:lnSpc>
              <a:buNone/>
            </a:pPr>
            <a:r>
              <a:rPr lang="en-US" sz="1050" b="1" dirty="0">
                <a:solidFill>
                  <a:srgbClr val="1C2230"/>
                </a:solidFill>
                <a:latin typeface="Arial" pitchFamily="34" charset="0"/>
                <a:ea typeface="Arial" pitchFamily="34" charset="-122"/>
                <a:cs typeface="Arial" pitchFamily="34" charset="-120"/>
              </a:rPr>
              <a:t>Zoals het nu loopt</a:t>
            </a:r>
            <a:endParaRPr lang="en-US" sz="1050" dirty="0"/>
          </a:p>
        </p:txBody>
      </p:sp>
      <p:sp>
        <p:nvSpPr>
          <p:cNvPr id="10" name="Text 8"/>
          <p:cNvSpPr txBox="1"/>
          <p:nvPr/>
        </p:nvSpPr>
        <p:spPr>
          <a:xfrm>
            <a:off x="774698" y="3378192"/>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Beldagen</a:t>
            </a:r>
            <a:endParaRPr lang="en-US" sz="800" dirty="0"/>
          </a:p>
        </p:txBody>
      </p:sp>
      <p:sp>
        <p:nvSpPr>
          <p:cNvPr id="11" name="Text 9"/>
          <p:cNvSpPr txBox="1"/>
          <p:nvPr/>
        </p:nvSpPr>
        <p:spPr>
          <a:xfrm>
            <a:off x="2276469" y="3378192"/>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2,7</a:t>
            </a:r>
            <a:endParaRPr lang="en-US" sz="1000" dirty="0"/>
          </a:p>
        </p:txBody>
      </p:sp>
      <p:sp>
        <p:nvSpPr>
          <p:cNvPr id="12" name="Shape 10"/>
          <p:cNvSpPr/>
          <p:nvPr/>
        </p:nvSpPr>
        <p:spPr>
          <a:xfrm>
            <a:off x="774698" y="3728711"/>
            <a:ext cx="2327269" cy="0"/>
          </a:xfrm>
          <a:prstGeom prst="line">
            <a:avLst/>
          </a:prstGeom>
          <a:noFill/>
          <a:ln w="9525">
            <a:solidFill>
              <a:srgbClr val="D8D2C4"/>
            </a:solidFill>
            <a:prstDash val="solid"/>
          </a:ln>
        </p:spPr>
      </p:sp>
      <p:sp>
        <p:nvSpPr>
          <p:cNvPr id="13" name="Text 11"/>
          <p:cNvSpPr txBox="1"/>
          <p:nvPr/>
        </p:nvSpPr>
        <p:spPr>
          <a:xfrm>
            <a:off x="774698" y="3728711"/>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Contactpogingen</a:t>
            </a:r>
            <a:endParaRPr lang="en-US" sz="800" dirty="0"/>
          </a:p>
        </p:txBody>
      </p:sp>
      <p:sp>
        <p:nvSpPr>
          <p:cNvPr id="14" name="Text 12"/>
          <p:cNvSpPr txBox="1"/>
          <p:nvPr/>
        </p:nvSpPr>
        <p:spPr>
          <a:xfrm>
            <a:off x="2276469" y="3728711"/>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400</a:t>
            </a:r>
            <a:endParaRPr lang="en-US" sz="1000" dirty="0"/>
          </a:p>
        </p:txBody>
      </p:sp>
      <p:sp>
        <p:nvSpPr>
          <p:cNvPr id="15" name="Shape 13"/>
          <p:cNvSpPr/>
          <p:nvPr/>
        </p:nvSpPr>
        <p:spPr>
          <a:xfrm>
            <a:off x="774698" y="4079230"/>
            <a:ext cx="2327269" cy="0"/>
          </a:xfrm>
          <a:prstGeom prst="line">
            <a:avLst/>
          </a:prstGeom>
          <a:noFill/>
          <a:ln w="9525">
            <a:solidFill>
              <a:srgbClr val="D8D2C4"/>
            </a:solidFill>
            <a:prstDash val="solid"/>
          </a:ln>
        </p:spPr>
      </p:sp>
      <p:sp>
        <p:nvSpPr>
          <p:cNvPr id="16" name="Text 14"/>
          <p:cNvSpPr txBox="1"/>
          <p:nvPr/>
        </p:nvSpPr>
        <p:spPr>
          <a:xfrm>
            <a:off x="774698" y="4079230"/>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Afspraken</a:t>
            </a:r>
            <a:endParaRPr lang="en-US" sz="800" dirty="0"/>
          </a:p>
        </p:txBody>
      </p:sp>
      <p:sp>
        <p:nvSpPr>
          <p:cNvPr id="17" name="Text 15"/>
          <p:cNvSpPr txBox="1"/>
          <p:nvPr/>
        </p:nvSpPr>
        <p:spPr>
          <a:xfrm>
            <a:off x="2276469" y="4079230"/>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8</a:t>
            </a:r>
            <a:endParaRPr lang="en-US" sz="1000" dirty="0"/>
          </a:p>
        </p:txBody>
      </p:sp>
      <p:sp>
        <p:nvSpPr>
          <p:cNvPr id="18" name="Shape 16"/>
          <p:cNvSpPr/>
          <p:nvPr/>
        </p:nvSpPr>
        <p:spPr>
          <a:xfrm>
            <a:off x="774698" y="4429749"/>
            <a:ext cx="2327269" cy="0"/>
          </a:xfrm>
          <a:prstGeom prst="line">
            <a:avLst/>
          </a:prstGeom>
          <a:noFill/>
          <a:ln w="9525">
            <a:solidFill>
              <a:srgbClr val="D8D2C4"/>
            </a:solidFill>
            <a:prstDash val="solid"/>
          </a:ln>
        </p:spPr>
      </p:sp>
      <p:sp>
        <p:nvSpPr>
          <p:cNvPr id="19" name="Text 17"/>
          <p:cNvSpPr txBox="1"/>
          <p:nvPr/>
        </p:nvSpPr>
        <p:spPr>
          <a:xfrm>
            <a:off x="774698" y="4429749"/>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Per beldag</a:t>
            </a:r>
            <a:endParaRPr lang="en-US" sz="800" dirty="0"/>
          </a:p>
        </p:txBody>
      </p:sp>
      <p:sp>
        <p:nvSpPr>
          <p:cNvPr id="20" name="Text 18"/>
          <p:cNvSpPr txBox="1"/>
          <p:nvPr/>
        </p:nvSpPr>
        <p:spPr>
          <a:xfrm>
            <a:off x="2276469" y="4429749"/>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€ 593</a:t>
            </a:r>
            <a:endParaRPr lang="en-US" sz="1000" dirty="0"/>
          </a:p>
        </p:txBody>
      </p:sp>
      <p:sp>
        <p:nvSpPr>
          <p:cNvPr id="21" name="Shape 19"/>
          <p:cNvSpPr/>
          <p:nvPr/>
        </p:nvSpPr>
        <p:spPr>
          <a:xfrm>
            <a:off x="774698" y="4780268"/>
            <a:ext cx="2327269" cy="0"/>
          </a:xfrm>
          <a:prstGeom prst="line">
            <a:avLst/>
          </a:prstGeom>
          <a:noFill/>
          <a:ln w="9525">
            <a:solidFill>
              <a:srgbClr val="D8D2C4"/>
            </a:solidFill>
            <a:prstDash val="solid"/>
          </a:ln>
        </p:spPr>
      </p:sp>
      <p:sp>
        <p:nvSpPr>
          <p:cNvPr id="22" name="Text 20"/>
          <p:cNvSpPr txBox="1"/>
          <p:nvPr/>
        </p:nvSpPr>
        <p:spPr>
          <a:xfrm>
            <a:off x="774698" y="4780268"/>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Per werkperiode</a:t>
            </a:r>
            <a:endParaRPr lang="en-US" sz="800" dirty="0"/>
          </a:p>
        </p:txBody>
      </p:sp>
      <p:sp>
        <p:nvSpPr>
          <p:cNvPr id="23" name="Text 21"/>
          <p:cNvSpPr txBox="1"/>
          <p:nvPr/>
        </p:nvSpPr>
        <p:spPr>
          <a:xfrm>
            <a:off x="2276469" y="4780268"/>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€ 1.600</a:t>
            </a:r>
            <a:endParaRPr lang="en-US" sz="1000" dirty="0"/>
          </a:p>
        </p:txBody>
      </p:sp>
      <p:sp>
        <p:nvSpPr>
          <p:cNvPr id="24" name="Shape 22"/>
          <p:cNvSpPr/>
          <p:nvPr/>
        </p:nvSpPr>
        <p:spPr>
          <a:xfrm>
            <a:off x="3381367" y="2489194"/>
            <a:ext cx="2657468" cy="2768593"/>
          </a:xfrm>
          <a:prstGeom prst="roundRect">
            <a:avLst>
              <a:gd name="adj" fmla="val 3823"/>
            </a:avLst>
          </a:prstGeom>
          <a:solidFill>
            <a:srgbClr val="000000"/>
          </a:solidFill>
          <a:ln/>
        </p:spPr>
      </p:sp>
      <p:sp>
        <p:nvSpPr>
          <p:cNvPr id="25" name="Text 23"/>
          <p:cNvSpPr txBox="1"/>
          <p:nvPr/>
        </p:nvSpPr>
        <p:spPr>
          <a:xfrm>
            <a:off x="3546466" y="2743193"/>
            <a:ext cx="2327269" cy="190500"/>
          </a:xfrm>
          <a:prstGeom prst="rect">
            <a:avLst/>
          </a:prstGeom>
          <a:noFill/>
          <a:ln/>
        </p:spPr>
        <p:txBody>
          <a:bodyPr wrap="square" lIns="0" tIns="0" rIns="0" bIns="0" rtlCol="0" anchor="ctr"/>
          <a:lstStyle/>
          <a:p>
            <a:pPr indent="0" marL="0">
              <a:buNone/>
            </a:pPr>
            <a:r>
              <a:rPr lang="en-US" sz="800" b="1" spc="180" kern="0" dirty="0">
                <a:solidFill>
                  <a:srgbClr val="38B6FF"/>
                </a:solidFill>
                <a:latin typeface="Arial" pitchFamily="34" charset="0"/>
                <a:ea typeface="Arial" pitchFamily="34" charset="-122"/>
                <a:cs typeface="Arial" pitchFamily="34" charset="-120"/>
              </a:rPr>
              <a:t>VOORSTEL</a:t>
            </a:r>
            <a:endParaRPr lang="en-US" sz="800" dirty="0"/>
          </a:p>
        </p:txBody>
      </p:sp>
      <p:sp>
        <p:nvSpPr>
          <p:cNvPr id="26" name="Text 24"/>
          <p:cNvSpPr txBox="1"/>
          <p:nvPr/>
        </p:nvSpPr>
        <p:spPr>
          <a:xfrm>
            <a:off x="3546466" y="2959093"/>
            <a:ext cx="2327269" cy="355599"/>
          </a:xfrm>
          <a:prstGeom prst="rect">
            <a:avLst/>
          </a:prstGeom>
          <a:noFill/>
          <a:ln/>
        </p:spPr>
        <p:txBody>
          <a:bodyPr wrap="square" lIns="0" tIns="0" rIns="0" bIns="0" rtlCol="0" anchor="ctr"/>
          <a:lstStyle/>
          <a:p>
            <a:pPr indent="0" marL="0">
              <a:lnSpc>
                <a:spcPct val="115000"/>
              </a:lnSpc>
              <a:buNone/>
            </a:pPr>
            <a:r>
              <a:rPr lang="en-US" sz="1050" b="1" dirty="0">
                <a:solidFill>
                  <a:srgbClr val="F2EFE6"/>
                </a:solidFill>
                <a:latin typeface="Arial" pitchFamily="34" charset="0"/>
                <a:ea typeface="Arial" pitchFamily="34" charset="-122"/>
                <a:cs typeface="Arial" pitchFamily="34" charset="-120"/>
              </a:rPr>
              <a:t>Vier beldagen</a:t>
            </a:r>
            <a:endParaRPr lang="en-US" sz="1050" dirty="0"/>
          </a:p>
        </p:txBody>
      </p:sp>
      <p:sp>
        <p:nvSpPr>
          <p:cNvPr id="27" name="Text 25"/>
          <p:cNvSpPr txBox="1"/>
          <p:nvPr/>
        </p:nvSpPr>
        <p:spPr>
          <a:xfrm>
            <a:off x="3546466" y="3378192"/>
            <a:ext cx="1730371" cy="350519"/>
          </a:xfrm>
          <a:prstGeom prst="rect">
            <a:avLst/>
          </a:prstGeom>
          <a:noFill/>
          <a:ln/>
        </p:spPr>
        <p:txBody>
          <a:bodyPr wrap="square" lIns="0" tIns="0" rIns="0" bIns="0" rtlCol="0" anchor="ctr"/>
          <a:lstStyle/>
          <a:p>
            <a:pPr indent="0" marL="0">
              <a:buNone/>
            </a:pPr>
            <a:r>
              <a:rPr lang="en-US" sz="800" dirty="0">
                <a:solidFill>
                  <a:srgbClr val="C2C8D2"/>
                </a:solidFill>
                <a:latin typeface="Arial" pitchFamily="34" charset="0"/>
                <a:ea typeface="Arial" pitchFamily="34" charset="-122"/>
                <a:cs typeface="Arial" pitchFamily="34" charset="-120"/>
              </a:rPr>
              <a:t>Beldagen</a:t>
            </a:r>
            <a:endParaRPr lang="en-US" sz="800" dirty="0"/>
          </a:p>
        </p:txBody>
      </p:sp>
      <p:sp>
        <p:nvSpPr>
          <p:cNvPr id="28" name="Text 26"/>
          <p:cNvSpPr txBox="1"/>
          <p:nvPr/>
        </p:nvSpPr>
        <p:spPr>
          <a:xfrm>
            <a:off x="5048237" y="3378192"/>
            <a:ext cx="825498" cy="350519"/>
          </a:xfrm>
          <a:prstGeom prst="rect">
            <a:avLst/>
          </a:prstGeom>
          <a:noFill/>
          <a:ln/>
        </p:spPr>
        <p:txBody>
          <a:bodyPr wrap="square" lIns="0" tIns="0" rIns="0" bIns="0" rtlCol="0" anchor="ctr"/>
          <a:lstStyle/>
          <a:p>
            <a:pPr algn="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9" name="Shape 27"/>
          <p:cNvSpPr/>
          <p:nvPr/>
        </p:nvSpPr>
        <p:spPr>
          <a:xfrm>
            <a:off x="3546466" y="3728711"/>
            <a:ext cx="2327269" cy="0"/>
          </a:xfrm>
          <a:prstGeom prst="line">
            <a:avLst/>
          </a:prstGeom>
          <a:noFill/>
          <a:ln w="9525">
            <a:solidFill>
              <a:srgbClr val="3A4152"/>
            </a:solidFill>
            <a:prstDash val="solid"/>
          </a:ln>
        </p:spPr>
      </p:sp>
      <p:sp>
        <p:nvSpPr>
          <p:cNvPr id="30" name="Text 28"/>
          <p:cNvSpPr txBox="1"/>
          <p:nvPr/>
        </p:nvSpPr>
        <p:spPr>
          <a:xfrm>
            <a:off x="3546466" y="3728711"/>
            <a:ext cx="1730371" cy="350519"/>
          </a:xfrm>
          <a:prstGeom prst="rect">
            <a:avLst/>
          </a:prstGeom>
          <a:noFill/>
          <a:ln/>
        </p:spPr>
        <p:txBody>
          <a:bodyPr wrap="square" lIns="0" tIns="0" rIns="0" bIns="0" rtlCol="0" anchor="ctr"/>
          <a:lstStyle/>
          <a:p>
            <a:pPr indent="0" marL="0">
              <a:buNone/>
            </a:pPr>
            <a:r>
              <a:rPr lang="en-US" sz="800" dirty="0">
                <a:solidFill>
                  <a:srgbClr val="C2C8D2"/>
                </a:solidFill>
                <a:latin typeface="Arial" pitchFamily="34" charset="0"/>
                <a:ea typeface="Arial" pitchFamily="34" charset="-122"/>
                <a:cs typeface="Arial" pitchFamily="34" charset="-120"/>
              </a:rPr>
              <a:t>Contactpogingen</a:t>
            </a:r>
            <a:endParaRPr lang="en-US" sz="800" dirty="0"/>
          </a:p>
        </p:txBody>
      </p:sp>
      <p:sp>
        <p:nvSpPr>
          <p:cNvPr id="31" name="Text 29"/>
          <p:cNvSpPr txBox="1"/>
          <p:nvPr/>
        </p:nvSpPr>
        <p:spPr>
          <a:xfrm>
            <a:off x="5048237" y="3728711"/>
            <a:ext cx="825498" cy="350519"/>
          </a:xfrm>
          <a:prstGeom prst="rect">
            <a:avLst/>
          </a:prstGeom>
          <a:noFill/>
          <a:ln/>
        </p:spPr>
        <p:txBody>
          <a:bodyPr wrap="square" lIns="0" tIns="0" rIns="0" bIns="0" rtlCol="0" anchor="ctr"/>
          <a:lstStyle/>
          <a:p>
            <a:pPr algn="r" indent="0" marL="0">
              <a:buNone/>
            </a:pPr>
            <a:r>
              <a:rPr lang="en-US" sz="1000" b="1" dirty="0">
                <a:solidFill>
                  <a:srgbClr val="38B6FF"/>
                </a:solidFill>
                <a:latin typeface="Arial" pitchFamily="34" charset="0"/>
                <a:ea typeface="Arial" pitchFamily="34" charset="-122"/>
                <a:cs typeface="Arial" pitchFamily="34" charset="-120"/>
              </a:rPr>
              <a:t>600</a:t>
            </a:r>
            <a:endParaRPr lang="en-US" sz="1000" dirty="0"/>
          </a:p>
        </p:txBody>
      </p:sp>
      <p:sp>
        <p:nvSpPr>
          <p:cNvPr id="32" name="Shape 30"/>
          <p:cNvSpPr/>
          <p:nvPr/>
        </p:nvSpPr>
        <p:spPr>
          <a:xfrm>
            <a:off x="3546466" y="4079230"/>
            <a:ext cx="2327269" cy="0"/>
          </a:xfrm>
          <a:prstGeom prst="line">
            <a:avLst/>
          </a:prstGeom>
          <a:noFill/>
          <a:ln w="9525">
            <a:solidFill>
              <a:srgbClr val="3A4152"/>
            </a:solidFill>
            <a:prstDash val="solid"/>
          </a:ln>
        </p:spPr>
      </p:sp>
      <p:sp>
        <p:nvSpPr>
          <p:cNvPr id="33" name="Text 31"/>
          <p:cNvSpPr txBox="1"/>
          <p:nvPr/>
        </p:nvSpPr>
        <p:spPr>
          <a:xfrm>
            <a:off x="3546466" y="4079230"/>
            <a:ext cx="1730371" cy="350519"/>
          </a:xfrm>
          <a:prstGeom prst="rect">
            <a:avLst/>
          </a:prstGeom>
          <a:noFill/>
          <a:ln/>
        </p:spPr>
        <p:txBody>
          <a:bodyPr wrap="square" lIns="0" tIns="0" rIns="0" bIns="0" rtlCol="0" anchor="ctr"/>
          <a:lstStyle/>
          <a:p>
            <a:pPr indent="0" marL="0">
              <a:buNone/>
            </a:pPr>
            <a:r>
              <a:rPr lang="en-US" sz="800" dirty="0">
                <a:solidFill>
                  <a:srgbClr val="C2C8D2"/>
                </a:solidFill>
                <a:latin typeface="Arial" pitchFamily="34" charset="0"/>
                <a:ea typeface="Arial" pitchFamily="34" charset="-122"/>
                <a:cs typeface="Arial" pitchFamily="34" charset="-120"/>
              </a:rPr>
              <a:t>Afspraken</a:t>
            </a:r>
            <a:endParaRPr lang="en-US" sz="800" dirty="0"/>
          </a:p>
        </p:txBody>
      </p:sp>
      <p:sp>
        <p:nvSpPr>
          <p:cNvPr id="34" name="Text 32"/>
          <p:cNvSpPr txBox="1"/>
          <p:nvPr/>
        </p:nvSpPr>
        <p:spPr>
          <a:xfrm>
            <a:off x="5048237" y="4079230"/>
            <a:ext cx="825498" cy="350519"/>
          </a:xfrm>
          <a:prstGeom prst="rect">
            <a:avLst/>
          </a:prstGeom>
          <a:noFill/>
          <a:ln/>
        </p:spPr>
        <p:txBody>
          <a:bodyPr wrap="square" lIns="0" tIns="0" rIns="0" bIns="0" rtlCol="0" anchor="ctr"/>
          <a:lstStyle/>
          <a:p>
            <a:pPr algn="r" indent="0" marL="0">
              <a:buNone/>
            </a:pPr>
            <a:r>
              <a:rPr lang="en-US" sz="1000" b="1" dirty="0">
                <a:solidFill>
                  <a:srgbClr val="38B6FF"/>
                </a:solidFill>
                <a:latin typeface="Arial" pitchFamily="34" charset="0"/>
                <a:ea typeface="Arial" pitchFamily="34" charset="-122"/>
                <a:cs typeface="Arial" pitchFamily="34" charset="-120"/>
              </a:rPr>
              <a:t>10</a:t>
            </a:r>
            <a:endParaRPr lang="en-US" sz="1000" dirty="0"/>
          </a:p>
        </p:txBody>
      </p:sp>
      <p:sp>
        <p:nvSpPr>
          <p:cNvPr id="35" name="Shape 33"/>
          <p:cNvSpPr/>
          <p:nvPr/>
        </p:nvSpPr>
        <p:spPr>
          <a:xfrm>
            <a:off x="3546466" y="4429749"/>
            <a:ext cx="2327269" cy="0"/>
          </a:xfrm>
          <a:prstGeom prst="line">
            <a:avLst/>
          </a:prstGeom>
          <a:noFill/>
          <a:ln w="9525">
            <a:solidFill>
              <a:srgbClr val="3A4152"/>
            </a:solidFill>
            <a:prstDash val="solid"/>
          </a:ln>
        </p:spPr>
      </p:sp>
      <p:sp>
        <p:nvSpPr>
          <p:cNvPr id="36" name="Text 34"/>
          <p:cNvSpPr txBox="1"/>
          <p:nvPr/>
        </p:nvSpPr>
        <p:spPr>
          <a:xfrm>
            <a:off x="3546466" y="4429749"/>
            <a:ext cx="1730371" cy="350519"/>
          </a:xfrm>
          <a:prstGeom prst="rect">
            <a:avLst/>
          </a:prstGeom>
          <a:noFill/>
          <a:ln/>
        </p:spPr>
        <p:txBody>
          <a:bodyPr wrap="square" lIns="0" tIns="0" rIns="0" bIns="0" rtlCol="0" anchor="ctr"/>
          <a:lstStyle/>
          <a:p>
            <a:pPr indent="0" marL="0">
              <a:buNone/>
            </a:pPr>
            <a:r>
              <a:rPr lang="en-US" sz="800" dirty="0">
                <a:solidFill>
                  <a:srgbClr val="C2C8D2"/>
                </a:solidFill>
                <a:latin typeface="Arial" pitchFamily="34" charset="0"/>
                <a:ea typeface="Arial" pitchFamily="34" charset="-122"/>
                <a:cs typeface="Arial" pitchFamily="34" charset="-120"/>
              </a:rPr>
              <a:t>Per beldag</a:t>
            </a:r>
            <a:endParaRPr lang="en-US" sz="800" dirty="0"/>
          </a:p>
        </p:txBody>
      </p:sp>
      <p:sp>
        <p:nvSpPr>
          <p:cNvPr id="37" name="Text 35"/>
          <p:cNvSpPr txBox="1"/>
          <p:nvPr/>
        </p:nvSpPr>
        <p:spPr>
          <a:xfrm>
            <a:off x="5048237" y="4429749"/>
            <a:ext cx="825498" cy="350519"/>
          </a:xfrm>
          <a:prstGeom prst="rect">
            <a:avLst/>
          </a:prstGeom>
          <a:noFill/>
          <a:ln/>
        </p:spPr>
        <p:txBody>
          <a:bodyPr wrap="square" lIns="0" tIns="0" rIns="0" bIns="0" rtlCol="0" anchor="ctr"/>
          <a:lstStyle/>
          <a:p>
            <a:pPr algn="r" indent="0" marL="0">
              <a:buNone/>
            </a:pPr>
            <a:r>
              <a:rPr lang="en-US" sz="1000" b="1" dirty="0">
                <a:solidFill>
                  <a:srgbClr val="38B6FF"/>
                </a:solidFill>
                <a:latin typeface="Arial" pitchFamily="34" charset="0"/>
                <a:ea typeface="Arial" pitchFamily="34" charset="-122"/>
                <a:cs typeface="Arial" pitchFamily="34" charset="-120"/>
              </a:rPr>
              <a:t>€ 600</a:t>
            </a:r>
            <a:endParaRPr lang="en-US" sz="1000" dirty="0"/>
          </a:p>
        </p:txBody>
      </p:sp>
      <p:sp>
        <p:nvSpPr>
          <p:cNvPr id="38" name="Shape 36"/>
          <p:cNvSpPr/>
          <p:nvPr/>
        </p:nvSpPr>
        <p:spPr>
          <a:xfrm>
            <a:off x="3546466" y="4780268"/>
            <a:ext cx="2327269" cy="0"/>
          </a:xfrm>
          <a:prstGeom prst="line">
            <a:avLst/>
          </a:prstGeom>
          <a:noFill/>
          <a:ln w="9525">
            <a:solidFill>
              <a:srgbClr val="3A4152"/>
            </a:solidFill>
            <a:prstDash val="solid"/>
          </a:ln>
        </p:spPr>
      </p:sp>
      <p:sp>
        <p:nvSpPr>
          <p:cNvPr id="39" name="Text 37"/>
          <p:cNvSpPr txBox="1"/>
          <p:nvPr/>
        </p:nvSpPr>
        <p:spPr>
          <a:xfrm>
            <a:off x="3546466" y="4780268"/>
            <a:ext cx="1730371" cy="350519"/>
          </a:xfrm>
          <a:prstGeom prst="rect">
            <a:avLst/>
          </a:prstGeom>
          <a:noFill/>
          <a:ln/>
        </p:spPr>
        <p:txBody>
          <a:bodyPr wrap="square" lIns="0" tIns="0" rIns="0" bIns="0" rtlCol="0" anchor="ctr"/>
          <a:lstStyle/>
          <a:p>
            <a:pPr indent="0" marL="0">
              <a:buNone/>
            </a:pPr>
            <a:r>
              <a:rPr lang="en-US" sz="800" dirty="0">
                <a:solidFill>
                  <a:srgbClr val="C2C8D2"/>
                </a:solidFill>
                <a:latin typeface="Arial" pitchFamily="34" charset="0"/>
                <a:ea typeface="Arial" pitchFamily="34" charset="-122"/>
                <a:cs typeface="Arial" pitchFamily="34" charset="-120"/>
              </a:rPr>
              <a:t>Per werkperiode</a:t>
            </a:r>
            <a:endParaRPr lang="en-US" sz="800" dirty="0"/>
          </a:p>
        </p:txBody>
      </p:sp>
      <p:sp>
        <p:nvSpPr>
          <p:cNvPr id="40" name="Text 38"/>
          <p:cNvSpPr txBox="1"/>
          <p:nvPr/>
        </p:nvSpPr>
        <p:spPr>
          <a:xfrm>
            <a:off x="5048237" y="4780268"/>
            <a:ext cx="825498" cy="350519"/>
          </a:xfrm>
          <a:prstGeom prst="rect">
            <a:avLst/>
          </a:prstGeom>
          <a:noFill/>
          <a:ln/>
        </p:spPr>
        <p:txBody>
          <a:bodyPr wrap="square" lIns="0" tIns="0" rIns="0" bIns="0" rtlCol="0" anchor="ctr"/>
          <a:lstStyle/>
          <a:p>
            <a:pPr algn="r" indent="0" marL="0">
              <a:buNone/>
            </a:pPr>
            <a:r>
              <a:rPr lang="en-US" sz="1000" b="1" dirty="0">
                <a:solidFill>
                  <a:srgbClr val="38B6FF"/>
                </a:solidFill>
                <a:latin typeface="Arial" pitchFamily="34" charset="0"/>
                <a:ea typeface="Arial" pitchFamily="34" charset="-122"/>
                <a:cs typeface="Arial" pitchFamily="34" charset="-120"/>
              </a:rPr>
              <a:t>€ 2.400</a:t>
            </a:r>
            <a:endParaRPr lang="en-US" sz="1000" dirty="0"/>
          </a:p>
        </p:txBody>
      </p:sp>
      <p:sp>
        <p:nvSpPr>
          <p:cNvPr id="41" name="Shape 39"/>
          <p:cNvSpPr/>
          <p:nvPr/>
        </p:nvSpPr>
        <p:spPr>
          <a:xfrm>
            <a:off x="6153135" y="2489194"/>
            <a:ext cx="2657468" cy="2768593"/>
          </a:xfrm>
          <a:prstGeom prst="roundRect">
            <a:avLst>
              <a:gd name="adj" fmla="val 3823"/>
            </a:avLst>
          </a:prstGeom>
          <a:solidFill>
            <a:srgbClr val="F8F4EB"/>
          </a:solidFill>
          <a:ln/>
        </p:spPr>
      </p:sp>
      <p:sp>
        <p:nvSpPr>
          <p:cNvPr id="42" name="Text 40"/>
          <p:cNvSpPr txBox="1"/>
          <p:nvPr/>
        </p:nvSpPr>
        <p:spPr>
          <a:xfrm>
            <a:off x="6318234" y="2743193"/>
            <a:ext cx="2327269"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OF</a:t>
            </a:r>
            <a:endParaRPr lang="en-US" sz="800" dirty="0"/>
          </a:p>
        </p:txBody>
      </p:sp>
      <p:sp>
        <p:nvSpPr>
          <p:cNvPr id="43" name="Text 41"/>
          <p:cNvSpPr txBox="1"/>
          <p:nvPr/>
        </p:nvSpPr>
        <p:spPr>
          <a:xfrm>
            <a:off x="6318234" y="2959093"/>
            <a:ext cx="2327269" cy="355599"/>
          </a:xfrm>
          <a:prstGeom prst="rect">
            <a:avLst/>
          </a:prstGeom>
          <a:noFill/>
          <a:ln/>
        </p:spPr>
        <p:txBody>
          <a:bodyPr wrap="square" lIns="0" tIns="0" rIns="0" bIns="0" rtlCol="0" anchor="ctr"/>
          <a:lstStyle/>
          <a:p>
            <a:pPr indent="0" marL="0">
              <a:lnSpc>
                <a:spcPct val="115000"/>
              </a:lnSpc>
              <a:buNone/>
            </a:pPr>
            <a:r>
              <a:rPr lang="en-US" sz="1050" b="1" dirty="0">
                <a:solidFill>
                  <a:srgbClr val="1C2230"/>
                </a:solidFill>
                <a:latin typeface="Arial" pitchFamily="34" charset="0"/>
                <a:ea typeface="Arial" pitchFamily="34" charset="-122"/>
                <a:cs typeface="Arial" pitchFamily="34" charset="-120"/>
              </a:rPr>
              <a:t>Zes beldagen</a:t>
            </a:r>
            <a:endParaRPr lang="en-US" sz="1050" dirty="0"/>
          </a:p>
        </p:txBody>
      </p:sp>
      <p:sp>
        <p:nvSpPr>
          <p:cNvPr id="44" name="Text 42"/>
          <p:cNvSpPr txBox="1"/>
          <p:nvPr/>
        </p:nvSpPr>
        <p:spPr>
          <a:xfrm>
            <a:off x="6318234" y="3378192"/>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Beldagen</a:t>
            </a:r>
            <a:endParaRPr lang="en-US" sz="800" dirty="0"/>
          </a:p>
        </p:txBody>
      </p:sp>
      <p:sp>
        <p:nvSpPr>
          <p:cNvPr id="45" name="Text 43"/>
          <p:cNvSpPr txBox="1"/>
          <p:nvPr/>
        </p:nvSpPr>
        <p:spPr>
          <a:xfrm>
            <a:off x="7820005" y="3378192"/>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6</a:t>
            </a:r>
            <a:endParaRPr lang="en-US" sz="1000" dirty="0"/>
          </a:p>
        </p:txBody>
      </p:sp>
      <p:sp>
        <p:nvSpPr>
          <p:cNvPr id="46" name="Shape 44"/>
          <p:cNvSpPr/>
          <p:nvPr/>
        </p:nvSpPr>
        <p:spPr>
          <a:xfrm>
            <a:off x="6318234" y="3728711"/>
            <a:ext cx="2327269" cy="0"/>
          </a:xfrm>
          <a:prstGeom prst="line">
            <a:avLst/>
          </a:prstGeom>
          <a:noFill/>
          <a:ln w="9525">
            <a:solidFill>
              <a:srgbClr val="D8D2C4"/>
            </a:solidFill>
            <a:prstDash val="solid"/>
          </a:ln>
        </p:spPr>
      </p:sp>
      <p:sp>
        <p:nvSpPr>
          <p:cNvPr id="47" name="Text 45"/>
          <p:cNvSpPr txBox="1"/>
          <p:nvPr/>
        </p:nvSpPr>
        <p:spPr>
          <a:xfrm>
            <a:off x="6318234" y="3728711"/>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Contactpogingen</a:t>
            </a:r>
            <a:endParaRPr lang="en-US" sz="800" dirty="0"/>
          </a:p>
        </p:txBody>
      </p:sp>
      <p:sp>
        <p:nvSpPr>
          <p:cNvPr id="48" name="Text 46"/>
          <p:cNvSpPr txBox="1"/>
          <p:nvPr/>
        </p:nvSpPr>
        <p:spPr>
          <a:xfrm>
            <a:off x="7820005" y="3728711"/>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900</a:t>
            </a:r>
            <a:endParaRPr lang="en-US" sz="1000" dirty="0"/>
          </a:p>
        </p:txBody>
      </p:sp>
      <p:sp>
        <p:nvSpPr>
          <p:cNvPr id="49" name="Shape 47"/>
          <p:cNvSpPr/>
          <p:nvPr/>
        </p:nvSpPr>
        <p:spPr>
          <a:xfrm>
            <a:off x="6318234" y="4079230"/>
            <a:ext cx="2327269" cy="0"/>
          </a:xfrm>
          <a:prstGeom prst="line">
            <a:avLst/>
          </a:prstGeom>
          <a:noFill/>
          <a:ln w="9525">
            <a:solidFill>
              <a:srgbClr val="D8D2C4"/>
            </a:solidFill>
            <a:prstDash val="solid"/>
          </a:ln>
        </p:spPr>
      </p:sp>
      <p:sp>
        <p:nvSpPr>
          <p:cNvPr id="50" name="Text 48"/>
          <p:cNvSpPr txBox="1"/>
          <p:nvPr/>
        </p:nvSpPr>
        <p:spPr>
          <a:xfrm>
            <a:off x="6318234" y="4079230"/>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Afspraken</a:t>
            </a:r>
            <a:endParaRPr lang="en-US" sz="800" dirty="0"/>
          </a:p>
        </p:txBody>
      </p:sp>
      <p:sp>
        <p:nvSpPr>
          <p:cNvPr id="51" name="Text 49"/>
          <p:cNvSpPr txBox="1"/>
          <p:nvPr/>
        </p:nvSpPr>
        <p:spPr>
          <a:xfrm>
            <a:off x="7820005" y="4079230"/>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15</a:t>
            </a:r>
            <a:endParaRPr lang="en-US" sz="1000" dirty="0"/>
          </a:p>
        </p:txBody>
      </p:sp>
      <p:sp>
        <p:nvSpPr>
          <p:cNvPr id="52" name="Shape 50"/>
          <p:cNvSpPr/>
          <p:nvPr/>
        </p:nvSpPr>
        <p:spPr>
          <a:xfrm>
            <a:off x="6318234" y="4429749"/>
            <a:ext cx="2327269" cy="0"/>
          </a:xfrm>
          <a:prstGeom prst="line">
            <a:avLst/>
          </a:prstGeom>
          <a:noFill/>
          <a:ln w="9525">
            <a:solidFill>
              <a:srgbClr val="D8D2C4"/>
            </a:solidFill>
            <a:prstDash val="solid"/>
          </a:ln>
        </p:spPr>
      </p:sp>
      <p:sp>
        <p:nvSpPr>
          <p:cNvPr id="53" name="Text 51"/>
          <p:cNvSpPr txBox="1"/>
          <p:nvPr/>
        </p:nvSpPr>
        <p:spPr>
          <a:xfrm>
            <a:off x="6318234" y="4429749"/>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Per beldag</a:t>
            </a:r>
            <a:endParaRPr lang="en-US" sz="800" dirty="0"/>
          </a:p>
        </p:txBody>
      </p:sp>
      <p:sp>
        <p:nvSpPr>
          <p:cNvPr id="54" name="Text 52"/>
          <p:cNvSpPr txBox="1"/>
          <p:nvPr/>
        </p:nvSpPr>
        <p:spPr>
          <a:xfrm>
            <a:off x="7820005" y="4429749"/>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€ 575</a:t>
            </a:r>
            <a:endParaRPr lang="en-US" sz="1000" dirty="0"/>
          </a:p>
        </p:txBody>
      </p:sp>
      <p:sp>
        <p:nvSpPr>
          <p:cNvPr id="55" name="Shape 53"/>
          <p:cNvSpPr/>
          <p:nvPr/>
        </p:nvSpPr>
        <p:spPr>
          <a:xfrm>
            <a:off x="6318234" y="4780268"/>
            <a:ext cx="2327269" cy="0"/>
          </a:xfrm>
          <a:prstGeom prst="line">
            <a:avLst/>
          </a:prstGeom>
          <a:noFill/>
          <a:ln w="9525">
            <a:solidFill>
              <a:srgbClr val="D8D2C4"/>
            </a:solidFill>
            <a:prstDash val="solid"/>
          </a:ln>
        </p:spPr>
      </p:sp>
      <p:sp>
        <p:nvSpPr>
          <p:cNvPr id="56" name="Text 54"/>
          <p:cNvSpPr txBox="1"/>
          <p:nvPr/>
        </p:nvSpPr>
        <p:spPr>
          <a:xfrm>
            <a:off x="6318234" y="4780268"/>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Per werkperiode</a:t>
            </a:r>
            <a:endParaRPr lang="en-US" sz="800" dirty="0"/>
          </a:p>
        </p:txBody>
      </p:sp>
      <p:sp>
        <p:nvSpPr>
          <p:cNvPr id="57" name="Text 55"/>
          <p:cNvSpPr txBox="1"/>
          <p:nvPr/>
        </p:nvSpPr>
        <p:spPr>
          <a:xfrm>
            <a:off x="7820005" y="4780268"/>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€ 3.450</a:t>
            </a:r>
            <a:endParaRPr lang="en-US" sz="1000" dirty="0"/>
          </a:p>
        </p:txBody>
      </p:sp>
      <p:sp>
        <p:nvSpPr>
          <p:cNvPr id="58" name="Shape 56"/>
          <p:cNvSpPr/>
          <p:nvPr/>
        </p:nvSpPr>
        <p:spPr>
          <a:xfrm>
            <a:off x="8924903" y="2489194"/>
            <a:ext cx="2657468" cy="2768593"/>
          </a:xfrm>
          <a:prstGeom prst="roundRect">
            <a:avLst>
              <a:gd name="adj" fmla="val 3823"/>
            </a:avLst>
          </a:prstGeom>
          <a:solidFill>
            <a:srgbClr val="F8F4EB"/>
          </a:solidFill>
          <a:ln/>
        </p:spPr>
      </p:sp>
      <p:sp>
        <p:nvSpPr>
          <p:cNvPr id="59" name="Text 57"/>
          <p:cNvSpPr txBox="1"/>
          <p:nvPr/>
        </p:nvSpPr>
        <p:spPr>
          <a:xfrm>
            <a:off x="9090002" y="2743193"/>
            <a:ext cx="2327269"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OF</a:t>
            </a:r>
            <a:endParaRPr lang="en-US" sz="800" dirty="0"/>
          </a:p>
        </p:txBody>
      </p:sp>
      <p:sp>
        <p:nvSpPr>
          <p:cNvPr id="60" name="Text 58"/>
          <p:cNvSpPr txBox="1"/>
          <p:nvPr/>
        </p:nvSpPr>
        <p:spPr>
          <a:xfrm>
            <a:off x="9090002" y="2959093"/>
            <a:ext cx="2327269" cy="355599"/>
          </a:xfrm>
          <a:prstGeom prst="rect">
            <a:avLst/>
          </a:prstGeom>
          <a:noFill/>
          <a:ln/>
        </p:spPr>
        <p:txBody>
          <a:bodyPr wrap="square" lIns="0" tIns="0" rIns="0" bIns="0" rtlCol="0" anchor="ctr"/>
          <a:lstStyle/>
          <a:p>
            <a:pPr indent="0" marL="0">
              <a:lnSpc>
                <a:spcPct val="115000"/>
              </a:lnSpc>
              <a:buNone/>
            </a:pPr>
            <a:r>
              <a:rPr lang="en-US" sz="1050" b="1" dirty="0">
                <a:solidFill>
                  <a:srgbClr val="1C2230"/>
                </a:solidFill>
                <a:latin typeface="Arial" pitchFamily="34" charset="0"/>
                <a:ea typeface="Arial" pitchFamily="34" charset="-122"/>
                <a:cs typeface="Arial" pitchFamily="34" charset="-120"/>
              </a:rPr>
              <a:t>Acht beldagen</a:t>
            </a:r>
            <a:endParaRPr lang="en-US" sz="1050" dirty="0"/>
          </a:p>
        </p:txBody>
      </p:sp>
      <p:sp>
        <p:nvSpPr>
          <p:cNvPr id="61" name="Text 59"/>
          <p:cNvSpPr txBox="1"/>
          <p:nvPr/>
        </p:nvSpPr>
        <p:spPr>
          <a:xfrm>
            <a:off x="9090002" y="3378192"/>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Beldagen</a:t>
            </a:r>
            <a:endParaRPr lang="en-US" sz="800" dirty="0"/>
          </a:p>
        </p:txBody>
      </p:sp>
      <p:sp>
        <p:nvSpPr>
          <p:cNvPr id="62" name="Text 60"/>
          <p:cNvSpPr txBox="1"/>
          <p:nvPr/>
        </p:nvSpPr>
        <p:spPr>
          <a:xfrm>
            <a:off x="10591774" y="3378192"/>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8</a:t>
            </a:r>
            <a:endParaRPr lang="en-US" sz="1000" dirty="0"/>
          </a:p>
        </p:txBody>
      </p:sp>
      <p:sp>
        <p:nvSpPr>
          <p:cNvPr id="63" name="Shape 61"/>
          <p:cNvSpPr/>
          <p:nvPr/>
        </p:nvSpPr>
        <p:spPr>
          <a:xfrm>
            <a:off x="9090002" y="3728711"/>
            <a:ext cx="2327269" cy="0"/>
          </a:xfrm>
          <a:prstGeom prst="line">
            <a:avLst/>
          </a:prstGeom>
          <a:noFill/>
          <a:ln w="9525">
            <a:solidFill>
              <a:srgbClr val="D8D2C4"/>
            </a:solidFill>
            <a:prstDash val="solid"/>
          </a:ln>
        </p:spPr>
      </p:sp>
      <p:sp>
        <p:nvSpPr>
          <p:cNvPr id="64" name="Text 62"/>
          <p:cNvSpPr txBox="1"/>
          <p:nvPr/>
        </p:nvSpPr>
        <p:spPr>
          <a:xfrm>
            <a:off x="9090002" y="3728711"/>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Contactpogingen</a:t>
            </a:r>
            <a:endParaRPr lang="en-US" sz="800" dirty="0"/>
          </a:p>
        </p:txBody>
      </p:sp>
      <p:sp>
        <p:nvSpPr>
          <p:cNvPr id="65" name="Text 63"/>
          <p:cNvSpPr txBox="1"/>
          <p:nvPr/>
        </p:nvSpPr>
        <p:spPr>
          <a:xfrm>
            <a:off x="10591774" y="3728711"/>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1.200</a:t>
            </a:r>
            <a:endParaRPr lang="en-US" sz="1000" dirty="0"/>
          </a:p>
        </p:txBody>
      </p:sp>
      <p:sp>
        <p:nvSpPr>
          <p:cNvPr id="66" name="Shape 64"/>
          <p:cNvSpPr/>
          <p:nvPr/>
        </p:nvSpPr>
        <p:spPr>
          <a:xfrm>
            <a:off x="9090002" y="4079230"/>
            <a:ext cx="2327269" cy="0"/>
          </a:xfrm>
          <a:prstGeom prst="line">
            <a:avLst/>
          </a:prstGeom>
          <a:noFill/>
          <a:ln w="9525">
            <a:solidFill>
              <a:srgbClr val="D8D2C4"/>
            </a:solidFill>
            <a:prstDash val="solid"/>
          </a:ln>
        </p:spPr>
      </p:sp>
      <p:sp>
        <p:nvSpPr>
          <p:cNvPr id="67" name="Text 65"/>
          <p:cNvSpPr txBox="1"/>
          <p:nvPr/>
        </p:nvSpPr>
        <p:spPr>
          <a:xfrm>
            <a:off x="9090002" y="4079230"/>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Afspraken</a:t>
            </a:r>
            <a:endParaRPr lang="en-US" sz="800" dirty="0"/>
          </a:p>
        </p:txBody>
      </p:sp>
      <p:sp>
        <p:nvSpPr>
          <p:cNvPr id="68" name="Text 66"/>
          <p:cNvSpPr txBox="1"/>
          <p:nvPr/>
        </p:nvSpPr>
        <p:spPr>
          <a:xfrm>
            <a:off x="10591774" y="4079230"/>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20</a:t>
            </a:r>
            <a:endParaRPr lang="en-US" sz="1000" dirty="0"/>
          </a:p>
        </p:txBody>
      </p:sp>
      <p:sp>
        <p:nvSpPr>
          <p:cNvPr id="69" name="Shape 67"/>
          <p:cNvSpPr/>
          <p:nvPr/>
        </p:nvSpPr>
        <p:spPr>
          <a:xfrm>
            <a:off x="9090002" y="4429749"/>
            <a:ext cx="2327269" cy="0"/>
          </a:xfrm>
          <a:prstGeom prst="line">
            <a:avLst/>
          </a:prstGeom>
          <a:noFill/>
          <a:ln w="9525">
            <a:solidFill>
              <a:srgbClr val="D8D2C4"/>
            </a:solidFill>
            <a:prstDash val="solid"/>
          </a:ln>
        </p:spPr>
      </p:sp>
      <p:sp>
        <p:nvSpPr>
          <p:cNvPr id="70" name="Text 68"/>
          <p:cNvSpPr txBox="1"/>
          <p:nvPr/>
        </p:nvSpPr>
        <p:spPr>
          <a:xfrm>
            <a:off x="9090002" y="4429749"/>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Per beldag</a:t>
            </a:r>
            <a:endParaRPr lang="en-US" sz="800" dirty="0"/>
          </a:p>
        </p:txBody>
      </p:sp>
      <p:sp>
        <p:nvSpPr>
          <p:cNvPr id="71" name="Text 69"/>
          <p:cNvSpPr txBox="1"/>
          <p:nvPr/>
        </p:nvSpPr>
        <p:spPr>
          <a:xfrm>
            <a:off x="10591774" y="4429749"/>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€ 550</a:t>
            </a:r>
            <a:endParaRPr lang="en-US" sz="1000" dirty="0"/>
          </a:p>
        </p:txBody>
      </p:sp>
      <p:sp>
        <p:nvSpPr>
          <p:cNvPr id="72" name="Shape 70"/>
          <p:cNvSpPr/>
          <p:nvPr/>
        </p:nvSpPr>
        <p:spPr>
          <a:xfrm>
            <a:off x="9090002" y="4780268"/>
            <a:ext cx="2327269" cy="0"/>
          </a:xfrm>
          <a:prstGeom prst="line">
            <a:avLst/>
          </a:prstGeom>
          <a:noFill/>
          <a:ln w="9525">
            <a:solidFill>
              <a:srgbClr val="D8D2C4"/>
            </a:solidFill>
            <a:prstDash val="solid"/>
          </a:ln>
        </p:spPr>
      </p:sp>
      <p:sp>
        <p:nvSpPr>
          <p:cNvPr id="73" name="Text 71"/>
          <p:cNvSpPr txBox="1"/>
          <p:nvPr/>
        </p:nvSpPr>
        <p:spPr>
          <a:xfrm>
            <a:off x="9090002" y="4780268"/>
            <a:ext cx="1730371" cy="350519"/>
          </a:xfrm>
          <a:prstGeom prst="rect">
            <a:avLst/>
          </a:prstGeom>
          <a:noFill/>
          <a:ln/>
        </p:spPr>
        <p:txBody>
          <a:bodyPr wrap="square" lIns="0" tIns="0" rIns="0" bIns="0" rtlCol="0" anchor="ctr"/>
          <a:lstStyle/>
          <a:p>
            <a:pPr indent="0" marL="0">
              <a:buNone/>
            </a:pPr>
            <a:r>
              <a:rPr lang="en-US" sz="800" dirty="0">
                <a:solidFill>
                  <a:srgbClr val="6F6A5C"/>
                </a:solidFill>
                <a:latin typeface="Arial" pitchFamily="34" charset="0"/>
                <a:ea typeface="Arial" pitchFamily="34" charset="-122"/>
                <a:cs typeface="Arial" pitchFamily="34" charset="-120"/>
              </a:rPr>
              <a:t>Per werkperiode</a:t>
            </a:r>
            <a:endParaRPr lang="en-US" sz="800" dirty="0"/>
          </a:p>
        </p:txBody>
      </p:sp>
      <p:sp>
        <p:nvSpPr>
          <p:cNvPr id="74" name="Text 72"/>
          <p:cNvSpPr txBox="1"/>
          <p:nvPr/>
        </p:nvSpPr>
        <p:spPr>
          <a:xfrm>
            <a:off x="10591774" y="4780268"/>
            <a:ext cx="825498" cy="350519"/>
          </a:xfrm>
          <a:prstGeom prst="rect">
            <a:avLst/>
          </a:prstGeom>
          <a:noFill/>
          <a:ln/>
        </p:spPr>
        <p:txBody>
          <a:bodyPr wrap="square" lIns="0" tIns="0" rIns="0" bIns="0" rtlCol="0" anchor="ctr"/>
          <a:lstStyle/>
          <a:p>
            <a:pPr algn="r" indent="0" marL="0">
              <a:buNone/>
            </a:pPr>
            <a:r>
              <a:rPr lang="en-US" sz="1000" b="1" dirty="0">
                <a:solidFill>
                  <a:srgbClr val="1C2230"/>
                </a:solidFill>
                <a:latin typeface="Arial" pitchFamily="34" charset="0"/>
                <a:ea typeface="Arial" pitchFamily="34" charset="-122"/>
                <a:cs typeface="Arial" pitchFamily="34" charset="-120"/>
              </a:rPr>
              <a:t>€ 4.400</a:t>
            </a:r>
            <a:endParaRPr lang="en-US" sz="1000" dirty="0"/>
          </a:p>
        </p:txBody>
      </p:sp>
      <p:sp>
        <p:nvSpPr>
          <p:cNvPr id="75" name="Shape 73"/>
          <p:cNvSpPr/>
          <p:nvPr/>
        </p:nvSpPr>
        <p:spPr>
          <a:xfrm>
            <a:off x="609598" y="5854685"/>
            <a:ext cx="76200" cy="76200"/>
          </a:xfrm>
          <a:prstGeom prst="ellipse">
            <a:avLst/>
          </a:prstGeom>
          <a:solidFill>
            <a:srgbClr val="38B6FF"/>
          </a:solidFill>
          <a:ln/>
        </p:spPr>
      </p:sp>
      <p:sp>
        <p:nvSpPr>
          <p:cNvPr id="76" name="Text 74"/>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De dagprijs blijft gelijk aan wat je nu per beldag betaalt. Neem je er meer af, dan zakt die naar 575 of 550 euro per beldag.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11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GROWON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Weinig, want het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draait al</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Scherper profiel</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Een halfuur om de doelgroep verder aan te scherpen op wat in de pilot het beste werkte: draaiende webshop, lopende advertenties en budget.</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Bedrijven die al klant zijn of waar Jaap zelf al in gesprek is.</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Terugkoppeling op afspraken</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Kort laten weten hoe een afspraak verliep, zodat we de kwalificatie blijven bijstellen.</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GrowOn die de afspraken voert. Tot nu toe is dat Jaap zelf.</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12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 Geen nacalculatie achteraf.</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Tien afspraken per werkperiode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Dat is wat we garanderen bij vier beldagen. Alles eromheen laten we zien in de wekelijkse rapportage.</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 gehaald is een gratis beldag</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Maximaal een per werkperiode. Halen we het dan nog niet, dan gaan we om tafel over lijst, script of kwalificatie.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Kwalificatie-eisen samen vastgesteld</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de start van werkperiode 4 leggen we samen vast wanneer een afspraak meetelt.</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Op- en afschalen</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Per werkperiode bepalen jullie het aantal beldagen, vanaf vier.</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Succesfee van 5 procent</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Ongewijzigd ten opzichte van nu. Over het eerste jaar omzet uit een klant die uit onze afspraken komt.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Maand opzegtermijn</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Geen jaarcontract en geen opstartkosten meer.</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GrowOn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13 / 13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het ritme? Dan loopt het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gewoon door</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Jaap geeft akkoord op het aantal beldagen per werkperiode.</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Vastleggen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een korte aanvulling op de samenwerkingsovereenkomst.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Doorbellen</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Werkperiode 4 start aansluitend, zonder onderbreking.</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GrowOn Agency</dc:title>
  <dc:subject>PptxGenJS Presentation</dc:subject>
  <dc:creator>LINK.</dc:creator>
  <cp:lastModifiedBy>LINK.</cp:lastModifiedBy>
  <cp:revision>1</cp:revision>
  <dcterms:created xsi:type="dcterms:W3CDTF">2026-10-11T17:46:55Z</dcterms:created>
  <dcterms:modified xsi:type="dcterms:W3CDTF">2026-10-11T17:46:55Z</dcterms:modified>
</cp:coreProperties>
</file>