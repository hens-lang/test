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prijs per beldag. Wat erbij komt: twee afspraken meer per periode, vaste aantallen op papier en een gratis beldag als we die niet halen.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kick-off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tenzij de afspraken er eerder staan. Onze bellers draaien vijfentwintig pogingen per uur.</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Daar gaan we voor. De ene dag twee, de andere vier. In jullie pilot kwam het op 3 per beldag uit.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Halen we de tien afspraken in een werkperiode niet, dan bellen we een extra dag die niet op de rekening komt. Een mindere periode kost jullie dus niets extra.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afspraken per periode</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Twee meer dan je nu krijgt, voor dezelfde prijs per beldag. Dat is het getal waar je ons aan mag houden.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de tien niet, dan bellen we een dag extra op onze kosten. Het risico van een mindere periode ligt bij ons.</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van 5 procent</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Ongewijzigd ten opzichte van nu. Wij verdienen pas echt als een afspraak klant wordt, dus sturen we op kwaliteit en niet op aantallen.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556481" y="5276837"/>
            <a:ext cx="127000" cy="127000"/>
          </a:xfrm>
          <a:prstGeom prst="rect">
            <a:avLst/>
          </a:prstGeom>
        </p:spPr>
      </p:pic>
      <p:sp>
        <p:nvSpPr>
          <p:cNvPr id="35" name="Text 31"/>
          <p:cNvSpPr txBox="1"/>
          <p:nvPr/>
        </p:nvSpPr>
        <p:spPr>
          <a:xfrm>
            <a:off x="7759681" y="5245087"/>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556481" y="5530836"/>
            <a:ext cx="127000" cy="127000"/>
          </a:xfrm>
          <a:prstGeom prst="rect">
            <a:avLst/>
          </a:prstGeom>
        </p:spPr>
      </p:pic>
      <p:sp>
        <p:nvSpPr>
          <p:cNvPr id="39" name="Text 33"/>
          <p:cNvSpPr txBox="1"/>
          <p:nvPr/>
        </p:nvSpPr>
        <p:spPr>
          <a:xfrm>
            <a:off x="7759681" y="5499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Maximaal één gratis inhaaldag</a:t>
            </a:r>
            <a:endParaRPr lang="en-US" sz="900" dirty="0"/>
          </a:p>
        </p:txBody>
      </p:sp>
      <p:pic>
        <p:nvPicPr>
          <p:cNvPr id="42" name="Image 5" descr="preencoded.png">    </p:cNvPr>
          <p:cNvPicPr>
            <a:picLocks noChangeAspect="1"/>
          </p:cNvPicPr>
          <p:nvPr/>
        </p:nvPicPr>
        <p:blipFill>
          <a:blip r:embed="rId6"/>
          <a:stretch>
            <a:fillRect/>
          </a:stretch>
        </p:blipFill>
        <p:spPr>
          <a:xfrm>
            <a:off x="7556481" y="5784836"/>
            <a:ext cx="127000" cy="127000"/>
          </a:xfrm>
          <a:prstGeom prst="rect">
            <a:avLst/>
          </a:prstGeom>
        </p:spPr>
      </p:pic>
      <p:sp>
        <p:nvSpPr>
          <p:cNvPr id="43" name="Text 35"/>
          <p:cNvSpPr txBox="1"/>
          <p:nvPr/>
        </p:nvSpPr>
        <p:spPr>
          <a:xfrm>
            <a:off x="7759681" y="5753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Meer afspraken,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dezelfde dagprijs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2657468" cy="2768593"/>
          </a:xfrm>
          <a:prstGeom prst="roundRect">
            <a:avLst>
              <a:gd name="adj" fmla="val 3823"/>
            </a:avLst>
          </a:prstGeom>
          <a:solidFill>
            <a:srgbClr val="F8F4EB"/>
          </a:solidFill>
          <a:ln/>
        </p:spPr>
      </p:sp>
      <p:sp>
        <p:nvSpPr>
          <p:cNvPr id="8" name="Text 6"/>
          <p:cNvSpPr txBox="1"/>
          <p:nvPr/>
        </p:nvSpPr>
        <p:spPr>
          <a:xfrm>
            <a:off x="774698"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774698"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Zoals het nu loopt</a:t>
            </a:r>
            <a:endParaRPr lang="en-US" sz="1050" dirty="0"/>
          </a:p>
        </p:txBody>
      </p:sp>
      <p:sp>
        <p:nvSpPr>
          <p:cNvPr id="10" name="Text 8"/>
          <p:cNvSpPr txBox="1"/>
          <p:nvPr/>
        </p:nvSpPr>
        <p:spPr>
          <a:xfrm>
            <a:off x="774698"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2276469"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2,7</a:t>
            </a:r>
            <a:endParaRPr lang="en-US" sz="1000" dirty="0"/>
          </a:p>
        </p:txBody>
      </p:sp>
      <p:sp>
        <p:nvSpPr>
          <p:cNvPr id="12" name="Shape 10"/>
          <p:cNvSpPr/>
          <p:nvPr/>
        </p:nvSpPr>
        <p:spPr>
          <a:xfrm>
            <a:off x="774698" y="3728711"/>
            <a:ext cx="2327269" cy="0"/>
          </a:xfrm>
          <a:prstGeom prst="line">
            <a:avLst/>
          </a:prstGeom>
          <a:noFill/>
          <a:ln w="9525">
            <a:solidFill>
              <a:srgbClr val="D8D2C4"/>
            </a:solidFill>
            <a:prstDash val="solid"/>
          </a:ln>
        </p:spPr>
      </p:sp>
      <p:sp>
        <p:nvSpPr>
          <p:cNvPr id="13" name="Text 11"/>
          <p:cNvSpPr txBox="1"/>
          <p:nvPr/>
        </p:nvSpPr>
        <p:spPr>
          <a:xfrm>
            <a:off x="774698"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14" name="Text 12"/>
          <p:cNvSpPr txBox="1"/>
          <p:nvPr/>
        </p:nvSpPr>
        <p:spPr>
          <a:xfrm>
            <a:off x="2276469"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400</a:t>
            </a:r>
            <a:endParaRPr lang="en-US" sz="1000" dirty="0"/>
          </a:p>
        </p:txBody>
      </p:sp>
      <p:sp>
        <p:nvSpPr>
          <p:cNvPr id="15" name="Shape 13"/>
          <p:cNvSpPr/>
          <p:nvPr/>
        </p:nvSpPr>
        <p:spPr>
          <a:xfrm>
            <a:off x="774698" y="4079230"/>
            <a:ext cx="2327269" cy="0"/>
          </a:xfrm>
          <a:prstGeom prst="line">
            <a:avLst/>
          </a:prstGeom>
          <a:noFill/>
          <a:ln w="9525">
            <a:solidFill>
              <a:srgbClr val="D8D2C4"/>
            </a:solidFill>
            <a:prstDash val="solid"/>
          </a:ln>
        </p:spPr>
      </p:sp>
      <p:sp>
        <p:nvSpPr>
          <p:cNvPr id="16" name="Text 14"/>
          <p:cNvSpPr txBox="1"/>
          <p:nvPr/>
        </p:nvSpPr>
        <p:spPr>
          <a:xfrm>
            <a:off x="774698"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17" name="Text 15"/>
          <p:cNvSpPr txBox="1"/>
          <p:nvPr/>
        </p:nvSpPr>
        <p:spPr>
          <a:xfrm>
            <a:off x="2276469"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8</a:t>
            </a:r>
            <a:endParaRPr lang="en-US" sz="1000" dirty="0"/>
          </a:p>
        </p:txBody>
      </p:sp>
      <p:sp>
        <p:nvSpPr>
          <p:cNvPr id="18" name="Shape 16"/>
          <p:cNvSpPr/>
          <p:nvPr/>
        </p:nvSpPr>
        <p:spPr>
          <a:xfrm>
            <a:off x="774698" y="4429749"/>
            <a:ext cx="2327269" cy="0"/>
          </a:xfrm>
          <a:prstGeom prst="line">
            <a:avLst/>
          </a:prstGeom>
          <a:noFill/>
          <a:ln w="9525">
            <a:solidFill>
              <a:srgbClr val="D8D2C4"/>
            </a:solidFill>
            <a:prstDash val="solid"/>
          </a:ln>
        </p:spPr>
      </p:sp>
      <p:sp>
        <p:nvSpPr>
          <p:cNvPr id="19" name="Text 17"/>
          <p:cNvSpPr txBox="1"/>
          <p:nvPr/>
        </p:nvSpPr>
        <p:spPr>
          <a:xfrm>
            <a:off x="774698"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20" name="Text 18"/>
          <p:cNvSpPr txBox="1"/>
          <p:nvPr/>
        </p:nvSpPr>
        <p:spPr>
          <a:xfrm>
            <a:off x="2276469"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€ 593</a:t>
            </a:r>
            <a:endParaRPr lang="en-US" sz="1000" dirty="0"/>
          </a:p>
        </p:txBody>
      </p:sp>
      <p:sp>
        <p:nvSpPr>
          <p:cNvPr id="21" name="Shape 19"/>
          <p:cNvSpPr/>
          <p:nvPr/>
        </p:nvSpPr>
        <p:spPr>
          <a:xfrm>
            <a:off x="774698" y="4780268"/>
            <a:ext cx="2327269" cy="0"/>
          </a:xfrm>
          <a:prstGeom prst="line">
            <a:avLst/>
          </a:prstGeom>
          <a:noFill/>
          <a:ln w="9525">
            <a:solidFill>
              <a:srgbClr val="D8D2C4"/>
            </a:solidFill>
            <a:prstDash val="solid"/>
          </a:ln>
        </p:spPr>
      </p:sp>
      <p:sp>
        <p:nvSpPr>
          <p:cNvPr id="22" name="Text 20"/>
          <p:cNvSpPr txBox="1"/>
          <p:nvPr/>
        </p:nvSpPr>
        <p:spPr>
          <a:xfrm>
            <a:off x="774698"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23" name="Text 21"/>
          <p:cNvSpPr txBox="1"/>
          <p:nvPr/>
        </p:nvSpPr>
        <p:spPr>
          <a:xfrm>
            <a:off x="2276469"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€ 1.600</a:t>
            </a:r>
            <a:endParaRPr lang="en-US" sz="1000" dirty="0"/>
          </a:p>
        </p:txBody>
      </p:sp>
      <p:sp>
        <p:nvSpPr>
          <p:cNvPr id="24" name="Shape 22"/>
          <p:cNvSpPr/>
          <p:nvPr/>
        </p:nvSpPr>
        <p:spPr>
          <a:xfrm>
            <a:off x="3381367" y="2489194"/>
            <a:ext cx="2657468" cy="2768593"/>
          </a:xfrm>
          <a:prstGeom prst="roundRect">
            <a:avLst>
              <a:gd name="adj" fmla="val 3823"/>
            </a:avLst>
          </a:prstGeom>
          <a:solidFill>
            <a:srgbClr val="000000"/>
          </a:solidFill>
          <a:ln/>
        </p:spPr>
      </p:sp>
      <p:sp>
        <p:nvSpPr>
          <p:cNvPr id="25" name="Text 23"/>
          <p:cNvSpPr txBox="1"/>
          <p:nvPr/>
        </p:nvSpPr>
        <p:spPr>
          <a:xfrm>
            <a:off x="3546466" y="2743193"/>
            <a:ext cx="2327269"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3546466"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F2EFE6"/>
                </a:solidFill>
                <a:latin typeface="Arial" pitchFamily="34" charset="0"/>
                <a:ea typeface="Arial" pitchFamily="34" charset="-122"/>
                <a:cs typeface="Arial" pitchFamily="34" charset="-120"/>
              </a:rPr>
              <a:t>Vier beldagen</a:t>
            </a:r>
            <a:endParaRPr lang="en-US" sz="1050" dirty="0"/>
          </a:p>
        </p:txBody>
      </p:sp>
      <p:sp>
        <p:nvSpPr>
          <p:cNvPr id="27" name="Text 25"/>
          <p:cNvSpPr txBox="1"/>
          <p:nvPr/>
        </p:nvSpPr>
        <p:spPr>
          <a:xfrm>
            <a:off x="3546466" y="3378192"/>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Beldagen</a:t>
            </a:r>
            <a:endParaRPr lang="en-US" sz="800" dirty="0"/>
          </a:p>
        </p:txBody>
      </p:sp>
      <p:sp>
        <p:nvSpPr>
          <p:cNvPr id="28" name="Text 26"/>
          <p:cNvSpPr txBox="1"/>
          <p:nvPr/>
        </p:nvSpPr>
        <p:spPr>
          <a:xfrm>
            <a:off x="5048237" y="3378192"/>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9" name="Shape 27"/>
          <p:cNvSpPr/>
          <p:nvPr/>
        </p:nvSpPr>
        <p:spPr>
          <a:xfrm>
            <a:off x="3546466" y="3728711"/>
            <a:ext cx="2327269" cy="0"/>
          </a:xfrm>
          <a:prstGeom prst="line">
            <a:avLst/>
          </a:prstGeom>
          <a:noFill/>
          <a:ln w="9525">
            <a:solidFill>
              <a:srgbClr val="3A4152"/>
            </a:solidFill>
            <a:prstDash val="solid"/>
          </a:ln>
        </p:spPr>
      </p:sp>
      <p:sp>
        <p:nvSpPr>
          <p:cNvPr id="30" name="Text 28"/>
          <p:cNvSpPr txBox="1"/>
          <p:nvPr/>
        </p:nvSpPr>
        <p:spPr>
          <a:xfrm>
            <a:off x="3546466" y="3728711"/>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Contactpogingen</a:t>
            </a:r>
            <a:endParaRPr lang="en-US" sz="800" dirty="0"/>
          </a:p>
        </p:txBody>
      </p:sp>
      <p:sp>
        <p:nvSpPr>
          <p:cNvPr id="31" name="Text 29"/>
          <p:cNvSpPr txBox="1"/>
          <p:nvPr/>
        </p:nvSpPr>
        <p:spPr>
          <a:xfrm>
            <a:off x="5048237" y="3728711"/>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600</a:t>
            </a:r>
            <a:endParaRPr lang="en-US" sz="1000" dirty="0"/>
          </a:p>
        </p:txBody>
      </p:sp>
      <p:sp>
        <p:nvSpPr>
          <p:cNvPr id="32" name="Shape 30"/>
          <p:cNvSpPr/>
          <p:nvPr/>
        </p:nvSpPr>
        <p:spPr>
          <a:xfrm>
            <a:off x="3546466" y="4079230"/>
            <a:ext cx="2327269" cy="0"/>
          </a:xfrm>
          <a:prstGeom prst="line">
            <a:avLst/>
          </a:prstGeom>
          <a:noFill/>
          <a:ln w="9525">
            <a:solidFill>
              <a:srgbClr val="3A4152"/>
            </a:solidFill>
            <a:prstDash val="solid"/>
          </a:ln>
        </p:spPr>
      </p:sp>
      <p:sp>
        <p:nvSpPr>
          <p:cNvPr id="33" name="Text 31"/>
          <p:cNvSpPr txBox="1"/>
          <p:nvPr/>
        </p:nvSpPr>
        <p:spPr>
          <a:xfrm>
            <a:off x="3546466" y="4079230"/>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Afspraken</a:t>
            </a:r>
            <a:endParaRPr lang="en-US" sz="800" dirty="0"/>
          </a:p>
        </p:txBody>
      </p:sp>
      <p:sp>
        <p:nvSpPr>
          <p:cNvPr id="34" name="Text 32"/>
          <p:cNvSpPr txBox="1"/>
          <p:nvPr/>
        </p:nvSpPr>
        <p:spPr>
          <a:xfrm>
            <a:off x="5048237" y="4079230"/>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10</a:t>
            </a:r>
            <a:endParaRPr lang="en-US" sz="1000" dirty="0"/>
          </a:p>
        </p:txBody>
      </p:sp>
      <p:sp>
        <p:nvSpPr>
          <p:cNvPr id="35" name="Shape 33"/>
          <p:cNvSpPr/>
          <p:nvPr/>
        </p:nvSpPr>
        <p:spPr>
          <a:xfrm>
            <a:off x="3546466" y="4429749"/>
            <a:ext cx="2327269" cy="0"/>
          </a:xfrm>
          <a:prstGeom prst="line">
            <a:avLst/>
          </a:prstGeom>
          <a:noFill/>
          <a:ln w="9525">
            <a:solidFill>
              <a:srgbClr val="3A4152"/>
            </a:solidFill>
            <a:prstDash val="solid"/>
          </a:ln>
        </p:spPr>
      </p:sp>
      <p:sp>
        <p:nvSpPr>
          <p:cNvPr id="36" name="Text 34"/>
          <p:cNvSpPr txBox="1"/>
          <p:nvPr/>
        </p:nvSpPr>
        <p:spPr>
          <a:xfrm>
            <a:off x="3546466" y="4429749"/>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beldag</a:t>
            </a:r>
            <a:endParaRPr lang="en-US" sz="800" dirty="0"/>
          </a:p>
        </p:txBody>
      </p:sp>
      <p:sp>
        <p:nvSpPr>
          <p:cNvPr id="37" name="Text 35"/>
          <p:cNvSpPr txBox="1"/>
          <p:nvPr/>
        </p:nvSpPr>
        <p:spPr>
          <a:xfrm>
            <a:off x="5048237" y="4429749"/>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€ 600</a:t>
            </a:r>
            <a:endParaRPr lang="en-US" sz="1000" dirty="0"/>
          </a:p>
        </p:txBody>
      </p:sp>
      <p:sp>
        <p:nvSpPr>
          <p:cNvPr id="38" name="Shape 36"/>
          <p:cNvSpPr/>
          <p:nvPr/>
        </p:nvSpPr>
        <p:spPr>
          <a:xfrm>
            <a:off x="3546466" y="4780268"/>
            <a:ext cx="2327269" cy="0"/>
          </a:xfrm>
          <a:prstGeom prst="line">
            <a:avLst/>
          </a:prstGeom>
          <a:noFill/>
          <a:ln w="9525">
            <a:solidFill>
              <a:srgbClr val="3A4152"/>
            </a:solidFill>
            <a:prstDash val="solid"/>
          </a:ln>
        </p:spPr>
      </p:sp>
      <p:sp>
        <p:nvSpPr>
          <p:cNvPr id="39" name="Text 37"/>
          <p:cNvSpPr txBox="1"/>
          <p:nvPr/>
        </p:nvSpPr>
        <p:spPr>
          <a:xfrm>
            <a:off x="3546466" y="4780268"/>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werkperiode</a:t>
            </a:r>
            <a:endParaRPr lang="en-US" sz="800" dirty="0"/>
          </a:p>
        </p:txBody>
      </p:sp>
      <p:sp>
        <p:nvSpPr>
          <p:cNvPr id="40" name="Text 38"/>
          <p:cNvSpPr txBox="1"/>
          <p:nvPr/>
        </p:nvSpPr>
        <p:spPr>
          <a:xfrm>
            <a:off x="5048237" y="4780268"/>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€ 2.400</a:t>
            </a:r>
            <a:endParaRPr lang="en-US" sz="1000" dirty="0"/>
          </a:p>
        </p:txBody>
      </p:sp>
      <p:sp>
        <p:nvSpPr>
          <p:cNvPr id="41" name="Shape 39"/>
          <p:cNvSpPr/>
          <p:nvPr/>
        </p:nvSpPr>
        <p:spPr>
          <a:xfrm>
            <a:off x="6153135" y="2489194"/>
            <a:ext cx="2657468" cy="2768593"/>
          </a:xfrm>
          <a:prstGeom prst="roundRect">
            <a:avLst>
              <a:gd name="adj" fmla="val 3823"/>
            </a:avLst>
          </a:prstGeom>
          <a:solidFill>
            <a:srgbClr val="F8F4EB"/>
          </a:solidFill>
          <a:ln/>
        </p:spPr>
      </p:sp>
      <p:sp>
        <p:nvSpPr>
          <p:cNvPr id="42" name="Text 40"/>
          <p:cNvSpPr txBox="1"/>
          <p:nvPr/>
        </p:nvSpPr>
        <p:spPr>
          <a:xfrm>
            <a:off x="6318234"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6318234"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Zes beldagen</a:t>
            </a:r>
            <a:endParaRPr lang="en-US" sz="1050" dirty="0"/>
          </a:p>
        </p:txBody>
      </p:sp>
      <p:sp>
        <p:nvSpPr>
          <p:cNvPr id="44" name="Text 42"/>
          <p:cNvSpPr txBox="1"/>
          <p:nvPr/>
        </p:nvSpPr>
        <p:spPr>
          <a:xfrm>
            <a:off x="6318234"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45" name="Text 43"/>
          <p:cNvSpPr txBox="1"/>
          <p:nvPr/>
        </p:nvSpPr>
        <p:spPr>
          <a:xfrm>
            <a:off x="7820005"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6</a:t>
            </a:r>
            <a:endParaRPr lang="en-US" sz="1000" dirty="0"/>
          </a:p>
        </p:txBody>
      </p:sp>
      <p:sp>
        <p:nvSpPr>
          <p:cNvPr id="46" name="Shape 44"/>
          <p:cNvSpPr/>
          <p:nvPr/>
        </p:nvSpPr>
        <p:spPr>
          <a:xfrm>
            <a:off x="6318234" y="3728711"/>
            <a:ext cx="2327269" cy="0"/>
          </a:xfrm>
          <a:prstGeom prst="line">
            <a:avLst/>
          </a:prstGeom>
          <a:noFill/>
          <a:ln w="9525">
            <a:solidFill>
              <a:srgbClr val="D8D2C4"/>
            </a:solidFill>
            <a:prstDash val="solid"/>
          </a:ln>
        </p:spPr>
      </p:sp>
      <p:sp>
        <p:nvSpPr>
          <p:cNvPr id="47" name="Text 45"/>
          <p:cNvSpPr txBox="1"/>
          <p:nvPr/>
        </p:nvSpPr>
        <p:spPr>
          <a:xfrm>
            <a:off x="6318234"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48" name="Text 46"/>
          <p:cNvSpPr txBox="1"/>
          <p:nvPr/>
        </p:nvSpPr>
        <p:spPr>
          <a:xfrm>
            <a:off x="7820005"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900</a:t>
            </a:r>
            <a:endParaRPr lang="en-US" sz="1000" dirty="0"/>
          </a:p>
        </p:txBody>
      </p:sp>
      <p:sp>
        <p:nvSpPr>
          <p:cNvPr id="49" name="Shape 47"/>
          <p:cNvSpPr/>
          <p:nvPr/>
        </p:nvSpPr>
        <p:spPr>
          <a:xfrm>
            <a:off x="6318234" y="4079230"/>
            <a:ext cx="2327269" cy="0"/>
          </a:xfrm>
          <a:prstGeom prst="line">
            <a:avLst/>
          </a:prstGeom>
          <a:noFill/>
          <a:ln w="9525">
            <a:solidFill>
              <a:srgbClr val="D8D2C4"/>
            </a:solidFill>
            <a:prstDash val="solid"/>
          </a:ln>
        </p:spPr>
      </p:sp>
      <p:sp>
        <p:nvSpPr>
          <p:cNvPr id="50" name="Text 48"/>
          <p:cNvSpPr txBox="1"/>
          <p:nvPr/>
        </p:nvSpPr>
        <p:spPr>
          <a:xfrm>
            <a:off x="6318234"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51" name="Text 49"/>
          <p:cNvSpPr txBox="1"/>
          <p:nvPr/>
        </p:nvSpPr>
        <p:spPr>
          <a:xfrm>
            <a:off x="7820005"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15</a:t>
            </a:r>
            <a:endParaRPr lang="en-US" sz="1000" dirty="0"/>
          </a:p>
        </p:txBody>
      </p:sp>
      <p:sp>
        <p:nvSpPr>
          <p:cNvPr id="52" name="Shape 50"/>
          <p:cNvSpPr/>
          <p:nvPr/>
        </p:nvSpPr>
        <p:spPr>
          <a:xfrm>
            <a:off x="6318234" y="4429749"/>
            <a:ext cx="2327269" cy="0"/>
          </a:xfrm>
          <a:prstGeom prst="line">
            <a:avLst/>
          </a:prstGeom>
          <a:noFill/>
          <a:ln w="9525">
            <a:solidFill>
              <a:srgbClr val="D8D2C4"/>
            </a:solidFill>
            <a:prstDash val="solid"/>
          </a:ln>
        </p:spPr>
      </p:sp>
      <p:sp>
        <p:nvSpPr>
          <p:cNvPr id="53" name="Text 51"/>
          <p:cNvSpPr txBox="1"/>
          <p:nvPr/>
        </p:nvSpPr>
        <p:spPr>
          <a:xfrm>
            <a:off x="6318234"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54" name="Text 52"/>
          <p:cNvSpPr txBox="1"/>
          <p:nvPr/>
        </p:nvSpPr>
        <p:spPr>
          <a:xfrm>
            <a:off x="7820005"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€ 575</a:t>
            </a:r>
            <a:endParaRPr lang="en-US" sz="1000" dirty="0"/>
          </a:p>
        </p:txBody>
      </p:sp>
      <p:sp>
        <p:nvSpPr>
          <p:cNvPr id="55" name="Shape 53"/>
          <p:cNvSpPr/>
          <p:nvPr/>
        </p:nvSpPr>
        <p:spPr>
          <a:xfrm>
            <a:off x="6318234" y="4780268"/>
            <a:ext cx="2327269" cy="0"/>
          </a:xfrm>
          <a:prstGeom prst="line">
            <a:avLst/>
          </a:prstGeom>
          <a:noFill/>
          <a:ln w="9525">
            <a:solidFill>
              <a:srgbClr val="D8D2C4"/>
            </a:solidFill>
            <a:prstDash val="solid"/>
          </a:ln>
        </p:spPr>
      </p:sp>
      <p:sp>
        <p:nvSpPr>
          <p:cNvPr id="56" name="Text 54"/>
          <p:cNvSpPr txBox="1"/>
          <p:nvPr/>
        </p:nvSpPr>
        <p:spPr>
          <a:xfrm>
            <a:off x="6318234"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57" name="Text 55"/>
          <p:cNvSpPr txBox="1"/>
          <p:nvPr/>
        </p:nvSpPr>
        <p:spPr>
          <a:xfrm>
            <a:off x="7820005"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€ 3.450</a:t>
            </a:r>
            <a:endParaRPr lang="en-US" sz="1000" dirty="0"/>
          </a:p>
        </p:txBody>
      </p:sp>
      <p:sp>
        <p:nvSpPr>
          <p:cNvPr id="58" name="Shape 56"/>
          <p:cNvSpPr/>
          <p:nvPr/>
        </p:nvSpPr>
        <p:spPr>
          <a:xfrm>
            <a:off x="8924903" y="2489194"/>
            <a:ext cx="2657468" cy="2768593"/>
          </a:xfrm>
          <a:prstGeom prst="roundRect">
            <a:avLst>
              <a:gd name="adj" fmla="val 3823"/>
            </a:avLst>
          </a:prstGeom>
          <a:solidFill>
            <a:srgbClr val="F8F4EB"/>
          </a:solidFill>
          <a:ln/>
        </p:spPr>
      </p:sp>
      <p:sp>
        <p:nvSpPr>
          <p:cNvPr id="59" name="Text 57"/>
          <p:cNvSpPr txBox="1"/>
          <p:nvPr/>
        </p:nvSpPr>
        <p:spPr>
          <a:xfrm>
            <a:off x="9090002"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60" name="Text 58"/>
          <p:cNvSpPr txBox="1"/>
          <p:nvPr/>
        </p:nvSpPr>
        <p:spPr>
          <a:xfrm>
            <a:off x="9090002"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Acht beldagen</a:t>
            </a:r>
            <a:endParaRPr lang="en-US" sz="1050" dirty="0"/>
          </a:p>
        </p:txBody>
      </p:sp>
      <p:sp>
        <p:nvSpPr>
          <p:cNvPr id="61" name="Text 59"/>
          <p:cNvSpPr txBox="1"/>
          <p:nvPr/>
        </p:nvSpPr>
        <p:spPr>
          <a:xfrm>
            <a:off x="9090002"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62" name="Text 60"/>
          <p:cNvSpPr txBox="1"/>
          <p:nvPr/>
        </p:nvSpPr>
        <p:spPr>
          <a:xfrm>
            <a:off x="10591774"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8</a:t>
            </a:r>
            <a:endParaRPr lang="en-US" sz="1000" dirty="0"/>
          </a:p>
        </p:txBody>
      </p:sp>
      <p:sp>
        <p:nvSpPr>
          <p:cNvPr id="63" name="Shape 61"/>
          <p:cNvSpPr/>
          <p:nvPr/>
        </p:nvSpPr>
        <p:spPr>
          <a:xfrm>
            <a:off x="9090002" y="3728711"/>
            <a:ext cx="2327269" cy="0"/>
          </a:xfrm>
          <a:prstGeom prst="line">
            <a:avLst/>
          </a:prstGeom>
          <a:noFill/>
          <a:ln w="9525">
            <a:solidFill>
              <a:srgbClr val="D8D2C4"/>
            </a:solidFill>
            <a:prstDash val="solid"/>
          </a:ln>
        </p:spPr>
      </p:sp>
      <p:sp>
        <p:nvSpPr>
          <p:cNvPr id="64" name="Text 62"/>
          <p:cNvSpPr txBox="1"/>
          <p:nvPr/>
        </p:nvSpPr>
        <p:spPr>
          <a:xfrm>
            <a:off x="9090002"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65" name="Text 63"/>
          <p:cNvSpPr txBox="1"/>
          <p:nvPr/>
        </p:nvSpPr>
        <p:spPr>
          <a:xfrm>
            <a:off x="10591774"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1.200</a:t>
            </a:r>
            <a:endParaRPr lang="en-US" sz="1000" dirty="0"/>
          </a:p>
        </p:txBody>
      </p:sp>
      <p:sp>
        <p:nvSpPr>
          <p:cNvPr id="66" name="Shape 64"/>
          <p:cNvSpPr/>
          <p:nvPr/>
        </p:nvSpPr>
        <p:spPr>
          <a:xfrm>
            <a:off x="9090002" y="4079230"/>
            <a:ext cx="2327269" cy="0"/>
          </a:xfrm>
          <a:prstGeom prst="line">
            <a:avLst/>
          </a:prstGeom>
          <a:noFill/>
          <a:ln w="9525">
            <a:solidFill>
              <a:srgbClr val="D8D2C4"/>
            </a:solidFill>
            <a:prstDash val="solid"/>
          </a:ln>
        </p:spPr>
      </p:sp>
      <p:sp>
        <p:nvSpPr>
          <p:cNvPr id="67" name="Text 65"/>
          <p:cNvSpPr txBox="1"/>
          <p:nvPr/>
        </p:nvSpPr>
        <p:spPr>
          <a:xfrm>
            <a:off x="9090002"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68" name="Text 66"/>
          <p:cNvSpPr txBox="1"/>
          <p:nvPr/>
        </p:nvSpPr>
        <p:spPr>
          <a:xfrm>
            <a:off x="10591774"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20</a:t>
            </a:r>
            <a:endParaRPr lang="en-US" sz="1000" dirty="0"/>
          </a:p>
        </p:txBody>
      </p:sp>
      <p:sp>
        <p:nvSpPr>
          <p:cNvPr id="69" name="Shape 67"/>
          <p:cNvSpPr/>
          <p:nvPr/>
        </p:nvSpPr>
        <p:spPr>
          <a:xfrm>
            <a:off x="9090002" y="4429749"/>
            <a:ext cx="2327269" cy="0"/>
          </a:xfrm>
          <a:prstGeom prst="line">
            <a:avLst/>
          </a:prstGeom>
          <a:noFill/>
          <a:ln w="9525">
            <a:solidFill>
              <a:srgbClr val="D8D2C4"/>
            </a:solidFill>
            <a:prstDash val="solid"/>
          </a:ln>
        </p:spPr>
      </p:sp>
      <p:sp>
        <p:nvSpPr>
          <p:cNvPr id="70" name="Text 68"/>
          <p:cNvSpPr txBox="1"/>
          <p:nvPr/>
        </p:nvSpPr>
        <p:spPr>
          <a:xfrm>
            <a:off x="9090002"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71" name="Text 69"/>
          <p:cNvSpPr txBox="1"/>
          <p:nvPr/>
        </p:nvSpPr>
        <p:spPr>
          <a:xfrm>
            <a:off x="10591774"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€ 550</a:t>
            </a:r>
            <a:endParaRPr lang="en-US" sz="1000" dirty="0"/>
          </a:p>
        </p:txBody>
      </p:sp>
      <p:sp>
        <p:nvSpPr>
          <p:cNvPr id="72" name="Shape 70"/>
          <p:cNvSpPr/>
          <p:nvPr/>
        </p:nvSpPr>
        <p:spPr>
          <a:xfrm>
            <a:off x="9090002" y="4780268"/>
            <a:ext cx="2327269" cy="0"/>
          </a:xfrm>
          <a:prstGeom prst="line">
            <a:avLst/>
          </a:prstGeom>
          <a:noFill/>
          <a:ln w="9525">
            <a:solidFill>
              <a:srgbClr val="D8D2C4"/>
            </a:solidFill>
            <a:prstDash val="solid"/>
          </a:ln>
        </p:spPr>
      </p:sp>
      <p:sp>
        <p:nvSpPr>
          <p:cNvPr id="73" name="Text 71"/>
          <p:cNvSpPr txBox="1"/>
          <p:nvPr/>
        </p:nvSpPr>
        <p:spPr>
          <a:xfrm>
            <a:off x="9090002"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74" name="Text 72"/>
          <p:cNvSpPr txBox="1"/>
          <p:nvPr/>
        </p:nvSpPr>
        <p:spPr>
          <a:xfrm>
            <a:off x="10591774"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€ 4.400</a:t>
            </a:r>
            <a:endParaRPr lang="en-US" sz="1000" dirty="0"/>
          </a:p>
        </p:txBody>
      </p:sp>
      <p:sp>
        <p:nvSpPr>
          <p:cNvPr id="75" name="Shape 73"/>
          <p:cNvSpPr/>
          <p:nvPr/>
        </p:nvSpPr>
        <p:spPr>
          <a:xfrm>
            <a:off x="609598" y="5854685"/>
            <a:ext cx="76200" cy="76200"/>
          </a:xfrm>
          <a:prstGeom prst="ellipse">
            <a:avLst/>
          </a:prstGeom>
          <a:solidFill>
            <a:srgbClr val="38B6FF"/>
          </a:solidFill>
          <a:ln/>
        </p:spPr>
      </p:sp>
      <p:sp>
        <p:nvSpPr>
          <p:cNvPr id="76" name="Text 7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per beldag wat je nu al betaalt. Wat erbij komt: twee afspraken meer, vaste aantallen op papier en een gratis beldag als we ze niet halen.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 per werkperiode</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Halen we ze niet, dan krijg je een extra beldag van ons.</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 meer</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inrichting staat. Die fee is eenmalig geweest.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Jullie zitten nergens aan vast.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2026-10-12T13:29:05Z</dcterms:created>
  <dcterms:modified xsi:type="dcterms:W3CDTF">2026-10-12T13:29:05Z</dcterms:modified>
</cp:coreProperties>
</file>