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14</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JAAP · GROWON AGENCY · EVALUATIE 16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pilot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Twaalf weken bellen zit erop. In deze presentatie staat wat het heeft opgeleverd, wat we onderweg hebben geleerd en hoe we het vanaf november willen inrichten.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GrowOn Agency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van een fairchain koffieleverancier tot een AI-consultancy.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retailers en webshops met een draaiende shop, lopende advertenties en budget. Die filtering hebben we onderweg flink aangescherpt.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Lijst klaarzetten</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zetten de lijst voor de periode klaar, gefilterd op draaiende webshop en lopende advertenties, met de terugbelafspraken uit de vorige periode bovenaan.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op de dagen en dagdelen die in onze data het beste werken. In retail zijn dat maandag en dinsdag, vrijdag juist niet.</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het rapport dat je nu ook krijgt: pogingen, gesproken bedrijven, warme uitkomsten, afspraken en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Na elke periode kijken we samen naar de cijfers en bepalen we het aantal beldagen voor de volgende.</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een draaiende webshop of winkel met advertentiebudget, precies het profiel waar de afspraken tot nu toe uit kwamen.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Er is een concrete aanleiding: ontevreden over het huidige bureau, een contract dat afloopt, of advertenties die stilliggen terwijl het budget er wel is.</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de eigenaar of de marketingverantwoordelijke. In retail is dat vaak dezelfde persoon.</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Ontevredenheid over de huidige partner is veruit de sterkste ingang. Dat kwam in bijna elke week terug en levert de beste afspraken op.</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DE PILOT HEEFT OPGELEVERD</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Negen belweken,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geen gevoel maar 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1.213</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Over negen gebelde weken, van week 32 tot en met week 41.</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722</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Zes van de tien pogingen leverden de juiste persoon aan de lijn op.</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290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TERUGBELAFSPRAKEN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Concrete vervolgmomenten die we hebben vastgelegd en opvolgen.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24</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AFSPRAKEN EN OVERDRACHTEN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Eenentwintig staan er, drie komen er nog bij voor 25 oktober. Gemiddeld een op de 51 pogingen.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 cijfers komen uit de wekelijkse rapportages die je elke week hebt ontvangen. Niets opgehoogd, niets weggelaten.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VERLOOP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Hoe langer we bellen,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hoe meer er uit komt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WERKPERIODE</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CONTACTPOGINGEN</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AFSPRAKEN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1.000 POGINGEN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 · week 32 t/m 35</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604</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17</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 · week 36 t/m 39</a:t>
            </a:r>
            <a:pPr indent="0" marL="0">
              <a:buNone/>
            </a:pPr>
            <a:r>
              <a:rPr lang="en-US" sz="1000" i="1" dirty="0">
                <a:solidFill>
                  <a:srgbClr val="38B6FF"/>
                </a:solidFill>
                <a:latin typeface="Georgia" pitchFamily="34" charset="0"/>
                <a:ea typeface="Georgia" pitchFamily="34" charset="-122"/>
                <a:cs typeface="Georgia" pitchFamily="34" charset="-120"/>
              </a:rPr>
              <a:t>   vakantie</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379</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16</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 · week 40 t/m 43</a:t>
            </a:r>
            <a:pPr indent="0" marL="0">
              <a:buNone/>
            </a:pPr>
            <a:r>
              <a:rPr lang="en-US" sz="1000" i="1" dirty="0">
                <a:solidFill>
                  <a:srgbClr val="38B6FF"/>
                </a:solidFill>
                <a:latin typeface="Georgia" pitchFamily="34" charset="0"/>
                <a:ea typeface="Georgia" pitchFamily="34" charset="-122"/>
                <a:cs typeface="Georgia" pitchFamily="34" charset="-120"/>
              </a:rPr>
              <a:t>   loopt nog</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230</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35</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Werkperiode 3 levert per duizend pogingen twee keer zoveel op als de eerste. Dat komt door de lijst met 290 terugbelafspraken die we onderweg hebben opgebouwd. Die lijst is nu het meest waardevolle dat er ligt.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EENHEID WAARIN WE 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beldag is geen dag, maar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vaste hoeveelheid werk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UUR BELLEN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Netto aan de telefoon. Voorbereiding, notities en rapportage zitten daarbuiten en zijn inbegrepen.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100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Ongeveer zeventien pogingen per uur bellen, gemeten over jullie hele pilot.</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60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Zes van de tien pogingen leveren de juiste persoon aan de lijn op.</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 2</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AFSPRAKEN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Vierentwintig afspraken over ruim twaalf beldagen. Dit is het getal waar we op sturen.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Wij rekenen in beldagen en niet in uren, omdat een uur niets zegt over wat eruit komt. Een beldag is dit rijtje, elke periode opnieuw.</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Vaste beldagen per vier weken,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één 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VERWACHTE AFSPRAKEN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€ 2.400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8</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tot 7 beldagen</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€ 2.750 tot € 3.850</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10 tot 14</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beldagen of meer</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€ 500</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vanaf € 4.000</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16</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verwachte aantallen zijn een indicatie, gebaseerd op twee gekwalificeerde afspraken per beldag uit jullie eigen pilot. Minimaal vier beldagen per periode, prijzen excl. btw.</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AFREKENEN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Vooraf een vaste prijs, achteraf geen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verrassingen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prijs per beldag</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Je betaalt per beldag, vooraf gefactureerd per werkperiode. Geen nacalculatie, geen rekening per afspraak en geen succesfee meer.</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Target van twee per beldag</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Twee gekwalificeerde afspraken per beldag, het gemiddelde uit jullie eigen pilot. We meten per werkperiode, want de ene dag is de andere niet.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Inhaaldag als vangnet</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Blijft een werkperiode onder target, dan bellen we de volgende periode een dag extra die niet op de rekening komt. Maximaal één per periode.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Elke periode opnieuw kiezen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bepalen per werkperiode het aantal beldagen, vanaf vier. Een maand opzegtermijn, geen jaarcontract.</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PRIJS PER BELDAG</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€ 600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vanaf 8 beldagen € 500, excl. btw</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Vooraf gefactureerd per werkperiode</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Geen kosten per afspraak</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Target van 2 afspraken per beldag</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Inhaaldag als we eronder blijven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belsysteem en nummer inbegrepen</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Wekelijkse rapportage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11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OPSCHALEN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Hetzelfde ritme, of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twee keer zoveel</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89194"/>
            <a:ext cx="3555991" cy="2768593"/>
          </a:xfrm>
          <a:prstGeom prst="roundRect">
            <a:avLst>
              <a:gd name="adj" fmla="val 3670"/>
            </a:avLst>
          </a:prstGeom>
          <a:solidFill>
            <a:srgbClr val="F8F4EB"/>
          </a:solidFill>
          <a:ln/>
        </p:spPr>
      </p:sp>
      <p:sp>
        <p:nvSpPr>
          <p:cNvPr id="8" name="Text 6"/>
          <p:cNvSpPr txBox="1"/>
          <p:nvPr/>
        </p:nvSpPr>
        <p:spPr>
          <a:xfrm>
            <a:off x="825498"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825498"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€ 1.600 per werkperiode</a:t>
            </a:r>
            <a:endParaRPr lang="en-US" sz="1250" dirty="0"/>
          </a:p>
        </p:txBody>
      </p:sp>
      <p:sp>
        <p:nvSpPr>
          <p:cNvPr id="10" name="Text 8"/>
          <p:cNvSpPr txBox="1"/>
          <p:nvPr/>
        </p:nvSpPr>
        <p:spPr>
          <a:xfrm>
            <a:off x="825498"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11" name="Text 9"/>
          <p:cNvSpPr txBox="1"/>
          <p:nvPr/>
        </p:nvSpPr>
        <p:spPr>
          <a:xfrm>
            <a:off x="3124192"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a:t>
            </a:r>
            <a:endParaRPr lang="en-US" sz="1150" dirty="0"/>
          </a:p>
        </p:txBody>
      </p:sp>
      <p:sp>
        <p:nvSpPr>
          <p:cNvPr id="12" name="Shape 10"/>
          <p:cNvSpPr/>
          <p:nvPr/>
        </p:nvSpPr>
        <p:spPr>
          <a:xfrm>
            <a:off x="825498" y="3728711"/>
            <a:ext cx="3124192" cy="0"/>
          </a:xfrm>
          <a:prstGeom prst="line">
            <a:avLst/>
          </a:prstGeom>
          <a:noFill/>
          <a:ln w="9525">
            <a:solidFill>
              <a:srgbClr val="D8D2C4"/>
            </a:solidFill>
            <a:prstDash val="solid"/>
          </a:ln>
        </p:spPr>
      </p:sp>
      <p:sp>
        <p:nvSpPr>
          <p:cNvPr id="13" name="Text 11"/>
          <p:cNvSpPr txBox="1"/>
          <p:nvPr/>
        </p:nvSpPr>
        <p:spPr>
          <a:xfrm>
            <a:off x="825498"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Uur bellen</a:t>
            </a:r>
            <a:endParaRPr lang="en-US" sz="950" dirty="0"/>
          </a:p>
        </p:txBody>
      </p:sp>
      <p:sp>
        <p:nvSpPr>
          <p:cNvPr id="14" name="Text 12"/>
          <p:cNvSpPr txBox="1"/>
          <p:nvPr/>
        </p:nvSpPr>
        <p:spPr>
          <a:xfrm>
            <a:off x="3124192"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24</a:t>
            </a:r>
            <a:endParaRPr lang="en-US" sz="1150" dirty="0"/>
          </a:p>
        </p:txBody>
      </p:sp>
      <p:sp>
        <p:nvSpPr>
          <p:cNvPr id="15" name="Shape 13"/>
          <p:cNvSpPr/>
          <p:nvPr/>
        </p:nvSpPr>
        <p:spPr>
          <a:xfrm>
            <a:off x="825498" y="4079230"/>
            <a:ext cx="3124192" cy="0"/>
          </a:xfrm>
          <a:prstGeom prst="line">
            <a:avLst/>
          </a:prstGeom>
          <a:noFill/>
          <a:ln w="9525">
            <a:solidFill>
              <a:srgbClr val="D8D2C4"/>
            </a:solidFill>
            <a:prstDash val="solid"/>
          </a:ln>
        </p:spPr>
      </p:sp>
      <p:sp>
        <p:nvSpPr>
          <p:cNvPr id="16" name="Text 14"/>
          <p:cNvSpPr txBox="1"/>
          <p:nvPr/>
        </p:nvSpPr>
        <p:spPr>
          <a:xfrm>
            <a:off x="825498"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17" name="Text 15"/>
          <p:cNvSpPr txBox="1"/>
          <p:nvPr/>
        </p:nvSpPr>
        <p:spPr>
          <a:xfrm>
            <a:off x="3124192"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400</a:t>
            </a:r>
            <a:endParaRPr lang="en-US" sz="1150" dirty="0"/>
          </a:p>
        </p:txBody>
      </p:sp>
      <p:sp>
        <p:nvSpPr>
          <p:cNvPr id="18" name="Shape 16"/>
          <p:cNvSpPr/>
          <p:nvPr/>
        </p:nvSpPr>
        <p:spPr>
          <a:xfrm>
            <a:off x="825498" y="4429749"/>
            <a:ext cx="3124192" cy="0"/>
          </a:xfrm>
          <a:prstGeom prst="line">
            <a:avLst/>
          </a:prstGeom>
          <a:noFill/>
          <a:ln w="9525">
            <a:solidFill>
              <a:srgbClr val="D8D2C4"/>
            </a:solidFill>
            <a:prstDash val="solid"/>
          </a:ln>
        </p:spPr>
      </p:sp>
      <p:sp>
        <p:nvSpPr>
          <p:cNvPr id="19" name="Text 17"/>
          <p:cNvSpPr txBox="1"/>
          <p:nvPr/>
        </p:nvSpPr>
        <p:spPr>
          <a:xfrm>
            <a:off x="825498"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20" name="Text 18"/>
          <p:cNvSpPr txBox="1"/>
          <p:nvPr/>
        </p:nvSpPr>
        <p:spPr>
          <a:xfrm>
            <a:off x="3124192"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8</a:t>
            </a:r>
            <a:endParaRPr lang="en-US" sz="1150" dirty="0"/>
          </a:p>
        </p:txBody>
      </p:sp>
      <p:sp>
        <p:nvSpPr>
          <p:cNvPr id="21" name="Shape 19"/>
          <p:cNvSpPr/>
          <p:nvPr/>
        </p:nvSpPr>
        <p:spPr>
          <a:xfrm>
            <a:off x="825498" y="4780268"/>
            <a:ext cx="3124192" cy="0"/>
          </a:xfrm>
          <a:prstGeom prst="line">
            <a:avLst/>
          </a:prstGeom>
          <a:noFill/>
          <a:ln w="9525">
            <a:solidFill>
              <a:srgbClr val="D8D2C4"/>
            </a:solidFill>
            <a:prstDash val="solid"/>
          </a:ln>
        </p:spPr>
      </p:sp>
      <p:sp>
        <p:nvSpPr>
          <p:cNvPr id="22" name="Text 20"/>
          <p:cNvSpPr txBox="1"/>
          <p:nvPr/>
        </p:nvSpPr>
        <p:spPr>
          <a:xfrm>
            <a:off x="825498"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afspraak</a:t>
            </a:r>
            <a:endParaRPr lang="en-US" sz="950" dirty="0"/>
          </a:p>
        </p:txBody>
      </p:sp>
      <p:sp>
        <p:nvSpPr>
          <p:cNvPr id="23" name="Text 21"/>
          <p:cNvSpPr txBox="1"/>
          <p:nvPr/>
        </p:nvSpPr>
        <p:spPr>
          <a:xfrm>
            <a:off x="3124192"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€ 200</a:t>
            </a:r>
            <a:endParaRPr lang="en-US" sz="1150" dirty="0"/>
          </a:p>
        </p:txBody>
      </p:sp>
      <p:sp>
        <p:nvSpPr>
          <p:cNvPr id="24" name="Shape 22"/>
          <p:cNvSpPr/>
          <p:nvPr/>
        </p:nvSpPr>
        <p:spPr>
          <a:xfrm>
            <a:off x="4317989" y="2489194"/>
            <a:ext cx="3555991" cy="2768593"/>
          </a:xfrm>
          <a:prstGeom prst="roundRect">
            <a:avLst>
              <a:gd name="adj" fmla="val 3670"/>
            </a:avLst>
          </a:prstGeom>
          <a:solidFill>
            <a:srgbClr val="F8F4EB"/>
          </a:solidFill>
          <a:ln/>
        </p:spPr>
      </p:sp>
      <p:sp>
        <p:nvSpPr>
          <p:cNvPr id="25" name="Text 23"/>
          <p:cNvSpPr txBox="1"/>
          <p:nvPr/>
        </p:nvSpPr>
        <p:spPr>
          <a:xfrm>
            <a:off x="4533889"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VOORSTEL</a:t>
            </a:r>
            <a:endParaRPr lang="en-US" sz="800" dirty="0"/>
          </a:p>
        </p:txBody>
      </p:sp>
      <p:sp>
        <p:nvSpPr>
          <p:cNvPr id="26" name="Text 24"/>
          <p:cNvSpPr txBox="1"/>
          <p:nvPr/>
        </p:nvSpPr>
        <p:spPr>
          <a:xfrm>
            <a:off x="453388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4 beldagen per werkperiode</a:t>
            </a:r>
            <a:endParaRPr lang="en-US" sz="1250" dirty="0"/>
          </a:p>
        </p:txBody>
      </p:sp>
      <p:sp>
        <p:nvSpPr>
          <p:cNvPr id="27" name="Text 25"/>
          <p:cNvSpPr txBox="1"/>
          <p:nvPr/>
        </p:nvSpPr>
        <p:spPr>
          <a:xfrm>
            <a:off x="4533889"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28" name="Text 26"/>
          <p:cNvSpPr txBox="1"/>
          <p:nvPr/>
        </p:nvSpPr>
        <p:spPr>
          <a:xfrm>
            <a:off x="6832583"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4</a:t>
            </a:r>
            <a:endParaRPr lang="en-US" sz="1150" dirty="0"/>
          </a:p>
        </p:txBody>
      </p:sp>
      <p:sp>
        <p:nvSpPr>
          <p:cNvPr id="29" name="Shape 27"/>
          <p:cNvSpPr/>
          <p:nvPr/>
        </p:nvSpPr>
        <p:spPr>
          <a:xfrm>
            <a:off x="4533889" y="3728711"/>
            <a:ext cx="3124192" cy="0"/>
          </a:xfrm>
          <a:prstGeom prst="line">
            <a:avLst/>
          </a:prstGeom>
          <a:noFill/>
          <a:ln w="9525">
            <a:solidFill>
              <a:srgbClr val="D8D2C4"/>
            </a:solidFill>
            <a:prstDash val="solid"/>
          </a:ln>
        </p:spPr>
      </p:sp>
      <p:sp>
        <p:nvSpPr>
          <p:cNvPr id="30" name="Text 28"/>
          <p:cNvSpPr txBox="1"/>
          <p:nvPr/>
        </p:nvSpPr>
        <p:spPr>
          <a:xfrm>
            <a:off x="4533889"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Uur bellen</a:t>
            </a:r>
            <a:endParaRPr lang="en-US" sz="950" dirty="0"/>
          </a:p>
        </p:txBody>
      </p:sp>
      <p:sp>
        <p:nvSpPr>
          <p:cNvPr id="31" name="Text 29"/>
          <p:cNvSpPr txBox="1"/>
          <p:nvPr/>
        </p:nvSpPr>
        <p:spPr>
          <a:xfrm>
            <a:off x="6832583"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24</a:t>
            </a:r>
            <a:endParaRPr lang="en-US" sz="1150" dirty="0"/>
          </a:p>
        </p:txBody>
      </p:sp>
      <p:sp>
        <p:nvSpPr>
          <p:cNvPr id="32" name="Shape 30"/>
          <p:cNvSpPr/>
          <p:nvPr/>
        </p:nvSpPr>
        <p:spPr>
          <a:xfrm>
            <a:off x="4533889" y="4079230"/>
            <a:ext cx="3124192" cy="0"/>
          </a:xfrm>
          <a:prstGeom prst="line">
            <a:avLst/>
          </a:prstGeom>
          <a:noFill/>
          <a:ln w="9525">
            <a:solidFill>
              <a:srgbClr val="D8D2C4"/>
            </a:solidFill>
            <a:prstDash val="solid"/>
          </a:ln>
        </p:spPr>
      </p:sp>
      <p:sp>
        <p:nvSpPr>
          <p:cNvPr id="33" name="Text 31"/>
          <p:cNvSpPr txBox="1"/>
          <p:nvPr/>
        </p:nvSpPr>
        <p:spPr>
          <a:xfrm>
            <a:off x="4533889"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34" name="Text 32"/>
          <p:cNvSpPr txBox="1"/>
          <p:nvPr/>
        </p:nvSpPr>
        <p:spPr>
          <a:xfrm>
            <a:off x="6832583"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400</a:t>
            </a:r>
            <a:endParaRPr lang="en-US" sz="1150" dirty="0"/>
          </a:p>
        </p:txBody>
      </p:sp>
      <p:sp>
        <p:nvSpPr>
          <p:cNvPr id="35" name="Shape 33"/>
          <p:cNvSpPr/>
          <p:nvPr/>
        </p:nvSpPr>
        <p:spPr>
          <a:xfrm>
            <a:off x="4533889" y="4429749"/>
            <a:ext cx="3124192" cy="0"/>
          </a:xfrm>
          <a:prstGeom prst="line">
            <a:avLst/>
          </a:prstGeom>
          <a:noFill/>
          <a:ln w="9525">
            <a:solidFill>
              <a:srgbClr val="D8D2C4"/>
            </a:solidFill>
            <a:prstDash val="solid"/>
          </a:ln>
        </p:spPr>
      </p:sp>
      <p:sp>
        <p:nvSpPr>
          <p:cNvPr id="36" name="Text 34"/>
          <p:cNvSpPr txBox="1"/>
          <p:nvPr/>
        </p:nvSpPr>
        <p:spPr>
          <a:xfrm>
            <a:off x="4533889"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37" name="Text 35"/>
          <p:cNvSpPr txBox="1"/>
          <p:nvPr/>
        </p:nvSpPr>
        <p:spPr>
          <a:xfrm>
            <a:off x="6832583"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8</a:t>
            </a:r>
            <a:endParaRPr lang="en-US" sz="1150" dirty="0"/>
          </a:p>
        </p:txBody>
      </p:sp>
      <p:sp>
        <p:nvSpPr>
          <p:cNvPr id="38" name="Shape 36"/>
          <p:cNvSpPr/>
          <p:nvPr/>
        </p:nvSpPr>
        <p:spPr>
          <a:xfrm>
            <a:off x="4533889" y="4780268"/>
            <a:ext cx="3124192" cy="0"/>
          </a:xfrm>
          <a:prstGeom prst="line">
            <a:avLst/>
          </a:prstGeom>
          <a:noFill/>
          <a:ln w="9525">
            <a:solidFill>
              <a:srgbClr val="D8D2C4"/>
            </a:solidFill>
            <a:prstDash val="solid"/>
          </a:ln>
        </p:spPr>
      </p:sp>
      <p:sp>
        <p:nvSpPr>
          <p:cNvPr id="39" name="Text 37"/>
          <p:cNvSpPr txBox="1"/>
          <p:nvPr/>
        </p:nvSpPr>
        <p:spPr>
          <a:xfrm>
            <a:off x="4533889"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afspraak</a:t>
            </a:r>
            <a:endParaRPr lang="en-US" sz="950" dirty="0"/>
          </a:p>
        </p:txBody>
      </p:sp>
      <p:sp>
        <p:nvSpPr>
          <p:cNvPr id="40" name="Text 38"/>
          <p:cNvSpPr txBox="1"/>
          <p:nvPr/>
        </p:nvSpPr>
        <p:spPr>
          <a:xfrm>
            <a:off x="6832583"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€ 300</a:t>
            </a:r>
            <a:endParaRPr lang="en-US" sz="1150" dirty="0"/>
          </a:p>
        </p:txBody>
      </p:sp>
      <p:sp>
        <p:nvSpPr>
          <p:cNvPr id="41" name="Shape 39"/>
          <p:cNvSpPr/>
          <p:nvPr/>
        </p:nvSpPr>
        <p:spPr>
          <a:xfrm>
            <a:off x="8026380" y="2489194"/>
            <a:ext cx="3555991" cy="2768593"/>
          </a:xfrm>
          <a:prstGeom prst="roundRect">
            <a:avLst>
              <a:gd name="adj" fmla="val 3670"/>
            </a:avLst>
          </a:prstGeom>
          <a:solidFill>
            <a:srgbClr val="000000"/>
          </a:solidFill>
          <a:ln/>
        </p:spPr>
      </p:sp>
      <p:sp>
        <p:nvSpPr>
          <p:cNvPr id="42" name="Text 40"/>
          <p:cNvSpPr txBox="1"/>
          <p:nvPr/>
        </p:nvSpPr>
        <p:spPr>
          <a:xfrm>
            <a:off x="8242279" y="2743193"/>
            <a:ext cx="3124192"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OPSCHALEN</a:t>
            </a:r>
            <a:endParaRPr lang="en-US" sz="800" dirty="0"/>
          </a:p>
        </p:txBody>
      </p:sp>
      <p:sp>
        <p:nvSpPr>
          <p:cNvPr id="43" name="Text 41"/>
          <p:cNvSpPr txBox="1"/>
          <p:nvPr/>
        </p:nvSpPr>
        <p:spPr>
          <a:xfrm>
            <a:off x="824227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F2EFE6"/>
                </a:solidFill>
                <a:latin typeface="Arial" pitchFamily="34" charset="0"/>
                <a:ea typeface="Arial" pitchFamily="34" charset="-122"/>
                <a:cs typeface="Arial" pitchFamily="34" charset="-120"/>
              </a:rPr>
              <a:t>8 beldagen per werkperiode</a:t>
            </a:r>
            <a:endParaRPr lang="en-US" sz="1250" dirty="0"/>
          </a:p>
        </p:txBody>
      </p:sp>
      <p:sp>
        <p:nvSpPr>
          <p:cNvPr id="44" name="Text 42"/>
          <p:cNvSpPr txBox="1"/>
          <p:nvPr/>
        </p:nvSpPr>
        <p:spPr>
          <a:xfrm>
            <a:off x="8242279" y="3378192"/>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Beldagen</a:t>
            </a:r>
            <a:endParaRPr lang="en-US" sz="950" dirty="0"/>
          </a:p>
        </p:txBody>
      </p:sp>
      <p:sp>
        <p:nvSpPr>
          <p:cNvPr id="45" name="Text 43"/>
          <p:cNvSpPr txBox="1"/>
          <p:nvPr/>
        </p:nvSpPr>
        <p:spPr>
          <a:xfrm>
            <a:off x="10540974" y="3378192"/>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8</a:t>
            </a:r>
            <a:endParaRPr lang="en-US" sz="1150" dirty="0"/>
          </a:p>
        </p:txBody>
      </p:sp>
      <p:sp>
        <p:nvSpPr>
          <p:cNvPr id="46" name="Shape 44"/>
          <p:cNvSpPr/>
          <p:nvPr/>
        </p:nvSpPr>
        <p:spPr>
          <a:xfrm>
            <a:off x="8242279" y="3728711"/>
            <a:ext cx="3124192" cy="0"/>
          </a:xfrm>
          <a:prstGeom prst="line">
            <a:avLst/>
          </a:prstGeom>
          <a:noFill/>
          <a:ln w="9525">
            <a:solidFill>
              <a:srgbClr val="3A4152"/>
            </a:solidFill>
            <a:prstDash val="solid"/>
          </a:ln>
        </p:spPr>
      </p:sp>
      <p:sp>
        <p:nvSpPr>
          <p:cNvPr id="47" name="Text 45"/>
          <p:cNvSpPr txBox="1"/>
          <p:nvPr/>
        </p:nvSpPr>
        <p:spPr>
          <a:xfrm>
            <a:off x="8242279" y="3728711"/>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Uur bellen</a:t>
            </a:r>
            <a:endParaRPr lang="en-US" sz="950" dirty="0"/>
          </a:p>
        </p:txBody>
      </p:sp>
      <p:sp>
        <p:nvSpPr>
          <p:cNvPr id="48" name="Text 46"/>
          <p:cNvSpPr txBox="1"/>
          <p:nvPr/>
        </p:nvSpPr>
        <p:spPr>
          <a:xfrm>
            <a:off x="10540974" y="3728711"/>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48</a:t>
            </a:r>
            <a:endParaRPr lang="en-US" sz="1150" dirty="0"/>
          </a:p>
        </p:txBody>
      </p:sp>
      <p:sp>
        <p:nvSpPr>
          <p:cNvPr id="49" name="Shape 47"/>
          <p:cNvSpPr/>
          <p:nvPr/>
        </p:nvSpPr>
        <p:spPr>
          <a:xfrm>
            <a:off x="8242279" y="4079230"/>
            <a:ext cx="3124192" cy="0"/>
          </a:xfrm>
          <a:prstGeom prst="line">
            <a:avLst/>
          </a:prstGeom>
          <a:noFill/>
          <a:ln w="9525">
            <a:solidFill>
              <a:srgbClr val="3A4152"/>
            </a:solidFill>
            <a:prstDash val="solid"/>
          </a:ln>
        </p:spPr>
      </p:sp>
      <p:sp>
        <p:nvSpPr>
          <p:cNvPr id="50" name="Text 48"/>
          <p:cNvSpPr txBox="1"/>
          <p:nvPr/>
        </p:nvSpPr>
        <p:spPr>
          <a:xfrm>
            <a:off x="8242279" y="4079230"/>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Contactpogingen</a:t>
            </a:r>
            <a:endParaRPr lang="en-US" sz="950" dirty="0"/>
          </a:p>
        </p:txBody>
      </p:sp>
      <p:sp>
        <p:nvSpPr>
          <p:cNvPr id="51" name="Text 49"/>
          <p:cNvSpPr txBox="1"/>
          <p:nvPr/>
        </p:nvSpPr>
        <p:spPr>
          <a:xfrm>
            <a:off x="10540974" y="4079230"/>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800</a:t>
            </a:r>
            <a:endParaRPr lang="en-US" sz="1150" dirty="0"/>
          </a:p>
        </p:txBody>
      </p:sp>
      <p:sp>
        <p:nvSpPr>
          <p:cNvPr id="52" name="Shape 50"/>
          <p:cNvSpPr/>
          <p:nvPr/>
        </p:nvSpPr>
        <p:spPr>
          <a:xfrm>
            <a:off x="8242279" y="4429749"/>
            <a:ext cx="3124192" cy="0"/>
          </a:xfrm>
          <a:prstGeom prst="line">
            <a:avLst/>
          </a:prstGeom>
          <a:noFill/>
          <a:ln w="9525">
            <a:solidFill>
              <a:srgbClr val="3A4152"/>
            </a:solidFill>
            <a:prstDash val="solid"/>
          </a:ln>
        </p:spPr>
      </p:sp>
      <p:sp>
        <p:nvSpPr>
          <p:cNvPr id="53" name="Text 51"/>
          <p:cNvSpPr txBox="1"/>
          <p:nvPr/>
        </p:nvSpPr>
        <p:spPr>
          <a:xfrm>
            <a:off x="8242279" y="4429749"/>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Afspraken</a:t>
            </a:r>
            <a:endParaRPr lang="en-US" sz="950" dirty="0"/>
          </a:p>
        </p:txBody>
      </p:sp>
      <p:sp>
        <p:nvSpPr>
          <p:cNvPr id="54" name="Text 52"/>
          <p:cNvSpPr txBox="1"/>
          <p:nvPr/>
        </p:nvSpPr>
        <p:spPr>
          <a:xfrm>
            <a:off x="10540974" y="4429749"/>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16</a:t>
            </a:r>
            <a:endParaRPr lang="en-US" sz="1150" dirty="0"/>
          </a:p>
        </p:txBody>
      </p:sp>
      <p:sp>
        <p:nvSpPr>
          <p:cNvPr id="55" name="Shape 53"/>
          <p:cNvSpPr/>
          <p:nvPr/>
        </p:nvSpPr>
        <p:spPr>
          <a:xfrm>
            <a:off x="8242279" y="4780268"/>
            <a:ext cx="3124192" cy="0"/>
          </a:xfrm>
          <a:prstGeom prst="line">
            <a:avLst/>
          </a:prstGeom>
          <a:noFill/>
          <a:ln w="9525">
            <a:solidFill>
              <a:srgbClr val="3A4152"/>
            </a:solidFill>
            <a:prstDash val="solid"/>
          </a:ln>
        </p:spPr>
      </p:sp>
      <p:sp>
        <p:nvSpPr>
          <p:cNvPr id="56" name="Text 54"/>
          <p:cNvSpPr txBox="1"/>
          <p:nvPr/>
        </p:nvSpPr>
        <p:spPr>
          <a:xfrm>
            <a:off x="8242279" y="4780268"/>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Prijs per afspraak</a:t>
            </a:r>
            <a:endParaRPr lang="en-US" sz="950" dirty="0"/>
          </a:p>
        </p:txBody>
      </p:sp>
      <p:sp>
        <p:nvSpPr>
          <p:cNvPr id="57" name="Text 55"/>
          <p:cNvSpPr txBox="1"/>
          <p:nvPr/>
        </p:nvSpPr>
        <p:spPr>
          <a:xfrm>
            <a:off x="10540974" y="4780268"/>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€ 250</a:t>
            </a:r>
            <a:endParaRPr lang="en-US" sz="1150" dirty="0"/>
          </a:p>
        </p:txBody>
      </p:sp>
      <p:sp>
        <p:nvSpPr>
          <p:cNvPr id="58" name="Shape 56"/>
          <p:cNvSpPr/>
          <p:nvPr/>
        </p:nvSpPr>
        <p:spPr>
          <a:xfrm>
            <a:off x="609598" y="5854685"/>
            <a:ext cx="76200" cy="76200"/>
          </a:xfrm>
          <a:prstGeom prst="ellipse">
            <a:avLst/>
          </a:prstGeom>
          <a:solidFill>
            <a:srgbClr val="38B6FF"/>
          </a:solidFill>
          <a:ln/>
        </p:spPr>
      </p:sp>
      <p:sp>
        <p:nvSpPr>
          <p:cNvPr id="59" name="Text 57"/>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In de pilot betaalde je het minst per afspraak, omdat de pilotprijs onder onze dagprijs lag. Bij acht beldagen zakt de prijs per afspraak terug naar ongeveer tweehonderdvijftig euro.</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GROWON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Weinig, want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draait al</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Scherper profiel</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Een halfuur om de doelgroep verder aan te scherpen op wat in de pilot het beste werkte: draaiende webshop, lopende advertenties en budget.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al klant zijn of waar Jaap zelf al in gesprek is.</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Terugkoppeling op afspraken</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Kort laten weten hoe een afspraak verliep, zodat we de kwalificatie blijven bijstellen.</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GrowOn die de afspraken voert. Tot nu toe is dat Jaap zelf.</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 Geen nacalculatie achteraf.</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Target van 2 afspraken per beldag</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Het getal uit jullie eigen pilot. Daar sturen wij op en daar belonen wij onze bellers op.</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Inhaaldag als we eronder blijven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Maximaal een extra beldag per werkperiode, zonder dat die op de rekening komt.</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 en afschalen</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Per werkperiode bepalen jullie het aantal beldagen, vanaf vier.</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Maand opzegtermijn</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met een maand opzegtermijn. Geen jaarcontract.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Geen opstartkosten meer</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De inrichting staat. Die fee is eenmalig geweest.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de verwerkersovereenkomst, met een korte aanvulling op de samenwerkingsovereenkomst.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ritme? Dan loopt het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gewoon door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Jaap geeft akkoord op het aantal beldagen per werkperiode.</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Vastleggen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een korte aanvulling op de samenwerkingsovereenkomst.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Doorbellen</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Werkperiode 4 start aansluitend, zonder onderbreking.</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GrowOn Agency</dc:title>
  <dc:subject>PptxGenJS Presentation</dc:subject>
  <dc:creator>LINK.</dc:creator>
  <cp:lastModifiedBy>LINK.</cp:lastModifiedBy>
  <cp:revision>1</cp:revision>
  <dcterms:created xsi:type="dcterms:W3CDTF">2026-10-11T16:56:46Z</dcterms:created>
  <dcterms:modified xsi:type="dcterms:W3CDTF">2026-10-11T16:56:46Z</dcterms:modified>
</cp:coreProperties>
</file>