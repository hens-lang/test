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A52"/>
                </a:solidFill>
                <a:latin typeface="Calibri"/>
              </a:rPr>
              <a:t>Afgehandelde dossiers per kwartaal (× 1.000)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Mobility</c:v>
                </c:pt>
              </c:strCache>
            </c:strRef>
          </c:tx>
          <c:spPr>
            <a:solidFill>
              <a:srgbClr val="1E2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'25</c:v>
                  </c:pt>
                  <c:pt idx="1">
                    <c:v>Q4 '25</c:v>
                  </c:pt>
                  <c:pt idx="2">
                    <c:v>Q1 '26</c:v>
                  </c:pt>
                  <c:pt idx="3">
                    <c:v>Q2 '26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</c:v>
                </c:pt>
                <c:pt idx="1">
                  <c:v>56.8</c:v>
                </c:pt>
                <c:pt idx="2">
                  <c:v>58.9</c:v>
                </c:pt>
                <c:pt idx="3">
                  <c:v>61.2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Property</c:v>
                </c:pt>
              </c:strCache>
            </c:strRef>
          </c:tx>
          <c:spPr>
            <a:solidFill>
              <a:srgbClr val="5B79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'25</c:v>
                  </c:pt>
                  <c:pt idx="1">
                    <c:v>Q4 '25</c:v>
                  </c:pt>
                  <c:pt idx="2">
                    <c:v>Q1 '26</c:v>
                  </c:pt>
                  <c:pt idx="3">
                    <c:v>Q2 '26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44.9</c:v>
                </c:pt>
                <c:pt idx="1">
                  <c:v>47.2</c:v>
                </c:pt>
                <c:pt idx="2">
                  <c:v>45.8</c:v>
                </c:pt>
                <c:pt idx="3">
                  <c:v>48.7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Vitality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 '25</c:v>
                  </c:pt>
                  <c:pt idx="1">
                    <c:v>Q4 '25</c:v>
                  </c:pt>
                  <c:pt idx="2">
                    <c:v>Q1 '26</c:v>
                  </c:pt>
                  <c:pt idx="3">
                    <c:v>Q2 '26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16.2</c:v>
                </c:pt>
                <c:pt idx="1">
                  <c:v>16.9</c:v>
                </c:pt>
                <c:pt idx="2">
                  <c:v>17.6</c:v>
                </c:pt>
                <c:pt idx="3">
                  <c:v>18.5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A52"/>
                </a:solidFill>
                <a:latin typeface="Calibri"/>
              </a:rPr>
              <a:t>Gemiddelde doorlooptijd (dagen)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Doorlooptijd</c:v>
                </c:pt>
              </c:strCache>
            </c:strRef>
          </c:tx>
          <c:spPr>
            <a:solidFill>
              <a:srgbClr val="F2A900"/>
            </a:solidFill>
            <a:ln w="38100" cap="flat">
              <a:solidFill>
                <a:srgbClr val="F2A900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52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A900"/>
              </a:solidFill>
              <a:ln w="9525" cap="flat">
                <a:solidFill>
                  <a:srgbClr val="F2A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Q3 '25</c:v>
                  </c:pt>
                  <c:pt idx="1">
                    <c:v>Q4 '25</c:v>
                  </c:pt>
                  <c:pt idx="2">
                    <c:v>Q1 '26</c:v>
                  </c:pt>
                  <c:pt idx="3">
                    <c:v>Q2 '26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6.3</c:v>
                </c:pt>
                <c:pt idx="2">
                  <c:v>5.7</c:v>
                </c:pt>
                <c:pt idx="3">
                  <c:v>5.2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2A52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A52"/>
                </a:solidFill>
                <a:latin typeface="Calibri"/>
              </a:rPr>
              <a:t>NPS-ontwikkeling per kwartaal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1E2A52"/>
            </a:solidFill>
            <a:ln w="38100" cap="flat">
              <a:solidFill>
                <a:srgbClr val="1E2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52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2A52"/>
              </a:solidFill>
              <a:ln w="9525" cap="flat">
                <a:solidFill>
                  <a:srgbClr val="1E2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 '25</c:v>
                  </c:pt>
                  <c:pt idx="1">
                    <c:v>Q2 '25</c:v>
                  </c:pt>
                  <c:pt idx="2">
                    <c:v>Q3 '25</c:v>
                  </c:pt>
                  <c:pt idx="3">
                    <c:v>Q4 '25</c:v>
                  </c:pt>
                  <c:pt idx="4">
                    <c:v>Q1 '26</c:v>
                  </c:pt>
                  <c:pt idx="5">
                    <c:v>Q2 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37</c:v>
                </c:pt>
                <c:pt idx="2">
                  <c:v>36</c:v>
                </c:pt>
                <c:pt idx="3">
                  <c:v>38</c:v>
                </c:pt>
                <c:pt idx="4">
                  <c:v>40</c:v>
                </c:pt>
                <c:pt idx="5">
                  <c:v>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A52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Welkom. Doel van vandaag: de directie in 20 minuten meenemen in de Q2-resultaten, de voortgang van de digitalisering (Instant Expertise) en drie concrete beslispunten. Alle cijfers in dit voorbeeld zijn fictief — vervang ze door de werkelijke kwartaalcijfers.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Eén slide, vier cijfers — meer heeft de directie in de eerste minuut niet nodig. Benadruk de combinatie: méér volume, kórtere doorlooptijd, lágere kosten. Kondig hier alvast de drie beslispunten aan, dan weet iedereen waar het gesprek naartoe gaat.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domein één regel groei, één regel operatie, één regel kwaliteit. Bij Vitality bewust het knelpunt benoemen (wachttijd medisch advies) — dat maakt beslispunt 2 straks logisch.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twee grafieken samen het verhaal vertellen: links groeit het volume, rechts daalt de doorlooptijd. Dat is de kern van het kwartaal. Verwacht de vraag 'houdt die daling aan?' — antwoord: ja, mits AI-triage wordt goedgekeurd (beslispunt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dip in Q3 '25 kwam door de zomerpiek — benoem dat zelf voordat ernaar wordt gevraagd. De stijging sindsdien loopt gelijk op met de uitrol van Instant Expertise: snelheid ís klanttevredenheid.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trotse slide — hier zit het verhaal achter alle eerdere cijfers. Het rechterpaneel bouwt de brug naar het investeringsvoorstel: noem de terugverdientijd (minder dan een jaar) hardop.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Gouden regel voor directiepresentaties: nooit een risico noemen zonder mitigatie. Elke kaart eindigt daarom groen. De datamigratie is het gevoeligste punt — wees daar het eerlijkst en het concreetst.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mijlpalen, één per maand — meer detail hoort niet op directieniveau. Het amberkleurige bolletje (september) markeert wat er als eerste komt én waarvoor vandaag akkoord nodig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Formuleer elk besluit als een vraag waar 'ja' op kan worden gezegd. Beslispunt 1 staat bewust bovenaan en donker uitgelicht: dat is het belangrijkste besluit van vandaag. Sluit af met: 'Kunnen we op alle drie de punten vandaag een besluit nemen?'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Herhaal de kernboodschap in één zin en geef het woord aan de directie. Tip: houd de beslispunten-slide (9) bij de hand om naar terug te schakelen tijdens de discussie.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852160" cy="5852160"/>
          </a:xfrm>
          <a:prstGeom prst="ellipse">
            <a:avLst/>
          </a:prstGeom>
          <a:solidFill>
            <a:srgbClr val="1E2A5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566160"/>
            <a:ext cx="4206240" cy="4206240"/>
          </a:xfrm>
          <a:prstGeom prst="ellipse">
            <a:avLst/>
          </a:prstGeom>
          <a:solidFill>
            <a:srgbClr val="2435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5394960"/>
            <a:ext cx="1051560" cy="10515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685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Schade-expertise &amp; Claims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Directie-update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2026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77240" y="4526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Resultaten, digitalisering en beslispunten voor het tweede halfjaar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989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[Naam presentator]  ·  [Functie]      |      24 augustus 2026      |      Vertrouwelijk — alleen voor intern gebruik</a:t>
            </a:r>
            <a:endParaRPr lang="en-US" sz="11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MANAGEMENTSAMENVATTING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in één oogopslag: groei én snellere afhandeling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 ·  Directie-update Q2 2026  ·  voorbeeldcijfers, illustratief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43032" y="365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Kernboodschap
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dossiervolume groeide in alle drie de domeinen, terwijl de gemiddelde doorlooptijd juist daalde. De uitrol van Instant Expertise® is daarvan de belangrijkste motor: bijna twee derde van de geschikte dossiers loopt inmiddels digitaal.
</a:t>
            </a:r>
            <a:pPr indent="0" marL="0">
              <a:buNone/>
            </a:pPr>
            <a:r>
              <a:rPr lang="en-US" sz="13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H2 vragen wij de directie om drie besluiten: de investering in AI-triage, capaciteitsuitbreiding bij Vitality en de go/no-go voor het nieuwe klantportaal.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1600200"/>
            <a:ext cx="2834640" cy="2057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8562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128.400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172200" y="2679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afgehandelde dossiers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220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 t.o.v. Q2 2025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79408" y="1600200"/>
            <a:ext cx="2834640" cy="2057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9208008" y="18562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 dgn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9208008" y="2679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gemiddelde doorlooptijd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08008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 t.o.v. Q2 2025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3858768"/>
            <a:ext cx="2834640" cy="2057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7220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opdrachtgevers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72200" y="5321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punten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79408" y="3858768"/>
            <a:ext cx="2834640" cy="2057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/>
        </p:spPr>
      </p:sp>
      <p:sp>
        <p:nvSpPr>
          <p:cNvPr id="20" name="Text 18"/>
          <p:cNvSpPr/>
          <p:nvPr/>
        </p:nvSpPr>
        <p:spPr>
          <a:xfrm>
            <a:off x="9208008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208008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per dossier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08008" y="5321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digitale afhandeling</a:t>
            </a:r>
            <a:endParaRPr lang="en-US" sz="11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6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34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2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70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8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6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4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42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6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 PER DOMEIN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Mobility, Property en Vitality groeien alle drie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 ·  Directie-update Q2 2026  ·  voorbeeldcijfers, illustratief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43032" y="365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38728" cy="3611880"/>
          </a:xfrm>
          <a:prstGeom prst="roundRect">
            <a:avLst>
              <a:gd name="adj" fmla="val 2584"/>
            </a:avLst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21408"/>
            <a:ext cx="658368" cy="658368"/>
          </a:xfrm>
          <a:prstGeom prst="ellipse">
            <a:avLst/>
          </a:prstGeom>
          <a:solidFill>
            <a:srgbClr val="1E2A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292584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5798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645920" y="248716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61.200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dossiers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41248" y="3246120"/>
            <a:ext cx="29535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+7% door twee nieuwe volmacht-opdrachtgevers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Claims: 52% geautomatiseerd afgehandeld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Klanttevredenheid 8,4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25112" y="1828800"/>
            <a:ext cx="3538728" cy="3611880"/>
          </a:xfrm>
          <a:prstGeom prst="roundRect">
            <a:avLst>
              <a:gd name="adj" fmla="val 2584"/>
            </a:avLst>
          </a:prstGeom>
          <a:solidFill>
            <a:srgbClr val="EEF3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2121408"/>
            <a:ext cx="658368" cy="658368"/>
          </a:xfrm>
          <a:prstGeom prst="ellipse">
            <a:avLst/>
          </a:prstGeom>
          <a:solidFill>
            <a:srgbClr val="1E2A5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608" y="2292584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2392" y="215798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422392" y="248716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48.700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dossiers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617720" y="3246120"/>
            <a:ext cx="29535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+5%; piek na junistormen goed opgevangen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Expertise® nu ook bij inboedelschade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Doorlooptijd −22%, grootste daling van alle domeinen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01584" y="1828800"/>
            <a:ext cx="3538728" cy="3611880"/>
          </a:xfrm>
          <a:prstGeom prst="roundRect">
            <a:avLst>
              <a:gd name="adj" fmla="val 2584"/>
            </a:avLst>
          </a:prstGeom>
          <a:solidFill>
            <a:srgbClr val="EEF3FB"/>
          </a:solidFill>
          <a:ln/>
        </p:spPr>
      </p:sp>
      <p:sp>
        <p:nvSpPr>
          <p:cNvPr id="19" name="Shape 15"/>
          <p:cNvSpPr/>
          <p:nvPr/>
        </p:nvSpPr>
        <p:spPr>
          <a:xfrm>
            <a:off x="8375904" y="2121408"/>
            <a:ext cx="658368" cy="658368"/>
          </a:xfrm>
          <a:prstGeom prst="ellipse">
            <a:avLst/>
          </a:prstGeom>
          <a:solidFill>
            <a:srgbClr val="1E2A5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080" y="2292584"/>
            <a:ext cx="316017" cy="31601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98864" y="215798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Vitality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9198864" y="248716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18.500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dossiers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8394192" y="3246120"/>
            <a:ext cx="29535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+8%; personenschade blijft groeimarkt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Wachttijd medisch advies loopt op — zie beslispunt 2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Klanttevredenheid 8,1</a:t>
            </a:r>
            <a:endParaRPr lang="en-US" sz="12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6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34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2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70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8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6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4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42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6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78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OPERATIONELE PRESTATIES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stijgt, doorlooptijd daalt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 ·  Directie-update Q2 2026  ·  voorbeeldcijfers, illustratief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43032" y="365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9164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55080" y="1691640"/>
          <a:ext cx="5257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kwartalen op rij méér dossiers in mínder dagen — de schaalbaarheid van het digitale proces bewijst zich.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 &amp; KWALITEIT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Opdrachtgevers én verzekerden waarderen het digitale proces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 ·  Directie-update Q2 2026  ·  voorbeeldcijfers, illustratief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43032" y="365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977640" cy="4297680"/>
          </a:xfrm>
          <a:prstGeom prst="roundRect">
            <a:avLst>
              <a:gd name="adj" fmla="val 2299"/>
            </a:avLst>
          </a:prstGeom>
          <a:solidFill>
            <a:srgbClr val="131C3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1442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opdrachtgevers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Klanttevredenheid verzekerden: 8,3 (was 8,0)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First-time-fix bij expertise: 87%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Klachtenratio gedaald naar 0,6% van de dossiers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92040" y="1691640"/>
          <a:ext cx="6720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Expertise® wordt de standaard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 ·  Directie-update Q2 2026  ·  voorbeeldcijfers, illustratief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43032" y="365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1E2A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8580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733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adoptie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417320" y="202082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geschikte dossiers wordt volledig digitaal afgehandeld (Q2 2025: 38%)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E2A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9096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7249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straight-through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417320" y="307238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menselijke tussenkomst nodig; expert alleen bij twijfelgevallen en complexe schade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1E2A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961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7764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binnen 24 uur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417320" y="412394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melding tot akkoord op schadebedrag — was 3,1 dagen gemiddeld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846320"/>
            <a:ext cx="640080" cy="640080"/>
          </a:xfrm>
          <a:prstGeom prst="ellipse">
            <a:avLst/>
          </a:prstGeom>
          <a:solidFill>
            <a:srgbClr val="1E2A5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01274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48280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Fraude-indicatie ingebouwd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1417320" y="51755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signalering; 2,3% van de dossiers doorgezet naar Toedracht &amp; Fraude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086600" y="1691640"/>
            <a:ext cx="4526280" cy="4160520"/>
          </a:xfrm>
          <a:prstGeom prst="roundRect">
            <a:avLst>
              <a:gd name="adj" fmla="val 2198"/>
            </a:avLst>
          </a:prstGeom>
          <a:solidFill>
            <a:srgbClr val="131C3A"/>
          </a:solidFill>
          <a:ln/>
        </p:spPr>
      </p:sp>
      <p:sp>
        <p:nvSpPr>
          <p:cNvPr id="23" name="Shape 17"/>
          <p:cNvSpPr/>
          <p:nvPr/>
        </p:nvSpPr>
        <p:spPr>
          <a:xfrm>
            <a:off x="7452360" y="2057400"/>
            <a:ext cx="685800" cy="6858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668" y="2235708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2971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Volgende stap: AI-triage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7452360" y="3456432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routering van élk nieuw dossier: direct digitaal afhandelen, naar een expert, of naar fraude-onderzoek. Verwachte extra besparing: € 1,8 mln per jaar bij een investering van € 1,2 mln.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452360" y="5257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Beslispunt 1, slide 9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6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34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2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70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8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6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4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42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6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78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960"/>
                            </p:stCondLst>
                            <p:childTnLst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14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320"/>
                            </p:stCondLst>
                            <p:childTnLst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50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RISICO'S &amp; AANDACHTSPUNTEN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thema's die sturing van de directie vragen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 ·  Directie-update Q2 2026  ·  voorbeeldcijfers, illustratief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43032" y="365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38728" cy="3794760"/>
          </a:xfrm>
          <a:prstGeom prst="roundRect">
            <a:avLst>
              <a:gd name="adj" fmla="val 2584"/>
            </a:avLst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75688"/>
            <a:ext cx="658368" cy="658368"/>
          </a:xfrm>
          <a:prstGeom prst="ellipse">
            <a:avLst/>
          </a:prstGeom>
          <a:solidFill>
            <a:srgbClr val="C445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246864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85416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Arbeidsmarkt experts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41248" y="3108960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Uitstroom personenschade-experts (7% in H1); werving blijft achter bij groei Vitality.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420624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Mitigatie: traineeship uitbreiden, senioren inzetten op alleen complexe dossiers.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25112" y="1783080"/>
            <a:ext cx="3538728" cy="3794760"/>
          </a:xfrm>
          <a:prstGeom prst="roundRect">
            <a:avLst>
              <a:gd name="adj" fmla="val 2584"/>
            </a:avLst>
          </a:prstGeom>
          <a:solidFill>
            <a:srgbClr val="EEF3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2075688"/>
            <a:ext cx="658368" cy="658368"/>
          </a:xfrm>
          <a:prstGeom prst="ellipse">
            <a:avLst/>
          </a:prstGeom>
          <a:solidFill>
            <a:srgbClr val="C4453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608" y="2246864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2392" y="2185416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Weersextremen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617720" y="3108960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Piekbelasting na stormen zet doorlooptijd Property onder druk; juni-piek kostte 0,4 dag.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617720" y="420624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Mitigatie: flexibele schil vergroten en piekprotocol met opdrachtgevers afspreken.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01584" y="1783080"/>
            <a:ext cx="3538728" cy="3794760"/>
          </a:xfrm>
          <a:prstGeom prst="roundRect">
            <a:avLst>
              <a:gd name="adj" fmla="val 2584"/>
            </a:avLst>
          </a:prstGeom>
          <a:solidFill>
            <a:srgbClr val="EEF3FB"/>
          </a:solidFill>
          <a:ln/>
        </p:spPr>
      </p:sp>
      <p:sp>
        <p:nvSpPr>
          <p:cNvPr id="19" name="Shape 15"/>
          <p:cNvSpPr/>
          <p:nvPr/>
        </p:nvSpPr>
        <p:spPr>
          <a:xfrm>
            <a:off x="8375904" y="2075688"/>
            <a:ext cx="658368" cy="658368"/>
          </a:xfrm>
          <a:prstGeom prst="ellipse">
            <a:avLst/>
          </a:prstGeom>
          <a:solidFill>
            <a:srgbClr val="C4453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080" y="2246864"/>
            <a:ext cx="316017" cy="31601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98864" y="2185416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Datamigratie legacy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394192" y="3108960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Migratie van het oude expertisesysteem loopt 6 weken achter op planning.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394192" y="420624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Mitigatie: scope bevriezen, go-live verplaatst naar november — geen extra budget nodig.</a:t>
            </a:r>
            <a:endParaRPr lang="en-US" sz="12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6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34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2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70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8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6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4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42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6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78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VOORUITBLIK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tweede halfjaar 2026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 ·  Directie-update Q2 2026  ·  voorbeeldcijfers, illustratief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43032" y="365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2788920"/>
            <a:ext cx="8348472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5968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AI-triage pilot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pilot bij Mobility met twee opdrachtgevers; 5.000 dossiers.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38144" y="2468880"/>
            <a:ext cx="640080" cy="640080"/>
          </a:xfrm>
          <a:prstGeom prst="ellipse">
            <a:avLst/>
          </a:prstGeom>
          <a:solidFill>
            <a:srgbClr val="1E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15384" y="25968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46704" y="3383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Expertise® Property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346704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Uitrol naar alle opstal- en inboedeldossiers tot € 15.000.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2468880"/>
            <a:ext cx="640080" cy="640080"/>
          </a:xfrm>
          <a:prstGeom prst="ellipse">
            <a:avLst/>
          </a:prstGeom>
          <a:solidFill>
            <a:srgbClr val="1E2A52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13448" y="25968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3383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 nieuw kernsysteem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144768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Afronding datamigratie; legacy-systeem uit per 1 december.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34272" y="2468880"/>
            <a:ext cx="640080" cy="640080"/>
          </a:xfrm>
          <a:prstGeom prst="ellipse">
            <a:avLst/>
          </a:prstGeom>
          <a:solidFill>
            <a:srgbClr val="1E2A52"/>
          </a:solidFill>
          <a:ln/>
        </p:spPr>
      </p:sp>
      <p:sp>
        <p:nvSpPr>
          <p:cNvPr id="23" name="Text 21"/>
          <p:cNvSpPr/>
          <p:nvPr/>
        </p:nvSpPr>
        <p:spPr>
          <a:xfrm>
            <a:off x="903427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811512" y="25968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42832" y="3383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Klantportaal opdrachtgevers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942832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dossierinzicht en stuurinformatie voor verzekeraars.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 eind 2026:  </a:t>
            </a:r>
            <a:pPr indent="0" marL="0">
              <a:buNone/>
            </a:pPr>
            <a:r>
              <a:rPr lang="en-US" sz="13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van alle geschikte dossiers volledig digitaal, doorlooptijd onder de 4,5 dagen.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6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34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2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70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8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6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4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42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6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78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960"/>
                            </p:stCondLst>
                            <p:childTnLst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14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320"/>
                            </p:stCondLst>
                            <p:childTnLst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50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GEVRAAGDE BESLUITEN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beslispunten voor de directie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 ·  Directie-update Q2 2026  ·  voorbeeldcijfers, illustratief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43032" y="365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31C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93392"/>
            <a:ext cx="621792" cy="62179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933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1792224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Investering AI-triage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937760" y="1773936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€ 1,2 mln eenmalig; verwachte besparing € 1,8 mln per jaar vanaf 2027. Terugverdientijd &lt; 12 maanden.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235440" y="1773936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Gevraagd: akkoord op investering en start pilot in september.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EEF3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474720"/>
            <a:ext cx="621792" cy="621792"/>
          </a:xfrm>
          <a:prstGeom prst="ellipse">
            <a:avLst/>
          </a:prstGeom>
          <a:solidFill>
            <a:srgbClr val="1E2A5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3273552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Capaciteit Vitality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937760" y="3255264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extra medisch adviseurs (4 fte vast, 2 flexibel) om de wachttijd medisch advies terug te brengen van 19 naar 10 werkdagen.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235440" y="3255264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Gevraagd: akkoord op uitbreiding formatie per 1 oktober.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08576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EEF3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956048"/>
            <a:ext cx="621792" cy="621792"/>
          </a:xfrm>
          <a:prstGeom prst="ellipse">
            <a:avLst/>
          </a:prstGeom>
          <a:solidFill>
            <a:srgbClr val="1E2A5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56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4754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Go/no-go klantportaal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937760" y="4736592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Ontwikkeling afgerond; live-gang in december vergt commitment van accountteams voor onboarding van de top-10 opdrachtgevers.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5440" y="4736592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Gevraagd: go-besluit en aanwijzen sponsor vanuit de directie.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6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34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20"/>
                            </p:stCondLst>
                            <p:childTnLst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70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80"/>
                            </p:stCondLst>
                            <p:childTnLst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6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40"/>
                            </p:stCondLst>
                            <p:childTnLst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42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60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780"/>
                            </p:stCondLst>
                            <p:childTnLst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5669280" cy="5669280"/>
          </a:xfrm>
          <a:prstGeom prst="ellipse">
            <a:avLst/>
          </a:prstGeom>
          <a:solidFill>
            <a:srgbClr val="1E2A5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645920"/>
            <a:ext cx="4389120" cy="4389120"/>
          </a:xfrm>
          <a:prstGeom prst="ellipse">
            <a:avLst/>
          </a:prstGeom>
          <a:solidFill>
            <a:srgbClr val="2435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1691640"/>
            <a:ext cx="1005840" cy="10058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Vragen &amp; discussie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Méér dossiers, sneller afgehandeld, tegen lagere kosten — met drie besluiten zetten we die lijn door in 2027.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5989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 ·  Schade-expertise &amp; Claims Management      |      [naam]@ced.group</a:t>
            </a:r>
            <a:endParaRPr lang="en-US" sz="11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CED Directie-update Q2 2026 (voorbeeld)</dc:title>
  <dc:subject>PptxGenJS Presentation</dc:subject>
  <dc:creator>CED</dc:creator>
  <cp:lastModifiedBy>CED</cp:lastModifiedBy>
  <cp:revision>1</cp:revision>
  <dcterms:created xsi:type="dcterms:W3CDTF">2026-08-24T15:53:59Z</dcterms:created>
  <dcterms:modified xsi:type="dcterms:W3CDTF">2026-08-24T15:53:59Z</dcterms:modified>
</cp:coreProperties>
</file>